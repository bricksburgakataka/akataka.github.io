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88" r:id="rId2"/>
    <p:sldId id="469" r:id="rId3"/>
    <p:sldId id="470" r:id="rId4"/>
    <p:sldId id="496" r:id="rId5"/>
    <p:sldId id="491" r:id="rId6"/>
    <p:sldId id="497" r:id="rId7"/>
    <p:sldId id="498" r:id="rId8"/>
    <p:sldId id="499" r:id="rId9"/>
    <p:sldId id="502" r:id="rId10"/>
    <p:sldId id="503" r:id="rId11"/>
    <p:sldId id="504" r:id="rId12"/>
    <p:sldId id="291" r:id="rId13"/>
    <p:sldId id="507" r:id="rId14"/>
    <p:sldId id="508" r:id="rId15"/>
    <p:sldId id="509" r:id="rId16"/>
    <p:sldId id="510" r:id="rId17"/>
    <p:sldId id="511" r:id="rId18"/>
    <p:sldId id="297" r:id="rId19"/>
    <p:sldId id="300" r:id="rId20"/>
    <p:sldId id="301" r:id="rId21"/>
    <p:sldId id="302" r:id="rId22"/>
    <p:sldId id="303" r:id="rId23"/>
    <p:sldId id="304" r:id="rId24"/>
    <p:sldId id="305" r:id="rId25"/>
    <p:sldId id="306" r:id="rId26"/>
    <p:sldId id="442" r:id="rId27"/>
    <p:sldId id="514" r:id="rId28"/>
    <p:sldId id="515" r:id="rId29"/>
    <p:sldId id="516" r:id="rId30"/>
    <p:sldId id="517" r:id="rId31"/>
    <p:sldId id="518" r:id="rId32"/>
    <p:sldId id="519" r:id="rId33"/>
    <p:sldId id="520" r:id="rId34"/>
    <p:sldId id="492" r:id="rId35"/>
    <p:sldId id="494" r:id="rId36"/>
    <p:sldId id="493" r:id="rId37"/>
    <p:sldId id="495" r:id="rId38"/>
  </p:sldIdLst>
  <p:sldSz cx="9144000" cy="6858000" type="screen4x3"/>
  <p:notesSz cx="6858000" cy="9144000"/>
  <p:defaultTextStyle>
    <a:defPPr>
      <a:defRPr lang="zh-CN"/>
    </a:defPPr>
    <a:lvl1pPr algn="ctr" rtl="0" fontAlgn="base">
      <a:spcBef>
        <a:spcPct val="0"/>
      </a:spcBef>
      <a:spcAft>
        <a:spcPct val="0"/>
      </a:spcAft>
      <a:defRPr kumimoji="1" sz="2400" b="1" kern="1200">
        <a:solidFill>
          <a:schemeClr val="tx1"/>
        </a:solidFill>
        <a:latin typeface="Times New Roman" pitchFamily="18" charset="0"/>
        <a:ea typeface="宋体" charset="-122"/>
        <a:cs typeface="+mn-cs"/>
      </a:defRPr>
    </a:lvl1pPr>
    <a:lvl2pPr marL="457200" algn="ctr" rtl="0" fontAlgn="base">
      <a:spcBef>
        <a:spcPct val="0"/>
      </a:spcBef>
      <a:spcAft>
        <a:spcPct val="0"/>
      </a:spcAft>
      <a:defRPr kumimoji="1" sz="2400" b="1" kern="1200">
        <a:solidFill>
          <a:schemeClr val="tx1"/>
        </a:solidFill>
        <a:latin typeface="Times New Roman" pitchFamily="18" charset="0"/>
        <a:ea typeface="宋体" charset="-122"/>
        <a:cs typeface="+mn-cs"/>
      </a:defRPr>
    </a:lvl2pPr>
    <a:lvl3pPr marL="914400" algn="ctr" rtl="0" fontAlgn="base">
      <a:spcBef>
        <a:spcPct val="0"/>
      </a:spcBef>
      <a:spcAft>
        <a:spcPct val="0"/>
      </a:spcAft>
      <a:defRPr kumimoji="1" sz="2400" b="1" kern="1200">
        <a:solidFill>
          <a:schemeClr val="tx1"/>
        </a:solidFill>
        <a:latin typeface="Times New Roman" pitchFamily="18" charset="0"/>
        <a:ea typeface="宋体" charset="-122"/>
        <a:cs typeface="+mn-cs"/>
      </a:defRPr>
    </a:lvl3pPr>
    <a:lvl4pPr marL="1371600" algn="ctr" rtl="0" fontAlgn="base">
      <a:spcBef>
        <a:spcPct val="0"/>
      </a:spcBef>
      <a:spcAft>
        <a:spcPct val="0"/>
      </a:spcAft>
      <a:defRPr kumimoji="1" sz="2400" b="1" kern="1200">
        <a:solidFill>
          <a:schemeClr val="tx1"/>
        </a:solidFill>
        <a:latin typeface="Times New Roman" pitchFamily="18" charset="0"/>
        <a:ea typeface="宋体" charset="-122"/>
        <a:cs typeface="+mn-cs"/>
      </a:defRPr>
    </a:lvl4pPr>
    <a:lvl5pPr marL="1828800" algn="ctr" rtl="0" fontAlgn="base">
      <a:spcBef>
        <a:spcPct val="0"/>
      </a:spcBef>
      <a:spcAft>
        <a:spcPct val="0"/>
      </a:spcAft>
      <a:defRPr kumimoji="1" sz="2400" b="1" kern="1200">
        <a:solidFill>
          <a:schemeClr val="tx1"/>
        </a:solidFill>
        <a:latin typeface="Times New Roman" pitchFamily="18" charset="0"/>
        <a:ea typeface="宋体" charset="-122"/>
        <a:cs typeface="+mn-cs"/>
      </a:defRPr>
    </a:lvl5pPr>
    <a:lvl6pPr marL="2286000" algn="l" defTabSz="914400" rtl="0" eaLnBrk="1" latinLnBrk="0" hangingPunct="1">
      <a:defRPr kumimoji="1" sz="2400" b="1" kern="1200">
        <a:solidFill>
          <a:schemeClr val="tx1"/>
        </a:solidFill>
        <a:latin typeface="Times New Roman" pitchFamily="18" charset="0"/>
        <a:ea typeface="宋体" charset="-122"/>
        <a:cs typeface="+mn-cs"/>
      </a:defRPr>
    </a:lvl6pPr>
    <a:lvl7pPr marL="2743200" algn="l" defTabSz="914400" rtl="0" eaLnBrk="1" latinLnBrk="0" hangingPunct="1">
      <a:defRPr kumimoji="1" sz="2400" b="1" kern="1200">
        <a:solidFill>
          <a:schemeClr val="tx1"/>
        </a:solidFill>
        <a:latin typeface="Times New Roman" pitchFamily="18" charset="0"/>
        <a:ea typeface="宋体" charset="-122"/>
        <a:cs typeface="+mn-cs"/>
      </a:defRPr>
    </a:lvl7pPr>
    <a:lvl8pPr marL="3200400" algn="l" defTabSz="914400" rtl="0" eaLnBrk="1" latinLnBrk="0" hangingPunct="1">
      <a:defRPr kumimoji="1" sz="2400" b="1" kern="1200">
        <a:solidFill>
          <a:schemeClr val="tx1"/>
        </a:solidFill>
        <a:latin typeface="Times New Roman" pitchFamily="18" charset="0"/>
        <a:ea typeface="宋体" charset="-122"/>
        <a:cs typeface="+mn-cs"/>
      </a:defRPr>
    </a:lvl8pPr>
    <a:lvl9pPr marL="3657600" algn="l" defTabSz="914400" rtl="0" eaLnBrk="1" latinLnBrk="0" hangingPunct="1">
      <a:defRPr kumimoji="1" sz="2400" b="1"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DF3EA"/>
    <a:srgbClr val="FF9900"/>
    <a:srgbClr val="FF0066"/>
    <a:srgbClr val="00FFFF"/>
    <a:srgbClr val="FF00FF"/>
    <a:srgbClr val="66FF33"/>
    <a:srgbClr val="FF33CC"/>
    <a:srgbClr val="FF0000"/>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14" autoAdjust="0"/>
    <p:restoredTop sz="94660" autoAdjust="0"/>
  </p:normalViewPr>
  <p:slideViewPr>
    <p:cSldViewPr snapToGrid="0">
      <p:cViewPr varScale="1">
        <p:scale>
          <a:sx n="81" d="100"/>
          <a:sy n="81" d="100"/>
        </p:scale>
        <p:origin x="108" y="88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486"/>
    </p:cViewPr>
  </p:sorterViewPr>
  <p:notesViewPr>
    <p:cSldViewPr snapToGrid="0">
      <p:cViewPr varScale="1">
        <p:scale>
          <a:sx n="37" d="100"/>
          <a:sy n="37" d="100"/>
        </p:scale>
        <p:origin x="-147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4"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5" Type="http://schemas.openxmlformats.org/officeDocument/2006/relationships/image" Target="../media/image36.wmf"/><Relationship Id="rId4" Type="http://schemas.openxmlformats.org/officeDocument/2006/relationships/image" Target="../media/image3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4" Type="http://schemas.openxmlformats.org/officeDocument/2006/relationships/image" Target="../media/image51.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l">
              <a:defRPr sz="1200" b="0"/>
            </a:lvl1pPr>
          </a:lstStyle>
          <a:p>
            <a:endParaRPr lang="en-US" altLang="zh-CN"/>
          </a:p>
        </p:txBody>
      </p:sp>
      <p:sp>
        <p:nvSpPr>
          <p:cNvPr id="286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sz="1200" b="0"/>
            </a:lvl1pPr>
          </a:lstStyle>
          <a:p>
            <a:endParaRPr lang="en-US" altLang="zh-CN"/>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l">
              <a:defRPr sz="1200" b="0"/>
            </a:lvl1pPr>
          </a:lstStyle>
          <a:p>
            <a:endParaRPr lang="en-US" altLang="zh-CN"/>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r">
              <a:defRPr sz="1200" b="0"/>
            </a:lvl1pPr>
          </a:lstStyle>
          <a:p>
            <a:fld id="{CFE2AFE6-8630-48CA-9CD8-475E712EB535}" type="slidenum">
              <a:rPr lang="en-US" altLang="zh-CN"/>
              <a:pPr/>
              <a:t>‹#›</a:t>
            </a:fld>
            <a:endParaRPr lang="en-US" altLang="zh-CN"/>
          </a:p>
        </p:txBody>
      </p:sp>
    </p:spTree>
    <p:extLst>
      <p:ext uri="{BB962C8B-B14F-4D97-AF65-F5344CB8AC3E}">
        <p14:creationId xmlns:p14="http://schemas.microsoft.com/office/powerpoint/2010/main" val="116209665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fld id="{25EF2F6E-2123-4E25-A047-57DB71792DC9}" type="slidenum">
              <a:rPr lang="en-US" altLang="zh-CN" sz="1200" b="0"/>
              <a:pPr eaLnBrk="1" hangingPunct="1"/>
              <a:t>8</a:t>
            </a:fld>
            <a:endParaRPr lang="en-US" altLang="zh-CN" sz="1200" b="0"/>
          </a:p>
        </p:txBody>
      </p:sp>
      <p:sp>
        <p:nvSpPr>
          <p:cNvPr id="102403" name="Rectangle 2"/>
          <p:cNvSpPr>
            <a:spLocks noGrp="1" noRot="1" noChangeAspect="1" noChangeArrowheads="1" noTextEdit="1"/>
          </p:cNvSpPr>
          <p:nvPr>
            <p:ph type="sldImg"/>
          </p:nvPr>
        </p:nvSpPr>
        <p:spPr>
          <a:xfrm>
            <a:off x="1150938" y="692150"/>
            <a:ext cx="4556125" cy="3416300"/>
          </a:xfrm>
          <a:ln/>
        </p:spPr>
      </p:sp>
      <p:sp>
        <p:nvSpPr>
          <p:cNvPr id="102404"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2325815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BB04533-9708-4CD9-8674-6B1B801C3DB7}" type="slidenum">
              <a:rPr lang="en-US" altLang="zh-CN"/>
              <a:pPr/>
              <a:t>‹#›</a:t>
            </a:fld>
            <a:endParaRPr lang="en-US" altLang="zh-CN"/>
          </a:p>
        </p:txBody>
      </p:sp>
    </p:spTree>
    <p:extLst>
      <p:ext uri="{BB962C8B-B14F-4D97-AF65-F5344CB8AC3E}">
        <p14:creationId xmlns:p14="http://schemas.microsoft.com/office/powerpoint/2010/main" val="2640409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C1B9004-CC78-46B2-92CB-793CAB2B4561}" type="slidenum">
              <a:rPr lang="en-US" altLang="zh-CN"/>
              <a:pPr/>
              <a:t>‹#›</a:t>
            </a:fld>
            <a:endParaRPr lang="en-US" altLang="zh-CN"/>
          </a:p>
        </p:txBody>
      </p:sp>
    </p:spTree>
    <p:extLst>
      <p:ext uri="{BB962C8B-B14F-4D97-AF65-F5344CB8AC3E}">
        <p14:creationId xmlns:p14="http://schemas.microsoft.com/office/powerpoint/2010/main" val="1777922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7C744DC-0F0A-4DB9-ABDE-39EFC80B47FC}" type="slidenum">
              <a:rPr lang="en-US" altLang="zh-CN"/>
              <a:pPr/>
              <a:t>‹#›</a:t>
            </a:fld>
            <a:endParaRPr lang="en-US" altLang="zh-CN"/>
          </a:p>
        </p:txBody>
      </p:sp>
    </p:spTree>
    <p:extLst>
      <p:ext uri="{BB962C8B-B14F-4D97-AF65-F5344CB8AC3E}">
        <p14:creationId xmlns:p14="http://schemas.microsoft.com/office/powerpoint/2010/main" val="1882648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358962A-C8C4-47A1-B61B-B9921ED9A9FB}" type="slidenum">
              <a:rPr lang="en-US" altLang="zh-CN"/>
              <a:pPr/>
              <a:t>‹#›</a:t>
            </a:fld>
            <a:endParaRPr lang="en-US" altLang="zh-CN"/>
          </a:p>
        </p:txBody>
      </p:sp>
    </p:spTree>
    <p:extLst>
      <p:ext uri="{BB962C8B-B14F-4D97-AF65-F5344CB8AC3E}">
        <p14:creationId xmlns:p14="http://schemas.microsoft.com/office/powerpoint/2010/main" val="3761409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66ADB537-2438-4A38-83D6-63A93DC9865A}" type="slidenum">
              <a:rPr lang="en-US" altLang="zh-CN"/>
              <a:pPr/>
              <a:t>‹#›</a:t>
            </a:fld>
            <a:endParaRPr lang="en-US" altLang="zh-CN"/>
          </a:p>
        </p:txBody>
      </p:sp>
    </p:spTree>
    <p:extLst>
      <p:ext uri="{BB962C8B-B14F-4D97-AF65-F5344CB8AC3E}">
        <p14:creationId xmlns:p14="http://schemas.microsoft.com/office/powerpoint/2010/main" val="2533525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BD38EDED-1604-429D-A677-104B17AA5E24}" type="slidenum">
              <a:rPr lang="en-US" altLang="zh-CN"/>
              <a:pPr/>
              <a:t>‹#›</a:t>
            </a:fld>
            <a:endParaRPr lang="en-US" altLang="zh-CN"/>
          </a:p>
        </p:txBody>
      </p:sp>
    </p:spTree>
    <p:extLst>
      <p:ext uri="{BB962C8B-B14F-4D97-AF65-F5344CB8AC3E}">
        <p14:creationId xmlns:p14="http://schemas.microsoft.com/office/powerpoint/2010/main" val="3863472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54AA375F-4405-4FEF-9564-B3A717F0D7FB}" type="slidenum">
              <a:rPr lang="en-US" altLang="zh-CN"/>
              <a:pPr/>
              <a:t>‹#›</a:t>
            </a:fld>
            <a:endParaRPr lang="en-US" altLang="zh-CN"/>
          </a:p>
        </p:txBody>
      </p:sp>
    </p:spTree>
    <p:extLst>
      <p:ext uri="{BB962C8B-B14F-4D97-AF65-F5344CB8AC3E}">
        <p14:creationId xmlns:p14="http://schemas.microsoft.com/office/powerpoint/2010/main" val="4103343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5B66162-CF0B-42C7-8683-C7226B75A767}" type="slidenum">
              <a:rPr lang="en-US" altLang="zh-CN"/>
              <a:pPr/>
              <a:t>‹#›</a:t>
            </a:fld>
            <a:endParaRPr lang="en-US" altLang="zh-CN"/>
          </a:p>
        </p:txBody>
      </p:sp>
    </p:spTree>
    <p:extLst>
      <p:ext uri="{BB962C8B-B14F-4D97-AF65-F5344CB8AC3E}">
        <p14:creationId xmlns:p14="http://schemas.microsoft.com/office/powerpoint/2010/main" val="3962646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7E732C1-5282-4580-9AE9-6DECFD08850B}" type="slidenum">
              <a:rPr lang="en-US" altLang="zh-CN"/>
              <a:pPr/>
              <a:t>‹#›</a:t>
            </a:fld>
            <a:endParaRPr lang="en-US" altLang="zh-CN"/>
          </a:p>
        </p:txBody>
      </p:sp>
    </p:spTree>
    <p:extLst>
      <p:ext uri="{BB962C8B-B14F-4D97-AF65-F5344CB8AC3E}">
        <p14:creationId xmlns:p14="http://schemas.microsoft.com/office/powerpoint/2010/main" val="3781123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2B3CDF9-1535-474E-BD74-490F1C56C265}" type="slidenum">
              <a:rPr lang="en-US" altLang="zh-CN"/>
              <a:pPr/>
              <a:t>‹#›</a:t>
            </a:fld>
            <a:endParaRPr lang="en-US" altLang="zh-CN"/>
          </a:p>
        </p:txBody>
      </p:sp>
    </p:spTree>
    <p:extLst>
      <p:ext uri="{BB962C8B-B14F-4D97-AF65-F5344CB8AC3E}">
        <p14:creationId xmlns:p14="http://schemas.microsoft.com/office/powerpoint/2010/main" val="3232782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4BF6A2F-B321-4E15-8BD1-39FA8E5DD53F}" type="slidenum">
              <a:rPr lang="en-US" altLang="zh-CN"/>
              <a:pPr/>
              <a:t>‹#›</a:t>
            </a:fld>
            <a:endParaRPr lang="en-US" altLang="zh-CN"/>
          </a:p>
        </p:txBody>
      </p:sp>
    </p:spTree>
    <p:extLst>
      <p:ext uri="{BB962C8B-B14F-4D97-AF65-F5344CB8AC3E}">
        <p14:creationId xmlns:p14="http://schemas.microsoft.com/office/powerpoint/2010/main" val="338603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fld id="{191908BA-5157-4B50-8CF5-920313CEFDE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itchFamily="18" charset="0"/>
          <a:ea typeface="宋体" charset="-122"/>
        </a:defRPr>
      </a:lvl2pPr>
      <a:lvl3pPr algn="ctr" rtl="0" fontAlgn="base">
        <a:spcBef>
          <a:spcPct val="0"/>
        </a:spcBef>
        <a:spcAft>
          <a:spcPct val="0"/>
        </a:spcAft>
        <a:defRPr kumimoji="1" sz="4400">
          <a:solidFill>
            <a:schemeClr val="tx2"/>
          </a:solidFill>
          <a:latin typeface="Times New Roman" pitchFamily="18" charset="0"/>
          <a:ea typeface="宋体" charset="-122"/>
        </a:defRPr>
      </a:lvl3pPr>
      <a:lvl4pPr algn="ctr" rtl="0" fontAlgn="base">
        <a:spcBef>
          <a:spcPct val="0"/>
        </a:spcBef>
        <a:spcAft>
          <a:spcPct val="0"/>
        </a:spcAft>
        <a:defRPr kumimoji="1" sz="4400">
          <a:solidFill>
            <a:schemeClr val="tx2"/>
          </a:solidFill>
          <a:latin typeface="Times New Roman" pitchFamily="18" charset="0"/>
          <a:ea typeface="宋体" charset="-122"/>
        </a:defRPr>
      </a:lvl4pPr>
      <a:lvl5pPr algn="ctr" rtl="0" fontAlgn="base">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宋体" charset="-122"/>
        </a:defRPr>
      </a:lvl6pPr>
      <a:lvl7pPr marL="914400" algn="ctr" rtl="0" fontAlgn="base">
        <a:spcBef>
          <a:spcPct val="0"/>
        </a:spcBef>
        <a:spcAft>
          <a:spcPct val="0"/>
        </a:spcAft>
        <a:defRPr kumimoji="1" sz="4400">
          <a:solidFill>
            <a:schemeClr val="tx2"/>
          </a:solidFill>
          <a:latin typeface="Times New Roman" pitchFamily="18" charset="0"/>
          <a:ea typeface="宋体" charset="-122"/>
        </a:defRPr>
      </a:lvl7pPr>
      <a:lvl8pPr marL="1371600" algn="ctr" rtl="0" fontAlgn="base">
        <a:spcBef>
          <a:spcPct val="0"/>
        </a:spcBef>
        <a:spcAft>
          <a:spcPct val="0"/>
        </a:spcAft>
        <a:defRPr kumimoji="1" sz="4400">
          <a:solidFill>
            <a:schemeClr val="tx2"/>
          </a:solidFill>
          <a:latin typeface="Times New Roman" pitchFamily="18" charset="0"/>
          <a:ea typeface="宋体" charset="-122"/>
        </a:defRPr>
      </a:lvl8pPr>
      <a:lvl9pPr marL="1828800" algn="ctr" rtl="0" fontAlgn="base">
        <a:spcBef>
          <a:spcPct val="0"/>
        </a:spcBef>
        <a:spcAft>
          <a:spcPct val="0"/>
        </a:spcAft>
        <a:defRPr kumimoji="1" sz="4400">
          <a:solidFill>
            <a:schemeClr val="tx2"/>
          </a:solidFill>
          <a:latin typeface="Times New Roman" pitchFamily="18" charset="0"/>
          <a:ea typeface="宋体"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12.xml"/><Relationship Id="rId1" Type="http://schemas.openxmlformats.org/officeDocument/2006/relationships/slideLayout" Target="../slideLayouts/slideLayout7.xml"/><Relationship Id="rId5" Type="http://schemas.openxmlformats.org/officeDocument/2006/relationships/slide" Target="slide22.xml"/><Relationship Id="rId4" Type="http://schemas.openxmlformats.org/officeDocument/2006/relationships/slide" Target="slide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0.emf"/><Relationship Id="rId5" Type="http://schemas.openxmlformats.org/officeDocument/2006/relationships/oleObject" Target="../embeddings/oleObject8.bin"/><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1.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5.wmf"/><Relationship Id="rId5" Type="http://schemas.openxmlformats.org/officeDocument/2006/relationships/oleObject" Target="../embeddings/oleObject13.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19.wmf"/><Relationship Id="rId5" Type="http://schemas.openxmlformats.org/officeDocument/2006/relationships/oleObject" Target="../embeddings/oleObject17.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9.bin"/></Relationships>
</file>

<file path=ppt/slides/_rels/slide24.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23.wmf"/><Relationship Id="rId5" Type="http://schemas.openxmlformats.org/officeDocument/2006/relationships/oleObject" Target="../embeddings/oleObject21.bin"/><Relationship Id="rId4" Type="http://schemas.openxmlformats.org/officeDocument/2006/relationships/image" Target="../media/image22.wmf"/></Relationships>
</file>

<file path=ppt/slides/_rels/slide25.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26.wmf"/><Relationship Id="rId5" Type="http://schemas.openxmlformats.org/officeDocument/2006/relationships/oleObject" Target="../embeddings/oleObject24.bin"/><Relationship Id="rId4" Type="http://schemas.openxmlformats.org/officeDocument/2006/relationships/image" Target="../media/image25.wmf"/></Relationships>
</file>

<file path=ppt/slides/_rels/slide26.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29.wmf"/><Relationship Id="rId5" Type="http://schemas.openxmlformats.org/officeDocument/2006/relationships/oleObject" Target="../embeddings/oleObject27.bin"/><Relationship Id="rId10" Type="http://schemas.openxmlformats.org/officeDocument/2006/relationships/image" Target="../media/image31.wmf"/><Relationship Id="rId4" Type="http://schemas.openxmlformats.org/officeDocument/2006/relationships/image" Target="../media/image28.wmf"/><Relationship Id="rId9" Type="http://schemas.openxmlformats.org/officeDocument/2006/relationships/oleObject" Target="../embeddings/oleObject29.bin"/></Relationships>
</file>

<file path=ppt/slides/_rels/slide27.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36.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3.wmf"/><Relationship Id="rId11" Type="http://schemas.openxmlformats.org/officeDocument/2006/relationships/oleObject" Target="../embeddings/oleObject34.bin"/><Relationship Id="rId5" Type="http://schemas.openxmlformats.org/officeDocument/2006/relationships/oleObject" Target="../embeddings/oleObject31.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3.bin"/></Relationships>
</file>

<file path=ppt/slides/_rels/slide28.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8.wmf"/><Relationship Id="rId5" Type="http://schemas.openxmlformats.org/officeDocument/2006/relationships/oleObject" Target="../embeddings/oleObject36.bin"/><Relationship Id="rId4" Type="http://schemas.openxmlformats.org/officeDocument/2006/relationships/image" Target="../media/image37.wmf"/></Relationships>
</file>

<file path=ppt/slides/_rels/slide29.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41.wmf"/><Relationship Id="rId5" Type="http://schemas.openxmlformats.org/officeDocument/2006/relationships/oleObject" Target="../embeddings/oleObject39.bin"/><Relationship Id="rId4" Type="http://schemas.openxmlformats.org/officeDocument/2006/relationships/image" Target="../media/image40.wmf"/></Relationships>
</file>

<file path=ppt/slides/_rels/slide30.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4.wmf"/><Relationship Id="rId5" Type="http://schemas.openxmlformats.org/officeDocument/2006/relationships/oleObject" Target="../embeddings/oleObject42.bin"/><Relationship Id="rId4" Type="http://schemas.openxmlformats.org/officeDocument/2006/relationships/image" Target="../media/image43.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47.wmf"/><Relationship Id="rId5" Type="http://schemas.openxmlformats.org/officeDocument/2006/relationships/oleObject" Target="../embeddings/oleObject45.bin"/><Relationship Id="rId4" Type="http://schemas.openxmlformats.org/officeDocument/2006/relationships/image" Target="../media/image46.wmf"/></Relationships>
</file>

<file path=ppt/slides/_rels/slide32.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49.wmf"/><Relationship Id="rId5" Type="http://schemas.openxmlformats.org/officeDocument/2006/relationships/oleObject" Target="../embeddings/oleObject47.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49.bin"/></Relationships>
</file>

<file path=ppt/slides/_rels/slide33.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53.wmf"/><Relationship Id="rId5" Type="http://schemas.openxmlformats.org/officeDocument/2006/relationships/oleObject" Target="../embeddings/oleObject51.bin"/><Relationship Id="rId4" Type="http://schemas.openxmlformats.org/officeDocument/2006/relationships/image" Target="../media/image52.wmf"/></Relationships>
</file>

<file path=ppt/slides/_rels/slide3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oleObject" Target="../embeddings/oleObject53.bin"/><Relationship Id="rId7" Type="http://schemas.openxmlformats.org/officeDocument/2006/relationships/image" Target="../media/image56.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54.bin"/><Relationship Id="rId5" Type="http://schemas.openxmlformats.org/officeDocument/2006/relationships/image" Target="../media/image57.jpeg"/><Relationship Id="rId4" Type="http://schemas.openxmlformats.org/officeDocument/2006/relationships/image" Target="../media/image55.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58.wmf"/></Relationships>
</file>

<file path=ppt/slides/_rels/slide36.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image" Target="../media/image57.jpeg"/><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2.png"/><Relationship Id="rId5" Type="http://schemas.openxmlformats.org/officeDocument/2006/relationships/image" Target="../media/image59.emf"/><Relationship Id="rId4" Type="http://schemas.openxmlformats.org/officeDocument/2006/relationships/oleObject" Target="../embeddings/oleObject56.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6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1390650" y="485775"/>
            <a:ext cx="6418263" cy="1514475"/>
          </a:xfrm>
          <a:gradFill rotWithShape="0">
            <a:gsLst>
              <a:gs pos="0">
                <a:srgbClr val="FFFFFF"/>
              </a:gs>
              <a:gs pos="100000">
                <a:srgbClr val="FFFFFF">
                  <a:gamma/>
                  <a:shade val="46275"/>
                  <a:invGamma/>
                </a:srgbClr>
              </a:gs>
            </a:gsLst>
            <a:lin ang="5400000" scaled="1"/>
          </a:gradFill>
          <a:ln/>
          <a:effectLst>
            <a:prstShdw prst="shdw17" dist="17961" dir="2700000">
              <a:srgbClr val="FFFFFF">
                <a:gamma/>
                <a:shade val="60000"/>
                <a:invGamma/>
              </a:srgbClr>
            </a:prstShdw>
          </a:effectLst>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zh-CN" altLang="en-US" sz="4800" b="1" dirty="0">
                <a:solidFill>
                  <a:srgbClr val="FF0000"/>
                </a:solidFill>
                <a:effectLst>
                  <a:outerShdw blurRad="38100" dist="38100" dir="2700000" algn="tl">
                    <a:srgbClr val="C0C0C0"/>
                  </a:outerShdw>
                </a:effectLst>
                <a:latin typeface="隶书" pitchFamily="49" charset="-122"/>
                <a:ea typeface="隶书" pitchFamily="49" charset="-122"/>
              </a:rPr>
              <a:t>第</a:t>
            </a:r>
            <a:r>
              <a:rPr lang="en-US" altLang="zh-CN" sz="4800" b="1" dirty="0">
                <a:solidFill>
                  <a:srgbClr val="FF0000"/>
                </a:solidFill>
                <a:effectLst>
                  <a:outerShdw blurRad="38100" dist="38100" dir="2700000" algn="tl">
                    <a:srgbClr val="C0C0C0"/>
                  </a:outerShdw>
                </a:effectLst>
                <a:ea typeface="隶书" pitchFamily="49" charset="-122"/>
              </a:rPr>
              <a:t>2</a:t>
            </a:r>
            <a:r>
              <a:rPr lang="zh-CN" altLang="en-US" sz="4800" b="1" dirty="0">
                <a:solidFill>
                  <a:srgbClr val="FF0000"/>
                </a:solidFill>
                <a:effectLst>
                  <a:outerShdw blurRad="38100" dist="38100" dir="2700000" algn="tl">
                    <a:srgbClr val="C0C0C0"/>
                  </a:outerShdw>
                </a:effectLst>
                <a:latin typeface="隶书" pitchFamily="49" charset="-122"/>
                <a:ea typeface="隶书" pitchFamily="49" charset="-122"/>
              </a:rPr>
              <a:t>章 </a:t>
            </a:r>
            <a:r>
              <a:rPr lang="zh-CN" altLang="en-US" sz="4800" b="1" dirty="0" smtClean="0">
                <a:solidFill>
                  <a:srgbClr val="FF0000"/>
                </a:solidFill>
                <a:effectLst>
                  <a:outerShdw blurRad="38100" dist="38100" dir="2700000" algn="tl">
                    <a:srgbClr val="C0C0C0"/>
                  </a:outerShdw>
                </a:effectLst>
                <a:latin typeface="隶书" pitchFamily="49" charset="-122"/>
                <a:ea typeface="隶书" pitchFamily="49" charset="-122"/>
              </a:rPr>
              <a:t>电路的等效变换</a:t>
            </a:r>
            <a:endParaRPr lang="zh-CN" altLang="en-US" sz="4800" b="1" i="1" dirty="0">
              <a:solidFill>
                <a:srgbClr val="FF00FF"/>
              </a:solidFill>
              <a:effectLst>
                <a:outerShdw blurRad="38100" dist="38100" dir="2700000" algn="tl">
                  <a:srgbClr val="C0C0C0"/>
                </a:outerShdw>
              </a:effectLst>
              <a:latin typeface="隶书" pitchFamily="49" charset="-122"/>
              <a:ea typeface="隶书" pitchFamily="49" charset="-122"/>
            </a:endParaRPr>
          </a:p>
        </p:txBody>
      </p:sp>
      <p:sp>
        <p:nvSpPr>
          <p:cNvPr id="7" name="Text Box 10" descr="蓝色砂纸">
            <a:hlinkClick r:id="rId2" action="ppaction://hlinksldjump"/>
          </p:cNvPr>
          <p:cNvSpPr txBox="1">
            <a:spLocks noChangeArrowheads="1"/>
          </p:cNvSpPr>
          <p:nvPr/>
        </p:nvSpPr>
        <p:spPr bwMode="auto">
          <a:xfrm>
            <a:off x="1800225" y="2279650"/>
            <a:ext cx="52324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3200" dirty="0">
                <a:solidFill>
                  <a:schemeClr val="tx2"/>
                </a:solidFill>
                <a:latin typeface="楷体_GB2312" pitchFamily="49" charset="-122"/>
                <a:ea typeface="楷体_GB2312" pitchFamily="49" charset="-122"/>
              </a:rPr>
              <a:t>电路等效</a:t>
            </a:r>
          </a:p>
        </p:txBody>
      </p:sp>
      <p:sp>
        <p:nvSpPr>
          <p:cNvPr id="8" name="Rectangle 11" descr="蓝色砂纸">
            <a:hlinkClick r:id="rId4" action="ppaction://hlinksldjump"/>
          </p:cNvPr>
          <p:cNvSpPr>
            <a:spLocks noChangeArrowheads="1"/>
          </p:cNvSpPr>
          <p:nvPr/>
        </p:nvSpPr>
        <p:spPr bwMode="auto">
          <a:xfrm>
            <a:off x="1800225" y="4071110"/>
            <a:ext cx="52705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3200" dirty="0">
                <a:solidFill>
                  <a:schemeClr val="tx2"/>
                </a:solidFill>
                <a:latin typeface="楷体_GB2312" pitchFamily="49" charset="-122"/>
                <a:ea typeface="楷体_GB2312" pitchFamily="49" charset="-122"/>
              </a:rPr>
              <a:t>电阻电路的等效变换</a:t>
            </a:r>
          </a:p>
        </p:txBody>
      </p:sp>
      <p:sp>
        <p:nvSpPr>
          <p:cNvPr id="9" name="Text Box 13" descr="蓝色砂纸">
            <a:hlinkClick r:id="rId5" action="ppaction://hlinksldjump"/>
          </p:cNvPr>
          <p:cNvSpPr txBox="1">
            <a:spLocks noChangeArrowheads="1"/>
          </p:cNvSpPr>
          <p:nvPr/>
        </p:nvSpPr>
        <p:spPr bwMode="auto">
          <a:xfrm>
            <a:off x="1800225" y="3175380"/>
            <a:ext cx="5248275"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3200" dirty="0">
                <a:solidFill>
                  <a:schemeClr val="tx2"/>
                </a:solidFill>
                <a:ea typeface="楷体_GB2312" pitchFamily="49" charset="-122"/>
              </a:rPr>
              <a:t>基尔霍夫电路定律</a:t>
            </a:r>
          </a:p>
        </p:txBody>
      </p:sp>
      <p:sp>
        <p:nvSpPr>
          <p:cNvPr id="10" name="Rectangle 14" descr="蓝色砂纸">
            <a:hlinkClick r:id="rId4" action="ppaction://hlinksldjump"/>
          </p:cNvPr>
          <p:cNvSpPr>
            <a:spLocks noChangeArrowheads="1"/>
          </p:cNvSpPr>
          <p:nvPr/>
        </p:nvSpPr>
        <p:spPr bwMode="auto">
          <a:xfrm>
            <a:off x="1800225" y="4966840"/>
            <a:ext cx="5270500" cy="584775"/>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3200" dirty="0">
                <a:solidFill>
                  <a:schemeClr val="tx2"/>
                </a:solidFill>
                <a:latin typeface="楷体_GB2312" pitchFamily="49" charset="-122"/>
                <a:ea typeface="楷体_GB2312" pitchFamily="49" charset="-122"/>
              </a:rPr>
              <a:t>储能元件电路的等效变换</a:t>
            </a:r>
          </a:p>
        </p:txBody>
      </p:sp>
      <p:sp>
        <p:nvSpPr>
          <p:cNvPr id="11" name="Rectangle 14" descr="蓝色砂纸">
            <a:hlinkClick r:id="rId4" action="ppaction://hlinksldjump"/>
          </p:cNvPr>
          <p:cNvSpPr>
            <a:spLocks noChangeArrowheads="1"/>
          </p:cNvSpPr>
          <p:nvPr/>
        </p:nvSpPr>
        <p:spPr bwMode="auto">
          <a:xfrm>
            <a:off x="1800225" y="5867906"/>
            <a:ext cx="5270500" cy="584775"/>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3200" dirty="0">
                <a:solidFill>
                  <a:schemeClr val="tx2"/>
                </a:solidFill>
                <a:latin typeface="楷体_GB2312" pitchFamily="49" charset="-122"/>
                <a:ea typeface="楷体_GB2312" pitchFamily="49" charset="-122"/>
              </a:rPr>
              <a:t>电源电路的等效变换</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80" name="Group 40"/>
          <p:cNvGrpSpPr>
            <a:grpSpLocks/>
          </p:cNvGrpSpPr>
          <p:nvPr/>
        </p:nvGrpSpPr>
        <p:grpSpPr bwMode="auto">
          <a:xfrm>
            <a:off x="501650" y="1004889"/>
            <a:ext cx="8153400" cy="1025526"/>
            <a:chOff x="192" y="1200"/>
            <a:chExt cx="5136" cy="646"/>
          </a:xfrm>
        </p:grpSpPr>
        <p:sp>
          <p:nvSpPr>
            <p:cNvPr id="266281" name="Text Box 41"/>
            <p:cNvSpPr txBox="1">
              <a:spLocks noChangeArrowheads="1"/>
            </p:cNvSpPr>
            <p:nvPr/>
          </p:nvSpPr>
          <p:spPr bwMode="auto">
            <a:xfrm>
              <a:off x="768" y="1248"/>
              <a:ext cx="4560" cy="598"/>
            </a:xfrm>
            <a:prstGeom prst="rect">
              <a:avLst/>
            </a:prstGeom>
            <a:noFill/>
            <a:ln>
              <a:noFill/>
            </a:ln>
            <a:effectLst/>
            <a:extLst>
              <a:ext uri="{909E8E84-426E-40DD-AFC4-6F175D3DCCD1}">
                <a14:hiddenFill xmlns:a14="http://schemas.microsoft.com/office/drawing/2010/main">
                  <a:gradFill rotWithShape="0">
                    <a:gsLst>
                      <a:gs pos="0">
                        <a:srgbClr val="FFFFFF"/>
                      </a:gs>
                      <a:gs pos="100000">
                        <a:schemeClr val="accent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zh-CN" altLang="en-US" sz="2000" dirty="0"/>
                <a:t>任何</a:t>
              </a:r>
              <a:r>
                <a:rPr lang="zh-CN" altLang="en-US" sz="2000" dirty="0" smtClean="0"/>
                <a:t>复杂网络引出</a:t>
              </a:r>
              <a:r>
                <a:rPr lang="zh-CN" altLang="en-US" sz="2000" dirty="0"/>
                <a:t>的两个端钮称为</a:t>
              </a:r>
              <a:r>
                <a:rPr lang="zh-CN" altLang="en-US" sz="2000" dirty="0" smtClean="0">
                  <a:solidFill>
                    <a:srgbClr val="3333FF"/>
                  </a:solidFill>
                </a:rPr>
                <a:t>二端网络。</a:t>
              </a:r>
              <a:endParaRPr lang="en-US" altLang="zh-CN" sz="2000" dirty="0" smtClean="0">
                <a:solidFill>
                  <a:srgbClr val="3333FF"/>
                </a:solidFill>
              </a:endParaRPr>
            </a:p>
            <a:p>
              <a:pPr algn="l">
                <a:lnSpc>
                  <a:spcPct val="120000"/>
                </a:lnSpc>
                <a:spcBef>
                  <a:spcPct val="50000"/>
                </a:spcBef>
              </a:pPr>
              <a:r>
                <a:rPr lang="zh-CN" altLang="en-US" sz="2000" dirty="0" smtClean="0"/>
                <a:t>内部</a:t>
              </a:r>
              <a:r>
                <a:rPr lang="zh-CN" altLang="en-US" sz="2000" dirty="0"/>
                <a:t>没有独立源的二端网络，称为</a:t>
              </a:r>
              <a:r>
                <a:rPr lang="zh-CN" altLang="en-US" sz="2000" dirty="0">
                  <a:solidFill>
                    <a:srgbClr val="3333FF"/>
                  </a:solidFill>
                </a:rPr>
                <a:t>二端无源网络</a:t>
              </a:r>
              <a:r>
                <a:rPr lang="zh-CN" altLang="en-US" sz="2000" dirty="0"/>
                <a:t>。</a:t>
              </a:r>
            </a:p>
          </p:txBody>
        </p:sp>
        <p:sp>
          <p:nvSpPr>
            <p:cNvPr id="266282" name="Rectangle 42"/>
            <p:cNvSpPr>
              <a:spLocks noChangeArrowheads="1"/>
            </p:cNvSpPr>
            <p:nvPr/>
          </p:nvSpPr>
          <p:spPr bwMode="auto">
            <a:xfrm>
              <a:off x="192" y="1200"/>
              <a:ext cx="5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zh-CN" altLang="en-US" u="sng">
                  <a:ea typeface="隶书" pitchFamily="49" charset="-122"/>
                </a:rPr>
                <a:t>定义</a:t>
              </a:r>
              <a:r>
                <a:rPr lang="en-US" altLang="zh-CN" u="sng"/>
                <a:t>:</a:t>
              </a:r>
            </a:p>
          </p:txBody>
        </p:sp>
      </p:grpSp>
      <p:sp>
        <p:nvSpPr>
          <p:cNvPr id="44" name="Rectangle 56"/>
          <p:cNvSpPr>
            <a:spLocks noChangeArrowheads="1"/>
          </p:cNvSpPr>
          <p:nvPr/>
        </p:nvSpPr>
        <p:spPr bwMode="auto">
          <a:xfrm>
            <a:off x="768350" y="328613"/>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sz="2800" dirty="0" smtClean="0">
                <a:solidFill>
                  <a:schemeClr val="tx2"/>
                </a:solidFill>
              </a:rPr>
              <a:t>2.1 </a:t>
            </a:r>
            <a:r>
              <a:rPr lang="zh-CN" altLang="en-US" sz="2800" dirty="0" smtClean="0">
                <a:solidFill>
                  <a:schemeClr val="tx2"/>
                </a:solidFill>
              </a:rPr>
              <a:t>电路等效</a:t>
            </a:r>
            <a:endParaRPr lang="zh-CN" altLang="en-US" sz="2800" dirty="0">
              <a:solidFill>
                <a:schemeClr val="tx2"/>
              </a:solidFill>
            </a:endParaRPr>
          </a:p>
        </p:txBody>
      </p:sp>
      <p:grpSp>
        <p:nvGrpSpPr>
          <p:cNvPr id="37" name="Group 2"/>
          <p:cNvGrpSpPr>
            <a:grpSpLocks/>
          </p:cNvGrpSpPr>
          <p:nvPr/>
        </p:nvGrpSpPr>
        <p:grpSpPr bwMode="auto">
          <a:xfrm>
            <a:off x="1222375" y="3046868"/>
            <a:ext cx="2517775" cy="1296987"/>
            <a:chOff x="431" y="164"/>
            <a:chExt cx="1586" cy="817"/>
          </a:xfrm>
        </p:grpSpPr>
        <p:grpSp>
          <p:nvGrpSpPr>
            <p:cNvPr id="38" name="Group 3"/>
            <p:cNvGrpSpPr>
              <a:grpSpLocks/>
            </p:cNvGrpSpPr>
            <p:nvPr/>
          </p:nvGrpSpPr>
          <p:grpSpPr bwMode="auto">
            <a:xfrm>
              <a:off x="431" y="210"/>
              <a:ext cx="1270" cy="771"/>
              <a:chOff x="612" y="1979"/>
              <a:chExt cx="1270" cy="771"/>
            </a:xfrm>
          </p:grpSpPr>
          <p:sp>
            <p:nvSpPr>
              <p:cNvPr id="45" name="Rectangle 4"/>
              <p:cNvSpPr>
                <a:spLocks noChangeArrowheads="1"/>
              </p:cNvSpPr>
              <p:nvPr/>
            </p:nvSpPr>
            <p:spPr bwMode="auto">
              <a:xfrm>
                <a:off x="612" y="1979"/>
                <a:ext cx="635" cy="771"/>
              </a:xfrm>
              <a:prstGeom prst="rect">
                <a:avLst/>
              </a:prstGeom>
              <a:gradFill rotWithShape="1">
                <a:gsLst>
                  <a:gs pos="0">
                    <a:srgbClr val="FF9900"/>
                  </a:gs>
                  <a:gs pos="100000">
                    <a:srgbClr val="FF9900">
                      <a:gamma/>
                      <a:shade val="46275"/>
                      <a:invGamma/>
                    </a:srgbClr>
                  </a:gs>
                </a:gsLst>
                <a:path path="shape">
                  <a:fillToRect l="50000" t="50000" r="50000" b="50000"/>
                </a:path>
              </a:gradFill>
              <a:ln>
                <a:noFill/>
              </a:ln>
              <a:effectLst/>
              <a:extLs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0" lang="en-US" altLang="zh-CN" sz="2000" b="0">
                    <a:ea typeface="仿宋_GB2312" pitchFamily="49" charset="-122"/>
                  </a:rPr>
                  <a:t>B</a:t>
                </a:r>
              </a:p>
            </p:txBody>
          </p:sp>
          <p:sp>
            <p:nvSpPr>
              <p:cNvPr id="46" name="Line 5"/>
              <p:cNvSpPr>
                <a:spLocks noChangeShapeType="1"/>
              </p:cNvSpPr>
              <p:nvPr/>
            </p:nvSpPr>
            <p:spPr bwMode="auto">
              <a:xfrm>
                <a:off x="1247" y="2115"/>
                <a:ext cx="635" cy="0"/>
              </a:xfrm>
              <a:prstGeom prst="line">
                <a:avLst/>
              </a:prstGeom>
              <a:noFill/>
              <a:ln w="38100">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6"/>
              <p:cNvSpPr>
                <a:spLocks noChangeShapeType="1"/>
              </p:cNvSpPr>
              <p:nvPr/>
            </p:nvSpPr>
            <p:spPr bwMode="auto">
              <a:xfrm>
                <a:off x="1247" y="2614"/>
                <a:ext cx="635" cy="0"/>
              </a:xfrm>
              <a:prstGeom prst="line">
                <a:avLst/>
              </a:prstGeom>
              <a:noFill/>
              <a:ln w="38100">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9" name="Line 7"/>
            <p:cNvSpPr>
              <a:spLocks noChangeShapeType="1"/>
            </p:cNvSpPr>
            <p:nvPr/>
          </p:nvSpPr>
          <p:spPr bwMode="auto">
            <a:xfrm flipH="1">
              <a:off x="1202" y="255"/>
              <a:ext cx="363" cy="0"/>
            </a:xfrm>
            <a:prstGeom prst="line">
              <a:avLst/>
            </a:prstGeom>
            <a:noFill/>
            <a:ln w="2857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Text Box 8"/>
            <p:cNvSpPr txBox="1">
              <a:spLocks noChangeArrowheads="1"/>
            </p:cNvSpPr>
            <p:nvPr/>
          </p:nvSpPr>
          <p:spPr bwMode="auto">
            <a:xfrm>
              <a:off x="1746" y="164"/>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sz="2000" b="0">
                  <a:latin typeface="宋体" charset="-122"/>
                </a:rPr>
                <a:t>+</a:t>
              </a:r>
            </a:p>
          </p:txBody>
        </p:sp>
        <p:sp>
          <p:nvSpPr>
            <p:cNvPr id="41" name="Text Box 9"/>
            <p:cNvSpPr txBox="1">
              <a:spLocks noChangeArrowheads="1"/>
            </p:cNvSpPr>
            <p:nvPr/>
          </p:nvSpPr>
          <p:spPr bwMode="auto">
            <a:xfrm>
              <a:off x="1746" y="663"/>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sz="2000" b="0">
                  <a:latin typeface="宋体" charset="-122"/>
                </a:rPr>
                <a:t>-</a:t>
              </a:r>
            </a:p>
          </p:txBody>
        </p:sp>
        <p:sp>
          <p:nvSpPr>
            <p:cNvPr id="42" name="Text Box 10"/>
            <p:cNvSpPr txBox="1">
              <a:spLocks noChangeArrowheads="1"/>
            </p:cNvSpPr>
            <p:nvPr/>
          </p:nvSpPr>
          <p:spPr bwMode="auto">
            <a:xfrm>
              <a:off x="1791" y="436"/>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sz="2000" b="0" i="1">
                  <a:ea typeface="仿宋_GB2312" pitchFamily="49" charset="-122"/>
                </a:rPr>
                <a:t>v</a:t>
              </a:r>
            </a:p>
          </p:txBody>
        </p:sp>
        <p:sp>
          <p:nvSpPr>
            <p:cNvPr id="43" name="Text Box 11"/>
            <p:cNvSpPr txBox="1">
              <a:spLocks noChangeArrowheads="1"/>
            </p:cNvSpPr>
            <p:nvPr/>
          </p:nvSpPr>
          <p:spPr bwMode="auto">
            <a:xfrm>
              <a:off x="1292" y="300"/>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sz="2000" b="0" i="1">
                  <a:ea typeface="仿宋_GB2312" pitchFamily="49" charset="-122"/>
                </a:rPr>
                <a:t>i</a:t>
              </a:r>
            </a:p>
          </p:txBody>
        </p:sp>
      </p:grpSp>
      <p:grpSp>
        <p:nvGrpSpPr>
          <p:cNvPr id="48" name="Group 12"/>
          <p:cNvGrpSpPr>
            <a:grpSpLocks/>
          </p:cNvGrpSpPr>
          <p:nvPr/>
        </p:nvGrpSpPr>
        <p:grpSpPr bwMode="auto">
          <a:xfrm>
            <a:off x="3814763" y="3118305"/>
            <a:ext cx="1439862" cy="719138"/>
            <a:chOff x="2109" y="210"/>
            <a:chExt cx="907" cy="453"/>
          </a:xfrm>
        </p:grpSpPr>
        <p:sp>
          <p:nvSpPr>
            <p:cNvPr id="49" name="AutoShape 13"/>
            <p:cNvSpPr>
              <a:spLocks noChangeArrowheads="1"/>
            </p:cNvSpPr>
            <p:nvPr/>
          </p:nvSpPr>
          <p:spPr bwMode="auto">
            <a:xfrm>
              <a:off x="2109" y="482"/>
              <a:ext cx="907" cy="181"/>
            </a:xfrm>
            <a:prstGeom prst="leftRightArrow">
              <a:avLst>
                <a:gd name="adj1" fmla="val 50000"/>
                <a:gd name="adj2" fmla="val 100221"/>
              </a:avLst>
            </a:prstGeom>
            <a:solidFill>
              <a:srgbClr val="66CCFF"/>
            </a:solidFill>
            <a:ln>
              <a:noFill/>
            </a:ln>
            <a:effectLst/>
            <a:extLst>
              <a:ext uri="{91240B29-F687-4F45-9708-019B960494DF}">
                <a14:hiddenLine xmlns:a14="http://schemas.microsoft.com/office/drawing/2010/main" w="9525">
                  <a:solidFill>
                    <a:srgbClr val="66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Text Box 14"/>
            <p:cNvSpPr txBox="1">
              <a:spLocks noChangeArrowheads="1"/>
            </p:cNvSpPr>
            <p:nvPr/>
          </p:nvSpPr>
          <p:spPr bwMode="auto">
            <a:xfrm>
              <a:off x="2290" y="210"/>
              <a:ext cx="7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zh-CN" altLang="en-US" sz="2000">
                  <a:latin typeface="Arial" charset="0"/>
                </a:rPr>
                <a:t>等效</a:t>
              </a:r>
            </a:p>
          </p:txBody>
        </p:sp>
      </p:grpSp>
      <p:sp>
        <p:nvSpPr>
          <p:cNvPr id="51" name="Text Box 15"/>
          <p:cNvSpPr txBox="1">
            <a:spLocks noChangeArrowheads="1"/>
          </p:cNvSpPr>
          <p:nvPr/>
        </p:nvSpPr>
        <p:spPr bwMode="auto">
          <a:xfrm>
            <a:off x="684213" y="4573818"/>
            <a:ext cx="7559675" cy="3968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Aft>
                <a:spcPct val="50000"/>
              </a:spcAft>
            </a:pPr>
            <a:r>
              <a:rPr kumimoji="0" lang="zh-CN" altLang="en-US" sz="2000">
                <a:latin typeface="楷体_GB2312" pitchFamily="49" charset="-122"/>
                <a:ea typeface="楷体_GB2312" pitchFamily="49" charset="-122"/>
              </a:rPr>
              <a:t>对</a:t>
            </a:r>
            <a:r>
              <a:rPr kumimoji="0" lang="en-US" altLang="zh-CN" sz="2000" b="0">
                <a:ea typeface="楷体_GB2312" pitchFamily="49" charset="-122"/>
              </a:rPr>
              <a:t>A</a:t>
            </a:r>
            <a:r>
              <a:rPr kumimoji="0" lang="zh-CN" altLang="en-US" sz="2000">
                <a:latin typeface="楷体_GB2312" pitchFamily="49" charset="-122"/>
                <a:ea typeface="楷体_GB2312" pitchFamily="49" charset="-122"/>
              </a:rPr>
              <a:t>电路中的电流、电压和功率而言，满足：</a:t>
            </a:r>
          </a:p>
        </p:txBody>
      </p:sp>
      <p:grpSp>
        <p:nvGrpSpPr>
          <p:cNvPr id="52" name="Group 16"/>
          <p:cNvGrpSpPr>
            <a:grpSpLocks/>
          </p:cNvGrpSpPr>
          <p:nvPr/>
        </p:nvGrpSpPr>
        <p:grpSpPr bwMode="auto">
          <a:xfrm>
            <a:off x="1022350" y="5233988"/>
            <a:ext cx="2951163" cy="1223962"/>
            <a:chOff x="431" y="1752"/>
            <a:chExt cx="1859" cy="771"/>
          </a:xfrm>
        </p:grpSpPr>
        <p:grpSp>
          <p:nvGrpSpPr>
            <p:cNvPr id="53" name="Group 17"/>
            <p:cNvGrpSpPr>
              <a:grpSpLocks/>
            </p:cNvGrpSpPr>
            <p:nvPr/>
          </p:nvGrpSpPr>
          <p:grpSpPr bwMode="auto">
            <a:xfrm>
              <a:off x="431" y="1752"/>
              <a:ext cx="1270" cy="771"/>
              <a:chOff x="612" y="1979"/>
              <a:chExt cx="1270" cy="771"/>
            </a:xfrm>
          </p:grpSpPr>
          <p:sp>
            <p:nvSpPr>
              <p:cNvPr id="55" name="Rectangle 18"/>
              <p:cNvSpPr>
                <a:spLocks noChangeArrowheads="1"/>
              </p:cNvSpPr>
              <p:nvPr/>
            </p:nvSpPr>
            <p:spPr bwMode="auto">
              <a:xfrm>
                <a:off x="612" y="1979"/>
                <a:ext cx="635" cy="771"/>
              </a:xfrm>
              <a:prstGeom prst="rect">
                <a:avLst/>
              </a:prstGeom>
              <a:gradFill rotWithShape="1">
                <a:gsLst>
                  <a:gs pos="0">
                    <a:srgbClr val="FF9900"/>
                  </a:gs>
                  <a:gs pos="100000">
                    <a:srgbClr val="FF9900">
                      <a:gamma/>
                      <a:shade val="46275"/>
                      <a:invGamma/>
                    </a:srgbClr>
                  </a:gs>
                </a:gsLst>
                <a:path path="shape">
                  <a:fillToRect l="50000" t="50000" r="50000" b="50000"/>
                </a:path>
              </a:gradFill>
              <a:ln>
                <a:noFill/>
              </a:ln>
              <a:effectLst/>
              <a:extLs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0" lang="en-US" altLang="zh-CN" sz="2000" b="0">
                    <a:ea typeface="仿宋_GB2312" pitchFamily="49" charset="-122"/>
                  </a:rPr>
                  <a:t>B</a:t>
                </a:r>
              </a:p>
            </p:txBody>
          </p:sp>
          <p:sp>
            <p:nvSpPr>
              <p:cNvPr id="56" name="Line 19"/>
              <p:cNvSpPr>
                <a:spLocks noChangeShapeType="1"/>
              </p:cNvSpPr>
              <p:nvPr/>
            </p:nvSpPr>
            <p:spPr bwMode="auto">
              <a:xfrm>
                <a:off x="1247" y="2115"/>
                <a:ext cx="635" cy="0"/>
              </a:xfrm>
              <a:prstGeom prst="line">
                <a:avLst/>
              </a:prstGeom>
              <a:noFill/>
              <a:ln w="38100">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20"/>
              <p:cNvSpPr>
                <a:spLocks noChangeShapeType="1"/>
              </p:cNvSpPr>
              <p:nvPr/>
            </p:nvSpPr>
            <p:spPr bwMode="auto">
              <a:xfrm>
                <a:off x="1247" y="2614"/>
                <a:ext cx="635" cy="0"/>
              </a:xfrm>
              <a:prstGeom prst="line">
                <a:avLst/>
              </a:prstGeom>
              <a:noFill/>
              <a:ln w="38100">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4" name="Rectangle 21"/>
            <p:cNvSpPr>
              <a:spLocks noChangeArrowheads="1"/>
            </p:cNvSpPr>
            <p:nvPr/>
          </p:nvSpPr>
          <p:spPr bwMode="auto">
            <a:xfrm>
              <a:off x="1655" y="1752"/>
              <a:ext cx="635" cy="771"/>
            </a:xfrm>
            <a:prstGeom prst="rect">
              <a:avLst/>
            </a:prstGeom>
            <a:gradFill rotWithShape="1">
              <a:gsLst>
                <a:gs pos="0">
                  <a:schemeClr val="folHlink"/>
                </a:gs>
                <a:gs pos="100000">
                  <a:schemeClr val="folHlink">
                    <a:gamma/>
                    <a:shade val="46275"/>
                    <a:invGamma/>
                  </a:schemeClr>
                </a:gs>
              </a:gsLst>
              <a:path path="shape">
                <a:fillToRect l="50000" t="50000" r="50000" b="50000"/>
              </a:path>
            </a:gradFill>
            <a:ln>
              <a:noFill/>
            </a:ln>
            <a:effectLst/>
            <a:extLs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0" lang="en-US" altLang="zh-CN" sz="2000" b="0">
                  <a:ea typeface="仿宋_GB2312" pitchFamily="49" charset="-122"/>
                </a:rPr>
                <a:t>A</a:t>
              </a:r>
            </a:p>
          </p:txBody>
        </p:sp>
      </p:grpSp>
      <p:grpSp>
        <p:nvGrpSpPr>
          <p:cNvPr id="58" name="Group 22"/>
          <p:cNvGrpSpPr>
            <a:grpSpLocks/>
          </p:cNvGrpSpPr>
          <p:nvPr/>
        </p:nvGrpSpPr>
        <p:grpSpPr bwMode="auto">
          <a:xfrm>
            <a:off x="5270500" y="5238750"/>
            <a:ext cx="2951163" cy="1223963"/>
            <a:chOff x="431" y="1752"/>
            <a:chExt cx="1859" cy="771"/>
          </a:xfrm>
        </p:grpSpPr>
        <p:grpSp>
          <p:nvGrpSpPr>
            <p:cNvPr id="59" name="Group 23"/>
            <p:cNvGrpSpPr>
              <a:grpSpLocks/>
            </p:cNvGrpSpPr>
            <p:nvPr/>
          </p:nvGrpSpPr>
          <p:grpSpPr bwMode="auto">
            <a:xfrm>
              <a:off x="431" y="1752"/>
              <a:ext cx="1270" cy="771"/>
              <a:chOff x="612" y="1979"/>
              <a:chExt cx="1270" cy="771"/>
            </a:xfrm>
          </p:grpSpPr>
          <p:sp>
            <p:nvSpPr>
              <p:cNvPr id="61" name="Rectangle 24"/>
              <p:cNvSpPr>
                <a:spLocks noChangeArrowheads="1"/>
              </p:cNvSpPr>
              <p:nvPr/>
            </p:nvSpPr>
            <p:spPr bwMode="auto">
              <a:xfrm>
                <a:off x="612" y="1979"/>
                <a:ext cx="635" cy="771"/>
              </a:xfrm>
              <a:prstGeom prst="rect">
                <a:avLst/>
              </a:prstGeom>
              <a:gradFill rotWithShape="1">
                <a:gsLst>
                  <a:gs pos="0">
                    <a:srgbClr val="FF9900"/>
                  </a:gs>
                  <a:gs pos="100000">
                    <a:srgbClr val="FF9900">
                      <a:gamma/>
                      <a:shade val="46275"/>
                      <a:invGamma/>
                    </a:srgbClr>
                  </a:gs>
                </a:gsLst>
                <a:path path="shape">
                  <a:fillToRect l="50000" t="50000" r="50000" b="50000"/>
                </a:path>
              </a:gradFill>
              <a:ln>
                <a:noFill/>
              </a:ln>
              <a:effectLst/>
              <a:extLs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0" lang="en-US" altLang="zh-CN" sz="2000" b="0">
                    <a:ea typeface="仿宋_GB2312" pitchFamily="49" charset="-122"/>
                  </a:rPr>
                  <a:t>C</a:t>
                </a:r>
              </a:p>
            </p:txBody>
          </p:sp>
          <p:sp>
            <p:nvSpPr>
              <p:cNvPr id="62" name="Line 25"/>
              <p:cNvSpPr>
                <a:spLocks noChangeShapeType="1"/>
              </p:cNvSpPr>
              <p:nvPr/>
            </p:nvSpPr>
            <p:spPr bwMode="auto">
              <a:xfrm>
                <a:off x="1247" y="2115"/>
                <a:ext cx="635" cy="0"/>
              </a:xfrm>
              <a:prstGeom prst="line">
                <a:avLst/>
              </a:prstGeom>
              <a:noFill/>
              <a:ln w="38100">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26"/>
              <p:cNvSpPr>
                <a:spLocks noChangeShapeType="1"/>
              </p:cNvSpPr>
              <p:nvPr/>
            </p:nvSpPr>
            <p:spPr bwMode="auto">
              <a:xfrm>
                <a:off x="1247" y="2614"/>
                <a:ext cx="635" cy="0"/>
              </a:xfrm>
              <a:prstGeom prst="line">
                <a:avLst/>
              </a:prstGeom>
              <a:noFill/>
              <a:ln w="38100">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0" name="Rectangle 27"/>
            <p:cNvSpPr>
              <a:spLocks noChangeArrowheads="1"/>
            </p:cNvSpPr>
            <p:nvPr/>
          </p:nvSpPr>
          <p:spPr bwMode="auto">
            <a:xfrm>
              <a:off x="1655" y="1752"/>
              <a:ext cx="635" cy="771"/>
            </a:xfrm>
            <a:prstGeom prst="rect">
              <a:avLst/>
            </a:prstGeom>
            <a:gradFill rotWithShape="1">
              <a:gsLst>
                <a:gs pos="0">
                  <a:schemeClr val="folHlink"/>
                </a:gs>
                <a:gs pos="100000">
                  <a:schemeClr val="folHlink">
                    <a:gamma/>
                    <a:shade val="46275"/>
                    <a:invGamma/>
                  </a:schemeClr>
                </a:gs>
              </a:gsLst>
              <a:path path="shape">
                <a:fillToRect l="50000" t="50000" r="50000" b="50000"/>
              </a:path>
            </a:gradFill>
            <a:ln>
              <a:noFill/>
            </a:ln>
            <a:effectLst/>
            <a:extLs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0" lang="en-US" altLang="zh-CN" sz="2000" b="0">
                  <a:ea typeface="仿宋_GB2312" pitchFamily="49" charset="-122"/>
                </a:rPr>
                <a:t>A</a:t>
              </a:r>
            </a:p>
          </p:txBody>
        </p:sp>
      </p:grpSp>
      <p:grpSp>
        <p:nvGrpSpPr>
          <p:cNvPr id="64" name="Group 28"/>
          <p:cNvGrpSpPr>
            <a:grpSpLocks/>
          </p:cNvGrpSpPr>
          <p:nvPr/>
        </p:nvGrpSpPr>
        <p:grpSpPr bwMode="auto">
          <a:xfrm>
            <a:off x="4262438" y="5762625"/>
            <a:ext cx="792162" cy="215900"/>
            <a:chOff x="2154" y="3203"/>
            <a:chExt cx="499" cy="136"/>
          </a:xfrm>
        </p:grpSpPr>
        <p:sp>
          <p:nvSpPr>
            <p:cNvPr id="65" name="Line 29"/>
            <p:cNvSpPr>
              <a:spLocks noChangeShapeType="1"/>
            </p:cNvSpPr>
            <p:nvPr/>
          </p:nvSpPr>
          <p:spPr bwMode="auto">
            <a:xfrm>
              <a:off x="2154" y="3203"/>
              <a:ext cx="499" cy="0"/>
            </a:xfrm>
            <a:prstGeom prst="line">
              <a:avLst/>
            </a:prstGeom>
            <a:noFill/>
            <a:ln w="57150">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30"/>
            <p:cNvSpPr>
              <a:spLocks noChangeShapeType="1"/>
            </p:cNvSpPr>
            <p:nvPr/>
          </p:nvSpPr>
          <p:spPr bwMode="auto">
            <a:xfrm>
              <a:off x="2154" y="3339"/>
              <a:ext cx="499" cy="0"/>
            </a:xfrm>
            <a:prstGeom prst="line">
              <a:avLst/>
            </a:prstGeom>
            <a:noFill/>
            <a:ln w="57150">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8" name="Text Box 32"/>
          <p:cNvSpPr txBox="1">
            <a:spLocks noChangeArrowheads="1"/>
          </p:cNvSpPr>
          <p:nvPr/>
        </p:nvSpPr>
        <p:spPr bwMode="auto">
          <a:xfrm>
            <a:off x="611188" y="2204586"/>
            <a:ext cx="7848600" cy="831850"/>
          </a:xfrm>
          <a:prstGeom prst="rect">
            <a:avLst/>
          </a:prstGeom>
          <a:noFill/>
          <a:ln w="9525">
            <a:solidFill>
              <a:schemeClr val="bg1"/>
            </a:solidFill>
            <a:miter lim="800000"/>
            <a:headEnd/>
            <a:tailEnd/>
          </a:ln>
          <a:effectLst/>
          <a:extLst>
            <a:ext uri="{909E8E84-426E-40DD-AFC4-6F175D3DCCD1}">
              <a14:hiddenFill xmlns:a14="http://schemas.microsoft.com/office/drawing/2010/main">
                <a:gradFill rotWithShape="0">
                  <a:gsLst>
                    <a:gs pos="0">
                      <a:srgbClr val="FFFFFF"/>
                    </a:gs>
                    <a:gs pos="100000">
                      <a:schemeClr val="accent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lang="en-US" altLang="zh-CN" sz="2000" b="0" dirty="0">
                <a:latin typeface="楷体_GB2312" pitchFamily="49" charset="-122"/>
                <a:ea typeface="楷体_GB2312" pitchFamily="49" charset="-122"/>
              </a:rPr>
              <a:t>    </a:t>
            </a:r>
            <a:r>
              <a:rPr lang="zh-CN" altLang="en-US" sz="2000" dirty="0">
                <a:latin typeface="楷体_GB2312" pitchFamily="49" charset="-122"/>
                <a:ea typeface="楷体_GB2312" pitchFamily="49" charset="-122"/>
              </a:rPr>
              <a:t>两</a:t>
            </a:r>
            <a:r>
              <a:rPr lang="zh-CN" altLang="en-US" sz="2000" dirty="0" smtClean="0">
                <a:latin typeface="楷体_GB2312" pitchFamily="49" charset="-122"/>
                <a:ea typeface="楷体_GB2312" pitchFamily="49" charset="-122"/>
              </a:rPr>
              <a:t>个</a:t>
            </a:r>
            <a:r>
              <a:rPr lang="zh-CN" altLang="en-US" sz="2000" dirty="0">
                <a:latin typeface="楷体_GB2312" pitchFamily="49" charset="-122"/>
                <a:ea typeface="楷体_GB2312" pitchFamily="49" charset="-122"/>
              </a:rPr>
              <a:t>二</a:t>
            </a:r>
            <a:r>
              <a:rPr lang="zh-CN" altLang="en-US" sz="2000" dirty="0" smtClean="0">
                <a:latin typeface="楷体_GB2312" pitchFamily="49" charset="-122"/>
                <a:ea typeface="楷体_GB2312" pitchFamily="49" charset="-122"/>
              </a:rPr>
              <a:t>端电路</a:t>
            </a:r>
            <a:r>
              <a:rPr lang="zh-CN" altLang="en-US" sz="2000" dirty="0">
                <a:latin typeface="楷体_GB2312" pitchFamily="49" charset="-122"/>
                <a:ea typeface="楷体_GB2312" pitchFamily="49" charset="-122"/>
              </a:rPr>
              <a:t>，端口具有相同的电压、电流关系</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则称它们是等效的电路。</a:t>
            </a:r>
          </a:p>
        </p:txBody>
      </p:sp>
      <p:grpSp>
        <p:nvGrpSpPr>
          <p:cNvPr id="69" name="Group 33"/>
          <p:cNvGrpSpPr>
            <a:grpSpLocks/>
          </p:cNvGrpSpPr>
          <p:nvPr/>
        </p:nvGrpSpPr>
        <p:grpSpPr bwMode="auto">
          <a:xfrm>
            <a:off x="5470525" y="3077030"/>
            <a:ext cx="2517775" cy="1296988"/>
            <a:chOff x="431" y="164"/>
            <a:chExt cx="1586" cy="817"/>
          </a:xfrm>
        </p:grpSpPr>
        <p:grpSp>
          <p:nvGrpSpPr>
            <p:cNvPr id="70" name="Group 34"/>
            <p:cNvGrpSpPr>
              <a:grpSpLocks/>
            </p:cNvGrpSpPr>
            <p:nvPr/>
          </p:nvGrpSpPr>
          <p:grpSpPr bwMode="auto">
            <a:xfrm>
              <a:off x="431" y="210"/>
              <a:ext cx="1270" cy="771"/>
              <a:chOff x="612" y="1979"/>
              <a:chExt cx="1270" cy="771"/>
            </a:xfrm>
          </p:grpSpPr>
          <p:sp>
            <p:nvSpPr>
              <p:cNvPr id="76" name="Rectangle 35"/>
              <p:cNvSpPr>
                <a:spLocks noChangeArrowheads="1"/>
              </p:cNvSpPr>
              <p:nvPr/>
            </p:nvSpPr>
            <p:spPr bwMode="auto">
              <a:xfrm>
                <a:off x="612" y="1979"/>
                <a:ext cx="635" cy="771"/>
              </a:xfrm>
              <a:prstGeom prst="rect">
                <a:avLst/>
              </a:prstGeom>
              <a:gradFill rotWithShape="1">
                <a:gsLst>
                  <a:gs pos="0">
                    <a:srgbClr val="FF9900"/>
                  </a:gs>
                  <a:gs pos="100000">
                    <a:srgbClr val="FF9900">
                      <a:gamma/>
                      <a:shade val="46275"/>
                      <a:invGamma/>
                    </a:srgbClr>
                  </a:gs>
                </a:gsLst>
                <a:path path="shape">
                  <a:fillToRect l="50000" t="50000" r="50000" b="50000"/>
                </a:path>
              </a:gradFill>
              <a:ln>
                <a:noFill/>
              </a:ln>
              <a:effectLst/>
              <a:extLs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kumimoji="0" lang="en-US" altLang="zh-CN" sz="2000" b="0" dirty="0">
                    <a:ea typeface="仿宋_GB2312" pitchFamily="49" charset="-122"/>
                  </a:rPr>
                  <a:t>C</a:t>
                </a:r>
              </a:p>
            </p:txBody>
          </p:sp>
          <p:sp>
            <p:nvSpPr>
              <p:cNvPr id="77" name="Line 36"/>
              <p:cNvSpPr>
                <a:spLocks noChangeShapeType="1"/>
              </p:cNvSpPr>
              <p:nvPr/>
            </p:nvSpPr>
            <p:spPr bwMode="auto">
              <a:xfrm>
                <a:off x="1247" y="2115"/>
                <a:ext cx="635" cy="0"/>
              </a:xfrm>
              <a:prstGeom prst="line">
                <a:avLst/>
              </a:prstGeom>
              <a:noFill/>
              <a:ln w="38100">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Line 37"/>
              <p:cNvSpPr>
                <a:spLocks noChangeShapeType="1"/>
              </p:cNvSpPr>
              <p:nvPr/>
            </p:nvSpPr>
            <p:spPr bwMode="auto">
              <a:xfrm>
                <a:off x="1247" y="2614"/>
                <a:ext cx="635" cy="0"/>
              </a:xfrm>
              <a:prstGeom prst="line">
                <a:avLst/>
              </a:prstGeom>
              <a:noFill/>
              <a:ln w="38100">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1" name="Line 38"/>
            <p:cNvSpPr>
              <a:spLocks noChangeShapeType="1"/>
            </p:cNvSpPr>
            <p:nvPr/>
          </p:nvSpPr>
          <p:spPr bwMode="auto">
            <a:xfrm flipH="1">
              <a:off x="1202" y="255"/>
              <a:ext cx="363" cy="0"/>
            </a:xfrm>
            <a:prstGeom prst="line">
              <a:avLst/>
            </a:prstGeom>
            <a:noFill/>
            <a:ln w="2857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Text Box 39"/>
            <p:cNvSpPr txBox="1">
              <a:spLocks noChangeArrowheads="1"/>
            </p:cNvSpPr>
            <p:nvPr/>
          </p:nvSpPr>
          <p:spPr bwMode="auto">
            <a:xfrm>
              <a:off x="1746" y="164"/>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sz="2000" b="0">
                  <a:latin typeface="宋体" charset="-122"/>
                </a:rPr>
                <a:t>+</a:t>
              </a:r>
            </a:p>
          </p:txBody>
        </p:sp>
        <p:sp>
          <p:nvSpPr>
            <p:cNvPr id="73" name="Text Box 40"/>
            <p:cNvSpPr txBox="1">
              <a:spLocks noChangeArrowheads="1"/>
            </p:cNvSpPr>
            <p:nvPr/>
          </p:nvSpPr>
          <p:spPr bwMode="auto">
            <a:xfrm>
              <a:off x="1746" y="663"/>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sz="2000" b="0">
                  <a:latin typeface="宋体" charset="-122"/>
                </a:rPr>
                <a:t>-</a:t>
              </a:r>
            </a:p>
          </p:txBody>
        </p:sp>
        <p:sp>
          <p:nvSpPr>
            <p:cNvPr id="74" name="Text Box 41"/>
            <p:cNvSpPr txBox="1">
              <a:spLocks noChangeArrowheads="1"/>
            </p:cNvSpPr>
            <p:nvPr/>
          </p:nvSpPr>
          <p:spPr bwMode="auto">
            <a:xfrm>
              <a:off x="1791" y="436"/>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sz="2000" b="0" i="1">
                  <a:ea typeface="仿宋_GB2312" pitchFamily="49" charset="-122"/>
                </a:rPr>
                <a:t>v</a:t>
              </a:r>
            </a:p>
          </p:txBody>
        </p:sp>
        <p:sp>
          <p:nvSpPr>
            <p:cNvPr id="75" name="Text Box 42"/>
            <p:cNvSpPr txBox="1">
              <a:spLocks noChangeArrowheads="1"/>
            </p:cNvSpPr>
            <p:nvPr/>
          </p:nvSpPr>
          <p:spPr bwMode="auto">
            <a:xfrm>
              <a:off x="1292" y="300"/>
              <a:ext cx="226" cy="25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en-US" altLang="zh-CN" sz="2000" b="0" i="1">
                  <a:ea typeface="仿宋_GB2312" pitchFamily="49" charset="-122"/>
                </a:rPr>
                <a:t>i</a:t>
              </a:r>
            </a:p>
          </p:txBody>
        </p:sp>
      </p:grpSp>
    </p:spTree>
    <p:extLst>
      <p:ext uri="{BB962C8B-B14F-4D97-AF65-F5344CB8AC3E}">
        <p14:creationId xmlns:p14="http://schemas.microsoft.com/office/powerpoint/2010/main" val="3698666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66280"/>
                                        </p:tgtEl>
                                        <p:attrNameLst>
                                          <p:attrName>style.visibility</p:attrName>
                                        </p:attrNameLst>
                                      </p:cBhvr>
                                      <p:to>
                                        <p:strVal val="visible"/>
                                      </p:to>
                                    </p:set>
                                    <p:animEffect transition="in" filter="diamond(in)">
                                      <p:cBhvr>
                                        <p:cTn id="7" dur="1000"/>
                                        <p:tgtEl>
                                          <p:spTgt spid="2662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68">
                                            <p:txEl>
                                              <p:pRg st="0" end="0"/>
                                            </p:txEl>
                                          </p:spTgt>
                                        </p:tgtEl>
                                        <p:attrNameLst>
                                          <p:attrName>style.visibility</p:attrName>
                                        </p:attrNameLst>
                                      </p:cBhvr>
                                      <p:to>
                                        <p:strVal val="visible"/>
                                      </p:to>
                                    </p:set>
                                    <p:animEffect transition="in" filter="wipe(up)">
                                      <p:cBhvr>
                                        <p:cTn id="12" dur="75"/>
                                        <p:tgtEl>
                                          <p:spTgt spid="6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edge">
                                      <p:cBhvr>
                                        <p:cTn id="17" dur="20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wedge">
                                      <p:cBhvr>
                                        <p:cTn id="22" dur="2000"/>
                                        <p:tgtEl>
                                          <p:spTgt spid="6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500" fill="hold"/>
                                        <p:tgtEl>
                                          <p:spTgt spid="48"/>
                                        </p:tgtEl>
                                        <p:attrNameLst>
                                          <p:attrName>ppt_x</p:attrName>
                                        </p:attrNameLst>
                                      </p:cBhvr>
                                      <p:tavLst>
                                        <p:tav tm="0">
                                          <p:val>
                                            <p:strVal val="#ppt_x"/>
                                          </p:val>
                                        </p:tav>
                                        <p:tav tm="100000">
                                          <p:val>
                                            <p:strVal val="#ppt_x"/>
                                          </p:val>
                                        </p:tav>
                                      </p:tavLst>
                                    </p:anim>
                                    <p:anim calcmode="lin" valueType="num">
                                      <p:cBhvr additive="base">
                                        <p:cTn id="2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left)">
                                      <p:cBhvr>
                                        <p:cTn id="33" dur="2000"/>
                                        <p:tgtEl>
                                          <p:spTgt spid="5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wipe(right)">
                                      <p:cBhvr>
                                        <p:cTn id="38" dur="1000"/>
                                        <p:tgtEl>
                                          <p:spTgt spid="52"/>
                                        </p:tgtEl>
                                      </p:cBhvr>
                                    </p:animEffect>
                                  </p:childTnLst>
                                </p:cTn>
                              </p:par>
                            </p:childTnLst>
                          </p:cTn>
                        </p:par>
                        <p:par>
                          <p:cTn id="39" fill="hold">
                            <p:stCondLst>
                              <p:cond delay="1000"/>
                            </p:stCondLst>
                            <p:childTnLst>
                              <p:par>
                                <p:cTn id="40" presetID="23" presetClass="entr" presetSubtype="16" fill="hold" nodeType="afterEffect">
                                  <p:stCondLst>
                                    <p:cond delay="0"/>
                                  </p:stCondLst>
                                  <p:childTnLst>
                                    <p:set>
                                      <p:cBhvr>
                                        <p:cTn id="41" dur="1" fill="hold">
                                          <p:stCondLst>
                                            <p:cond delay="0"/>
                                          </p:stCondLst>
                                        </p:cTn>
                                        <p:tgtEl>
                                          <p:spTgt spid="64"/>
                                        </p:tgtEl>
                                        <p:attrNameLst>
                                          <p:attrName>style.visibility</p:attrName>
                                        </p:attrNameLst>
                                      </p:cBhvr>
                                      <p:to>
                                        <p:strVal val="visible"/>
                                      </p:to>
                                    </p:set>
                                    <p:anim calcmode="lin" valueType="num">
                                      <p:cBhvr>
                                        <p:cTn id="42" dur="500" fill="hold"/>
                                        <p:tgtEl>
                                          <p:spTgt spid="64"/>
                                        </p:tgtEl>
                                        <p:attrNameLst>
                                          <p:attrName>ppt_w</p:attrName>
                                        </p:attrNameLst>
                                      </p:cBhvr>
                                      <p:tavLst>
                                        <p:tav tm="0">
                                          <p:val>
                                            <p:fltVal val="0"/>
                                          </p:val>
                                        </p:tav>
                                        <p:tav tm="100000">
                                          <p:val>
                                            <p:strVal val="#ppt_w"/>
                                          </p:val>
                                        </p:tav>
                                      </p:tavLst>
                                    </p:anim>
                                    <p:anim calcmode="lin" valueType="num">
                                      <p:cBhvr>
                                        <p:cTn id="43" dur="500" fill="hold"/>
                                        <p:tgtEl>
                                          <p:spTgt spid="64"/>
                                        </p:tgtEl>
                                        <p:attrNameLst>
                                          <p:attrName>ppt_h</p:attrName>
                                        </p:attrNameLst>
                                      </p:cBhvr>
                                      <p:tavLst>
                                        <p:tav tm="0">
                                          <p:val>
                                            <p:fltVal val="0"/>
                                          </p:val>
                                        </p:tav>
                                        <p:tav tm="100000">
                                          <p:val>
                                            <p:strVal val="#ppt_h"/>
                                          </p:val>
                                        </p:tav>
                                      </p:tavLst>
                                    </p:anim>
                                  </p:childTnLst>
                                </p:cTn>
                              </p:par>
                            </p:childTnLst>
                          </p:cTn>
                        </p:par>
                        <p:par>
                          <p:cTn id="44" fill="hold">
                            <p:stCondLst>
                              <p:cond delay="1500"/>
                            </p:stCondLst>
                            <p:childTnLst>
                              <p:par>
                                <p:cTn id="45" presetID="22" presetClass="entr" presetSubtype="2" fill="hold" nodeType="after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wipe(right)">
                                      <p:cBhvr>
                                        <p:cTn id="47" dur="1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68"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p:cNvSpPr txBox="1">
            <a:spLocks noChangeArrowheads="1"/>
          </p:cNvSpPr>
          <p:nvPr/>
        </p:nvSpPr>
        <p:spPr bwMode="auto">
          <a:xfrm>
            <a:off x="639763" y="1655763"/>
            <a:ext cx="4537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buFontTx/>
              <a:buAutoNum type="circleNumDbPlain"/>
            </a:pPr>
            <a:r>
              <a:rPr kumimoji="0" lang="zh-CN" altLang="en-US">
                <a:latin typeface="楷体_GB2312" pitchFamily="49" charset="-122"/>
                <a:ea typeface="楷体_GB2312" pitchFamily="49" charset="-122"/>
              </a:rPr>
              <a:t>电路等效变换的条件：</a:t>
            </a:r>
            <a:endParaRPr kumimoji="0" lang="zh-CN" altLang="en-US" b="0">
              <a:latin typeface="楷体_GB2312" pitchFamily="49" charset="-122"/>
              <a:ea typeface="楷体_GB2312" pitchFamily="49" charset="-122"/>
            </a:endParaRPr>
          </a:p>
        </p:txBody>
      </p:sp>
      <p:sp>
        <p:nvSpPr>
          <p:cNvPr id="269315" name="Text Box 3"/>
          <p:cNvSpPr txBox="1">
            <a:spLocks noChangeArrowheads="1"/>
          </p:cNvSpPr>
          <p:nvPr/>
        </p:nvSpPr>
        <p:spPr bwMode="auto">
          <a:xfrm>
            <a:off x="611188" y="3155950"/>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buFontTx/>
              <a:buAutoNum type="circleNumDbPlain" startAt="2"/>
            </a:pPr>
            <a:r>
              <a:rPr kumimoji="0" lang="zh-CN" altLang="en-US">
                <a:latin typeface="楷体_GB2312" pitchFamily="49" charset="-122"/>
                <a:ea typeface="楷体_GB2312" pitchFamily="49" charset="-122"/>
              </a:rPr>
              <a:t>电路等效变换的对象：</a:t>
            </a:r>
            <a:endParaRPr kumimoji="0" lang="zh-CN" altLang="en-US" b="0">
              <a:latin typeface="楷体_GB2312" pitchFamily="49" charset="-122"/>
              <a:ea typeface="楷体_GB2312" pitchFamily="49" charset="-122"/>
            </a:endParaRPr>
          </a:p>
        </p:txBody>
      </p:sp>
      <p:sp>
        <p:nvSpPr>
          <p:cNvPr id="269316" name="Text Box 4"/>
          <p:cNvSpPr txBox="1">
            <a:spLocks noChangeArrowheads="1"/>
          </p:cNvSpPr>
          <p:nvPr/>
        </p:nvSpPr>
        <p:spPr bwMode="auto">
          <a:xfrm>
            <a:off x="630238" y="4797425"/>
            <a:ext cx="4679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buFontTx/>
              <a:buAutoNum type="circleNumDbPlain" startAt="3"/>
            </a:pPr>
            <a:r>
              <a:rPr kumimoji="0" lang="zh-CN" altLang="en-US">
                <a:latin typeface="楷体_GB2312" pitchFamily="49" charset="-122"/>
                <a:ea typeface="楷体_GB2312" pitchFamily="49" charset="-122"/>
              </a:rPr>
              <a:t>电路等效变换的目的：</a:t>
            </a:r>
            <a:endParaRPr kumimoji="0" lang="zh-CN" altLang="en-US" b="0">
              <a:latin typeface="楷体_GB2312" pitchFamily="49" charset="-122"/>
              <a:ea typeface="楷体_GB2312" pitchFamily="49" charset="-122"/>
            </a:endParaRPr>
          </a:p>
        </p:txBody>
      </p:sp>
      <p:sp>
        <p:nvSpPr>
          <p:cNvPr id="269317" name="Text Box 5"/>
          <p:cNvSpPr txBox="1">
            <a:spLocks noChangeArrowheads="1"/>
          </p:cNvSpPr>
          <p:nvPr/>
        </p:nvSpPr>
        <p:spPr bwMode="auto">
          <a:xfrm>
            <a:off x="2051050" y="2260600"/>
            <a:ext cx="4464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2000" dirty="0">
                <a:latin typeface="楷体_GB2312" pitchFamily="49" charset="-122"/>
                <a:ea typeface="楷体_GB2312" pitchFamily="49" charset="-122"/>
              </a:rPr>
              <a:t>两电路具有相同的</a:t>
            </a:r>
            <a:r>
              <a:rPr kumimoji="0" lang="en-US" altLang="zh-CN" sz="2000" b="0" dirty="0">
                <a:ea typeface="楷体_GB2312" pitchFamily="49" charset="-122"/>
              </a:rPr>
              <a:t>VCR</a:t>
            </a:r>
            <a:r>
              <a:rPr kumimoji="0" lang="zh-CN" altLang="en-US" sz="2000" b="0" dirty="0">
                <a:ea typeface="楷体_GB2312" pitchFamily="49" charset="-122"/>
              </a:rPr>
              <a:t>；</a:t>
            </a:r>
          </a:p>
        </p:txBody>
      </p:sp>
      <p:sp>
        <p:nvSpPr>
          <p:cNvPr id="269318" name="AutoShape 6"/>
          <p:cNvSpPr>
            <a:spLocks noChangeArrowheads="1"/>
          </p:cNvSpPr>
          <p:nvPr/>
        </p:nvSpPr>
        <p:spPr bwMode="auto">
          <a:xfrm>
            <a:off x="1258888" y="2405063"/>
            <a:ext cx="647700" cy="144462"/>
          </a:xfrm>
          <a:prstGeom prst="rightArrow">
            <a:avLst>
              <a:gd name="adj1" fmla="val 50000"/>
              <a:gd name="adj2" fmla="val 112088"/>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9319" name="AutoShape 7"/>
          <p:cNvSpPr>
            <a:spLocks noChangeArrowheads="1"/>
          </p:cNvSpPr>
          <p:nvPr/>
        </p:nvSpPr>
        <p:spPr bwMode="auto">
          <a:xfrm>
            <a:off x="1258888" y="3876675"/>
            <a:ext cx="647700" cy="144463"/>
          </a:xfrm>
          <a:prstGeom prst="rightArrow">
            <a:avLst>
              <a:gd name="adj1" fmla="val 50000"/>
              <a:gd name="adj2" fmla="val 112088"/>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9320" name="AutoShape 8"/>
          <p:cNvSpPr>
            <a:spLocks noChangeArrowheads="1"/>
          </p:cNvSpPr>
          <p:nvPr/>
        </p:nvSpPr>
        <p:spPr bwMode="auto">
          <a:xfrm>
            <a:off x="1493838" y="5575300"/>
            <a:ext cx="647700" cy="144463"/>
          </a:xfrm>
          <a:prstGeom prst="rightArrow">
            <a:avLst>
              <a:gd name="adj1" fmla="val 50000"/>
              <a:gd name="adj2" fmla="val 112088"/>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9321" name="Text Box 9"/>
          <p:cNvSpPr txBox="1">
            <a:spLocks noChangeArrowheads="1"/>
          </p:cNvSpPr>
          <p:nvPr/>
        </p:nvSpPr>
        <p:spPr bwMode="auto">
          <a:xfrm>
            <a:off x="1979613" y="3732213"/>
            <a:ext cx="66325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2000">
                <a:latin typeface="楷体_GB2312" pitchFamily="49" charset="-122"/>
                <a:ea typeface="楷体_GB2312" pitchFamily="49" charset="-122"/>
              </a:rPr>
              <a:t>未变化外电路</a:t>
            </a:r>
            <a:r>
              <a:rPr kumimoji="0" lang="en-US" altLang="zh-CN" sz="2000" b="0">
                <a:ea typeface="楷体_GB2312" pitchFamily="49" charset="-122"/>
              </a:rPr>
              <a:t>A</a:t>
            </a:r>
            <a:r>
              <a:rPr kumimoji="0" lang="zh-CN" altLang="en-US" sz="2000">
                <a:latin typeface="楷体_GB2312" pitchFamily="49" charset="-122"/>
                <a:ea typeface="楷体_GB2312" pitchFamily="49" charset="-122"/>
              </a:rPr>
              <a:t>中的电压、电流和功率；（即对外等效，对内不等效）</a:t>
            </a:r>
            <a:endParaRPr kumimoji="0" lang="zh-CN" altLang="en-US" sz="2000" b="0">
              <a:latin typeface="楷体_GB2312" pitchFamily="49" charset="-122"/>
              <a:ea typeface="楷体_GB2312" pitchFamily="49" charset="-122"/>
            </a:endParaRPr>
          </a:p>
        </p:txBody>
      </p:sp>
      <p:sp>
        <p:nvSpPr>
          <p:cNvPr id="269322" name="Text Box 10"/>
          <p:cNvSpPr txBox="1">
            <a:spLocks noChangeArrowheads="1"/>
          </p:cNvSpPr>
          <p:nvPr/>
        </p:nvSpPr>
        <p:spPr bwMode="auto">
          <a:xfrm>
            <a:off x="2212975" y="5430838"/>
            <a:ext cx="3851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2000">
                <a:latin typeface="楷体_GB2312" pitchFamily="49" charset="-122"/>
                <a:ea typeface="楷体_GB2312" pitchFamily="49" charset="-122"/>
              </a:rPr>
              <a:t>化简电路，方便计算。</a:t>
            </a:r>
            <a:endParaRPr kumimoji="0" lang="zh-CN" altLang="en-US" sz="2000" b="0">
              <a:latin typeface="楷体_GB2312" pitchFamily="49" charset="-122"/>
              <a:ea typeface="楷体_GB2312" pitchFamily="49" charset="-122"/>
            </a:endParaRPr>
          </a:p>
        </p:txBody>
      </p:sp>
      <p:grpSp>
        <p:nvGrpSpPr>
          <p:cNvPr id="269323" name="Group 11"/>
          <p:cNvGrpSpPr>
            <a:grpSpLocks/>
          </p:cNvGrpSpPr>
          <p:nvPr/>
        </p:nvGrpSpPr>
        <p:grpSpPr bwMode="auto">
          <a:xfrm>
            <a:off x="385763" y="585788"/>
            <a:ext cx="1441450" cy="850900"/>
            <a:chOff x="385" y="3022"/>
            <a:chExt cx="908" cy="536"/>
          </a:xfrm>
        </p:grpSpPr>
        <p:pic>
          <p:nvPicPr>
            <p:cNvPr id="269324" name="Picture 12" descr="1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269325" name="Text Box 13"/>
            <p:cNvSpPr txBox="1">
              <a:spLocks noChangeArrowheads="1"/>
            </p:cNvSpPr>
            <p:nvPr/>
          </p:nvSpPr>
          <p:spPr bwMode="auto">
            <a:xfrm>
              <a:off x="793" y="3182"/>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0">
                  <a:solidFill>
                    <a:srgbClr val="FF0000"/>
                  </a:solidFill>
                  <a:ea typeface="华文行楷" pitchFamily="2" charset="-122"/>
                </a:rPr>
                <a:t>明确</a:t>
              </a:r>
            </a:p>
          </p:txBody>
        </p:sp>
      </p:grpSp>
    </p:spTree>
    <p:extLst>
      <p:ext uri="{BB962C8B-B14F-4D97-AF65-F5344CB8AC3E}">
        <p14:creationId xmlns:p14="http://schemas.microsoft.com/office/powerpoint/2010/main" val="30176841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69323"/>
                                        </p:tgtEl>
                                        <p:attrNameLst>
                                          <p:attrName>style.visibility</p:attrName>
                                        </p:attrNameLst>
                                      </p:cBhvr>
                                      <p:to>
                                        <p:strVal val="visible"/>
                                      </p:to>
                                    </p:set>
                                    <p:animEffect transition="in" filter="blinds(horizontal)">
                                      <p:cBhvr>
                                        <p:cTn id="7" dur="500"/>
                                        <p:tgtEl>
                                          <p:spTgt spid="269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iterate type="lt">
                                    <p:tmPct val="100000"/>
                                  </p:iterate>
                                  <p:childTnLst>
                                    <p:set>
                                      <p:cBhvr>
                                        <p:cTn id="11" dur="1" fill="hold">
                                          <p:stCondLst>
                                            <p:cond delay="0"/>
                                          </p:stCondLst>
                                        </p:cTn>
                                        <p:tgtEl>
                                          <p:spTgt spid="269314"/>
                                        </p:tgtEl>
                                        <p:attrNameLst>
                                          <p:attrName>style.visibility</p:attrName>
                                        </p:attrNameLst>
                                      </p:cBhvr>
                                      <p:to>
                                        <p:strVal val="visible"/>
                                      </p:to>
                                    </p:set>
                                    <p:anim calcmode="lin" valueType="num">
                                      <p:cBhvr>
                                        <p:cTn id="12" dur="100" fill="hold"/>
                                        <p:tgtEl>
                                          <p:spTgt spid="269314"/>
                                        </p:tgtEl>
                                        <p:attrNameLst>
                                          <p:attrName>ppt_w</p:attrName>
                                        </p:attrNameLst>
                                      </p:cBhvr>
                                      <p:tavLst>
                                        <p:tav tm="0">
                                          <p:val>
                                            <p:fltVal val="0"/>
                                          </p:val>
                                        </p:tav>
                                        <p:tav tm="100000">
                                          <p:val>
                                            <p:strVal val="#ppt_w"/>
                                          </p:val>
                                        </p:tav>
                                      </p:tavLst>
                                    </p:anim>
                                    <p:anim calcmode="lin" valueType="num">
                                      <p:cBhvr>
                                        <p:cTn id="13" dur="100" fill="hold"/>
                                        <p:tgtEl>
                                          <p:spTgt spid="269314"/>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269318"/>
                                        </p:tgtEl>
                                        <p:attrNameLst>
                                          <p:attrName>style.visibility</p:attrName>
                                        </p:attrNameLst>
                                      </p:cBhvr>
                                      <p:to>
                                        <p:strVal val="visible"/>
                                      </p:to>
                                    </p:set>
                                    <p:animEffect transition="in" filter="slide(fromLeft)">
                                      <p:cBhvr>
                                        <p:cTn id="18" dur="500"/>
                                        <p:tgtEl>
                                          <p:spTgt spid="269318"/>
                                        </p:tgtEl>
                                      </p:cBhvr>
                                    </p:animEffect>
                                  </p:childTnLst>
                                </p:cTn>
                              </p:par>
                            </p:childTnLst>
                          </p:cTn>
                        </p:par>
                        <p:par>
                          <p:cTn id="19" fill="hold" nodeType="afterGroup">
                            <p:stCondLst>
                              <p:cond delay="500"/>
                            </p:stCondLst>
                            <p:childTnLst>
                              <p:par>
                                <p:cTn id="20" presetID="17" presetClass="entr" presetSubtype="10" fill="hold" grpId="0" nodeType="afterEffect">
                                  <p:stCondLst>
                                    <p:cond delay="0"/>
                                  </p:stCondLst>
                                  <p:iterate type="lt">
                                    <p:tmPct val="100000"/>
                                  </p:iterate>
                                  <p:childTnLst>
                                    <p:set>
                                      <p:cBhvr>
                                        <p:cTn id="21" dur="1" fill="hold">
                                          <p:stCondLst>
                                            <p:cond delay="0"/>
                                          </p:stCondLst>
                                        </p:cTn>
                                        <p:tgtEl>
                                          <p:spTgt spid="269317"/>
                                        </p:tgtEl>
                                        <p:attrNameLst>
                                          <p:attrName>style.visibility</p:attrName>
                                        </p:attrNameLst>
                                      </p:cBhvr>
                                      <p:to>
                                        <p:strVal val="visible"/>
                                      </p:to>
                                    </p:set>
                                    <p:anim calcmode="lin" valueType="num">
                                      <p:cBhvr>
                                        <p:cTn id="22" dur="100" fill="hold"/>
                                        <p:tgtEl>
                                          <p:spTgt spid="269317"/>
                                        </p:tgtEl>
                                        <p:attrNameLst>
                                          <p:attrName>ppt_w</p:attrName>
                                        </p:attrNameLst>
                                      </p:cBhvr>
                                      <p:tavLst>
                                        <p:tav tm="0">
                                          <p:val>
                                            <p:fltVal val="0"/>
                                          </p:val>
                                        </p:tav>
                                        <p:tav tm="100000">
                                          <p:val>
                                            <p:strVal val="#ppt_w"/>
                                          </p:val>
                                        </p:tav>
                                      </p:tavLst>
                                    </p:anim>
                                    <p:anim calcmode="lin" valueType="num">
                                      <p:cBhvr>
                                        <p:cTn id="23" dur="100" fill="hold"/>
                                        <p:tgtEl>
                                          <p:spTgt spid="269317"/>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0" fill="hold" grpId="0" nodeType="clickEffect">
                                  <p:stCondLst>
                                    <p:cond delay="0"/>
                                  </p:stCondLst>
                                  <p:iterate type="lt">
                                    <p:tmPct val="100000"/>
                                  </p:iterate>
                                  <p:childTnLst>
                                    <p:set>
                                      <p:cBhvr>
                                        <p:cTn id="27" dur="1" fill="hold">
                                          <p:stCondLst>
                                            <p:cond delay="0"/>
                                          </p:stCondLst>
                                        </p:cTn>
                                        <p:tgtEl>
                                          <p:spTgt spid="269315"/>
                                        </p:tgtEl>
                                        <p:attrNameLst>
                                          <p:attrName>style.visibility</p:attrName>
                                        </p:attrNameLst>
                                      </p:cBhvr>
                                      <p:to>
                                        <p:strVal val="visible"/>
                                      </p:to>
                                    </p:set>
                                    <p:anim calcmode="lin" valueType="num">
                                      <p:cBhvr>
                                        <p:cTn id="28" dur="100" fill="hold"/>
                                        <p:tgtEl>
                                          <p:spTgt spid="269315"/>
                                        </p:tgtEl>
                                        <p:attrNameLst>
                                          <p:attrName>ppt_w</p:attrName>
                                        </p:attrNameLst>
                                      </p:cBhvr>
                                      <p:tavLst>
                                        <p:tav tm="0">
                                          <p:val>
                                            <p:fltVal val="0"/>
                                          </p:val>
                                        </p:tav>
                                        <p:tav tm="100000">
                                          <p:val>
                                            <p:strVal val="#ppt_w"/>
                                          </p:val>
                                        </p:tav>
                                      </p:tavLst>
                                    </p:anim>
                                    <p:anim calcmode="lin" valueType="num">
                                      <p:cBhvr>
                                        <p:cTn id="29" dur="100" fill="hold"/>
                                        <p:tgtEl>
                                          <p:spTgt spid="269315"/>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8" fill="hold" grpId="0" nodeType="clickEffect">
                                  <p:stCondLst>
                                    <p:cond delay="0"/>
                                  </p:stCondLst>
                                  <p:childTnLst>
                                    <p:set>
                                      <p:cBhvr>
                                        <p:cTn id="33" dur="1" fill="hold">
                                          <p:stCondLst>
                                            <p:cond delay="0"/>
                                          </p:stCondLst>
                                        </p:cTn>
                                        <p:tgtEl>
                                          <p:spTgt spid="269319"/>
                                        </p:tgtEl>
                                        <p:attrNameLst>
                                          <p:attrName>style.visibility</p:attrName>
                                        </p:attrNameLst>
                                      </p:cBhvr>
                                      <p:to>
                                        <p:strVal val="visible"/>
                                      </p:to>
                                    </p:set>
                                    <p:animEffect transition="in" filter="slide(fromLeft)">
                                      <p:cBhvr>
                                        <p:cTn id="34" dur="500"/>
                                        <p:tgtEl>
                                          <p:spTgt spid="269319"/>
                                        </p:tgtEl>
                                      </p:cBhvr>
                                    </p:animEffect>
                                  </p:childTnLst>
                                </p:cTn>
                              </p:par>
                            </p:childTnLst>
                          </p:cTn>
                        </p:par>
                        <p:par>
                          <p:cTn id="35" fill="hold" nodeType="afterGroup">
                            <p:stCondLst>
                              <p:cond delay="500"/>
                            </p:stCondLst>
                            <p:childTnLst>
                              <p:par>
                                <p:cTn id="36" presetID="17" presetClass="entr" presetSubtype="10" fill="hold" grpId="0" nodeType="afterEffect">
                                  <p:stCondLst>
                                    <p:cond delay="0"/>
                                  </p:stCondLst>
                                  <p:iterate type="lt">
                                    <p:tmPct val="100000"/>
                                  </p:iterate>
                                  <p:childTnLst>
                                    <p:set>
                                      <p:cBhvr>
                                        <p:cTn id="37" dur="1" fill="hold">
                                          <p:stCondLst>
                                            <p:cond delay="0"/>
                                          </p:stCondLst>
                                        </p:cTn>
                                        <p:tgtEl>
                                          <p:spTgt spid="269321"/>
                                        </p:tgtEl>
                                        <p:attrNameLst>
                                          <p:attrName>style.visibility</p:attrName>
                                        </p:attrNameLst>
                                      </p:cBhvr>
                                      <p:to>
                                        <p:strVal val="visible"/>
                                      </p:to>
                                    </p:set>
                                    <p:anim calcmode="lin" valueType="num">
                                      <p:cBhvr>
                                        <p:cTn id="38" dur="100" fill="hold"/>
                                        <p:tgtEl>
                                          <p:spTgt spid="269321"/>
                                        </p:tgtEl>
                                        <p:attrNameLst>
                                          <p:attrName>ppt_w</p:attrName>
                                        </p:attrNameLst>
                                      </p:cBhvr>
                                      <p:tavLst>
                                        <p:tav tm="0">
                                          <p:val>
                                            <p:fltVal val="0"/>
                                          </p:val>
                                        </p:tav>
                                        <p:tav tm="100000">
                                          <p:val>
                                            <p:strVal val="#ppt_w"/>
                                          </p:val>
                                        </p:tav>
                                      </p:tavLst>
                                    </p:anim>
                                    <p:anim calcmode="lin" valueType="num">
                                      <p:cBhvr>
                                        <p:cTn id="39" dur="100" fill="hold"/>
                                        <p:tgtEl>
                                          <p:spTgt spid="269321"/>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10" fill="hold" grpId="0" nodeType="clickEffect">
                                  <p:stCondLst>
                                    <p:cond delay="0"/>
                                  </p:stCondLst>
                                  <p:iterate type="lt">
                                    <p:tmPct val="100000"/>
                                  </p:iterate>
                                  <p:childTnLst>
                                    <p:set>
                                      <p:cBhvr>
                                        <p:cTn id="43" dur="1" fill="hold">
                                          <p:stCondLst>
                                            <p:cond delay="0"/>
                                          </p:stCondLst>
                                        </p:cTn>
                                        <p:tgtEl>
                                          <p:spTgt spid="269316"/>
                                        </p:tgtEl>
                                        <p:attrNameLst>
                                          <p:attrName>style.visibility</p:attrName>
                                        </p:attrNameLst>
                                      </p:cBhvr>
                                      <p:to>
                                        <p:strVal val="visible"/>
                                      </p:to>
                                    </p:set>
                                    <p:anim calcmode="lin" valueType="num">
                                      <p:cBhvr>
                                        <p:cTn id="44" dur="100" fill="hold"/>
                                        <p:tgtEl>
                                          <p:spTgt spid="269316"/>
                                        </p:tgtEl>
                                        <p:attrNameLst>
                                          <p:attrName>ppt_w</p:attrName>
                                        </p:attrNameLst>
                                      </p:cBhvr>
                                      <p:tavLst>
                                        <p:tav tm="0">
                                          <p:val>
                                            <p:fltVal val="0"/>
                                          </p:val>
                                        </p:tav>
                                        <p:tav tm="100000">
                                          <p:val>
                                            <p:strVal val="#ppt_w"/>
                                          </p:val>
                                        </p:tav>
                                      </p:tavLst>
                                    </p:anim>
                                    <p:anim calcmode="lin" valueType="num">
                                      <p:cBhvr>
                                        <p:cTn id="45" dur="100" fill="hold"/>
                                        <p:tgtEl>
                                          <p:spTgt spid="269316"/>
                                        </p:tgtEl>
                                        <p:attrNameLst>
                                          <p:attrName>ppt_h</p:attrName>
                                        </p:attrNameLst>
                                      </p:cBhvr>
                                      <p:tavLst>
                                        <p:tav tm="0">
                                          <p:val>
                                            <p:strVal val="#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269320"/>
                                        </p:tgtEl>
                                        <p:attrNameLst>
                                          <p:attrName>style.visibility</p:attrName>
                                        </p:attrNameLst>
                                      </p:cBhvr>
                                      <p:to>
                                        <p:strVal val="visible"/>
                                      </p:to>
                                    </p:set>
                                    <p:animEffect transition="in" filter="slide(fromLeft)">
                                      <p:cBhvr>
                                        <p:cTn id="50" dur="500"/>
                                        <p:tgtEl>
                                          <p:spTgt spid="269320"/>
                                        </p:tgtEl>
                                      </p:cBhvr>
                                    </p:animEffect>
                                  </p:childTnLst>
                                </p:cTn>
                              </p:par>
                            </p:childTnLst>
                          </p:cTn>
                        </p:par>
                        <p:par>
                          <p:cTn id="51" fill="hold" nodeType="afterGroup">
                            <p:stCondLst>
                              <p:cond delay="500"/>
                            </p:stCondLst>
                            <p:childTnLst>
                              <p:par>
                                <p:cTn id="52" presetID="17" presetClass="entr" presetSubtype="10" fill="hold" grpId="0" nodeType="afterEffect">
                                  <p:stCondLst>
                                    <p:cond delay="0"/>
                                  </p:stCondLst>
                                  <p:iterate type="lt">
                                    <p:tmPct val="100000"/>
                                  </p:iterate>
                                  <p:childTnLst>
                                    <p:set>
                                      <p:cBhvr>
                                        <p:cTn id="53" dur="1" fill="hold">
                                          <p:stCondLst>
                                            <p:cond delay="0"/>
                                          </p:stCondLst>
                                        </p:cTn>
                                        <p:tgtEl>
                                          <p:spTgt spid="269322"/>
                                        </p:tgtEl>
                                        <p:attrNameLst>
                                          <p:attrName>style.visibility</p:attrName>
                                        </p:attrNameLst>
                                      </p:cBhvr>
                                      <p:to>
                                        <p:strVal val="visible"/>
                                      </p:to>
                                    </p:set>
                                    <p:anim calcmode="lin" valueType="num">
                                      <p:cBhvr>
                                        <p:cTn id="54" dur="100" fill="hold"/>
                                        <p:tgtEl>
                                          <p:spTgt spid="269322"/>
                                        </p:tgtEl>
                                        <p:attrNameLst>
                                          <p:attrName>ppt_w</p:attrName>
                                        </p:attrNameLst>
                                      </p:cBhvr>
                                      <p:tavLst>
                                        <p:tav tm="0">
                                          <p:val>
                                            <p:fltVal val="0"/>
                                          </p:val>
                                        </p:tav>
                                        <p:tav tm="100000">
                                          <p:val>
                                            <p:strVal val="#ppt_w"/>
                                          </p:val>
                                        </p:tav>
                                      </p:tavLst>
                                    </p:anim>
                                    <p:anim calcmode="lin" valueType="num">
                                      <p:cBhvr>
                                        <p:cTn id="55" dur="100" fill="hold"/>
                                        <p:tgtEl>
                                          <p:spTgt spid="26932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4" grpId="0" autoUpdateAnimBg="0"/>
      <p:bldP spid="269315" grpId="0"/>
      <p:bldP spid="269316" grpId="0"/>
      <p:bldP spid="269317" grpId="0" autoUpdateAnimBg="0"/>
      <p:bldP spid="269318" grpId="0" animBg="1"/>
      <p:bldP spid="269319" grpId="0" animBg="1"/>
      <p:bldP spid="269320" grpId="0" animBg="1"/>
      <p:bldP spid="269321" grpId="0" autoUpdateAnimBg="0"/>
      <p:bldP spid="26932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Text Box 2"/>
          <p:cNvSpPr txBox="1">
            <a:spLocks noChangeArrowheads="1"/>
          </p:cNvSpPr>
          <p:nvPr/>
        </p:nvSpPr>
        <p:spPr bwMode="auto">
          <a:xfrm>
            <a:off x="1046163" y="2771775"/>
            <a:ext cx="6846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spcBef>
                <a:spcPct val="50000"/>
              </a:spcBef>
              <a:buFontTx/>
              <a:buAutoNum type="circleNumDbPlain"/>
            </a:pPr>
            <a:r>
              <a:rPr lang="zh-CN" altLang="en-US">
                <a:latin typeface="楷体_GB2312" pitchFamily="49" charset="-122"/>
                <a:ea typeface="楷体_GB2312" pitchFamily="49" charset="-122"/>
              </a:rPr>
              <a:t>等效对外部</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端钮以外</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有效，对内不成立。</a:t>
            </a:r>
          </a:p>
        </p:txBody>
      </p:sp>
      <p:sp>
        <p:nvSpPr>
          <p:cNvPr id="272387" name="Text Box 3"/>
          <p:cNvSpPr txBox="1">
            <a:spLocks noChangeArrowheads="1"/>
          </p:cNvSpPr>
          <p:nvPr/>
        </p:nvSpPr>
        <p:spPr bwMode="auto">
          <a:xfrm>
            <a:off x="1031875" y="3573463"/>
            <a:ext cx="6551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spcBef>
                <a:spcPct val="50000"/>
              </a:spcBef>
              <a:buFontTx/>
              <a:buAutoNum type="circleNumDbPlain" startAt="2"/>
            </a:pPr>
            <a:r>
              <a:rPr lang="zh-CN" altLang="en-US">
                <a:latin typeface="楷体_GB2312" pitchFamily="49" charset="-122"/>
                <a:ea typeface="楷体_GB2312" pitchFamily="49" charset="-122"/>
              </a:rPr>
              <a:t>等效电路与外部电路无关。</a:t>
            </a:r>
          </a:p>
        </p:txBody>
      </p:sp>
      <p:grpSp>
        <p:nvGrpSpPr>
          <p:cNvPr id="272389" name="Group 5"/>
          <p:cNvGrpSpPr>
            <a:grpSpLocks/>
          </p:cNvGrpSpPr>
          <p:nvPr/>
        </p:nvGrpSpPr>
        <p:grpSpPr bwMode="auto">
          <a:xfrm>
            <a:off x="527050" y="1341438"/>
            <a:ext cx="1644650" cy="850900"/>
            <a:chOff x="385" y="3022"/>
            <a:chExt cx="1036" cy="536"/>
          </a:xfrm>
        </p:grpSpPr>
        <p:pic>
          <p:nvPicPr>
            <p:cNvPr id="272390" name="Picture 6" descr="1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272391" name="Text Box 7"/>
            <p:cNvSpPr txBox="1">
              <a:spLocks noChangeArrowheads="1"/>
            </p:cNvSpPr>
            <p:nvPr/>
          </p:nvSpPr>
          <p:spPr bwMode="auto">
            <a:xfrm>
              <a:off x="793" y="3125"/>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200" b="0" dirty="0">
                  <a:solidFill>
                    <a:srgbClr val="FA7748"/>
                  </a:solidFill>
                  <a:ea typeface="华文行楷" pitchFamily="2" charset="-122"/>
                </a:rPr>
                <a:t>注意</a:t>
              </a:r>
            </a:p>
          </p:txBody>
        </p:sp>
      </p:grpSp>
    </p:spTree>
    <p:extLst>
      <p:ext uri="{BB962C8B-B14F-4D97-AF65-F5344CB8AC3E}">
        <p14:creationId xmlns:p14="http://schemas.microsoft.com/office/powerpoint/2010/main" val="27571525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72389"/>
                                        </p:tgtEl>
                                        <p:attrNameLst>
                                          <p:attrName>style.visibility</p:attrName>
                                        </p:attrNameLst>
                                      </p:cBhvr>
                                      <p:to>
                                        <p:strVal val="visible"/>
                                      </p:to>
                                    </p:set>
                                    <p:animEffect transition="in" filter="blinds(horizontal)">
                                      <p:cBhvr>
                                        <p:cTn id="7" dur="500"/>
                                        <p:tgtEl>
                                          <p:spTgt spid="2723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2386"/>
                                        </p:tgtEl>
                                        <p:attrNameLst>
                                          <p:attrName>style.visibility</p:attrName>
                                        </p:attrNameLst>
                                      </p:cBhvr>
                                      <p:to>
                                        <p:strVal val="visible"/>
                                      </p:to>
                                    </p:set>
                                    <p:animEffect transition="in" filter="wipe(left)">
                                      <p:cBhvr>
                                        <p:cTn id="12" dur="2000"/>
                                        <p:tgtEl>
                                          <p:spTgt spid="2723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2387"/>
                                        </p:tgtEl>
                                        <p:attrNameLst>
                                          <p:attrName>style.visibility</p:attrName>
                                        </p:attrNameLst>
                                      </p:cBhvr>
                                      <p:to>
                                        <p:strVal val="visible"/>
                                      </p:to>
                                    </p:set>
                                    <p:animEffect transition="in" filter="wipe(left)">
                                      <p:cBhvr>
                                        <p:cTn id="17" dur="2000"/>
                                        <p:tgtEl>
                                          <p:spTgt spid="272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6" grpId="0" autoUpdateAnimBg="0"/>
      <p:bldP spid="27238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56"/>
          <p:cNvSpPr>
            <a:spLocks noChangeArrowheads="1"/>
          </p:cNvSpPr>
          <p:nvPr/>
        </p:nvSpPr>
        <p:spPr bwMode="auto">
          <a:xfrm>
            <a:off x="768350" y="328613"/>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sz="2800" dirty="0" smtClean="0">
                <a:solidFill>
                  <a:schemeClr val="tx2"/>
                </a:solidFill>
              </a:rPr>
              <a:t>2.2 </a:t>
            </a:r>
            <a:r>
              <a:rPr lang="zh-CN" altLang="en-US" sz="2800" dirty="0" smtClean="0">
                <a:solidFill>
                  <a:schemeClr val="tx2"/>
                </a:solidFill>
              </a:rPr>
              <a:t>基尔霍夫电路定律</a:t>
            </a:r>
            <a:endParaRPr lang="zh-CN" altLang="en-US" sz="2800" dirty="0">
              <a:solidFill>
                <a:schemeClr val="tx2"/>
              </a:solidFill>
            </a:endParaRPr>
          </a:p>
        </p:txBody>
      </p:sp>
      <p:sp>
        <p:nvSpPr>
          <p:cNvPr id="67" name="Text Box 2"/>
          <p:cNvSpPr txBox="1">
            <a:spLocks noChangeArrowheads="1"/>
          </p:cNvSpPr>
          <p:nvPr/>
        </p:nvSpPr>
        <p:spPr bwMode="auto">
          <a:xfrm>
            <a:off x="923925" y="1374458"/>
            <a:ext cx="706596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sym typeface="Symbol" pitchFamily="18" charset="2"/>
              </a:rPr>
              <a:t>基尔霍夫</a:t>
            </a:r>
            <a:r>
              <a:rPr lang="zh-CN" altLang="en-US">
                <a:solidFill>
                  <a:srgbClr val="FF0000"/>
                </a:solidFill>
                <a:sym typeface="Symbol" pitchFamily="18" charset="2"/>
              </a:rPr>
              <a:t>电流定律</a:t>
            </a:r>
            <a:r>
              <a:rPr lang="zh-CN" altLang="en-US">
                <a:solidFill>
                  <a:schemeClr val="tx2"/>
                </a:solidFill>
                <a:sym typeface="Symbol" pitchFamily="18" charset="2"/>
              </a:rPr>
              <a:t> </a:t>
            </a:r>
            <a:r>
              <a:rPr lang="en-US" altLang="zh-CN">
                <a:solidFill>
                  <a:schemeClr val="tx2"/>
                </a:solidFill>
                <a:sym typeface="Symbol" pitchFamily="18" charset="2"/>
              </a:rPr>
              <a:t>(</a:t>
            </a:r>
            <a:r>
              <a:rPr lang="en-US" altLang="zh-CN">
                <a:solidFill>
                  <a:srgbClr val="FF0000"/>
                </a:solidFill>
                <a:sym typeface="Symbol" pitchFamily="18" charset="2"/>
              </a:rPr>
              <a:t>K</a:t>
            </a:r>
            <a:r>
              <a:rPr lang="en-US" altLang="zh-CN">
                <a:solidFill>
                  <a:schemeClr val="tx2"/>
                </a:solidFill>
                <a:sym typeface="Symbol" pitchFamily="18" charset="2"/>
              </a:rPr>
              <a:t>irchhoff’s </a:t>
            </a:r>
            <a:r>
              <a:rPr lang="en-US" altLang="zh-CN">
                <a:solidFill>
                  <a:srgbClr val="FF0000"/>
                </a:solidFill>
                <a:sym typeface="Symbol" pitchFamily="18" charset="2"/>
              </a:rPr>
              <a:t>c</a:t>
            </a:r>
            <a:r>
              <a:rPr lang="en-US" altLang="zh-CN">
                <a:solidFill>
                  <a:schemeClr val="tx2"/>
                </a:solidFill>
                <a:sym typeface="Symbol" pitchFamily="18" charset="2"/>
              </a:rPr>
              <a:t>urrent </a:t>
            </a:r>
            <a:r>
              <a:rPr lang="en-US" altLang="zh-CN">
                <a:solidFill>
                  <a:srgbClr val="FF0000"/>
                </a:solidFill>
                <a:sym typeface="Symbol" pitchFamily="18" charset="2"/>
              </a:rPr>
              <a:t>l</a:t>
            </a:r>
            <a:r>
              <a:rPr lang="en-US" altLang="zh-CN">
                <a:solidFill>
                  <a:schemeClr val="tx2"/>
                </a:solidFill>
                <a:sym typeface="Symbol" pitchFamily="18" charset="2"/>
              </a:rPr>
              <a:t>aw—</a:t>
            </a:r>
            <a:r>
              <a:rPr lang="en-US" altLang="zh-CN">
                <a:solidFill>
                  <a:srgbClr val="FF0000"/>
                </a:solidFill>
                <a:sym typeface="Symbol" pitchFamily="18" charset="2"/>
              </a:rPr>
              <a:t>KCL</a:t>
            </a:r>
            <a:r>
              <a:rPr lang="en-US" altLang="zh-CN" sz="2800">
                <a:solidFill>
                  <a:srgbClr val="FF0000"/>
                </a:solidFill>
                <a:sym typeface="Symbol" pitchFamily="18" charset="2"/>
              </a:rPr>
              <a:t> </a:t>
            </a:r>
            <a:r>
              <a:rPr lang="en-US" altLang="zh-CN">
                <a:solidFill>
                  <a:schemeClr val="tx2"/>
                </a:solidFill>
                <a:sym typeface="Symbol" pitchFamily="18" charset="2"/>
              </a:rPr>
              <a:t>)</a:t>
            </a:r>
          </a:p>
        </p:txBody>
      </p:sp>
      <p:sp>
        <p:nvSpPr>
          <p:cNvPr id="79" name="Text Box 3"/>
          <p:cNvSpPr txBox="1">
            <a:spLocks noChangeArrowheads="1"/>
          </p:cNvSpPr>
          <p:nvPr/>
        </p:nvSpPr>
        <p:spPr bwMode="auto">
          <a:xfrm>
            <a:off x="935038" y="2085658"/>
            <a:ext cx="69389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sym typeface="Symbol" pitchFamily="18" charset="2"/>
              </a:rPr>
              <a:t>基尔霍夫</a:t>
            </a:r>
            <a:r>
              <a:rPr lang="zh-CN" altLang="en-US">
                <a:solidFill>
                  <a:srgbClr val="FF0000"/>
                </a:solidFill>
                <a:sym typeface="Symbol" pitchFamily="18" charset="2"/>
              </a:rPr>
              <a:t>电压定律</a:t>
            </a:r>
            <a:r>
              <a:rPr lang="en-US" altLang="zh-CN">
                <a:solidFill>
                  <a:schemeClr val="tx2"/>
                </a:solidFill>
                <a:sym typeface="Symbol" pitchFamily="18" charset="2"/>
              </a:rPr>
              <a:t>(</a:t>
            </a:r>
            <a:r>
              <a:rPr lang="en-US" altLang="zh-CN">
                <a:solidFill>
                  <a:srgbClr val="FF0000"/>
                </a:solidFill>
                <a:sym typeface="Symbol" pitchFamily="18" charset="2"/>
              </a:rPr>
              <a:t>K</a:t>
            </a:r>
            <a:r>
              <a:rPr lang="en-US" altLang="zh-CN">
                <a:solidFill>
                  <a:schemeClr val="tx2"/>
                </a:solidFill>
                <a:sym typeface="Symbol" pitchFamily="18" charset="2"/>
              </a:rPr>
              <a:t>irchhoff’s </a:t>
            </a:r>
            <a:r>
              <a:rPr lang="en-US" altLang="zh-CN">
                <a:solidFill>
                  <a:srgbClr val="FF0000"/>
                </a:solidFill>
                <a:sym typeface="Symbol" pitchFamily="18" charset="2"/>
              </a:rPr>
              <a:t>v</a:t>
            </a:r>
            <a:r>
              <a:rPr lang="en-US" altLang="zh-CN">
                <a:solidFill>
                  <a:schemeClr val="tx2"/>
                </a:solidFill>
                <a:sym typeface="Symbol" pitchFamily="18" charset="2"/>
              </a:rPr>
              <a:t>oltage </a:t>
            </a:r>
            <a:r>
              <a:rPr lang="en-US" altLang="zh-CN">
                <a:solidFill>
                  <a:srgbClr val="FF0000"/>
                </a:solidFill>
                <a:sym typeface="Symbol" pitchFamily="18" charset="2"/>
              </a:rPr>
              <a:t>l</a:t>
            </a:r>
            <a:r>
              <a:rPr lang="en-US" altLang="zh-CN">
                <a:solidFill>
                  <a:schemeClr val="tx2"/>
                </a:solidFill>
                <a:sym typeface="Symbol" pitchFamily="18" charset="2"/>
              </a:rPr>
              <a:t>aw—</a:t>
            </a:r>
            <a:r>
              <a:rPr lang="en-US" altLang="zh-CN">
                <a:solidFill>
                  <a:srgbClr val="FF0000"/>
                </a:solidFill>
                <a:sym typeface="Symbol" pitchFamily="18" charset="2"/>
              </a:rPr>
              <a:t>KVL</a:t>
            </a:r>
            <a:r>
              <a:rPr lang="en-US" altLang="zh-CN" sz="2800">
                <a:solidFill>
                  <a:schemeClr val="tx2"/>
                </a:solidFill>
                <a:sym typeface="Symbol" pitchFamily="18" charset="2"/>
              </a:rPr>
              <a:t> </a:t>
            </a:r>
            <a:r>
              <a:rPr lang="en-US" altLang="zh-CN">
                <a:solidFill>
                  <a:schemeClr val="tx2"/>
                </a:solidFill>
                <a:sym typeface="Symbol" pitchFamily="18" charset="2"/>
              </a:rPr>
              <a:t>)</a:t>
            </a:r>
          </a:p>
        </p:txBody>
      </p:sp>
      <p:sp>
        <p:nvSpPr>
          <p:cNvPr id="80" name="Text Box 4"/>
          <p:cNvSpPr txBox="1">
            <a:spLocks noChangeArrowheads="1"/>
          </p:cNvSpPr>
          <p:nvPr/>
        </p:nvSpPr>
        <p:spPr bwMode="auto">
          <a:xfrm>
            <a:off x="546418" y="3090436"/>
            <a:ext cx="7124066"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lnSpc>
                <a:spcPct val="150000"/>
              </a:lnSpc>
              <a:spcBef>
                <a:spcPct val="50000"/>
              </a:spcBef>
            </a:pPr>
            <a:r>
              <a:rPr lang="zh-CN" altLang="en-US" dirty="0" smtClean="0">
                <a:solidFill>
                  <a:schemeClr val="tx2"/>
                </a:solidFill>
                <a:sym typeface="Symbol" pitchFamily="18" charset="2"/>
              </a:rPr>
              <a:t>基尔霍夫电路定律</a:t>
            </a:r>
            <a:r>
              <a:rPr lang="zh-CN" altLang="en-US" dirty="0">
                <a:solidFill>
                  <a:schemeClr val="tx2"/>
                </a:solidFill>
                <a:sym typeface="Symbol" pitchFamily="18" charset="2"/>
              </a:rPr>
              <a:t>与元件特性是电路分析的基础。</a:t>
            </a:r>
          </a:p>
        </p:txBody>
      </p:sp>
    </p:spTree>
    <p:extLst>
      <p:ext uri="{BB962C8B-B14F-4D97-AF65-F5344CB8AC3E}">
        <p14:creationId xmlns:p14="http://schemas.microsoft.com/office/powerpoint/2010/main" val="20872861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9" name="Rectangle 51"/>
          <p:cNvSpPr>
            <a:spLocks noChangeArrowheads="1"/>
          </p:cNvSpPr>
          <p:nvPr/>
        </p:nvSpPr>
        <p:spPr bwMode="auto">
          <a:xfrm>
            <a:off x="838200" y="1478412"/>
            <a:ext cx="7543800"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eaLnBrk="1" hangingPunct="1">
              <a:lnSpc>
                <a:spcPct val="150000"/>
              </a:lnSpc>
            </a:pPr>
            <a:r>
              <a:rPr lang="zh-CN" altLang="en-US" dirty="0" smtClean="0">
                <a:solidFill>
                  <a:schemeClr val="tx2"/>
                </a:solidFill>
                <a:sym typeface="Symbol" pitchFamily="18" charset="2"/>
              </a:rPr>
              <a:t>        在</a:t>
            </a:r>
            <a:r>
              <a:rPr lang="zh-CN" altLang="zh-CN" dirty="0">
                <a:solidFill>
                  <a:schemeClr val="tx2"/>
                </a:solidFill>
                <a:sym typeface="Symbol" pitchFamily="18" charset="2"/>
              </a:rPr>
              <a:t>集总参数电路中，任一时刻流出(流入)任一节点的各支路电流的代数和为零。 即</a:t>
            </a:r>
            <a:endParaRPr lang="zh-CN" altLang="en-US" dirty="0">
              <a:solidFill>
                <a:schemeClr val="tx2"/>
              </a:solidFill>
              <a:sym typeface="Symbol" pitchFamily="18" charset="2"/>
            </a:endParaRPr>
          </a:p>
        </p:txBody>
      </p:sp>
      <p:sp>
        <p:nvSpPr>
          <p:cNvPr id="80905" name="Text Box 54"/>
          <p:cNvSpPr txBox="1">
            <a:spLocks noChangeArrowheads="1"/>
          </p:cNvSpPr>
          <p:nvPr/>
        </p:nvSpPr>
        <p:spPr bwMode="auto">
          <a:xfrm>
            <a:off x="511175" y="603023"/>
            <a:ext cx="81661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dirty="0" smtClean="0">
                <a:solidFill>
                  <a:srgbClr val="990033"/>
                </a:solidFill>
              </a:rPr>
              <a:t>1</a:t>
            </a:r>
            <a:r>
              <a:rPr lang="zh-CN" altLang="en-US" dirty="0" smtClean="0">
                <a:solidFill>
                  <a:srgbClr val="990033"/>
                </a:solidFill>
              </a:rPr>
              <a:t>、</a:t>
            </a:r>
            <a:r>
              <a:rPr lang="zh-CN" altLang="zh-CN" dirty="0" smtClean="0">
                <a:solidFill>
                  <a:srgbClr val="990033"/>
                </a:solidFill>
              </a:rPr>
              <a:t>基尔霍夫</a:t>
            </a:r>
            <a:r>
              <a:rPr lang="zh-CN" altLang="zh-CN" dirty="0">
                <a:solidFill>
                  <a:srgbClr val="990033"/>
                </a:solidFill>
              </a:rPr>
              <a:t>电流定律 (</a:t>
            </a:r>
            <a:r>
              <a:rPr lang="en-US" altLang="zh-CN" dirty="0">
                <a:solidFill>
                  <a:srgbClr val="990033"/>
                </a:solidFill>
              </a:rPr>
              <a:t>Kirchhoff’s Current Law, </a:t>
            </a:r>
            <a:r>
              <a:rPr lang="zh-CN" altLang="zh-CN" dirty="0">
                <a:solidFill>
                  <a:srgbClr val="990033"/>
                </a:solidFill>
              </a:rPr>
              <a:t>KCL) </a:t>
            </a:r>
          </a:p>
        </p:txBody>
      </p:sp>
      <p:graphicFrame>
        <p:nvGraphicFramePr>
          <p:cNvPr id="54" name="Object 68"/>
          <p:cNvGraphicFramePr>
            <a:graphicFrameLocks noChangeAspect="1"/>
          </p:cNvGraphicFramePr>
          <p:nvPr>
            <p:extLst>
              <p:ext uri="{D42A27DB-BD31-4B8C-83A1-F6EECF244321}">
                <p14:modId xmlns:p14="http://schemas.microsoft.com/office/powerpoint/2010/main" val="427127020"/>
              </p:ext>
            </p:extLst>
          </p:nvPr>
        </p:nvGraphicFramePr>
        <p:xfrm>
          <a:off x="3645127" y="2964721"/>
          <a:ext cx="1262062" cy="581025"/>
        </p:xfrm>
        <a:graphic>
          <a:graphicData uri="http://schemas.openxmlformats.org/presentationml/2006/ole">
            <mc:AlternateContent xmlns:mc="http://schemas.openxmlformats.org/markup-compatibility/2006">
              <mc:Choice xmlns:v="urn:schemas-microsoft-com:vml" Requires="v">
                <p:oleObj spid="_x0000_s437256" name="Equation" r:id="rId3" imgW="444240" imgH="228600" progId="Equation.DSMT4">
                  <p:embed/>
                </p:oleObj>
              </mc:Choice>
              <mc:Fallback>
                <p:oleObj name="Equation" r:id="rId3" imgW="444240" imgH="228600" progId="Equation.DSMT4">
                  <p:embed/>
                  <p:pic>
                    <p:nvPicPr>
                      <p:cNvPr id="0" name=""/>
                      <p:cNvPicPr>
                        <a:picLocks noChangeAspect="1" noChangeArrowheads="1"/>
                      </p:cNvPicPr>
                      <p:nvPr/>
                    </p:nvPicPr>
                    <p:blipFill>
                      <a:blip r:embed="rId4"/>
                      <a:srcRect/>
                      <a:stretch>
                        <a:fillRect/>
                      </a:stretch>
                    </p:blipFill>
                    <p:spPr bwMode="auto">
                      <a:xfrm>
                        <a:off x="3645127" y="2964721"/>
                        <a:ext cx="1262062" cy="581025"/>
                      </a:xfrm>
                      <a:prstGeom prst="rect">
                        <a:avLst/>
                      </a:prstGeom>
                      <a:solidFill>
                        <a:srgbClr val="85FFE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045912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0909"/>
                                        </p:tgtEl>
                                        <p:attrNameLst>
                                          <p:attrName>style.visibility</p:attrName>
                                        </p:attrNameLst>
                                      </p:cBhvr>
                                      <p:to>
                                        <p:strVal val="visible"/>
                                      </p:to>
                                    </p:set>
                                    <p:animEffect transition="in" filter="barn(inVertical)">
                                      <p:cBhvr>
                                        <p:cTn id="7" dur="500"/>
                                        <p:tgtEl>
                                          <p:spTgt spid="80909"/>
                                        </p:tgtEl>
                                      </p:cBhvr>
                                    </p:animEffect>
                                  </p:childTnLst>
                                </p:cTn>
                              </p:par>
                              <p:par>
                                <p:cTn id="8" presetID="16" presetClass="entr" presetSubtype="21"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barn(inVertical)">
                                      <p:cBhvr>
                                        <p:cTn id="10"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Text Box 2"/>
          <p:cNvSpPr txBox="1">
            <a:spLocks noChangeArrowheads="1"/>
          </p:cNvSpPr>
          <p:nvPr/>
        </p:nvSpPr>
        <p:spPr bwMode="auto">
          <a:xfrm>
            <a:off x="584200" y="2772228"/>
            <a:ext cx="58023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rgbClr val="0000D0"/>
                </a:solidFill>
                <a:sym typeface="Symbol" pitchFamily="18" charset="2"/>
              </a:rPr>
              <a:t>物理基础</a:t>
            </a:r>
            <a:r>
              <a:rPr lang="en-US" altLang="zh-CN" dirty="0">
                <a:solidFill>
                  <a:srgbClr val="0000D0"/>
                </a:solidFill>
                <a:sym typeface="Symbol" pitchFamily="18" charset="2"/>
              </a:rPr>
              <a:t>:     </a:t>
            </a:r>
            <a:r>
              <a:rPr lang="zh-CN" altLang="en-US" dirty="0">
                <a:solidFill>
                  <a:schemeClr val="tx2"/>
                </a:solidFill>
                <a:sym typeface="Symbol" pitchFamily="18" charset="2"/>
              </a:rPr>
              <a:t>电荷守恒，电流连续性。</a:t>
            </a:r>
          </a:p>
        </p:txBody>
      </p:sp>
      <p:grpSp>
        <p:nvGrpSpPr>
          <p:cNvPr id="81923" name="Group 3"/>
          <p:cNvGrpSpPr>
            <a:grpSpLocks/>
          </p:cNvGrpSpPr>
          <p:nvPr/>
        </p:nvGrpSpPr>
        <p:grpSpPr bwMode="auto">
          <a:xfrm>
            <a:off x="374651" y="827541"/>
            <a:ext cx="2219324" cy="1500188"/>
            <a:chOff x="140" y="1407"/>
            <a:chExt cx="1398" cy="945"/>
          </a:xfrm>
        </p:grpSpPr>
        <p:sp>
          <p:nvSpPr>
            <p:cNvPr id="81954" name="Line 4"/>
            <p:cNvSpPr>
              <a:spLocks noChangeShapeType="1"/>
            </p:cNvSpPr>
            <p:nvPr/>
          </p:nvSpPr>
          <p:spPr bwMode="auto">
            <a:xfrm>
              <a:off x="1481" y="1610"/>
              <a:ext cx="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5" name="Line 5"/>
            <p:cNvSpPr>
              <a:spLocks noChangeShapeType="1"/>
            </p:cNvSpPr>
            <p:nvPr/>
          </p:nvSpPr>
          <p:spPr bwMode="auto">
            <a:xfrm flipH="1">
              <a:off x="665" y="1610"/>
              <a:ext cx="672" cy="68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6" name="Line 6"/>
            <p:cNvSpPr>
              <a:spLocks noChangeShapeType="1"/>
            </p:cNvSpPr>
            <p:nvPr/>
          </p:nvSpPr>
          <p:spPr bwMode="auto">
            <a:xfrm flipH="1" flipV="1">
              <a:off x="665" y="1610"/>
              <a:ext cx="816" cy="68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7" name="Line 7"/>
            <p:cNvSpPr>
              <a:spLocks noChangeShapeType="1"/>
            </p:cNvSpPr>
            <p:nvPr/>
          </p:nvSpPr>
          <p:spPr bwMode="auto">
            <a:xfrm flipV="1">
              <a:off x="1004" y="1668"/>
              <a:ext cx="273"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58" name="Line 8"/>
            <p:cNvSpPr>
              <a:spLocks noChangeShapeType="1"/>
            </p:cNvSpPr>
            <p:nvPr/>
          </p:nvSpPr>
          <p:spPr bwMode="auto">
            <a:xfrm flipH="1">
              <a:off x="809" y="1968"/>
              <a:ext cx="18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9" name="Line 9"/>
            <p:cNvSpPr>
              <a:spLocks noChangeShapeType="1"/>
            </p:cNvSpPr>
            <p:nvPr/>
          </p:nvSpPr>
          <p:spPr bwMode="auto">
            <a:xfrm>
              <a:off x="785" y="1706"/>
              <a:ext cx="72" cy="58"/>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60" name="Line 10"/>
            <p:cNvSpPr>
              <a:spLocks noChangeShapeType="1"/>
            </p:cNvSpPr>
            <p:nvPr/>
          </p:nvSpPr>
          <p:spPr bwMode="auto">
            <a:xfrm rot="-1438438" flipH="1" flipV="1">
              <a:off x="1325" y="2100"/>
              <a:ext cx="144" cy="252"/>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61" name="Text Box 11"/>
            <p:cNvSpPr txBox="1">
              <a:spLocks noChangeArrowheads="1"/>
            </p:cNvSpPr>
            <p:nvPr/>
          </p:nvSpPr>
          <p:spPr bwMode="auto">
            <a:xfrm>
              <a:off x="771" y="1472"/>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i="1">
                <a:solidFill>
                  <a:schemeClr val="tx2"/>
                </a:solidFill>
                <a:sym typeface="Symbol" pitchFamily="18" charset="2"/>
              </a:endParaRPr>
            </a:p>
          </p:txBody>
        </p:sp>
        <p:sp>
          <p:nvSpPr>
            <p:cNvPr id="81962" name="Text Box 12"/>
            <p:cNvSpPr txBox="1">
              <a:spLocks noChangeArrowheads="1"/>
            </p:cNvSpPr>
            <p:nvPr/>
          </p:nvSpPr>
          <p:spPr bwMode="auto">
            <a:xfrm>
              <a:off x="1257" y="1658"/>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4</a:t>
              </a:r>
              <a:endParaRPr lang="en-US" altLang="zh-CN" i="1">
                <a:solidFill>
                  <a:schemeClr val="tx2"/>
                </a:solidFill>
                <a:sym typeface="Symbol" pitchFamily="18" charset="2"/>
              </a:endParaRPr>
            </a:p>
          </p:txBody>
        </p:sp>
        <p:sp>
          <p:nvSpPr>
            <p:cNvPr id="81963" name="Text Box 13"/>
            <p:cNvSpPr txBox="1">
              <a:spLocks noChangeArrowheads="1"/>
            </p:cNvSpPr>
            <p:nvPr/>
          </p:nvSpPr>
          <p:spPr bwMode="auto">
            <a:xfrm>
              <a:off x="585" y="1884"/>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i="1">
                <a:solidFill>
                  <a:schemeClr val="tx2"/>
                </a:solidFill>
                <a:sym typeface="Symbol" pitchFamily="18" charset="2"/>
              </a:endParaRPr>
            </a:p>
          </p:txBody>
        </p:sp>
        <p:sp>
          <p:nvSpPr>
            <p:cNvPr id="81964" name="Text Box 14"/>
            <p:cNvSpPr txBox="1">
              <a:spLocks noChangeArrowheads="1"/>
            </p:cNvSpPr>
            <p:nvPr/>
          </p:nvSpPr>
          <p:spPr bwMode="auto">
            <a:xfrm>
              <a:off x="1305" y="1962"/>
              <a:ext cx="23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3</a:t>
              </a:r>
              <a:endParaRPr lang="en-US" altLang="zh-CN" i="1">
                <a:solidFill>
                  <a:schemeClr val="tx2"/>
                </a:solidFill>
                <a:sym typeface="Symbol" pitchFamily="18" charset="2"/>
              </a:endParaRPr>
            </a:p>
          </p:txBody>
        </p:sp>
        <p:sp>
          <p:nvSpPr>
            <p:cNvPr id="81965" name="Text Box 15"/>
            <p:cNvSpPr txBox="1">
              <a:spLocks noChangeArrowheads="1"/>
            </p:cNvSpPr>
            <p:nvPr/>
          </p:nvSpPr>
          <p:spPr bwMode="auto">
            <a:xfrm>
              <a:off x="941" y="1764"/>
              <a:ext cx="183"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66FF33"/>
                  </a:solidFill>
                  <a:sym typeface="Symbol" pitchFamily="18" charset="2"/>
                </a:rPr>
                <a:t>•</a:t>
              </a:r>
              <a:endParaRPr lang="en-US" altLang="zh-CN">
                <a:solidFill>
                  <a:schemeClr val="tx2"/>
                </a:solidFill>
                <a:sym typeface="Symbol" pitchFamily="18" charset="2"/>
              </a:endParaRPr>
            </a:p>
          </p:txBody>
        </p:sp>
        <p:sp>
          <p:nvSpPr>
            <p:cNvPr id="81966" name="Text Box 16"/>
            <p:cNvSpPr txBox="1">
              <a:spLocks noChangeArrowheads="1"/>
            </p:cNvSpPr>
            <p:nvPr/>
          </p:nvSpPr>
          <p:spPr bwMode="auto">
            <a:xfrm>
              <a:off x="140" y="1407"/>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rgbClr val="FF0000"/>
                  </a:solidFill>
                  <a:sym typeface="Symbol" pitchFamily="18" charset="2"/>
                </a:rPr>
                <a:t>例</a:t>
              </a:r>
              <a:endParaRPr lang="zh-CN" altLang="en-US" i="1" dirty="0">
                <a:solidFill>
                  <a:schemeClr val="tx2"/>
                </a:solidFill>
                <a:sym typeface="Symbol" pitchFamily="18" charset="2"/>
              </a:endParaRPr>
            </a:p>
          </p:txBody>
        </p:sp>
      </p:grpSp>
      <p:grpSp>
        <p:nvGrpSpPr>
          <p:cNvPr id="370705" name="Group 17"/>
          <p:cNvGrpSpPr>
            <a:grpSpLocks/>
          </p:cNvGrpSpPr>
          <p:nvPr/>
        </p:nvGrpSpPr>
        <p:grpSpPr bwMode="auto">
          <a:xfrm>
            <a:off x="3132138" y="1032328"/>
            <a:ext cx="3068637" cy="1520825"/>
            <a:chOff x="2064" y="361"/>
            <a:chExt cx="1933" cy="958"/>
          </a:xfrm>
        </p:grpSpPr>
        <p:sp>
          <p:nvSpPr>
            <p:cNvPr id="81952" name="Text Box 18"/>
            <p:cNvSpPr txBox="1">
              <a:spLocks noChangeArrowheads="1"/>
            </p:cNvSpPr>
            <p:nvPr/>
          </p:nvSpPr>
          <p:spPr bwMode="auto">
            <a:xfrm>
              <a:off x="2064" y="361"/>
              <a:ext cx="1776" cy="6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i="1" dirty="0">
                  <a:solidFill>
                    <a:schemeClr val="tx2"/>
                  </a:solidFill>
                  <a:sym typeface="Symbol" pitchFamily="18" charset="2"/>
                </a:rPr>
                <a:t>–i</a:t>
              </a:r>
              <a:r>
                <a:rPr lang="en-US" altLang="zh-CN" baseline="-25000" dirty="0">
                  <a:solidFill>
                    <a:schemeClr val="tx2"/>
                  </a:solidFill>
                  <a:sym typeface="Symbol" pitchFamily="18" charset="2"/>
                </a:rPr>
                <a:t>1</a:t>
              </a:r>
              <a:r>
                <a:rPr lang="en-US" altLang="zh-CN" i="1" dirty="0">
                  <a:solidFill>
                    <a:schemeClr val="tx2"/>
                  </a:solidFill>
                  <a:sym typeface="Symbol" pitchFamily="18" charset="2"/>
                </a:rPr>
                <a:t>+ i</a:t>
              </a:r>
              <a:r>
                <a:rPr lang="en-US" altLang="zh-CN" baseline="-25000" dirty="0">
                  <a:solidFill>
                    <a:schemeClr val="tx2"/>
                  </a:solidFill>
                  <a:sym typeface="Symbol" pitchFamily="18" charset="2"/>
                </a:rPr>
                <a:t>2</a:t>
              </a:r>
              <a:r>
                <a:rPr lang="en-US" altLang="zh-CN" i="1" dirty="0">
                  <a:solidFill>
                    <a:schemeClr val="tx2"/>
                  </a:solidFill>
                  <a:sym typeface="Symbol" pitchFamily="18" charset="2"/>
                </a:rPr>
                <a:t>– i</a:t>
              </a:r>
              <a:r>
                <a:rPr lang="en-US" altLang="zh-CN" baseline="-25000" dirty="0">
                  <a:solidFill>
                    <a:schemeClr val="tx2"/>
                  </a:solidFill>
                  <a:sym typeface="Symbol" pitchFamily="18" charset="2"/>
                </a:rPr>
                <a:t>3</a:t>
              </a:r>
              <a:r>
                <a:rPr lang="en-US" altLang="zh-CN" i="1" dirty="0">
                  <a:solidFill>
                    <a:schemeClr val="tx2"/>
                  </a:solidFill>
                  <a:sym typeface="Symbol" pitchFamily="18" charset="2"/>
                </a:rPr>
                <a:t>+ i</a:t>
              </a:r>
              <a:r>
                <a:rPr lang="en-US" altLang="zh-CN" baseline="-25000" dirty="0">
                  <a:solidFill>
                    <a:schemeClr val="tx2"/>
                  </a:solidFill>
                  <a:sym typeface="Symbol" pitchFamily="18" charset="2"/>
                </a:rPr>
                <a:t>4</a:t>
              </a:r>
              <a:r>
                <a:rPr lang="en-US" altLang="zh-CN" i="1" dirty="0">
                  <a:solidFill>
                    <a:schemeClr val="tx2"/>
                  </a:solidFill>
                  <a:sym typeface="Symbol" pitchFamily="18" charset="2"/>
                </a:rPr>
                <a:t>= </a:t>
              </a:r>
              <a:r>
                <a:rPr lang="en-US" altLang="zh-CN" dirty="0">
                  <a:solidFill>
                    <a:schemeClr val="tx2"/>
                  </a:solidFill>
                  <a:sym typeface="Symbol" pitchFamily="18" charset="2"/>
                </a:rPr>
                <a:t>0</a:t>
              </a:r>
              <a:endParaRPr lang="en-US" altLang="zh-CN" i="1" dirty="0">
                <a:solidFill>
                  <a:schemeClr val="tx2"/>
                </a:solidFill>
                <a:sym typeface="Symbol" pitchFamily="18" charset="2"/>
              </a:endParaRPr>
            </a:p>
            <a:p>
              <a:pPr>
                <a:spcBef>
                  <a:spcPct val="50000"/>
                </a:spcBef>
              </a:pPr>
              <a:r>
                <a:rPr lang="en-US" altLang="zh-CN" i="1" dirty="0">
                  <a:solidFill>
                    <a:schemeClr val="tx2"/>
                  </a:solidFill>
                  <a:sym typeface="Symbol" pitchFamily="18" charset="2"/>
                </a:rPr>
                <a:t>i</a:t>
              </a:r>
              <a:r>
                <a:rPr lang="en-US" altLang="zh-CN" baseline="-25000" dirty="0">
                  <a:solidFill>
                    <a:schemeClr val="tx2"/>
                  </a:solidFill>
                  <a:sym typeface="Symbol" pitchFamily="18" charset="2"/>
                </a:rPr>
                <a:t>1</a:t>
              </a:r>
              <a:r>
                <a:rPr lang="en-US" altLang="zh-CN" i="1" dirty="0">
                  <a:solidFill>
                    <a:schemeClr val="tx2"/>
                  </a:solidFill>
                  <a:sym typeface="Symbol" pitchFamily="18" charset="2"/>
                </a:rPr>
                <a:t>+ i</a:t>
              </a:r>
              <a:r>
                <a:rPr lang="en-US" altLang="zh-CN" baseline="-25000" dirty="0">
                  <a:solidFill>
                    <a:schemeClr val="tx2"/>
                  </a:solidFill>
                  <a:sym typeface="Symbol" pitchFamily="18" charset="2"/>
                </a:rPr>
                <a:t>3</a:t>
              </a:r>
              <a:r>
                <a:rPr lang="en-US" altLang="zh-CN" i="1" dirty="0">
                  <a:solidFill>
                    <a:schemeClr val="tx2"/>
                  </a:solidFill>
                  <a:sym typeface="Symbol" pitchFamily="18" charset="2"/>
                </a:rPr>
                <a:t>= i</a:t>
              </a:r>
              <a:r>
                <a:rPr lang="en-US" altLang="zh-CN" baseline="-25000" dirty="0">
                  <a:solidFill>
                    <a:schemeClr val="tx2"/>
                  </a:solidFill>
                  <a:sym typeface="Symbol" pitchFamily="18" charset="2"/>
                </a:rPr>
                <a:t>2</a:t>
              </a:r>
              <a:r>
                <a:rPr lang="en-US" altLang="zh-CN" i="1" dirty="0">
                  <a:solidFill>
                    <a:schemeClr val="tx2"/>
                  </a:solidFill>
                  <a:sym typeface="Symbol" pitchFamily="18" charset="2"/>
                </a:rPr>
                <a:t>+ i</a:t>
              </a:r>
              <a:r>
                <a:rPr lang="en-US" altLang="zh-CN" baseline="-25000" dirty="0">
                  <a:solidFill>
                    <a:schemeClr val="tx2"/>
                  </a:solidFill>
                  <a:sym typeface="Symbol" pitchFamily="18" charset="2"/>
                </a:rPr>
                <a:t>4</a:t>
              </a:r>
              <a:endParaRPr lang="en-US" altLang="zh-CN" i="1" dirty="0">
                <a:solidFill>
                  <a:schemeClr val="tx2"/>
                </a:solidFill>
                <a:sym typeface="Symbol" pitchFamily="18" charset="2"/>
              </a:endParaRPr>
            </a:p>
          </p:txBody>
        </p:sp>
        <p:graphicFrame>
          <p:nvGraphicFramePr>
            <p:cNvPr id="81953" name="Object 19"/>
            <p:cNvGraphicFramePr>
              <a:graphicFrameLocks noChangeAspect="1"/>
            </p:cNvGraphicFramePr>
            <p:nvPr/>
          </p:nvGraphicFramePr>
          <p:xfrm>
            <a:off x="2199" y="1080"/>
            <a:ext cx="1798" cy="239"/>
          </p:xfrm>
          <a:graphic>
            <a:graphicData uri="http://schemas.openxmlformats.org/presentationml/2006/ole">
              <mc:AlternateContent xmlns:mc="http://schemas.openxmlformats.org/markup-compatibility/2006">
                <mc:Choice xmlns:v="urn:schemas-microsoft-com:vml" Requires="v">
                  <p:oleObj spid="_x0000_s438280" name="公式" r:id="rId3" imgW="1295400" imgH="254000" progId="Equation.3">
                    <p:embed/>
                  </p:oleObj>
                </mc:Choice>
                <mc:Fallback>
                  <p:oleObj name="公式" r:id="rId3" imgW="1295400" imgH="254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9" y="1080"/>
                          <a:ext cx="1798" cy="239"/>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70708" name="Group 20"/>
          <p:cNvGrpSpPr>
            <a:grpSpLocks/>
          </p:cNvGrpSpPr>
          <p:nvPr/>
        </p:nvGrpSpPr>
        <p:grpSpPr bwMode="auto">
          <a:xfrm>
            <a:off x="544513" y="3540578"/>
            <a:ext cx="3424238" cy="1819275"/>
            <a:chOff x="332" y="1764"/>
            <a:chExt cx="2157" cy="1146"/>
          </a:xfrm>
        </p:grpSpPr>
        <p:grpSp>
          <p:nvGrpSpPr>
            <p:cNvPr id="81933" name="Group 21"/>
            <p:cNvGrpSpPr>
              <a:grpSpLocks/>
            </p:cNvGrpSpPr>
            <p:nvPr/>
          </p:nvGrpSpPr>
          <p:grpSpPr bwMode="auto">
            <a:xfrm>
              <a:off x="844" y="1848"/>
              <a:ext cx="1645" cy="1062"/>
              <a:chOff x="484" y="2944"/>
              <a:chExt cx="1645" cy="1062"/>
            </a:xfrm>
          </p:grpSpPr>
          <p:sp>
            <p:nvSpPr>
              <p:cNvPr id="81935" name="Line 22"/>
              <p:cNvSpPr>
                <a:spLocks noChangeShapeType="1"/>
              </p:cNvSpPr>
              <p:nvPr/>
            </p:nvSpPr>
            <p:spPr bwMode="auto">
              <a:xfrm>
                <a:off x="860" y="3072"/>
                <a:ext cx="0" cy="91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36" name="Line 23"/>
              <p:cNvSpPr>
                <a:spLocks noChangeShapeType="1"/>
              </p:cNvSpPr>
              <p:nvPr/>
            </p:nvSpPr>
            <p:spPr bwMode="auto">
              <a:xfrm>
                <a:off x="860" y="3528"/>
                <a:ext cx="1269"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37" name="Line 24"/>
              <p:cNvSpPr>
                <a:spLocks noChangeShapeType="1"/>
              </p:cNvSpPr>
              <p:nvPr/>
            </p:nvSpPr>
            <p:spPr bwMode="auto">
              <a:xfrm>
                <a:off x="1505" y="3072"/>
                <a:ext cx="0" cy="91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38" name="Line 25"/>
              <p:cNvSpPr>
                <a:spLocks noChangeShapeType="1"/>
              </p:cNvSpPr>
              <p:nvPr/>
            </p:nvSpPr>
            <p:spPr bwMode="auto">
              <a:xfrm>
                <a:off x="860" y="3231"/>
                <a:ext cx="0" cy="189"/>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81939" name="Line 26"/>
              <p:cNvSpPr>
                <a:spLocks noChangeShapeType="1"/>
              </p:cNvSpPr>
              <p:nvPr/>
            </p:nvSpPr>
            <p:spPr bwMode="auto">
              <a:xfrm>
                <a:off x="860" y="3688"/>
                <a:ext cx="0" cy="194"/>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81940" name="Line 27"/>
              <p:cNvSpPr>
                <a:spLocks noChangeShapeType="1"/>
              </p:cNvSpPr>
              <p:nvPr/>
            </p:nvSpPr>
            <p:spPr bwMode="auto">
              <a:xfrm>
                <a:off x="1505" y="3096"/>
                <a:ext cx="0" cy="278"/>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1" name="Line 28"/>
              <p:cNvSpPr>
                <a:spLocks noChangeShapeType="1"/>
              </p:cNvSpPr>
              <p:nvPr/>
            </p:nvSpPr>
            <p:spPr bwMode="auto">
              <a:xfrm flipV="1">
                <a:off x="1505" y="3662"/>
                <a:ext cx="0" cy="26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2" name="Line 29"/>
              <p:cNvSpPr>
                <a:spLocks noChangeShapeType="1"/>
              </p:cNvSpPr>
              <p:nvPr/>
            </p:nvSpPr>
            <p:spPr bwMode="auto">
              <a:xfrm flipH="1">
                <a:off x="1205" y="3528"/>
                <a:ext cx="3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3" name="Line 30"/>
              <p:cNvSpPr>
                <a:spLocks noChangeShapeType="1"/>
              </p:cNvSpPr>
              <p:nvPr/>
            </p:nvSpPr>
            <p:spPr bwMode="auto">
              <a:xfrm>
                <a:off x="1505" y="3528"/>
                <a:ext cx="4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44" name="Text Box 31"/>
              <p:cNvSpPr txBox="1">
                <a:spLocks noChangeArrowheads="1"/>
              </p:cNvSpPr>
              <p:nvPr/>
            </p:nvSpPr>
            <p:spPr bwMode="auto">
              <a:xfrm>
                <a:off x="749" y="3372"/>
                <a:ext cx="2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81945" name="Text Box 32"/>
              <p:cNvSpPr txBox="1">
                <a:spLocks noChangeArrowheads="1"/>
              </p:cNvSpPr>
              <p:nvPr/>
            </p:nvSpPr>
            <p:spPr bwMode="auto">
              <a:xfrm>
                <a:off x="1367" y="3380"/>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dirty="0">
                    <a:solidFill>
                      <a:schemeClr val="tx2"/>
                    </a:solidFill>
                    <a:sym typeface="Symbol" pitchFamily="18" charset="2"/>
                  </a:rPr>
                  <a:t>•</a:t>
                </a:r>
              </a:p>
            </p:txBody>
          </p:sp>
          <p:sp>
            <p:nvSpPr>
              <p:cNvPr id="81946" name="Text Box 33"/>
              <p:cNvSpPr txBox="1">
                <a:spLocks noChangeArrowheads="1"/>
              </p:cNvSpPr>
              <p:nvPr/>
            </p:nvSpPr>
            <p:spPr bwMode="auto">
              <a:xfrm>
                <a:off x="492" y="3026"/>
                <a:ext cx="36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dirty="0">
                    <a:solidFill>
                      <a:schemeClr val="tx2"/>
                    </a:solidFill>
                    <a:sym typeface="Symbol" pitchFamily="18" charset="2"/>
                  </a:rPr>
                  <a:t>7A</a:t>
                </a:r>
              </a:p>
            </p:txBody>
          </p:sp>
          <p:sp>
            <p:nvSpPr>
              <p:cNvPr id="81947" name="Text Box 34"/>
              <p:cNvSpPr txBox="1">
                <a:spLocks noChangeArrowheads="1"/>
              </p:cNvSpPr>
              <p:nvPr/>
            </p:nvSpPr>
            <p:spPr bwMode="auto">
              <a:xfrm>
                <a:off x="484" y="3697"/>
                <a:ext cx="4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dirty="0">
                    <a:solidFill>
                      <a:schemeClr val="tx2"/>
                    </a:solidFill>
                    <a:sym typeface="Symbol" pitchFamily="18" charset="2"/>
                  </a:rPr>
                  <a:t>4A</a:t>
                </a:r>
              </a:p>
            </p:txBody>
          </p:sp>
          <p:sp>
            <p:nvSpPr>
              <p:cNvPr id="81948" name="Text Box 35"/>
              <p:cNvSpPr txBox="1">
                <a:spLocks noChangeArrowheads="1"/>
              </p:cNvSpPr>
              <p:nvPr/>
            </p:nvSpPr>
            <p:spPr bwMode="auto">
              <a:xfrm>
                <a:off x="1265" y="3232"/>
                <a:ext cx="3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i</a:t>
                </a:r>
                <a:r>
                  <a:rPr lang="en-US" altLang="zh-CN" baseline="-25000" dirty="0">
                    <a:solidFill>
                      <a:schemeClr val="tx2"/>
                    </a:solidFill>
                    <a:sym typeface="Symbol" pitchFamily="18" charset="2"/>
                  </a:rPr>
                  <a:t>1</a:t>
                </a:r>
                <a:endParaRPr lang="en-US" altLang="zh-CN" i="1" dirty="0">
                  <a:solidFill>
                    <a:schemeClr val="tx2"/>
                  </a:solidFill>
                  <a:sym typeface="Symbol" pitchFamily="18" charset="2"/>
                </a:endParaRPr>
              </a:p>
            </p:txBody>
          </p:sp>
          <p:sp>
            <p:nvSpPr>
              <p:cNvPr id="81949" name="Text Box 36"/>
              <p:cNvSpPr txBox="1">
                <a:spLocks noChangeArrowheads="1"/>
              </p:cNvSpPr>
              <p:nvPr/>
            </p:nvSpPr>
            <p:spPr bwMode="auto">
              <a:xfrm>
                <a:off x="1461" y="2944"/>
                <a:ext cx="4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dirty="0">
                    <a:solidFill>
                      <a:schemeClr val="tx2"/>
                    </a:solidFill>
                    <a:sym typeface="Symbol" pitchFamily="18" charset="2"/>
                  </a:rPr>
                  <a:t>10A</a:t>
                </a:r>
              </a:p>
            </p:txBody>
          </p:sp>
          <p:sp>
            <p:nvSpPr>
              <p:cNvPr id="81950" name="Text Box 37"/>
              <p:cNvSpPr txBox="1">
                <a:spLocks noChangeArrowheads="1"/>
              </p:cNvSpPr>
              <p:nvPr/>
            </p:nvSpPr>
            <p:spPr bwMode="auto">
              <a:xfrm>
                <a:off x="1434" y="3718"/>
                <a:ext cx="6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dirty="0">
                    <a:solidFill>
                      <a:schemeClr val="tx2"/>
                    </a:solidFill>
                    <a:latin typeface="黑体" pitchFamily="49" charset="-122"/>
                    <a:ea typeface="黑体" pitchFamily="49" charset="-122"/>
                    <a:sym typeface="Symbol" pitchFamily="18" charset="2"/>
                  </a:rPr>
                  <a:t>-</a:t>
                </a:r>
                <a:r>
                  <a:rPr lang="en-US" altLang="zh-CN" dirty="0">
                    <a:solidFill>
                      <a:schemeClr val="tx2"/>
                    </a:solidFill>
                    <a:sym typeface="Symbol" pitchFamily="18" charset="2"/>
                  </a:rPr>
                  <a:t>12A</a:t>
                </a:r>
              </a:p>
            </p:txBody>
          </p:sp>
          <p:sp>
            <p:nvSpPr>
              <p:cNvPr id="81951" name="Text Box 38"/>
              <p:cNvSpPr txBox="1">
                <a:spLocks noChangeArrowheads="1"/>
              </p:cNvSpPr>
              <p:nvPr/>
            </p:nvSpPr>
            <p:spPr bwMode="auto">
              <a:xfrm>
                <a:off x="1789" y="3228"/>
                <a:ext cx="3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i</a:t>
                </a:r>
                <a:r>
                  <a:rPr lang="en-US" altLang="zh-CN" baseline="-25000" dirty="0">
                    <a:solidFill>
                      <a:schemeClr val="tx2"/>
                    </a:solidFill>
                    <a:sym typeface="Symbol" pitchFamily="18" charset="2"/>
                  </a:rPr>
                  <a:t>2</a:t>
                </a:r>
                <a:endParaRPr lang="en-US" altLang="zh-CN" i="1" dirty="0">
                  <a:solidFill>
                    <a:schemeClr val="tx2"/>
                  </a:solidFill>
                  <a:sym typeface="Symbol" pitchFamily="18" charset="2"/>
                </a:endParaRPr>
              </a:p>
            </p:txBody>
          </p:sp>
        </p:grpSp>
        <p:sp>
          <p:nvSpPr>
            <p:cNvPr id="81934" name="Text Box 39"/>
            <p:cNvSpPr txBox="1">
              <a:spLocks noChangeArrowheads="1"/>
            </p:cNvSpPr>
            <p:nvPr/>
          </p:nvSpPr>
          <p:spPr bwMode="auto">
            <a:xfrm>
              <a:off x="332" y="1764"/>
              <a:ext cx="3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rgbClr val="FF0000"/>
                  </a:solidFill>
                  <a:sym typeface="Symbol" pitchFamily="18" charset="2"/>
                </a:rPr>
                <a:t>例</a:t>
              </a:r>
            </a:p>
          </p:txBody>
        </p:sp>
      </p:grpSp>
      <p:grpSp>
        <p:nvGrpSpPr>
          <p:cNvPr id="370728" name="Group 40"/>
          <p:cNvGrpSpPr>
            <a:grpSpLocks/>
          </p:cNvGrpSpPr>
          <p:nvPr/>
        </p:nvGrpSpPr>
        <p:grpSpPr bwMode="auto">
          <a:xfrm>
            <a:off x="1447800" y="3821567"/>
            <a:ext cx="5959475" cy="1114426"/>
            <a:chOff x="856" y="1970"/>
            <a:chExt cx="3754" cy="702"/>
          </a:xfrm>
        </p:grpSpPr>
        <p:sp>
          <p:nvSpPr>
            <p:cNvPr id="81931" name="Rectangle 41"/>
            <p:cNvSpPr>
              <a:spLocks noChangeArrowheads="1"/>
            </p:cNvSpPr>
            <p:nvPr/>
          </p:nvSpPr>
          <p:spPr bwMode="auto">
            <a:xfrm>
              <a:off x="2513" y="1970"/>
              <a:ext cx="209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i</a:t>
              </a:r>
              <a:r>
                <a:rPr lang="en-US" altLang="zh-CN" baseline="-25000" dirty="0">
                  <a:solidFill>
                    <a:schemeClr val="tx2"/>
                  </a:solidFill>
                  <a:sym typeface="Symbol" pitchFamily="18" charset="2"/>
                </a:rPr>
                <a:t>1</a:t>
              </a:r>
              <a:r>
                <a:rPr lang="en-US" altLang="zh-CN" i="1" dirty="0">
                  <a:solidFill>
                    <a:schemeClr val="tx2"/>
                  </a:solidFill>
                  <a:sym typeface="Symbol" pitchFamily="18" charset="2"/>
                </a:rPr>
                <a:t>= </a:t>
              </a:r>
              <a:r>
                <a:rPr lang="en-US" altLang="zh-CN" dirty="0">
                  <a:solidFill>
                    <a:schemeClr val="tx2"/>
                  </a:solidFill>
                  <a:sym typeface="Symbol" pitchFamily="18" charset="2"/>
                </a:rPr>
                <a:t>4 – 7=</a:t>
              </a:r>
              <a:r>
                <a:rPr lang="en-US" altLang="zh-CN" i="1" dirty="0">
                  <a:solidFill>
                    <a:schemeClr val="tx2"/>
                  </a:solidFill>
                  <a:sym typeface="Symbol" pitchFamily="18" charset="2"/>
                </a:rPr>
                <a:t> –</a:t>
              </a:r>
              <a:r>
                <a:rPr lang="en-US" altLang="zh-CN" dirty="0">
                  <a:solidFill>
                    <a:schemeClr val="tx2"/>
                  </a:solidFill>
                  <a:sym typeface="Symbol" pitchFamily="18" charset="2"/>
                </a:rPr>
                <a:t>3 A</a:t>
              </a:r>
              <a:r>
                <a:rPr lang="en-US" altLang="zh-CN" i="1" dirty="0">
                  <a:solidFill>
                    <a:schemeClr val="tx2"/>
                  </a:solidFill>
                  <a:sym typeface="Symbol" pitchFamily="18" charset="2"/>
                </a:rPr>
                <a:t> </a:t>
              </a:r>
            </a:p>
          </p:txBody>
        </p:sp>
        <p:sp>
          <p:nvSpPr>
            <p:cNvPr id="81932" name="Oval 42"/>
            <p:cNvSpPr>
              <a:spLocks noChangeArrowheads="1"/>
            </p:cNvSpPr>
            <p:nvPr/>
          </p:nvSpPr>
          <p:spPr bwMode="auto">
            <a:xfrm>
              <a:off x="856" y="2207"/>
              <a:ext cx="640" cy="465"/>
            </a:xfrm>
            <a:prstGeom prst="ellipse">
              <a:avLst/>
            </a:prstGeom>
            <a:noFill/>
            <a:ln w="38100">
              <a:solidFill>
                <a:srgbClr val="FF00FF"/>
              </a:solidFill>
              <a:prstDash val="sysDot"/>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370731" name="Group 43"/>
          <p:cNvGrpSpPr>
            <a:grpSpLocks/>
          </p:cNvGrpSpPr>
          <p:nvPr/>
        </p:nvGrpSpPr>
        <p:grpSpPr bwMode="auto">
          <a:xfrm>
            <a:off x="2667000" y="4080328"/>
            <a:ext cx="5257800" cy="1604963"/>
            <a:chOff x="1680" y="2120"/>
            <a:chExt cx="3312" cy="1011"/>
          </a:xfrm>
        </p:grpSpPr>
        <p:sp>
          <p:nvSpPr>
            <p:cNvPr id="81929" name="Text Box 44"/>
            <p:cNvSpPr txBox="1">
              <a:spLocks noChangeArrowheads="1"/>
            </p:cNvSpPr>
            <p:nvPr/>
          </p:nvSpPr>
          <p:spPr bwMode="auto">
            <a:xfrm>
              <a:off x="2964" y="2498"/>
              <a:ext cx="2028" cy="6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r>
                <a:rPr lang="en-US" altLang="zh-CN">
                  <a:solidFill>
                    <a:schemeClr val="tx2"/>
                  </a:solidFill>
                  <a:sym typeface="Symbol" pitchFamily="18" charset="2"/>
                </a:rPr>
                <a:t>=10+(</a:t>
              </a:r>
              <a:r>
                <a:rPr lang="en-US" altLang="zh-CN">
                  <a:solidFill>
                    <a:schemeClr val="tx2"/>
                  </a:solidFill>
                  <a:latin typeface="黑体" pitchFamily="49" charset="-122"/>
                  <a:ea typeface="黑体" pitchFamily="49" charset="-122"/>
                  <a:sym typeface="Symbol" pitchFamily="18" charset="2"/>
                </a:rPr>
                <a:t>-</a:t>
              </a:r>
              <a:r>
                <a:rPr lang="en-US" altLang="zh-CN">
                  <a:solidFill>
                    <a:schemeClr val="tx2"/>
                  </a:solidFill>
                  <a:sym typeface="Symbol" pitchFamily="18" charset="2"/>
                </a:rPr>
                <a:t>12) </a:t>
              </a:r>
              <a:r>
                <a:rPr lang="en-US" altLang="zh-CN">
                  <a:solidFill>
                    <a:schemeClr val="tx2"/>
                  </a:solidFill>
                  <a:latin typeface="黑体" pitchFamily="49" charset="-122"/>
                  <a:ea typeface="黑体" pitchFamily="49" charset="-122"/>
                  <a:sym typeface="Symbol" pitchFamily="18" charset="2"/>
                </a:rPr>
                <a:t>- </a:t>
              </a:r>
              <a:r>
                <a:rPr lang="en-US" altLang="zh-CN" i="1">
                  <a:solidFill>
                    <a:schemeClr val="tx2"/>
                  </a:solidFill>
                  <a:sym typeface="Symbol" pitchFamily="18" charset="2"/>
                </a:rPr>
                <a:t>i</a:t>
              </a:r>
              <a:r>
                <a:rPr lang="en-US" altLang="zh-CN" baseline="-25000">
                  <a:solidFill>
                    <a:schemeClr val="tx2"/>
                  </a:solidFill>
                  <a:sym typeface="Symbol" pitchFamily="18" charset="2"/>
                </a:rPr>
                <a:t>1</a:t>
              </a:r>
              <a:r>
                <a:rPr lang="en-US" altLang="zh-CN">
                  <a:solidFill>
                    <a:schemeClr val="tx2"/>
                  </a:solidFill>
                  <a:latin typeface="黑体" pitchFamily="49" charset="-122"/>
                  <a:ea typeface="黑体" pitchFamily="49" charset="-122"/>
                  <a:sym typeface="Symbol" pitchFamily="18" charset="2"/>
                </a:rPr>
                <a:t> </a:t>
              </a:r>
            </a:p>
            <a:p>
              <a:pPr>
                <a:spcBef>
                  <a:spcPct val="50000"/>
                </a:spcBef>
              </a:pPr>
              <a:r>
                <a:rPr lang="en-US" altLang="zh-CN">
                  <a:solidFill>
                    <a:schemeClr val="tx2"/>
                  </a:solidFill>
                  <a:latin typeface="黑体" pitchFamily="49" charset="-122"/>
                  <a:ea typeface="黑体" pitchFamily="49" charset="-122"/>
                  <a:sym typeface="Symbol" pitchFamily="18" charset="2"/>
                </a:rPr>
                <a:t> =</a:t>
              </a:r>
              <a:r>
                <a:rPr lang="en-US" altLang="zh-CN">
                  <a:solidFill>
                    <a:schemeClr val="tx2"/>
                  </a:solidFill>
                  <a:ea typeface="黑体" pitchFamily="49" charset="-122"/>
                  <a:sym typeface="Symbol" pitchFamily="18" charset="2"/>
                </a:rPr>
                <a:t>10 </a:t>
              </a:r>
              <a:r>
                <a:rPr lang="en-US" altLang="zh-CN">
                  <a:solidFill>
                    <a:schemeClr val="tx2"/>
                  </a:solidFill>
                  <a:latin typeface="黑体" pitchFamily="49" charset="-122"/>
                  <a:ea typeface="黑体" pitchFamily="49" charset="-122"/>
                  <a:sym typeface="Symbol" pitchFamily="18" charset="2"/>
                </a:rPr>
                <a:t>-</a:t>
              </a:r>
              <a:r>
                <a:rPr lang="en-US" altLang="zh-CN">
                  <a:solidFill>
                    <a:schemeClr val="tx2"/>
                  </a:solidFill>
                  <a:ea typeface="黑体" pitchFamily="49" charset="-122"/>
                  <a:sym typeface="Symbol" pitchFamily="18" charset="2"/>
                </a:rPr>
                <a:t>12</a:t>
              </a:r>
              <a:r>
                <a:rPr lang="en-US" altLang="zh-CN">
                  <a:solidFill>
                    <a:schemeClr val="tx2"/>
                  </a:solidFill>
                  <a:latin typeface="黑体" pitchFamily="49" charset="-122"/>
                  <a:ea typeface="黑体" pitchFamily="49" charset="-122"/>
                  <a:sym typeface="Symbol" pitchFamily="18" charset="2"/>
                </a:rPr>
                <a:t>+</a:t>
              </a:r>
              <a:r>
                <a:rPr lang="en-US" altLang="zh-CN">
                  <a:solidFill>
                    <a:schemeClr val="tx2"/>
                  </a:solidFill>
                  <a:ea typeface="黑体" pitchFamily="49" charset="-122"/>
                  <a:sym typeface="Symbol" pitchFamily="18" charset="2"/>
                </a:rPr>
                <a:t>3 </a:t>
              </a:r>
              <a:r>
                <a:rPr lang="en-US" altLang="zh-CN">
                  <a:solidFill>
                    <a:schemeClr val="tx2"/>
                  </a:solidFill>
                  <a:latin typeface="黑体" pitchFamily="49" charset="-122"/>
                  <a:ea typeface="黑体" pitchFamily="49" charset="-122"/>
                  <a:sym typeface="Symbol" pitchFamily="18" charset="2"/>
                </a:rPr>
                <a:t>= </a:t>
              </a:r>
              <a:r>
                <a:rPr lang="en-US" altLang="zh-CN">
                  <a:solidFill>
                    <a:schemeClr val="tx2"/>
                  </a:solidFill>
                  <a:sym typeface="Symbol" pitchFamily="18" charset="2"/>
                </a:rPr>
                <a:t>1 A</a:t>
              </a:r>
              <a:r>
                <a:rPr lang="en-US" altLang="zh-CN" i="1">
                  <a:solidFill>
                    <a:schemeClr val="tx2"/>
                  </a:solidFill>
                  <a:sym typeface="Symbol" pitchFamily="18" charset="2"/>
                </a:rPr>
                <a:t>   </a:t>
              </a:r>
            </a:p>
          </p:txBody>
        </p:sp>
        <p:sp>
          <p:nvSpPr>
            <p:cNvPr id="81930" name="Oval 45"/>
            <p:cNvSpPr>
              <a:spLocks noChangeArrowheads="1"/>
            </p:cNvSpPr>
            <p:nvPr/>
          </p:nvSpPr>
          <p:spPr bwMode="auto">
            <a:xfrm rot="16200000">
              <a:off x="1588" y="2212"/>
              <a:ext cx="567" cy="384"/>
            </a:xfrm>
            <a:prstGeom prst="ellipse">
              <a:avLst/>
            </a:prstGeom>
            <a:noFill/>
            <a:ln w="38100">
              <a:solidFill>
                <a:srgbClr val="33CC33"/>
              </a:solidFill>
              <a:prstDash val="sysDot"/>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370734" name="Text Box 46"/>
          <p:cNvSpPr txBox="1">
            <a:spLocks noChangeArrowheads="1"/>
          </p:cNvSpPr>
          <p:nvPr/>
        </p:nvSpPr>
        <p:spPr bwMode="auto">
          <a:xfrm>
            <a:off x="6494463" y="1284741"/>
            <a:ext cx="2417762"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spcBef>
                <a:spcPct val="50000"/>
              </a:spcBef>
            </a:pPr>
            <a:r>
              <a:rPr lang="zh-CN" altLang="en-US" sz="2000" dirty="0">
                <a:solidFill>
                  <a:srgbClr val="0000D0"/>
                </a:solidFill>
                <a:sym typeface="Symbol" pitchFamily="18" charset="2"/>
              </a:rPr>
              <a:t>默认流出节点的电流为正，流入节点的电流为负。</a:t>
            </a:r>
            <a:endParaRPr lang="zh-CN" altLang="en-US" sz="2000" dirty="0">
              <a:solidFill>
                <a:schemeClr val="tx2"/>
              </a:solidFill>
              <a:sym typeface="Symbol" pitchFamily="18" charset="2"/>
            </a:endParaRPr>
          </a:p>
        </p:txBody>
      </p:sp>
    </p:spTree>
    <p:extLst>
      <p:ext uri="{BB962C8B-B14F-4D97-AF65-F5344CB8AC3E}">
        <p14:creationId xmlns:p14="http://schemas.microsoft.com/office/powerpoint/2010/main" val="94140059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0734"/>
                                        </p:tgtEl>
                                        <p:attrNameLst>
                                          <p:attrName>style.visibility</p:attrName>
                                        </p:attrNameLst>
                                      </p:cBhvr>
                                      <p:to>
                                        <p:strVal val="visible"/>
                                      </p:to>
                                    </p:set>
                                    <p:anim calcmode="lin" valueType="num">
                                      <p:cBhvr additive="base">
                                        <p:cTn id="7" dur="500" fill="hold"/>
                                        <p:tgtEl>
                                          <p:spTgt spid="370734"/>
                                        </p:tgtEl>
                                        <p:attrNameLst>
                                          <p:attrName>ppt_x</p:attrName>
                                        </p:attrNameLst>
                                      </p:cBhvr>
                                      <p:tavLst>
                                        <p:tav tm="0">
                                          <p:val>
                                            <p:strVal val="#ppt_x"/>
                                          </p:val>
                                        </p:tav>
                                        <p:tav tm="100000">
                                          <p:val>
                                            <p:strVal val="#ppt_x"/>
                                          </p:val>
                                        </p:tav>
                                      </p:tavLst>
                                    </p:anim>
                                    <p:anim calcmode="lin" valueType="num">
                                      <p:cBhvr additive="base">
                                        <p:cTn id="8" dur="500" fill="hold"/>
                                        <p:tgtEl>
                                          <p:spTgt spid="37073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370705"/>
                                        </p:tgtEl>
                                        <p:attrNameLst>
                                          <p:attrName>style.visibility</p:attrName>
                                        </p:attrNameLst>
                                      </p:cBhvr>
                                      <p:to>
                                        <p:strVal val="visible"/>
                                      </p:to>
                                    </p:set>
                                    <p:animEffect transition="in" filter="wipe(left)">
                                      <p:cBhvr>
                                        <p:cTn id="13" dur="500"/>
                                        <p:tgtEl>
                                          <p:spTgt spid="3707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0690"/>
                                        </p:tgtEl>
                                        <p:attrNameLst>
                                          <p:attrName>style.visibility</p:attrName>
                                        </p:attrNameLst>
                                      </p:cBhvr>
                                      <p:to>
                                        <p:strVal val="visible"/>
                                      </p:to>
                                    </p:set>
                                    <p:anim calcmode="lin" valueType="num">
                                      <p:cBhvr additive="base">
                                        <p:cTn id="18" dur="500" fill="hold"/>
                                        <p:tgtEl>
                                          <p:spTgt spid="370690"/>
                                        </p:tgtEl>
                                        <p:attrNameLst>
                                          <p:attrName>ppt_x</p:attrName>
                                        </p:attrNameLst>
                                      </p:cBhvr>
                                      <p:tavLst>
                                        <p:tav tm="0">
                                          <p:val>
                                            <p:strVal val="#ppt_x"/>
                                          </p:val>
                                        </p:tav>
                                        <p:tav tm="100000">
                                          <p:val>
                                            <p:strVal val="#ppt_x"/>
                                          </p:val>
                                        </p:tav>
                                      </p:tavLst>
                                    </p:anim>
                                    <p:anim calcmode="lin" valueType="num">
                                      <p:cBhvr additive="base">
                                        <p:cTn id="19" dur="500" fill="hold"/>
                                        <p:tgtEl>
                                          <p:spTgt spid="370690"/>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70708"/>
                                        </p:tgtEl>
                                        <p:attrNameLst>
                                          <p:attrName>style.visibility</p:attrName>
                                        </p:attrNameLst>
                                      </p:cBhvr>
                                      <p:to>
                                        <p:strVal val="visible"/>
                                      </p:to>
                                    </p:set>
                                    <p:animEffect transition="in" filter="wipe(left)">
                                      <p:cBhvr>
                                        <p:cTn id="24" dur="500"/>
                                        <p:tgtEl>
                                          <p:spTgt spid="37070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370728"/>
                                        </p:tgtEl>
                                        <p:attrNameLst>
                                          <p:attrName>style.visibility</p:attrName>
                                        </p:attrNameLst>
                                      </p:cBhvr>
                                      <p:to>
                                        <p:strVal val="visible"/>
                                      </p:to>
                                    </p:set>
                                    <p:animEffect transition="in" filter="wipe(left)">
                                      <p:cBhvr>
                                        <p:cTn id="29" dur="500"/>
                                        <p:tgtEl>
                                          <p:spTgt spid="37072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70731"/>
                                        </p:tgtEl>
                                        <p:attrNameLst>
                                          <p:attrName>style.visibility</p:attrName>
                                        </p:attrNameLst>
                                      </p:cBhvr>
                                      <p:to>
                                        <p:strVal val="visible"/>
                                      </p:to>
                                    </p:set>
                                    <p:animEffect transition="in" filter="wipe(left)">
                                      <p:cBhvr>
                                        <p:cTn id="34" dur="500"/>
                                        <p:tgtEl>
                                          <p:spTgt spid="370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0" grpId="0" autoUpdateAnimBg="0"/>
      <p:bldP spid="37073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Text Box 2"/>
          <p:cNvSpPr txBox="1">
            <a:spLocks noChangeArrowheads="1"/>
          </p:cNvSpPr>
          <p:nvPr/>
        </p:nvSpPr>
        <p:spPr bwMode="auto">
          <a:xfrm>
            <a:off x="0" y="227013"/>
            <a:ext cx="842962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rgbClr val="FF0000"/>
                </a:solidFill>
                <a:sym typeface="Symbol" pitchFamily="18" charset="2"/>
              </a:rPr>
              <a:t>KCL</a:t>
            </a:r>
            <a:r>
              <a:rPr lang="zh-CN" altLang="en-US">
                <a:solidFill>
                  <a:srgbClr val="FF0000"/>
                </a:solidFill>
                <a:sym typeface="Symbol" pitchFamily="18" charset="2"/>
              </a:rPr>
              <a:t>的推广：</a:t>
            </a:r>
            <a:r>
              <a:rPr lang="en-US" altLang="zh-CN">
                <a:solidFill>
                  <a:srgbClr val="FF0000"/>
                </a:solidFill>
                <a:sym typeface="Symbol" pitchFamily="18" charset="2"/>
              </a:rPr>
              <a:t>KCL also applies to a closed boundary.</a:t>
            </a:r>
            <a:endParaRPr lang="zh-CN" altLang="en-US">
              <a:solidFill>
                <a:schemeClr val="tx2"/>
              </a:solidFill>
              <a:sym typeface="Symbol" pitchFamily="18" charset="2"/>
            </a:endParaRPr>
          </a:p>
        </p:txBody>
      </p:sp>
      <p:grpSp>
        <p:nvGrpSpPr>
          <p:cNvPr id="371715" name="Group 3"/>
          <p:cNvGrpSpPr>
            <a:grpSpLocks/>
          </p:cNvGrpSpPr>
          <p:nvPr/>
        </p:nvGrpSpPr>
        <p:grpSpPr bwMode="auto">
          <a:xfrm>
            <a:off x="1219200" y="4953000"/>
            <a:ext cx="2847975" cy="1389063"/>
            <a:chOff x="768" y="3120"/>
            <a:chExt cx="1776" cy="912"/>
          </a:xfrm>
        </p:grpSpPr>
        <p:sp>
          <p:nvSpPr>
            <p:cNvPr id="82984" name="Rectangle 4"/>
            <p:cNvSpPr>
              <a:spLocks noChangeArrowheads="1"/>
            </p:cNvSpPr>
            <p:nvPr/>
          </p:nvSpPr>
          <p:spPr bwMode="auto">
            <a:xfrm>
              <a:off x="2016" y="3120"/>
              <a:ext cx="528" cy="912"/>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2985" name="Rectangle 5"/>
            <p:cNvSpPr>
              <a:spLocks noChangeArrowheads="1"/>
            </p:cNvSpPr>
            <p:nvPr/>
          </p:nvSpPr>
          <p:spPr bwMode="auto">
            <a:xfrm>
              <a:off x="768" y="3120"/>
              <a:ext cx="528" cy="912"/>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2986" name="Line 6"/>
            <p:cNvSpPr>
              <a:spLocks noChangeShapeType="1"/>
            </p:cNvSpPr>
            <p:nvPr/>
          </p:nvSpPr>
          <p:spPr bwMode="auto">
            <a:xfrm>
              <a:off x="1296" y="3840"/>
              <a:ext cx="72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7" name="Text Box 7"/>
            <p:cNvSpPr txBox="1">
              <a:spLocks noChangeArrowheads="1"/>
            </p:cNvSpPr>
            <p:nvPr/>
          </p:nvSpPr>
          <p:spPr bwMode="auto">
            <a:xfrm>
              <a:off x="901" y="3402"/>
              <a:ext cx="252" cy="30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A</a:t>
              </a:r>
            </a:p>
          </p:txBody>
        </p:sp>
        <p:sp>
          <p:nvSpPr>
            <p:cNvPr id="82988" name="Text Box 8"/>
            <p:cNvSpPr txBox="1">
              <a:spLocks noChangeArrowheads="1"/>
            </p:cNvSpPr>
            <p:nvPr/>
          </p:nvSpPr>
          <p:spPr bwMode="auto">
            <a:xfrm>
              <a:off x="2161" y="3353"/>
              <a:ext cx="241" cy="30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B</a:t>
              </a:r>
            </a:p>
          </p:txBody>
        </p:sp>
        <p:grpSp>
          <p:nvGrpSpPr>
            <p:cNvPr id="82989" name="Group 9"/>
            <p:cNvGrpSpPr>
              <a:grpSpLocks/>
            </p:cNvGrpSpPr>
            <p:nvPr/>
          </p:nvGrpSpPr>
          <p:grpSpPr bwMode="auto">
            <a:xfrm>
              <a:off x="1284" y="3498"/>
              <a:ext cx="624" cy="301"/>
              <a:chOff x="3636" y="1722"/>
              <a:chExt cx="624" cy="301"/>
            </a:xfrm>
          </p:grpSpPr>
          <p:sp>
            <p:nvSpPr>
              <p:cNvPr id="82990" name="Line 10"/>
              <p:cNvSpPr>
                <a:spLocks noChangeShapeType="1"/>
              </p:cNvSpPr>
              <p:nvPr/>
            </p:nvSpPr>
            <p:spPr bwMode="auto">
              <a:xfrm>
                <a:off x="3840" y="2016"/>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91" name="Text Box 11"/>
              <p:cNvSpPr txBox="1">
                <a:spLocks noChangeArrowheads="1"/>
              </p:cNvSpPr>
              <p:nvPr/>
            </p:nvSpPr>
            <p:spPr bwMode="auto">
              <a:xfrm>
                <a:off x="3636" y="1722"/>
                <a:ext cx="624" cy="30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dirty="0" err="1">
                    <a:solidFill>
                      <a:srgbClr val="000000"/>
                    </a:solidFill>
                    <a:sym typeface="Symbol" pitchFamily="18" charset="2"/>
                  </a:rPr>
                  <a:t>i</a:t>
                </a:r>
                <a:endParaRPr lang="en-US" altLang="zh-CN" i="1" dirty="0">
                  <a:solidFill>
                    <a:srgbClr val="000000"/>
                  </a:solidFill>
                  <a:sym typeface="Symbol" pitchFamily="18" charset="2"/>
                </a:endParaRPr>
              </a:p>
            </p:txBody>
          </p:sp>
        </p:grpSp>
      </p:grpSp>
      <p:grpSp>
        <p:nvGrpSpPr>
          <p:cNvPr id="371724" name="Group 12"/>
          <p:cNvGrpSpPr>
            <a:grpSpLocks/>
          </p:cNvGrpSpPr>
          <p:nvPr/>
        </p:nvGrpSpPr>
        <p:grpSpPr bwMode="auto">
          <a:xfrm>
            <a:off x="1219200" y="2814638"/>
            <a:ext cx="2847975" cy="1616075"/>
            <a:chOff x="768" y="1770"/>
            <a:chExt cx="1776" cy="1062"/>
          </a:xfrm>
        </p:grpSpPr>
        <p:sp>
          <p:nvSpPr>
            <p:cNvPr id="82972" name="Rectangle 13"/>
            <p:cNvSpPr>
              <a:spLocks noChangeArrowheads="1"/>
            </p:cNvSpPr>
            <p:nvPr/>
          </p:nvSpPr>
          <p:spPr bwMode="auto">
            <a:xfrm>
              <a:off x="2016" y="1920"/>
              <a:ext cx="528" cy="912"/>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2973" name="Rectangle 14"/>
            <p:cNvSpPr>
              <a:spLocks noChangeArrowheads="1"/>
            </p:cNvSpPr>
            <p:nvPr/>
          </p:nvSpPr>
          <p:spPr bwMode="auto">
            <a:xfrm>
              <a:off x="768" y="1920"/>
              <a:ext cx="528" cy="912"/>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2974" name="Line 15"/>
            <p:cNvSpPr>
              <a:spLocks noChangeShapeType="1"/>
            </p:cNvSpPr>
            <p:nvPr/>
          </p:nvSpPr>
          <p:spPr bwMode="auto">
            <a:xfrm>
              <a:off x="1296" y="2592"/>
              <a:ext cx="72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5" name="Line 16"/>
            <p:cNvSpPr>
              <a:spLocks noChangeShapeType="1"/>
            </p:cNvSpPr>
            <p:nvPr/>
          </p:nvSpPr>
          <p:spPr bwMode="auto">
            <a:xfrm>
              <a:off x="1296" y="2160"/>
              <a:ext cx="72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6" name="Text Box 17"/>
            <p:cNvSpPr txBox="1">
              <a:spLocks noChangeArrowheads="1"/>
            </p:cNvSpPr>
            <p:nvPr/>
          </p:nvSpPr>
          <p:spPr bwMode="auto">
            <a:xfrm>
              <a:off x="890" y="2250"/>
              <a:ext cx="252"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A</a:t>
              </a:r>
            </a:p>
          </p:txBody>
        </p:sp>
        <p:sp>
          <p:nvSpPr>
            <p:cNvPr id="82977" name="Text Box 18"/>
            <p:cNvSpPr txBox="1">
              <a:spLocks noChangeArrowheads="1"/>
            </p:cNvSpPr>
            <p:nvPr/>
          </p:nvSpPr>
          <p:spPr bwMode="auto">
            <a:xfrm>
              <a:off x="2161" y="2203"/>
              <a:ext cx="241"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B</a:t>
              </a:r>
            </a:p>
          </p:txBody>
        </p:sp>
        <p:grpSp>
          <p:nvGrpSpPr>
            <p:cNvPr id="82978" name="Group 19"/>
            <p:cNvGrpSpPr>
              <a:grpSpLocks/>
            </p:cNvGrpSpPr>
            <p:nvPr/>
          </p:nvGrpSpPr>
          <p:grpSpPr bwMode="auto">
            <a:xfrm>
              <a:off x="1440" y="2203"/>
              <a:ext cx="336" cy="300"/>
              <a:chOff x="3600" y="667"/>
              <a:chExt cx="336" cy="300"/>
            </a:xfrm>
          </p:grpSpPr>
          <p:sp>
            <p:nvSpPr>
              <p:cNvPr id="82982" name="Line 20"/>
              <p:cNvSpPr>
                <a:spLocks noChangeShapeType="1"/>
              </p:cNvSpPr>
              <p:nvPr/>
            </p:nvSpPr>
            <p:spPr bwMode="auto">
              <a:xfrm flipH="1">
                <a:off x="3600" y="960"/>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3" name="Text Box 21"/>
              <p:cNvSpPr txBox="1">
                <a:spLocks noChangeArrowheads="1"/>
              </p:cNvSpPr>
              <p:nvPr/>
            </p:nvSpPr>
            <p:spPr bwMode="auto">
              <a:xfrm>
                <a:off x="3648" y="667"/>
                <a:ext cx="259"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00"/>
                    </a:solidFill>
                    <a:sym typeface="Symbol" pitchFamily="18" charset="2"/>
                  </a:rPr>
                  <a:t>i</a:t>
                </a:r>
              </a:p>
            </p:txBody>
          </p:sp>
        </p:grpSp>
        <p:grpSp>
          <p:nvGrpSpPr>
            <p:cNvPr id="82979" name="Group 22"/>
            <p:cNvGrpSpPr>
              <a:grpSpLocks/>
            </p:cNvGrpSpPr>
            <p:nvPr/>
          </p:nvGrpSpPr>
          <p:grpSpPr bwMode="auto">
            <a:xfrm>
              <a:off x="1434" y="1770"/>
              <a:ext cx="362" cy="300"/>
              <a:chOff x="3546" y="666"/>
              <a:chExt cx="362" cy="300"/>
            </a:xfrm>
          </p:grpSpPr>
          <p:sp>
            <p:nvSpPr>
              <p:cNvPr id="82980" name="Line 23"/>
              <p:cNvSpPr>
                <a:spLocks noChangeShapeType="1"/>
              </p:cNvSpPr>
              <p:nvPr/>
            </p:nvSpPr>
            <p:spPr bwMode="auto">
              <a:xfrm>
                <a:off x="3546" y="960"/>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1" name="Text Box 24"/>
              <p:cNvSpPr txBox="1">
                <a:spLocks noChangeArrowheads="1"/>
              </p:cNvSpPr>
              <p:nvPr/>
            </p:nvSpPr>
            <p:spPr bwMode="auto">
              <a:xfrm>
                <a:off x="3649" y="666"/>
                <a:ext cx="259"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00"/>
                    </a:solidFill>
                    <a:sym typeface="Symbol" pitchFamily="18" charset="2"/>
                  </a:rPr>
                  <a:t>i</a:t>
                </a:r>
              </a:p>
            </p:txBody>
          </p:sp>
        </p:grpSp>
      </p:grpSp>
      <p:grpSp>
        <p:nvGrpSpPr>
          <p:cNvPr id="371737" name="Group 25"/>
          <p:cNvGrpSpPr>
            <a:grpSpLocks/>
          </p:cNvGrpSpPr>
          <p:nvPr/>
        </p:nvGrpSpPr>
        <p:grpSpPr bwMode="auto">
          <a:xfrm>
            <a:off x="1219200" y="757238"/>
            <a:ext cx="2847975" cy="1690687"/>
            <a:chOff x="768" y="474"/>
            <a:chExt cx="1776" cy="1110"/>
          </a:xfrm>
        </p:grpSpPr>
        <p:sp>
          <p:nvSpPr>
            <p:cNvPr id="82956" name="Rectangle 26"/>
            <p:cNvSpPr>
              <a:spLocks noChangeArrowheads="1"/>
            </p:cNvSpPr>
            <p:nvPr/>
          </p:nvSpPr>
          <p:spPr bwMode="auto">
            <a:xfrm>
              <a:off x="768" y="672"/>
              <a:ext cx="528" cy="912"/>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2957" name="Rectangle 27"/>
            <p:cNvSpPr>
              <a:spLocks noChangeArrowheads="1"/>
            </p:cNvSpPr>
            <p:nvPr/>
          </p:nvSpPr>
          <p:spPr bwMode="auto">
            <a:xfrm>
              <a:off x="2016" y="672"/>
              <a:ext cx="528" cy="912"/>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2958" name="Line 28"/>
            <p:cNvSpPr>
              <a:spLocks noChangeShapeType="1"/>
            </p:cNvSpPr>
            <p:nvPr/>
          </p:nvSpPr>
          <p:spPr bwMode="auto">
            <a:xfrm>
              <a:off x="1296" y="816"/>
              <a:ext cx="72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9" name="Line 29"/>
            <p:cNvSpPr>
              <a:spLocks noChangeShapeType="1"/>
            </p:cNvSpPr>
            <p:nvPr/>
          </p:nvSpPr>
          <p:spPr bwMode="auto">
            <a:xfrm>
              <a:off x="1296" y="1152"/>
              <a:ext cx="72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0" name="Line 30"/>
            <p:cNvSpPr>
              <a:spLocks noChangeShapeType="1"/>
            </p:cNvSpPr>
            <p:nvPr/>
          </p:nvSpPr>
          <p:spPr bwMode="auto">
            <a:xfrm>
              <a:off x="1296" y="1440"/>
              <a:ext cx="72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1" name="Text Box 31"/>
            <p:cNvSpPr txBox="1">
              <a:spLocks noChangeArrowheads="1"/>
            </p:cNvSpPr>
            <p:nvPr/>
          </p:nvSpPr>
          <p:spPr bwMode="auto">
            <a:xfrm>
              <a:off x="901" y="1002"/>
              <a:ext cx="252" cy="30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A</a:t>
              </a:r>
            </a:p>
          </p:txBody>
        </p:sp>
        <p:sp>
          <p:nvSpPr>
            <p:cNvPr id="82962" name="Text Box 32"/>
            <p:cNvSpPr txBox="1">
              <a:spLocks noChangeArrowheads="1"/>
            </p:cNvSpPr>
            <p:nvPr/>
          </p:nvSpPr>
          <p:spPr bwMode="auto">
            <a:xfrm>
              <a:off x="2161" y="954"/>
              <a:ext cx="241" cy="30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B</a:t>
              </a:r>
            </a:p>
          </p:txBody>
        </p:sp>
        <p:grpSp>
          <p:nvGrpSpPr>
            <p:cNvPr id="82963" name="Group 33"/>
            <p:cNvGrpSpPr>
              <a:grpSpLocks/>
            </p:cNvGrpSpPr>
            <p:nvPr/>
          </p:nvGrpSpPr>
          <p:grpSpPr bwMode="auto">
            <a:xfrm>
              <a:off x="1440" y="1098"/>
              <a:ext cx="356" cy="300"/>
              <a:chOff x="3552" y="666"/>
              <a:chExt cx="356" cy="300"/>
            </a:xfrm>
          </p:grpSpPr>
          <p:sp>
            <p:nvSpPr>
              <p:cNvPr id="82970" name="Line 34"/>
              <p:cNvSpPr>
                <a:spLocks noChangeShapeType="1"/>
              </p:cNvSpPr>
              <p:nvPr/>
            </p:nvSpPr>
            <p:spPr bwMode="auto">
              <a:xfrm>
                <a:off x="3552" y="960"/>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1" name="Text Box 35"/>
              <p:cNvSpPr txBox="1">
                <a:spLocks noChangeArrowheads="1"/>
              </p:cNvSpPr>
              <p:nvPr/>
            </p:nvSpPr>
            <p:spPr bwMode="auto">
              <a:xfrm>
                <a:off x="3649" y="666"/>
                <a:ext cx="259"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00"/>
                    </a:solidFill>
                    <a:sym typeface="Symbol" pitchFamily="18" charset="2"/>
                  </a:rPr>
                  <a:t>i</a:t>
                </a:r>
                <a:r>
                  <a:rPr lang="en-US" altLang="zh-CN" baseline="-25000">
                    <a:solidFill>
                      <a:srgbClr val="000000"/>
                    </a:solidFill>
                    <a:sym typeface="Symbol" pitchFamily="18" charset="2"/>
                  </a:rPr>
                  <a:t>3</a:t>
                </a:r>
                <a:endParaRPr lang="en-US" altLang="zh-CN" i="1">
                  <a:solidFill>
                    <a:srgbClr val="000000"/>
                  </a:solidFill>
                  <a:sym typeface="Symbol" pitchFamily="18" charset="2"/>
                </a:endParaRPr>
              </a:p>
            </p:txBody>
          </p:sp>
        </p:grpSp>
        <p:grpSp>
          <p:nvGrpSpPr>
            <p:cNvPr id="82964" name="Group 36"/>
            <p:cNvGrpSpPr>
              <a:grpSpLocks/>
            </p:cNvGrpSpPr>
            <p:nvPr/>
          </p:nvGrpSpPr>
          <p:grpSpPr bwMode="auto">
            <a:xfrm>
              <a:off x="1488" y="811"/>
              <a:ext cx="336" cy="300"/>
              <a:chOff x="3600" y="667"/>
              <a:chExt cx="336" cy="300"/>
            </a:xfrm>
          </p:grpSpPr>
          <p:sp>
            <p:nvSpPr>
              <p:cNvPr id="82968" name="Line 37"/>
              <p:cNvSpPr>
                <a:spLocks noChangeShapeType="1"/>
              </p:cNvSpPr>
              <p:nvPr/>
            </p:nvSpPr>
            <p:spPr bwMode="auto">
              <a:xfrm>
                <a:off x="3600" y="960"/>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9" name="Text Box 38"/>
              <p:cNvSpPr txBox="1">
                <a:spLocks noChangeArrowheads="1"/>
              </p:cNvSpPr>
              <p:nvPr/>
            </p:nvSpPr>
            <p:spPr bwMode="auto">
              <a:xfrm>
                <a:off x="3649" y="667"/>
                <a:ext cx="259"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00"/>
                    </a:solidFill>
                    <a:sym typeface="Symbol" pitchFamily="18" charset="2"/>
                  </a:rPr>
                  <a:t>i</a:t>
                </a:r>
                <a:r>
                  <a:rPr lang="en-US" altLang="zh-CN" baseline="-25000">
                    <a:solidFill>
                      <a:srgbClr val="000000"/>
                    </a:solidFill>
                    <a:sym typeface="Symbol" pitchFamily="18" charset="2"/>
                  </a:rPr>
                  <a:t>2</a:t>
                </a:r>
                <a:endParaRPr lang="en-US" altLang="zh-CN" i="1">
                  <a:solidFill>
                    <a:srgbClr val="000000"/>
                  </a:solidFill>
                  <a:sym typeface="Symbol" pitchFamily="18" charset="2"/>
                </a:endParaRPr>
              </a:p>
            </p:txBody>
          </p:sp>
        </p:grpSp>
        <p:grpSp>
          <p:nvGrpSpPr>
            <p:cNvPr id="82965" name="Group 39"/>
            <p:cNvGrpSpPr>
              <a:grpSpLocks/>
            </p:cNvGrpSpPr>
            <p:nvPr/>
          </p:nvGrpSpPr>
          <p:grpSpPr bwMode="auto">
            <a:xfrm>
              <a:off x="1446" y="474"/>
              <a:ext cx="350" cy="300"/>
              <a:chOff x="3558" y="666"/>
              <a:chExt cx="350" cy="300"/>
            </a:xfrm>
          </p:grpSpPr>
          <p:sp>
            <p:nvSpPr>
              <p:cNvPr id="82966" name="Line 40"/>
              <p:cNvSpPr>
                <a:spLocks noChangeShapeType="1"/>
              </p:cNvSpPr>
              <p:nvPr/>
            </p:nvSpPr>
            <p:spPr bwMode="auto">
              <a:xfrm>
                <a:off x="3558" y="960"/>
                <a:ext cx="33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7" name="Text Box 41"/>
              <p:cNvSpPr txBox="1">
                <a:spLocks noChangeArrowheads="1"/>
              </p:cNvSpPr>
              <p:nvPr/>
            </p:nvSpPr>
            <p:spPr bwMode="auto">
              <a:xfrm>
                <a:off x="3649" y="666"/>
                <a:ext cx="259"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00"/>
                    </a:solidFill>
                    <a:sym typeface="Symbol" pitchFamily="18" charset="2"/>
                  </a:rPr>
                  <a:t>i</a:t>
                </a:r>
                <a:r>
                  <a:rPr lang="en-US" altLang="zh-CN" baseline="-25000">
                    <a:solidFill>
                      <a:srgbClr val="000000"/>
                    </a:solidFill>
                    <a:sym typeface="Symbol" pitchFamily="18" charset="2"/>
                  </a:rPr>
                  <a:t>1</a:t>
                </a:r>
                <a:endParaRPr lang="en-US" altLang="zh-CN" i="1">
                  <a:solidFill>
                    <a:srgbClr val="000000"/>
                  </a:solidFill>
                  <a:sym typeface="Symbol" pitchFamily="18" charset="2"/>
                </a:endParaRPr>
              </a:p>
            </p:txBody>
          </p:sp>
        </p:grpSp>
      </p:grpSp>
      <p:graphicFrame>
        <p:nvGraphicFramePr>
          <p:cNvPr id="371754" name="Object 42"/>
          <p:cNvGraphicFramePr>
            <a:graphicFrameLocks noChangeAspect="1"/>
          </p:cNvGraphicFramePr>
          <p:nvPr/>
        </p:nvGraphicFramePr>
        <p:xfrm>
          <a:off x="5105400" y="1285875"/>
          <a:ext cx="2278063" cy="593725"/>
        </p:xfrm>
        <a:graphic>
          <a:graphicData uri="http://schemas.openxmlformats.org/presentationml/2006/ole">
            <mc:AlternateContent xmlns:mc="http://schemas.openxmlformats.org/markup-compatibility/2006">
              <mc:Choice xmlns:v="urn:schemas-microsoft-com:vml" Requires="v">
                <p:oleObj spid="_x0000_s439304" name="公式" r:id="rId4" imgW="876300" imgH="228600" progId="Equation.3">
                  <p:embed/>
                </p:oleObj>
              </mc:Choice>
              <mc:Fallback>
                <p:oleObj name="公式" r:id="rId4" imgW="8763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1285875"/>
                        <a:ext cx="2278063"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1755" name="Oval 43"/>
          <p:cNvSpPr>
            <a:spLocks noChangeArrowheads="1"/>
          </p:cNvSpPr>
          <p:nvPr/>
        </p:nvSpPr>
        <p:spPr bwMode="auto">
          <a:xfrm>
            <a:off x="2743200" y="838200"/>
            <a:ext cx="1846263" cy="1752600"/>
          </a:xfrm>
          <a:prstGeom prst="ellipse">
            <a:avLst/>
          </a:prstGeom>
          <a:noFill/>
          <a:ln w="38100">
            <a:solidFill>
              <a:srgbClr val="FF00FF"/>
            </a:solidFill>
            <a:prstDash val="sysDot"/>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71756" name="Oval 44"/>
          <p:cNvSpPr>
            <a:spLocks noChangeArrowheads="1"/>
          </p:cNvSpPr>
          <p:nvPr/>
        </p:nvSpPr>
        <p:spPr bwMode="auto">
          <a:xfrm>
            <a:off x="2743200" y="2819400"/>
            <a:ext cx="1924050" cy="1752600"/>
          </a:xfrm>
          <a:prstGeom prst="ellipse">
            <a:avLst/>
          </a:prstGeom>
          <a:noFill/>
          <a:ln w="38100">
            <a:solidFill>
              <a:srgbClr val="FF0000"/>
            </a:solidFill>
            <a:prstDash val="sysDot"/>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71757" name="Oval 45"/>
          <p:cNvSpPr>
            <a:spLocks noChangeArrowheads="1"/>
          </p:cNvSpPr>
          <p:nvPr/>
        </p:nvSpPr>
        <p:spPr bwMode="auto">
          <a:xfrm>
            <a:off x="2667000" y="4724400"/>
            <a:ext cx="1924050" cy="1752600"/>
          </a:xfrm>
          <a:prstGeom prst="ellipse">
            <a:avLst/>
          </a:prstGeom>
          <a:noFill/>
          <a:ln w="38100">
            <a:solidFill>
              <a:srgbClr val="0000F0"/>
            </a:solidFill>
            <a:prstDash val="sysDot"/>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71758" name="Text Box 46"/>
          <p:cNvSpPr txBox="1">
            <a:spLocks noChangeArrowheads="1"/>
          </p:cNvSpPr>
          <p:nvPr/>
        </p:nvSpPr>
        <p:spPr bwMode="auto">
          <a:xfrm>
            <a:off x="5164138" y="3094038"/>
            <a:ext cx="3546475" cy="82232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dirty="0">
                <a:solidFill>
                  <a:srgbClr val="000000"/>
                </a:solidFill>
                <a:sym typeface="Symbol" pitchFamily="18" charset="2"/>
              </a:rPr>
              <a:t>两条支路电流大小相等，</a:t>
            </a:r>
          </a:p>
          <a:p>
            <a:r>
              <a:rPr lang="zh-CN" altLang="en-US" dirty="0">
                <a:solidFill>
                  <a:srgbClr val="000000"/>
                </a:solidFill>
                <a:sym typeface="Symbol" pitchFamily="18" charset="2"/>
              </a:rPr>
              <a:t>一个流入，一个流出。</a:t>
            </a:r>
          </a:p>
        </p:txBody>
      </p:sp>
      <p:sp>
        <p:nvSpPr>
          <p:cNvPr id="371759" name="Text Box 47"/>
          <p:cNvSpPr txBox="1">
            <a:spLocks noChangeArrowheads="1"/>
          </p:cNvSpPr>
          <p:nvPr/>
        </p:nvSpPr>
        <p:spPr bwMode="auto">
          <a:xfrm>
            <a:off x="4876800" y="5257800"/>
            <a:ext cx="4038600" cy="4572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a:solidFill>
                  <a:srgbClr val="000000"/>
                </a:solidFill>
                <a:sym typeface="Symbol" pitchFamily="18" charset="2"/>
              </a:rPr>
              <a:t>只有一条支路相连，则 </a:t>
            </a:r>
            <a:r>
              <a:rPr lang="en-US" altLang="zh-CN" i="1">
                <a:solidFill>
                  <a:srgbClr val="000000"/>
                </a:solidFill>
                <a:sym typeface="Symbol" pitchFamily="18" charset="2"/>
              </a:rPr>
              <a:t>i=</a:t>
            </a:r>
            <a:r>
              <a:rPr lang="en-US" altLang="zh-CN">
                <a:solidFill>
                  <a:srgbClr val="000000"/>
                </a:solidFill>
                <a:sym typeface="Symbol" pitchFamily="18" charset="2"/>
              </a:rPr>
              <a:t>0</a:t>
            </a:r>
            <a:r>
              <a:rPr lang="zh-CN" altLang="en-US">
                <a:solidFill>
                  <a:srgbClr val="000000"/>
                </a:solidFill>
                <a:sym typeface="Symbol" pitchFamily="18" charset="2"/>
              </a:rPr>
              <a:t>。</a:t>
            </a:r>
          </a:p>
        </p:txBody>
      </p:sp>
    </p:spTree>
    <p:extLst>
      <p:ext uri="{BB962C8B-B14F-4D97-AF65-F5344CB8AC3E}">
        <p14:creationId xmlns:p14="http://schemas.microsoft.com/office/powerpoint/2010/main" val="347795375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71714"/>
                                        </p:tgtEl>
                                        <p:attrNameLst>
                                          <p:attrName>style.visibility</p:attrName>
                                        </p:attrNameLst>
                                      </p:cBhvr>
                                      <p:to>
                                        <p:strVal val="visible"/>
                                      </p:to>
                                    </p:set>
                                    <p:anim calcmode="lin" valueType="num">
                                      <p:cBhvr additive="base">
                                        <p:cTn id="7" dur="500" fill="hold"/>
                                        <p:tgtEl>
                                          <p:spTgt spid="371714"/>
                                        </p:tgtEl>
                                        <p:attrNameLst>
                                          <p:attrName>ppt_x</p:attrName>
                                        </p:attrNameLst>
                                      </p:cBhvr>
                                      <p:tavLst>
                                        <p:tav tm="0">
                                          <p:val>
                                            <p:strVal val="0-#ppt_w/2"/>
                                          </p:val>
                                        </p:tav>
                                        <p:tav tm="100000">
                                          <p:val>
                                            <p:strVal val="#ppt_x"/>
                                          </p:val>
                                        </p:tav>
                                      </p:tavLst>
                                    </p:anim>
                                    <p:anim calcmode="lin" valueType="num">
                                      <p:cBhvr additive="base">
                                        <p:cTn id="8" dur="500" fill="hold"/>
                                        <p:tgtEl>
                                          <p:spTgt spid="37171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4" presetClass="entr" presetSubtype="0" fill="hold" nodeType="clickEffect">
                                  <p:stCondLst>
                                    <p:cond delay="0"/>
                                  </p:stCondLst>
                                  <p:childTnLst>
                                    <p:set>
                                      <p:cBhvr>
                                        <p:cTn id="12" dur="1" fill="hold">
                                          <p:stCondLst>
                                            <p:cond delay="499"/>
                                          </p:stCondLst>
                                        </p:cTn>
                                        <p:tgtEl>
                                          <p:spTgt spid="371737"/>
                                        </p:tgtEl>
                                        <p:attrNameLst>
                                          <p:attrName>style.visibility</p:attrName>
                                        </p:attrNameLst>
                                      </p:cBhvr>
                                      <p:to>
                                        <p:strVal val="visible"/>
                                      </p:to>
                                    </p:set>
                                    <p:anim to="" calcmode="lin" valueType="num">
                                      <p:cBhvr>
                                        <p:cTn id="13" dur="1" fill="hold"/>
                                        <p:tgtEl>
                                          <p:spTgt spid="371737"/>
                                        </p:tgtEl>
                                        <p:attrNameLst>
                                          <p:attrName/>
                                        </p:attrNameLst>
                                      </p:cBhvr>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4" presetClass="entr" presetSubtype="0" fill="hold" grpId="0" nodeType="clickEffect">
                                  <p:stCondLst>
                                    <p:cond delay="0"/>
                                  </p:stCondLst>
                                  <p:childTnLst>
                                    <p:set>
                                      <p:cBhvr>
                                        <p:cTn id="17" dur="1" fill="hold">
                                          <p:stCondLst>
                                            <p:cond delay="499"/>
                                          </p:stCondLst>
                                        </p:cTn>
                                        <p:tgtEl>
                                          <p:spTgt spid="371755"/>
                                        </p:tgtEl>
                                        <p:attrNameLst>
                                          <p:attrName>style.visibility</p:attrName>
                                        </p:attrNameLst>
                                      </p:cBhvr>
                                      <p:to>
                                        <p:strVal val="visible"/>
                                      </p:to>
                                    </p:set>
                                    <p:anim to="" calcmode="lin" valueType="num">
                                      <p:cBhvr>
                                        <p:cTn id="18" dur="1" fill="hold"/>
                                        <p:tgtEl>
                                          <p:spTgt spid="371755"/>
                                        </p:tgtEl>
                                        <p:attrNameLst>
                                          <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4" presetClass="entr" presetSubtype="0" fill="hold" nodeType="clickEffect">
                                  <p:stCondLst>
                                    <p:cond delay="0"/>
                                  </p:stCondLst>
                                  <p:childTnLst>
                                    <p:set>
                                      <p:cBhvr>
                                        <p:cTn id="22" dur="1" fill="hold">
                                          <p:stCondLst>
                                            <p:cond delay="499"/>
                                          </p:stCondLst>
                                        </p:cTn>
                                        <p:tgtEl>
                                          <p:spTgt spid="371754"/>
                                        </p:tgtEl>
                                        <p:attrNameLst>
                                          <p:attrName>style.visibility</p:attrName>
                                        </p:attrNameLst>
                                      </p:cBhvr>
                                      <p:to>
                                        <p:strVal val="visible"/>
                                      </p:to>
                                    </p:set>
                                    <p:anim to="" calcmode="lin" valueType="num">
                                      <p:cBhvr>
                                        <p:cTn id="23" dur="1" fill="hold"/>
                                        <p:tgtEl>
                                          <p:spTgt spid="371754"/>
                                        </p:tgtEl>
                                        <p:attrNameLst>
                                          <p:attrName/>
                                        </p:attrNameLst>
                                      </p:cBhvr>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4" presetClass="entr" presetSubtype="0" fill="hold" nodeType="clickEffect">
                                  <p:stCondLst>
                                    <p:cond delay="0"/>
                                  </p:stCondLst>
                                  <p:childTnLst>
                                    <p:set>
                                      <p:cBhvr>
                                        <p:cTn id="27" dur="1" fill="hold">
                                          <p:stCondLst>
                                            <p:cond delay="499"/>
                                          </p:stCondLst>
                                        </p:cTn>
                                        <p:tgtEl>
                                          <p:spTgt spid="371724"/>
                                        </p:tgtEl>
                                        <p:attrNameLst>
                                          <p:attrName>style.visibility</p:attrName>
                                        </p:attrNameLst>
                                      </p:cBhvr>
                                      <p:to>
                                        <p:strVal val="visible"/>
                                      </p:to>
                                    </p:set>
                                    <p:anim to="" calcmode="lin" valueType="num">
                                      <p:cBhvr>
                                        <p:cTn id="28" dur="1" fill="hold"/>
                                        <p:tgtEl>
                                          <p:spTgt spid="371724"/>
                                        </p:tgtEl>
                                        <p:attrNameLst>
                                          <p:attrName/>
                                        </p:attrNameLst>
                                      </p:cBhvr>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4" presetClass="entr" presetSubtype="0" fill="hold" grpId="0" nodeType="clickEffect">
                                  <p:stCondLst>
                                    <p:cond delay="0"/>
                                  </p:stCondLst>
                                  <p:childTnLst>
                                    <p:set>
                                      <p:cBhvr>
                                        <p:cTn id="32" dur="1" fill="hold">
                                          <p:stCondLst>
                                            <p:cond delay="499"/>
                                          </p:stCondLst>
                                        </p:cTn>
                                        <p:tgtEl>
                                          <p:spTgt spid="371756"/>
                                        </p:tgtEl>
                                        <p:attrNameLst>
                                          <p:attrName>style.visibility</p:attrName>
                                        </p:attrNameLst>
                                      </p:cBhvr>
                                      <p:to>
                                        <p:strVal val="visible"/>
                                      </p:to>
                                    </p:set>
                                    <p:anim to="" calcmode="lin" valueType="num">
                                      <p:cBhvr>
                                        <p:cTn id="33" dur="1" fill="hold"/>
                                        <p:tgtEl>
                                          <p:spTgt spid="371756"/>
                                        </p:tgtEl>
                                        <p:attrNameLst>
                                          <p:attrName/>
                                        </p:attrNameLst>
                                      </p:cBhvr>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4" presetClass="entr" presetSubtype="0" fill="hold" grpId="0" nodeType="clickEffect">
                                  <p:stCondLst>
                                    <p:cond delay="0"/>
                                  </p:stCondLst>
                                  <p:childTnLst>
                                    <p:set>
                                      <p:cBhvr>
                                        <p:cTn id="37" dur="1" fill="hold">
                                          <p:stCondLst>
                                            <p:cond delay="499"/>
                                          </p:stCondLst>
                                        </p:cTn>
                                        <p:tgtEl>
                                          <p:spTgt spid="371758"/>
                                        </p:tgtEl>
                                        <p:attrNameLst>
                                          <p:attrName>style.visibility</p:attrName>
                                        </p:attrNameLst>
                                      </p:cBhvr>
                                      <p:to>
                                        <p:strVal val="visible"/>
                                      </p:to>
                                    </p:set>
                                    <p:anim to="" calcmode="lin" valueType="num">
                                      <p:cBhvr>
                                        <p:cTn id="38" dur="1" fill="hold"/>
                                        <p:tgtEl>
                                          <p:spTgt spid="371758"/>
                                        </p:tgtEl>
                                        <p:attrNameLst>
                                          <p:attrName/>
                                        </p:attrNameLst>
                                      </p:cBhvr>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4" presetClass="entr" presetSubtype="0" fill="hold" nodeType="clickEffect">
                                  <p:stCondLst>
                                    <p:cond delay="0"/>
                                  </p:stCondLst>
                                  <p:childTnLst>
                                    <p:set>
                                      <p:cBhvr>
                                        <p:cTn id="42" dur="1" fill="hold">
                                          <p:stCondLst>
                                            <p:cond delay="499"/>
                                          </p:stCondLst>
                                        </p:cTn>
                                        <p:tgtEl>
                                          <p:spTgt spid="371715"/>
                                        </p:tgtEl>
                                        <p:attrNameLst>
                                          <p:attrName>style.visibility</p:attrName>
                                        </p:attrNameLst>
                                      </p:cBhvr>
                                      <p:to>
                                        <p:strVal val="visible"/>
                                      </p:to>
                                    </p:set>
                                    <p:anim to="" calcmode="lin" valueType="num">
                                      <p:cBhvr>
                                        <p:cTn id="43" dur="1" fill="hold"/>
                                        <p:tgtEl>
                                          <p:spTgt spid="371715"/>
                                        </p:tgtEl>
                                        <p:attrNameLst>
                                          <p:attrName/>
                                        </p:attrNameLst>
                                      </p:cBhvr>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4" presetClass="entr" presetSubtype="0" fill="hold" grpId="0" nodeType="clickEffect">
                                  <p:stCondLst>
                                    <p:cond delay="0"/>
                                  </p:stCondLst>
                                  <p:childTnLst>
                                    <p:set>
                                      <p:cBhvr>
                                        <p:cTn id="47" dur="1" fill="hold">
                                          <p:stCondLst>
                                            <p:cond delay="499"/>
                                          </p:stCondLst>
                                        </p:cTn>
                                        <p:tgtEl>
                                          <p:spTgt spid="371757"/>
                                        </p:tgtEl>
                                        <p:attrNameLst>
                                          <p:attrName>style.visibility</p:attrName>
                                        </p:attrNameLst>
                                      </p:cBhvr>
                                      <p:to>
                                        <p:strVal val="visible"/>
                                      </p:to>
                                    </p:set>
                                    <p:anim to="" calcmode="lin" valueType="num">
                                      <p:cBhvr>
                                        <p:cTn id="48" dur="1" fill="hold"/>
                                        <p:tgtEl>
                                          <p:spTgt spid="371757"/>
                                        </p:tgtEl>
                                        <p:attrNameLst>
                                          <p:attrName/>
                                        </p:attrNameLst>
                                      </p:cBhvr>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4" presetClass="entr" presetSubtype="0" fill="hold" grpId="0" nodeType="clickEffect">
                                  <p:stCondLst>
                                    <p:cond delay="0"/>
                                  </p:stCondLst>
                                  <p:childTnLst>
                                    <p:set>
                                      <p:cBhvr>
                                        <p:cTn id="52" dur="1" fill="hold">
                                          <p:stCondLst>
                                            <p:cond delay="499"/>
                                          </p:stCondLst>
                                        </p:cTn>
                                        <p:tgtEl>
                                          <p:spTgt spid="371759"/>
                                        </p:tgtEl>
                                        <p:attrNameLst>
                                          <p:attrName>style.visibility</p:attrName>
                                        </p:attrNameLst>
                                      </p:cBhvr>
                                      <p:to>
                                        <p:strVal val="visible"/>
                                      </p:to>
                                    </p:set>
                                    <p:anim to="" calcmode="lin" valueType="num">
                                      <p:cBhvr>
                                        <p:cTn id="53" dur="1" fill="hold"/>
                                        <p:tgtEl>
                                          <p:spTgt spid="37175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4" grpId="0" autoUpdateAnimBg="0"/>
      <p:bldP spid="371755" grpId="0" animBg="1"/>
      <p:bldP spid="371756" grpId="0" animBg="1"/>
      <p:bldP spid="371757" grpId="0" animBg="1"/>
      <p:bldP spid="371758" grpId="0" autoUpdateAnimBg="0"/>
      <p:bldP spid="37175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5875" name="Group 67"/>
          <p:cNvGrpSpPr>
            <a:grpSpLocks/>
          </p:cNvGrpSpPr>
          <p:nvPr/>
        </p:nvGrpSpPr>
        <p:grpSpPr bwMode="auto">
          <a:xfrm>
            <a:off x="580232" y="1174293"/>
            <a:ext cx="8033875" cy="2233613"/>
            <a:chOff x="566" y="543"/>
            <a:chExt cx="4536" cy="1407"/>
          </a:xfrm>
        </p:grpSpPr>
        <p:graphicFrame>
          <p:nvGraphicFramePr>
            <p:cNvPr id="86029" name="Object 68"/>
            <p:cNvGraphicFramePr>
              <a:graphicFrameLocks noChangeAspect="1"/>
            </p:cNvGraphicFramePr>
            <p:nvPr>
              <p:extLst/>
            </p:nvPr>
          </p:nvGraphicFramePr>
          <p:xfrm>
            <a:off x="2365" y="1584"/>
            <a:ext cx="753" cy="366"/>
          </p:xfrm>
          <a:graphic>
            <a:graphicData uri="http://schemas.openxmlformats.org/presentationml/2006/ole">
              <mc:AlternateContent xmlns:mc="http://schemas.openxmlformats.org/markup-compatibility/2006">
                <mc:Choice xmlns:v="urn:schemas-microsoft-com:vml" Requires="v">
                  <p:oleObj spid="_x0000_s440328" name="Equation" r:id="rId3" imgW="469900" imgH="228600" progId="Equation.DSMT4">
                    <p:embed/>
                  </p:oleObj>
                </mc:Choice>
                <mc:Fallback>
                  <p:oleObj name="Equation" r:id="rId3" imgW="4699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 y="1584"/>
                          <a:ext cx="753" cy="366"/>
                        </a:xfrm>
                        <a:prstGeom prst="rect">
                          <a:avLst/>
                        </a:prstGeom>
                        <a:solidFill>
                          <a:srgbClr val="85FFE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30" name="Rectangle 69"/>
            <p:cNvSpPr>
              <a:spLocks noChangeArrowheads="1"/>
            </p:cNvSpPr>
            <p:nvPr/>
          </p:nvSpPr>
          <p:spPr bwMode="auto">
            <a:xfrm>
              <a:off x="566" y="543"/>
              <a:ext cx="4536" cy="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50000"/>
                </a:lnSpc>
                <a:spcBef>
                  <a:spcPct val="50000"/>
                </a:spcBef>
              </a:pPr>
              <a:r>
                <a:rPr lang="en-US" altLang="zh-CN" dirty="0" smtClean="0">
                  <a:solidFill>
                    <a:schemeClr val="tx2"/>
                  </a:solidFill>
                  <a:sym typeface="Symbol" pitchFamily="18" charset="2"/>
                </a:rPr>
                <a:t>          </a:t>
              </a:r>
              <a:r>
                <a:rPr lang="zh-CN" altLang="zh-CN" dirty="0" smtClean="0">
                  <a:solidFill>
                    <a:schemeClr val="tx2"/>
                  </a:solidFill>
                  <a:sym typeface="Symbol" pitchFamily="18" charset="2"/>
                </a:rPr>
                <a:t>集总</a:t>
              </a:r>
              <a:r>
                <a:rPr lang="zh-CN" altLang="zh-CN" dirty="0">
                  <a:solidFill>
                    <a:schemeClr val="tx2"/>
                  </a:solidFill>
                  <a:sym typeface="Symbol" pitchFamily="18" charset="2"/>
                </a:rPr>
                <a:t>参数电路中，任一时刻</a:t>
              </a:r>
              <a:r>
                <a:rPr lang="zh-CN" altLang="en-US" dirty="0">
                  <a:solidFill>
                    <a:schemeClr val="tx2"/>
                  </a:solidFill>
                  <a:sym typeface="Symbol" pitchFamily="18" charset="2"/>
                </a:rPr>
                <a:t>沿任一闭合路径</a:t>
              </a:r>
              <a:r>
                <a:rPr lang="en-US" altLang="zh-CN" dirty="0">
                  <a:solidFill>
                    <a:schemeClr val="tx2"/>
                  </a:solidFill>
                  <a:sym typeface="Symbol" pitchFamily="18" charset="2"/>
                </a:rPr>
                <a:t>( </a:t>
              </a:r>
              <a:r>
                <a:rPr lang="zh-CN" altLang="en-US" dirty="0">
                  <a:solidFill>
                    <a:schemeClr val="tx2"/>
                  </a:solidFill>
                  <a:sym typeface="Symbol" pitchFamily="18" charset="2"/>
                </a:rPr>
                <a:t>按固定绕向 </a:t>
              </a:r>
              <a:r>
                <a:rPr lang="en-US" altLang="zh-CN" dirty="0">
                  <a:solidFill>
                    <a:schemeClr val="tx2"/>
                  </a:solidFill>
                  <a:sym typeface="Symbol" pitchFamily="18" charset="2"/>
                </a:rPr>
                <a:t>)</a:t>
              </a:r>
              <a:r>
                <a:rPr lang="zh-CN" altLang="en-US" dirty="0">
                  <a:solidFill>
                    <a:schemeClr val="tx2"/>
                  </a:solidFill>
                  <a:sym typeface="Symbol" pitchFamily="18" charset="2"/>
                </a:rPr>
                <a:t>， 各支路电压代数和为零</a:t>
              </a:r>
              <a:r>
                <a:rPr lang="zh-CN" altLang="zh-CN" dirty="0">
                  <a:solidFill>
                    <a:schemeClr val="tx2"/>
                  </a:solidFill>
                  <a:sym typeface="Symbol" pitchFamily="18" charset="2"/>
                </a:rPr>
                <a:t>。 </a:t>
              </a:r>
              <a:r>
                <a:rPr lang="zh-CN" altLang="zh-CN" dirty="0" smtClean="0">
                  <a:solidFill>
                    <a:schemeClr val="tx2"/>
                  </a:solidFill>
                  <a:sym typeface="Symbol" pitchFamily="18" charset="2"/>
                </a:rPr>
                <a:t>即</a:t>
              </a:r>
              <a:endParaRPr lang="zh-CN" altLang="en-US" dirty="0">
                <a:solidFill>
                  <a:schemeClr val="tx2"/>
                </a:solidFill>
                <a:sym typeface="Symbol" pitchFamily="18" charset="2"/>
              </a:endParaRPr>
            </a:p>
          </p:txBody>
        </p:sp>
      </p:grpSp>
      <p:sp>
        <p:nvSpPr>
          <p:cNvPr id="86024" name="Text Box 73"/>
          <p:cNvSpPr txBox="1">
            <a:spLocks noChangeArrowheads="1"/>
          </p:cNvSpPr>
          <p:nvPr/>
        </p:nvSpPr>
        <p:spPr bwMode="auto">
          <a:xfrm>
            <a:off x="185738" y="457199"/>
            <a:ext cx="8329612"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dirty="0" smtClean="0">
                <a:solidFill>
                  <a:srgbClr val="990033"/>
                </a:solidFill>
              </a:rPr>
              <a:t>2</a:t>
            </a:r>
            <a:r>
              <a:rPr lang="zh-CN" altLang="en-US" dirty="0" smtClean="0">
                <a:solidFill>
                  <a:srgbClr val="990033"/>
                </a:solidFill>
              </a:rPr>
              <a:t>、</a:t>
            </a:r>
            <a:r>
              <a:rPr lang="zh-CN" altLang="zh-CN" dirty="0" smtClean="0">
                <a:solidFill>
                  <a:srgbClr val="990033"/>
                </a:solidFill>
              </a:rPr>
              <a:t>基尔霍夫</a:t>
            </a:r>
            <a:r>
              <a:rPr lang="zh-CN" altLang="en-US" dirty="0">
                <a:solidFill>
                  <a:srgbClr val="990033"/>
                </a:solidFill>
              </a:rPr>
              <a:t>电压</a:t>
            </a:r>
            <a:r>
              <a:rPr lang="zh-CN" altLang="zh-CN" dirty="0">
                <a:solidFill>
                  <a:srgbClr val="990033"/>
                </a:solidFill>
              </a:rPr>
              <a:t>定律 (</a:t>
            </a:r>
            <a:r>
              <a:rPr lang="en-US" altLang="zh-CN" dirty="0">
                <a:solidFill>
                  <a:srgbClr val="990033"/>
                </a:solidFill>
              </a:rPr>
              <a:t>Kirchhoff’s Voltage Law, </a:t>
            </a:r>
            <a:r>
              <a:rPr lang="zh-CN" altLang="zh-CN" dirty="0">
                <a:solidFill>
                  <a:srgbClr val="990033"/>
                </a:solidFill>
              </a:rPr>
              <a:t>K</a:t>
            </a:r>
            <a:r>
              <a:rPr lang="en-US" altLang="zh-CN" dirty="0">
                <a:solidFill>
                  <a:srgbClr val="990033"/>
                </a:solidFill>
              </a:rPr>
              <a:t>V</a:t>
            </a:r>
            <a:r>
              <a:rPr lang="zh-CN" altLang="zh-CN" dirty="0">
                <a:solidFill>
                  <a:srgbClr val="990033"/>
                </a:solidFill>
              </a:rPr>
              <a:t>L) </a:t>
            </a:r>
          </a:p>
        </p:txBody>
      </p:sp>
    </p:spTree>
    <p:extLst>
      <p:ext uri="{BB962C8B-B14F-4D97-AF65-F5344CB8AC3E}">
        <p14:creationId xmlns:p14="http://schemas.microsoft.com/office/powerpoint/2010/main" val="264452938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5875"/>
                                        </p:tgtEl>
                                        <p:attrNameLst>
                                          <p:attrName>style.visibility</p:attrName>
                                        </p:attrNameLst>
                                      </p:cBhvr>
                                      <p:to>
                                        <p:strVal val="visible"/>
                                      </p:to>
                                    </p:set>
                                    <p:animEffect transition="in" filter="wipe(left)">
                                      <p:cBhvr>
                                        <p:cTn id="7" dur="500"/>
                                        <p:tgtEl>
                                          <p:spTgt spid="375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5810" name="Group 2"/>
          <p:cNvGrpSpPr>
            <a:grpSpLocks/>
          </p:cNvGrpSpPr>
          <p:nvPr/>
        </p:nvGrpSpPr>
        <p:grpSpPr bwMode="auto">
          <a:xfrm>
            <a:off x="4237946" y="945469"/>
            <a:ext cx="3903662" cy="604837"/>
            <a:chOff x="2502" y="2231"/>
            <a:chExt cx="2459" cy="381"/>
          </a:xfrm>
        </p:grpSpPr>
        <p:graphicFrame>
          <p:nvGraphicFramePr>
            <p:cNvPr id="86089" name="Object 3"/>
            <p:cNvGraphicFramePr>
              <a:graphicFrameLocks noChangeAspect="1"/>
            </p:cNvGraphicFramePr>
            <p:nvPr/>
          </p:nvGraphicFramePr>
          <p:xfrm>
            <a:off x="4171" y="2231"/>
            <a:ext cx="790" cy="381"/>
          </p:xfrm>
          <a:graphic>
            <a:graphicData uri="http://schemas.openxmlformats.org/presentationml/2006/ole">
              <mc:AlternateContent xmlns:mc="http://schemas.openxmlformats.org/markup-compatibility/2006">
                <mc:Choice xmlns:v="urn:schemas-microsoft-com:vml" Requires="v">
                  <p:oleObj spid="_x0000_s441358" name="Equation" r:id="rId3" imgW="469900" imgH="228600" progId="Equation.DSMT4">
                    <p:embed/>
                  </p:oleObj>
                </mc:Choice>
                <mc:Fallback>
                  <p:oleObj name="Equation" r:id="rId3" imgW="4699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1" y="2231"/>
                          <a:ext cx="790" cy="38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90" name="Rectangle 4"/>
            <p:cNvSpPr>
              <a:spLocks noChangeArrowheads="1"/>
            </p:cNvSpPr>
            <p:nvPr/>
          </p:nvSpPr>
          <p:spPr bwMode="auto">
            <a:xfrm>
              <a:off x="2502" y="2264"/>
              <a:ext cx="15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chemeClr val="tx2"/>
                  </a:solidFill>
                  <a:sym typeface="Symbol" pitchFamily="18" charset="2"/>
                </a:rPr>
                <a:t>顺时针方向绕行</a:t>
              </a:r>
              <a:r>
                <a:rPr lang="en-US" altLang="zh-CN" dirty="0">
                  <a:solidFill>
                    <a:schemeClr val="tx2"/>
                  </a:solidFill>
                  <a:sym typeface="Symbol" pitchFamily="18" charset="2"/>
                </a:rPr>
                <a:t>:</a:t>
              </a:r>
            </a:p>
          </p:txBody>
        </p:sp>
      </p:grpSp>
      <p:grpSp>
        <p:nvGrpSpPr>
          <p:cNvPr id="375814" name="Group 6"/>
          <p:cNvGrpSpPr>
            <a:grpSpLocks/>
          </p:cNvGrpSpPr>
          <p:nvPr/>
        </p:nvGrpSpPr>
        <p:grpSpPr bwMode="auto">
          <a:xfrm>
            <a:off x="4431418" y="4704440"/>
            <a:ext cx="3316234" cy="1023697"/>
            <a:chOff x="2649" y="3185"/>
            <a:chExt cx="2113" cy="603"/>
          </a:xfrm>
        </p:grpSpPr>
        <p:sp>
          <p:nvSpPr>
            <p:cNvPr id="86086" name="Text Box 7"/>
            <p:cNvSpPr txBox="1">
              <a:spLocks noChangeArrowheads="1"/>
            </p:cNvSpPr>
            <p:nvPr/>
          </p:nvSpPr>
          <p:spPr bwMode="auto">
            <a:xfrm>
              <a:off x="2820" y="3538"/>
              <a:ext cx="960"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chemeClr val="tx2"/>
                  </a:solidFill>
                  <a:sym typeface="Symbol" pitchFamily="18" charset="2"/>
                </a:rPr>
                <a:t>电阻压降</a:t>
              </a:r>
            </a:p>
          </p:txBody>
        </p:sp>
        <p:sp>
          <p:nvSpPr>
            <p:cNvPr id="86087" name="Text Box 8"/>
            <p:cNvSpPr txBox="1">
              <a:spLocks noChangeArrowheads="1"/>
            </p:cNvSpPr>
            <p:nvPr/>
          </p:nvSpPr>
          <p:spPr bwMode="auto">
            <a:xfrm>
              <a:off x="3754" y="3541"/>
              <a:ext cx="1008"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chemeClr val="tx2"/>
                  </a:solidFill>
                  <a:sym typeface="Symbol" pitchFamily="18" charset="2"/>
                </a:rPr>
                <a:t>电源压升</a:t>
              </a:r>
            </a:p>
          </p:txBody>
        </p:sp>
        <p:graphicFrame>
          <p:nvGraphicFramePr>
            <p:cNvPr id="86088" name="Object 9"/>
            <p:cNvGraphicFramePr>
              <a:graphicFrameLocks noChangeAspect="1"/>
            </p:cNvGraphicFramePr>
            <p:nvPr>
              <p:extLst/>
            </p:nvPr>
          </p:nvGraphicFramePr>
          <p:xfrm>
            <a:off x="2649" y="3185"/>
            <a:ext cx="1793" cy="318"/>
          </p:xfrm>
          <a:graphic>
            <a:graphicData uri="http://schemas.openxmlformats.org/presentationml/2006/ole">
              <mc:AlternateContent xmlns:mc="http://schemas.openxmlformats.org/markup-compatibility/2006">
                <mc:Choice xmlns:v="urn:schemas-microsoft-com:vml" Requires="v">
                  <p:oleObj spid="_x0000_s441359" name="Equation" r:id="rId5" imgW="1282680" imgH="228600" progId="Equation.DSMT4">
                    <p:embed/>
                  </p:oleObj>
                </mc:Choice>
                <mc:Fallback>
                  <p:oleObj name="Equation" r:id="rId5" imgW="1282680" imgH="228600" progId="Equation.DSMT4">
                    <p:embed/>
                    <p:pic>
                      <p:nvPicPr>
                        <p:cNvPr id="0" name=""/>
                        <p:cNvPicPr>
                          <a:picLocks noChangeAspect="1" noChangeArrowheads="1"/>
                        </p:cNvPicPr>
                        <p:nvPr/>
                      </p:nvPicPr>
                      <p:blipFill>
                        <a:blip r:embed="rId6"/>
                        <a:srcRect/>
                        <a:stretch>
                          <a:fillRect/>
                        </a:stretch>
                      </p:blipFill>
                      <p:spPr bwMode="auto">
                        <a:xfrm>
                          <a:off x="2649" y="3185"/>
                          <a:ext cx="1793"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75819" name="Group 11"/>
          <p:cNvGrpSpPr>
            <a:grpSpLocks/>
          </p:cNvGrpSpPr>
          <p:nvPr/>
        </p:nvGrpSpPr>
        <p:grpSpPr bwMode="auto">
          <a:xfrm>
            <a:off x="261258" y="442232"/>
            <a:ext cx="3524250" cy="3784600"/>
            <a:chOff x="0" y="1350"/>
            <a:chExt cx="2220" cy="2384"/>
          </a:xfrm>
        </p:grpSpPr>
        <p:sp>
          <p:nvSpPr>
            <p:cNvPr id="86031" name="Rectangle 12"/>
            <p:cNvSpPr>
              <a:spLocks noChangeArrowheads="1"/>
            </p:cNvSpPr>
            <p:nvPr/>
          </p:nvSpPr>
          <p:spPr bwMode="auto">
            <a:xfrm>
              <a:off x="210" y="1350"/>
              <a:ext cx="3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rgbClr val="0000E4"/>
                  </a:solidFill>
                  <a:sym typeface="Symbol" pitchFamily="18" charset="2"/>
                </a:rPr>
                <a:t>例</a:t>
              </a:r>
              <a:endParaRPr lang="zh-CN" altLang="en-US" i="1" dirty="0">
                <a:solidFill>
                  <a:schemeClr val="tx2"/>
                </a:solidFill>
                <a:sym typeface="Symbol" pitchFamily="18" charset="2"/>
              </a:endParaRPr>
            </a:p>
          </p:txBody>
        </p:sp>
        <p:grpSp>
          <p:nvGrpSpPr>
            <p:cNvPr id="86032" name="Group 13"/>
            <p:cNvGrpSpPr>
              <a:grpSpLocks/>
            </p:cNvGrpSpPr>
            <p:nvPr/>
          </p:nvGrpSpPr>
          <p:grpSpPr bwMode="auto">
            <a:xfrm>
              <a:off x="0" y="1680"/>
              <a:ext cx="2220" cy="2054"/>
              <a:chOff x="96" y="1545"/>
              <a:chExt cx="2220" cy="2054"/>
            </a:xfrm>
          </p:grpSpPr>
          <p:sp>
            <p:nvSpPr>
              <p:cNvPr id="86033" name="Oval 14"/>
              <p:cNvSpPr>
                <a:spLocks noChangeArrowheads="1"/>
              </p:cNvSpPr>
              <p:nvPr/>
            </p:nvSpPr>
            <p:spPr bwMode="auto">
              <a:xfrm>
                <a:off x="756" y="3083"/>
                <a:ext cx="288" cy="288"/>
              </a:xfrm>
              <a:prstGeom prst="ellipse">
                <a:avLst/>
              </a:prstGeom>
              <a:solidFill>
                <a:srgbClr val="66FF33"/>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6034" name="Oval 15"/>
              <p:cNvSpPr>
                <a:spLocks noChangeArrowheads="1"/>
              </p:cNvSpPr>
              <p:nvPr/>
            </p:nvSpPr>
            <p:spPr bwMode="auto">
              <a:xfrm>
                <a:off x="444" y="2064"/>
                <a:ext cx="288" cy="288"/>
              </a:xfrm>
              <a:prstGeom prst="ellipse">
                <a:avLst/>
              </a:prstGeom>
              <a:solidFill>
                <a:srgbClr val="66FF33"/>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6035" name="Line 16"/>
              <p:cNvSpPr>
                <a:spLocks noChangeShapeType="1"/>
              </p:cNvSpPr>
              <p:nvPr/>
            </p:nvSpPr>
            <p:spPr bwMode="auto">
              <a:xfrm>
                <a:off x="588" y="1919"/>
                <a:ext cx="124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36" name="Rectangle 17"/>
              <p:cNvSpPr>
                <a:spLocks noChangeArrowheads="1"/>
              </p:cNvSpPr>
              <p:nvPr/>
            </p:nvSpPr>
            <p:spPr bwMode="auto">
              <a:xfrm>
                <a:off x="1008" y="1835"/>
                <a:ext cx="384" cy="144"/>
              </a:xfrm>
              <a:prstGeom prst="rect">
                <a:avLst/>
              </a:prstGeom>
              <a:solidFill>
                <a:srgbClr val="CCFFCC"/>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6037" name="Line 18"/>
              <p:cNvSpPr>
                <a:spLocks noChangeShapeType="1"/>
              </p:cNvSpPr>
              <p:nvPr/>
            </p:nvSpPr>
            <p:spPr bwMode="auto">
              <a:xfrm>
                <a:off x="588" y="1919"/>
                <a:ext cx="0" cy="130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6038" name="Rectangle 19"/>
              <p:cNvSpPr>
                <a:spLocks noChangeArrowheads="1"/>
              </p:cNvSpPr>
              <p:nvPr/>
            </p:nvSpPr>
            <p:spPr bwMode="auto">
              <a:xfrm rot="-5400000">
                <a:off x="408" y="2664"/>
                <a:ext cx="384" cy="144"/>
              </a:xfrm>
              <a:prstGeom prst="rect">
                <a:avLst/>
              </a:prstGeom>
              <a:solidFill>
                <a:srgbClr val="CCFFCC"/>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6039" name="Line 20"/>
              <p:cNvSpPr>
                <a:spLocks noChangeShapeType="1"/>
              </p:cNvSpPr>
              <p:nvPr/>
            </p:nvSpPr>
            <p:spPr bwMode="auto">
              <a:xfrm>
                <a:off x="588" y="3224"/>
                <a:ext cx="124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40" name="Rectangle 21"/>
              <p:cNvSpPr>
                <a:spLocks noChangeArrowheads="1"/>
              </p:cNvSpPr>
              <p:nvPr/>
            </p:nvSpPr>
            <p:spPr bwMode="auto">
              <a:xfrm>
                <a:off x="1356" y="3150"/>
                <a:ext cx="384" cy="144"/>
              </a:xfrm>
              <a:prstGeom prst="rect">
                <a:avLst/>
              </a:prstGeom>
              <a:solidFill>
                <a:srgbClr val="CCFFCC"/>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6041" name="Line 22"/>
              <p:cNvSpPr>
                <a:spLocks noChangeShapeType="1"/>
              </p:cNvSpPr>
              <p:nvPr/>
            </p:nvSpPr>
            <p:spPr bwMode="auto">
              <a:xfrm>
                <a:off x="1836" y="1919"/>
                <a:ext cx="0" cy="130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42" name="Rectangle 23"/>
              <p:cNvSpPr>
                <a:spLocks noChangeArrowheads="1"/>
              </p:cNvSpPr>
              <p:nvPr/>
            </p:nvSpPr>
            <p:spPr bwMode="auto">
              <a:xfrm rot="-5400000">
                <a:off x="1644" y="2507"/>
                <a:ext cx="384" cy="144"/>
              </a:xfrm>
              <a:prstGeom prst="rect">
                <a:avLst/>
              </a:prstGeom>
              <a:solidFill>
                <a:srgbClr val="CCFFCC"/>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6043" name="Line 24"/>
              <p:cNvSpPr>
                <a:spLocks noChangeShapeType="1"/>
              </p:cNvSpPr>
              <p:nvPr/>
            </p:nvSpPr>
            <p:spPr bwMode="auto">
              <a:xfrm>
                <a:off x="1836" y="3222"/>
                <a:ext cx="348" cy="23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6044" name="Line 25"/>
              <p:cNvSpPr>
                <a:spLocks noChangeShapeType="1"/>
              </p:cNvSpPr>
              <p:nvPr/>
            </p:nvSpPr>
            <p:spPr bwMode="auto">
              <a:xfrm flipV="1">
                <a:off x="1824" y="1663"/>
                <a:ext cx="420" cy="25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45" name="Line 26"/>
              <p:cNvSpPr>
                <a:spLocks noChangeShapeType="1"/>
              </p:cNvSpPr>
              <p:nvPr/>
            </p:nvSpPr>
            <p:spPr bwMode="auto">
              <a:xfrm flipH="1">
                <a:off x="240" y="3222"/>
                <a:ext cx="336" cy="209"/>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46" name="Line 27"/>
              <p:cNvSpPr>
                <a:spLocks noChangeShapeType="1"/>
              </p:cNvSpPr>
              <p:nvPr/>
            </p:nvSpPr>
            <p:spPr bwMode="auto">
              <a:xfrm>
                <a:off x="240" y="1632"/>
                <a:ext cx="348"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6047" name="Line 28"/>
              <p:cNvSpPr>
                <a:spLocks noChangeShapeType="1"/>
              </p:cNvSpPr>
              <p:nvPr/>
            </p:nvSpPr>
            <p:spPr bwMode="auto">
              <a:xfrm>
                <a:off x="588" y="2945"/>
                <a:ext cx="0" cy="271"/>
              </a:xfrm>
              <a:prstGeom prst="line">
                <a:avLst/>
              </a:prstGeom>
              <a:noFill/>
              <a:ln w="1270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48" name="Line 29"/>
              <p:cNvSpPr>
                <a:spLocks noChangeShapeType="1"/>
              </p:cNvSpPr>
              <p:nvPr/>
            </p:nvSpPr>
            <p:spPr bwMode="auto">
              <a:xfrm flipH="1" flipV="1">
                <a:off x="1116" y="3222"/>
                <a:ext cx="240" cy="2"/>
              </a:xfrm>
              <a:prstGeom prst="line">
                <a:avLst/>
              </a:prstGeom>
              <a:noFill/>
              <a:ln w="1270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49" name="Line 30"/>
              <p:cNvSpPr>
                <a:spLocks noChangeShapeType="1"/>
              </p:cNvSpPr>
              <p:nvPr/>
            </p:nvSpPr>
            <p:spPr bwMode="auto">
              <a:xfrm>
                <a:off x="1548" y="1919"/>
                <a:ext cx="192" cy="0"/>
              </a:xfrm>
              <a:prstGeom prst="line">
                <a:avLst/>
              </a:prstGeom>
              <a:noFill/>
              <a:ln w="1270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50" name="Line 31"/>
              <p:cNvSpPr>
                <a:spLocks noChangeShapeType="1"/>
              </p:cNvSpPr>
              <p:nvPr/>
            </p:nvSpPr>
            <p:spPr bwMode="auto">
              <a:xfrm flipV="1">
                <a:off x="1836" y="2879"/>
                <a:ext cx="0" cy="271"/>
              </a:xfrm>
              <a:prstGeom prst="line">
                <a:avLst/>
              </a:prstGeom>
              <a:noFill/>
              <a:ln w="1270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6051" name="Text Box 32"/>
              <p:cNvSpPr txBox="1">
                <a:spLocks noChangeArrowheads="1"/>
              </p:cNvSpPr>
              <p:nvPr/>
            </p:nvSpPr>
            <p:spPr bwMode="auto">
              <a:xfrm>
                <a:off x="288" y="2928"/>
                <a:ext cx="3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86052" name="Text Box 33"/>
              <p:cNvSpPr txBox="1">
                <a:spLocks noChangeArrowheads="1"/>
              </p:cNvSpPr>
              <p:nvPr/>
            </p:nvSpPr>
            <p:spPr bwMode="auto">
              <a:xfrm>
                <a:off x="240" y="1884"/>
                <a:ext cx="2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86053" name="Text Box 34"/>
              <p:cNvSpPr txBox="1">
                <a:spLocks noChangeArrowheads="1"/>
              </p:cNvSpPr>
              <p:nvPr/>
            </p:nvSpPr>
            <p:spPr bwMode="auto">
              <a:xfrm>
                <a:off x="96" y="2076"/>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S1</a:t>
                </a:r>
                <a:endParaRPr lang="en-US" altLang="zh-CN">
                  <a:solidFill>
                    <a:schemeClr val="tx2"/>
                  </a:solidFill>
                  <a:sym typeface="Symbol" pitchFamily="18" charset="2"/>
                </a:endParaRPr>
              </a:p>
            </p:txBody>
          </p:sp>
          <p:sp>
            <p:nvSpPr>
              <p:cNvPr id="86054" name="Text Box 35"/>
              <p:cNvSpPr txBox="1">
                <a:spLocks noChangeArrowheads="1"/>
              </p:cNvSpPr>
              <p:nvPr/>
            </p:nvSpPr>
            <p:spPr bwMode="auto">
              <a:xfrm>
                <a:off x="108" y="2592"/>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86055" name="Text Box 36"/>
              <p:cNvSpPr txBox="1">
                <a:spLocks noChangeArrowheads="1"/>
              </p:cNvSpPr>
              <p:nvPr/>
            </p:nvSpPr>
            <p:spPr bwMode="auto">
              <a:xfrm>
                <a:off x="972" y="2928"/>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4</a:t>
                </a:r>
                <a:endParaRPr lang="en-US" altLang="zh-CN" i="1">
                  <a:solidFill>
                    <a:schemeClr val="tx2"/>
                  </a:solidFill>
                  <a:sym typeface="Symbol" pitchFamily="18" charset="2"/>
                </a:endParaRPr>
              </a:p>
            </p:txBody>
          </p:sp>
          <p:sp>
            <p:nvSpPr>
              <p:cNvPr id="86056" name="Text Box 37"/>
              <p:cNvSpPr txBox="1">
                <a:spLocks noChangeArrowheads="1"/>
              </p:cNvSpPr>
              <p:nvPr/>
            </p:nvSpPr>
            <p:spPr bwMode="auto">
              <a:xfrm>
                <a:off x="540" y="3215"/>
                <a:ext cx="1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86057" name="Text Box 38"/>
              <p:cNvSpPr txBox="1">
                <a:spLocks noChangeArrowheads="1"/>
              </p:cNvSpPr>
              <p:nvPr/>
            </p:nvSpPr>
            <p:spPr bwMode="auto">
              <a:xfrm>
                <a:off x="924" y="3311"/>
                <a:ext cx="3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ym typeface="Symbol" pitchFamily="18" charset="2"/>
                  </a:rPr>
                  <a:t>+</a:t>
                </a:r>
                <a:endParaRPr lang="en-US" altLang="zh-CN">
                  <a:solidFill>
                    <a:schemeClr val="tx2"/>
                  </a:solidFill>
                  <a:sym typeface="Symbol" pitchFamily="18" charset="2"/>
                </a:endParaRPr>
              </a:p>
            </p:txBody>
          </p:sp>
          <p:sp>
            <p:nvSpPr>
              <p:cNvPr id="86058" name="Text Box 39"/>
              <p:cNvSpPr txBox="1">
                <a:spLocks noChangeArrowheads="1"/>
              </p:cNvSpPr>
              <p:nvPr/>
            </p:nvSpPr>
            <p:spPr bwMode="auto">
              <a:xfrm>
                <a:off x="684" y="3311"/>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S4</a:t>
                </a:r>
                <a:endParaRPr lang="en-US" altLang="zh-CN">
                  <a:solidFill>
                    <a:schemeClr val="tx2"/>
                  </a:solidFill>
                  <a:sym typeface="Symbol" pitchFamily="18" charset="2"/>
                </a:endParaRPr>
              </a:p>
            </p:txBody>
          </p:sp>
          <p:sp>
            <p:nvSpPr>
              <p:cNvPr id="86059" name="Text Box 40"/>
              <p:cNvSpPr txBox="1">
                <a:spLocks noChangeArrowheads="1"/>
              </p:cNvSpPr>
              <p:nvPr/>
            </p:nvSpPr>
            <p:spPr bwMode="auto">
              <a:xfrm>
                <a:off x="1392" y="3264"/>
                <a:ext cx="3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baseline="-25000">
                    <a:solidFill>
                      <a:schemeClr val="tx2"/>
                    </a:solidFill>
                    <a:sym typeface="Symbol" pitchFamily="18" charset="2"/>
                  </a:rPr>
                  <a:t>4</a:t>
                </a:r>
                <a:endParaRPr lang="en-US" altLang="zh-CN" i="1">
                  <a:solidFill>
                    <a:schemeClr val="tx2"/>
                  </a:solidFill>
                  <a:sym typeface="Symbol" pitchFamily="18" charset="2"/>
                </a:endParaRPr>
              </a:p>
            </p:txBody>
          </p:sp>
          <p:sp>
            <p:nvSpPr>
              <p:cNvPr id="86060" name="Text Box 41"/>
              <p:cNvSpPr txBox="1">
                <a:spLocks noChangeArrowheads="1"/>
              </p:cNvSpPr>
              <p:nvPr/>
            </p:nvSpPr>
            <p:spPr bwMode="auto">
              <a:xfrm>
                <a:off x="1812" y="2861"/>
                <a:ext cx="36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3</a:t>
                </a:r>
                <a:endParaRPr lang="en-US" altLang="zh-CN">
                  <a:solidFill>
                    <a:schemeClr val="tx2"/>
                  </a:solidFill>
                  <a:sym typeface="Symbol" pitchFamily="18" charset="2"/>
                </a:endParaRPr>
              </a:p>
            </p:txBody>
          </p:sp>
          <p:sp>
            <p:nvSpPr>
              <p:cNvPr id="86061" name="Text Box 42"/>
              <p:cNvSpPr txBox="1">
                <a:spLocks noChangeArrowheads="1"/>
              </p:cNvSpPr>
              <p:nvPr/>
            </p:nvSpPr>
            <p:spPr bwMode="auto">
              <a:xfrm>
                <a:off x="1884" y="2447"/>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baseline="-25000">
                    <a:solidFill>
                      <a:schemeClr val="tx2"/>
                    </a:solidFill>
                    <a:sym typeface="Symbol" pitchFamily="18" charset="2"/>
                  </a:rPr>
                  <a:t>3</a:t>
                </a:r>
                <a:endParaRPr lang="en-US" altLang="zh-CN">
                  <a:solidFill>
                    <a:schemeClr val="tx2"/>
                  </a:solidFill>
                  <a:sym typeface="Symbol" pitchFamily="18" charset="2"/>
                </a:endParaRPr>
              </a:p>
            </p:txBody>
          </p:sp>
          <p:sp>
            <p:nvSpPr>
              <p:cNvPr id="86062" name="Text Box 43"/>
              <p:cNvSpPr txBox="1">
                <a:spLocks noChangeArrowheads="1"/>
              </p:cNvSpPr>
              <p:nvPr/>
            </p:nvSpPr>
            <p:spPr bwMode="auto">
              <a:xfrm>
                <a:off x="1008" y="1545"/>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baseline="-25000">
                    <a:solidFill>
                      <a:schemeClr val="tx2"/>
                    </a:solidFill>
                    <a:sym typeface="Symbol" pitchFamily="18" charset="2"/>
                  </a:rPr>
                  <a:t>2</a:t>
                </a:r>
                <a:endParaRPr lang="en-US" altLang="zh-CN" i="1">
                  <a:solidFill>
                    <a:schemeClr val="tx2"/>
                  </a:solidFill>
                  <a:sym typeface="Symbol" pitchFamily="18" charset="2"/>
                </a:endParaRPr>
              </a:p>
            </p:txBody>
          </p:sp>
          <p:sp>
            <p:nvSpPr>
              <p:cNvPr id="86063" name="Text Box 44"/>
              <p:cNvSpPr txBox="1">
                <a:spLocks noChangeArrowheads="1"/>
              </p:cNvSpPr>
              <p:nvPr/>
            </p:nvSpPr>
            <p:spPr bwMode="auto">
              <a:xfrm>
                <a:off x="1548" y="1598"/>
                <a:ext cx="3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i="1">
                  <a:solidFill>
                    <a:schemeClr val="tx2"/>
                  </a:solidFill>
                  <a:sym typeface="Symbol" pitchFamily="18" charset="2"/>
                </a:endParaRPr>
              </a:p>
            </p:txBody>
          </p:sp>
          <p:sp>
            <p:nvSpPr>
              <p:cNvPr id="86064" name="Text Box 45"/>
              <p:cNvSpPr txBox="1">
                <a:spLocks noChangeArrowheads="1"/>
              </p:cNvSpPr>
              <p:nvPr/>
            </p:nvSpPr>
            <p:spPr bwMode="auto">
              <a:xfrm>
                <a:off x="216" y="2159"/>
                <a:ext cx="2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endParaRPr lang="zh-CN" altLang="zh-CN">
                  <a:solidFill>
                    <a:schemeClr val="tx2"/>
                  </a:solidFill>
                  <a:sym typeface="Symbol" pitchFamily="18" charset="2"/>
                </a:endParaRPr>
              </a:p>
            </p:txBody>
          </p:sp>
          <p:sp>
            <p:nvSpPr>
              <p:cNvPr id="86065" name="Text Box 46"/>
              <p:cNvSpPr txBox="1">
                <a:spLocks noChangeArrowheads="1"/>
              </p:cNvSpPr>
              <p:nvPr/>
            </p:nvSpPr>
            <p:spPr bwMode="auto">
              <a:xfrm>
                <a:off x="240" y="2208"/>
                <a:ext cx="1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86066" name="Text Box 47"/>
              <p:cNvSpPr txBox="1">
                <a:spLocks noChangeArrowheads="1"/>
              </p:cNvSpPr>
              <p:nvPr/>
            </p:nvSpPr>
            <p:spPr bwMode="auto">
              <a:xfrm>
                <a:off x="1492" y="2499"/>
                <a:ext cx="2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sz="1400">
                    <a:solidFill>
                      <a:srgbClr val="FF0000"/>
                    </a:solidFill>
                    <a:sym typeface="Symbol" pitchFamily="18" charset="2"/>
                  </a:rPr>
                  <a:t>3</a:t>
                </a:r>
                <a:endParaRPr lang="en-US" altLang="zh-CN" i="1">
                  <a:solidFill>
                    <a:srgbClr val="FF0000"/>
                  </a:solidFill>
                  <a:sym typeface="Symbol" pitchFamily="18" charset="2"/>
                </a:endParaRPr>
              </a:p>
            </p:txBody>
          </p:sp>
          <p:sp>
            <p:nvSpPr>
              <p:cNvPr id="86067" name="Text Box 48"/>
              <p:cNvSpPr txBox="1">
                <a:spLocks noChangeArrowheads="1"/>
              </p:cNvSpPr>
              <p:nvPr/>
            </p:nvSpPr>
            <p:spPr bwMode="auto">
              <a:xfrm>
                <a:off x="664" y="2631"/>
                <a:ext cx="2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sz="1400">
                    <a:solidFill>
                      <a:srgbClr val="FF0000"/>
                    </a:solidFill>
                    <a:sym typeface="Symbol" pitchFamily="18" charset="2"/>
                  </a:rPr>
                  <a:t>1</a:t>
                </a:r>
                <a:endParaRPr lang="en-US" altLang="zh-CN" i="1">
                  <a:solidFill>
                    <a:srgbClr val="FF0000"/>
                  </a:solidFill>
                  <a:sym typeface="Symbol" pitchFamily="18" charset="2"/>
                </a:endParaRPr>
              </a:p>
            </p:txBody>
          </p:sp>
          <p:sp>
            <p:nvSpPr>
              <p:cNvPr id="86068" name="Line 49"/>
              <p:cNvSpPr>
                <a:spLocks noChangeShapeType="1"/>
              </p:cNvSpPr>
              <p:nvPr/>
            </p:nvSpPr>
            <p:spPr bwMode="auto">
              <a:xfrm flipV="1">
                <a:off x="1368" y="2077"/>
                <a:ext cx="1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6069" name="Group 50"/>
              <p:cNvGrpSpPr>
                <a:grpSpLocks/>
              </p:cNvGrpSpPr>
              <p:nvPr/>
            </p:nvGrpSpPr>
            <p:grpSpPr bwMode="auto">
              <a:xfrm>
                <a:off x="885" y="2013"/>
                <a:ext cx="112" cy="104"/>
                <a:chOff x="3303" y="1716"/>
                <a:chExt cx="168" cy="168"/>
              </a:xfrm>
            </p:grpSpPr>
            <p:sp>
              <p:nvSpPr>
                <p:cNvPr id="86084" name="Line 51"/>
                <p:cNvSpPr>
                  <a:spLocks noChangeShapeType="1"/>
                </p:cNvSpPr>
                <p:nvPr/>
              </p:nvSpPr>
              <p:spPr bwMode="auto">
                <a:xfrm>
                  <a:off x="3303" y="1812"/>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85" name="Line 52"/>
                <p:cNvSpPr>
                  <a:spLocks noChangeShapeType="1"/>
                </p:cNvSpPr>
                <p:nvPr/>
              </p:nvSpPr>
              <p:spPr bwMode="auto">
                <a:xfrm rot="-5400000">
                  <a:off x="3303" y="1800"/>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6070" name="Text Box 53"/>
              <p:cNvSpPr txBox="1">
                <a:spLocks noChangeArrowheads="1"/>
              </p:cNvSpPr>
              <p:nvPr/>
            </p:nvSpPr>
            <p:spPr bwMode="auto">
              <a:xfrm>
                <a:off x="1037" y="1931"/>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sz="1400">
                    <a:solidFill>
                      <a:srgbClr val="FF0000"/>
                    </a:solidFill>
                    <a:sym typeface="Symbol" pitchFamily="18" charset="2"/>
                  </a:rPr>
                  <a:t>2</a:t>
                </a:r>
                <a:endParaRPr lang="en-US" altLang="zh-CN" i="1">
                  <a:solidFill>
                    <a:srgbClr val="FF0000"/>
                  </a:solidFill>
                  <a:sym typeface="Symbol" pitchFamily="18" charset="2"/>
                </a:endParaRPr>
              </a:p>
            </p:txBody>
          </p:sp>
          <p:sp>
            <p:nvSpPr>
              <p:cNvPr id="86071" name="Text Box 54"/>
              <p:cNvSpPr txBox="1">
                <a:spLocks noChangeArrowheads="1"/>
              </p:cNvSpPr>
              <p:nvPr/>
            </p:nvSpPr>
            <p:spPr bwMode="auto">
              <a:xfrm>
                <a:off x="1381" y="2895"/>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sz="1400">
                    <a:solidFill>
                      <a:srgbClr val="FF0000"/>
                    </a:solidFill>
                    <a:sym typeface="Symbol" pitchFamily="18" charset="2"/>
                  </a:rPr>
                  <a:t>4</a:t>
                </a:r>
                <a:endParaRPr lang="en-US" altLang="zh-CN" i="1">
                  <a:solidFill>
                    <a:srgbClr val="FF0000"/>
                  </a:solidFill>
                  <a:sym typeface="Symbol" pitchFamily="18" charset="2"/>
                </a:endParaRPr>
              </a:p>
            </p:txBody>
          </p:sp>
          <p:grpSp>
            <p:nvGrpSpPr>
              <p:cNvPr id="86072" name="Group 55"/>
              <p:cNvGrpSpPr>
                <a:grpSpLocks/>
              </p:cNvGrpSpPr>
              <p:nvPr/>
            </p:nvGrpSpPr>
            <p:grpSpPr bwMode="auto">
              <a:xfrm>
                <a:off x="725" y="2517"/>
                <a:ext cx="112" cy="104"/>
                <a:chOff x="3303" y="1716"/>
                <a:chExt cx="168" cy="168"/>
              </a:xfrm>
            </p:grpSpPr>
            <p:sp>
              <p:nvSpPr>
                <p:cNvPr id="86082" name="Line 56"/>
                <p:cNvSpPr>
                  <a:spLocks noChangeShapeType="1"/>
                </p:cNvSpPr>
                <p:nvPr/>
              </p:nvSpPr>
              <p:spPr bwMode="auto">
                <a:xfrm>
                  <a:off x="3303" y="1812"/>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83" name="Line 57"/>
                <p:cNvSpPr>
                  <a:spLocks noChangeShapeType="1"/>
                </p:cNvSpPr>
                <p:nvPr/>
              </p:nvSpPr>
              <p:spPr bwMode="auto">
                <a:xfrm rot="-5400000">
                  <a:off x="3303" y="1800"/>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73" name="Group 58"/>
              <p:cNvGrpSpPr>
                <a:grpSpLocks/>
              </p:cNvGrpSpPr>
              <p:nvPr/>
            </p:nvGrpSpPr>
            <p:grpSpPr bwMode="auto">
              <a:xfrm>
                <a:off x="1645" y="2989"/>
                <a:ext cx="112" cy="104"/>
                <a:chOff x="3303" y="1716"/>
                <a:chExt cx="168" cy="168"/>
              </a:xfrm>
            </p:grpSpPr>
            <p:sp>
              <p:nvSpPr>
                <p:cNvPr id="86080" name="Line 59"/>
                <p:cNvSpPr>
                  <a:spLocks noChangeShapeType="1"/>
                </p:cNvSpPr>
                <p:nvPr/>
              </p:nvSpPr>
              <p:spPr bwMode="auto">
                <a:xfrm>
                  <a:off x="3303" y="1812"/>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81" name="Line 60"/>
                <p:cNvSpPr>
                  <a:spLocks noChangeShapeType="1"/>
                </p:cNvSpPr>
                <p:nvPr/>
              </p:nvSpPr>
              <p:spPr bwMode="auto">
                <a:xfrm rot="-5400000">
                  <a:off x="3303" y="1800"/>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6074" name="Group 61"/>
              <p:cNvGrpSpPr>
                <a:grpSpLocks/>
              </p:cNvGrpSpPr>
              <p:nvPr/>
            </p:nvGrpSpPr>
            <p:grpSpPr bwMode="auto">
              <a:xfrm>
                <a:off x="1565" y="2349"/>
                <a:ext cx="112" cy="104"/>
                <a:chOff x="3303" y="1716"/>
                <a:chExt cx="168" cy="168"/>
              </a:xfrm>
            </p:grpSpPr>
            <p:sp>
              <p:nvSpPr>
                <p:cNvPr id="86078" name="Line 62"/>
                <p:cNvSpPr>
                  <a:spLocks noChangeShapeType="1"/>
                </p:cNvSpPr>
                <p:nvPr/>
              </p:nvSpPr>
              <p:spPr bwMode="auto">
                <a:xfrm>
                  <a:off x="3303" y="1812"/>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79" name="Line 63"/>
                <p:cNvSpPr>
                  <a:spLocks noChangeShapeType="1"/>
                </p:cNvSpPr>
                <p:nvPr/>
              </p:nvSpPr>
              <p:spPr bwMode="auto">
                <a:xfrm rot="-5400000">
                  <a:off x="3303" y="1800"/>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6075" name="Line 64"/>
              <p:cNvSpPr>
                <a:spLocks noChangeShapeType="1"/>
              </p:cNvSpPr>
              <p:nvPr/>
            </p:nvSpPr>
            <p:spPr bwMode="auto">
              <a:xfrm flipV="1">
                <a:off x="1568" y="2805"/>
                <a:ext cx="1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76" name="Line 65"/>
              <p:cNvSpPr>
                <a:spLocks noChangeShapeType="1"/>
              </p:cNvSpPr>
              <p:nvPr/>
            </p:nvSpPr>
            <p:spPr bwMode="auto">
              <a:xfrm flipV="1">
                <a:off x="728" y="2933"/>
                <a:ext cx="1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77" name="Line 66"/>
              <p:cNvSpPr>
                <a:spLocks noChangeShapeType="1"/>
              </p:cNvSpPr>
              <p:nvPr/>
            </p:nvSpPr>
            <p:spPr bwMode="auto">
              <a:xfrm flipV="1">
                <a:off x="1296" y="3045"/>
                <a:ext cx="1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75878" name="Group 70"/>
          <p:cNvGrpSpPr>
            <a:grpSpLocks/>
          </p:cNvGrpSpPr>
          <p:nvPr/>
        </p:nvGrpSpPr>
        <p:grpSpPr bwMode="auto">
          <a:xfrm>
            <a:off x="4476071" y="2013865"/>
            <a:ext cx="4495800" cy="1562104"/>
            <a:chOff x="2448" y="2237"/>
            <a:chExt cx="2832" cy="984"/>
          </a:xfrm>
        </p:grpSpPr>
        <p:sp>
          <p:nvSpPr>
            <p:cNvPr id="86027" name="Text Box 71"/>
            <p:cNvSpPr txBox="1">
              <a:spLocks noChangeArrowheads="1"/>
            </p:cNvSpPr>
            <p:nvPr/>
          </p:nvSpPr>
          <p:spPr bwMode="auto">
            <a:xfrm>
              <a:off x="2448" y="2581"/>
              <a:ext cx="2832" cy="6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spcBef>
                  <a:spcPct val="50000"/>
                </a:spcBef>
              </a:pPr>
              <a:r>
                <a:rPr lang="en-US" altLang="zh-CN" dirty="0">
                  <a:solidFill>
                    <a:schemeClr val="tx2"/>
                  </a:solidFill>
                  <a:sym typeface="Symbol" pitchFamily="18" charset="2"/>
                </a:rPr>
                <a:t>–</a:t>
              </a:r>
              <a:r>
                <a:rPr lang="en-US" altLang="zh-CN" i="1" dirty="0">
                  <a:solidFill>
                    <a:schemeClr val="tx2"/>
                  </a:solidFill>
                  <a:sym typeface="Symbol" pitchFamily="18" charset="2"/>
                </a:rPr>
                <a:t>R</a:t>
              </a:r>
              <a:r>
                <a:rPr lang="en-US" altLang="zh-CN" baseline="-25000" dirty="0">
                  <a:solidFill>
                    <a:schemeClr val="tx2"/>
                  </a:solidFill>
                  <a:sym typeface="Symbol" pitchFamily="18" charset="2"/>
                </a:rPr>
                <a:t>1</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1</a:t>
              </a:r>
              <a:r>
                <a:rPr lang="en-US" altLang="zh-CN" i="1" dirty="0">
                  <a:solidFill>
                    <a:schemeClr val="tx2"/>
                  </a:solidFill>
                  <a:sym typeface="Symbol" pitchFamily="18" charset="2"/>
                </a:rPr>
                <a:t>–v</a:t>
              </a:r>
              <a:r>
                <a:rPr lang="en-US" altLang="zh-CN" baseline="-25000" dirty="0">
                  <a:solidFill>
                    <a:schemeClr val="tx2"/>
                  </a:solidFill>
                  <a:sym typeface="Symbol" pitchFamily="18" charset="2"/>
                </a:rPr>
                <a:t>S1</a:t>
              </a:r>
              <a:r>
                <a:rPr lang="en-US" altLang="zh-CN" i="1" dirty="0">
                  <a:solidFill>
                    <a:schemeClr val="tx2"/>
                  </a:solidFill>
                  <a:sym typeface="Symbol" pitchFamily="18" charset="2"/>
                </a:rPr>
                <a:t>+R</a:t>
              </a:r>
              <a:r>
                <a:rPr lang="en-US" altLang="zh-CN" baseline="-25000" dirty="0">
                  <a:solidFill>
                    <a:schemeClr val="tx2"/>
                  </a:solidFill>
                  <a:sym typeface="Symbol" pitchFamily="18" charset="2"/>
                </a:rPr>
                <a:t>2</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2</a:t>
              </a:r>
              <a:r>
                <a:rPr lang="en-US" altLang="zh-CN" i="1" dirty="0">
                  <a:solidFill>
                    <a:schemeClr val="tx2"/>
                  </a:solidFill>
                  <a:sym typeface="Symbol" pitchFamily="18" charset="2"/>
                </a:rPr>
                <a:t>–R</a:t>
              </a:r>
              <a:r>
                <a:rPr lang="en-US" altLang="zh-CN" baseline="-25000" dirty="0">
                  <a:solidFill>
                    <a:schemeClr val="tx2"/>
                  </a:solidFill>
                  <a:sym typeface="Symbol" pitchFamily="18" charset="2"/>
                </a:rPr>
                <a:t>3</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3</a:t>
              </a:r>
              <a:r>
                <a:rPr lang="en-US" altLang="zh-CN" i="1" dirty="0">
                  <a:solidFill>
                    <a:schemeClr val="tx2"/>
                  </a:solidFill>
                  <a:sym typeface="Symbol" pitchFamily="18" charset="2"/>
                </a:rPr>
                <a:t>+R</a:t>
              </a:r>
              <a:r>
                <a:rPr lang="en-US" altLang="zh-CN" baseline="-25000" dirty="0">
                  <a:solidFill>
                    <a:schemeClr val="tx2"/>
                  </a:solidFill>
                  <a:sym typeface="Symbol" pitchFamily="18" charset="2"/>
                </a:rPr>
                <a:t>4</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4</a:t>
              </a:r>
              <a:r>
                <a:rPr lang="en-US" altLang="zh-CN" i="1" dirty="0">
                  <a:solidFill>
                    <a:schemeClr val="tx2"/>
                  </a:solidFill>
                  <a:sym typeface="Symbol" pitchFamily="18" charset="2"/>
                </a:rPr>
                <a:t>+v</a:t>
              </a:r>
              <a:r>
                <a:rPr lang="en-US" altLang="zh-CN" baseline="-25000" dirty="0">
                  <a:solidFill>
                    <a:schemeClr val="tx2"/>
                  </a:solidFill>
                  <a:sym typeface="Symbol" pitchFamily="18" charset="2"/>
                </a:rPr>
                <a:t>S4</a:t>
              </a:r>
              <a:r>
                <a:rPr lang="en-US" altLang="zh-CN" i="1" dirty="0">
                  <a:solidFill>
                    <a:schemeClr val="tx2"/>
                  </a:solidFill>
                  <a:sym typeface="Symbol" pitchFamily="18" charset="2"/>
                </a:rPr>
                <a:t>=</a:t>
              </a:r>
              <a:r>
                <a:rPr lang="en-US" altLang="zh-CN" dirty="0">
                  <a:solidFill>
                    <a:schemeClr val="tx2"/>
                  </a:solidFill>
                  <a:sym typeface="Symbol" pitchFamily="18" charset="2"/>
                </a:rPr>
                <a:t>0</a:t>
              </a:r>
            </a:p>
            <a:p>
              <a:pPr algn="just">
                <a:spcBef>
                  <a:spcPct val="50000"/>
                </a:spcBef>
              </a:pPr>
              <a:r>
                <a:rPr lang="en-US" altLang="zh-CN" i="1" dirty="0">
                  <a:solidFill>
                    <a:schemeClr val="tx2"/>
                  </a:solidFill>
                  <a:sym typeface="Symbol" pitchFamily="18" charset="2"/>
                </a:rPr>
                <a:t>–R</a:t>
              </a:r>
              <a:r>
                <a:rPr lang="en-US" altLang="zh-CN" baseline="-25000" dirty="0">
                  <a:solidFill>
                    <a:schemeClr val="tx2"/>
                  </a:solidFill>
                  <a:sym typeface="Symbol" pitchFamily="18" charset="2"/>
                </a:rPr>
                <a:t>1</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1</a:t>
              </a:r>
              <a:r>
                <a:rPr lang="en-US" altLang="zh-CN" i="1" dirty="0">
                  <a:solidFill>
                    <a:schemeClr val="tx2"/>
                  </a:solidFill>
                  <a:sym typeface="Symbol" pitchFamily="18" charset="2"/>
                </a:rPr>
                <a:t>+R</a:t>
              </a:r>
              <a:r>
                <a:rPr lang="en-US" altLang="zh-CN" baseline="-25000" dirty="0">
                  <a:solidFill>
                    <a:schemeClr val="tx2"/>
                  </a:solidFill>
                  <a:sym typeface="Symbol" pitchFamily="18" charset="2"/>
                </a:rPr>
                <a:t>2</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2</a:t>
              </a:r>
              <a:r>
                <a:rPr lang="en-US" altLang="zh-CN" i="1" dirty="0">
                  <a:solidFill>
                    <a:schemeClr val="tx2"/>
                  </a:solidFill>
                  <a:sym typeface="Symbol" pitchFamily="18" charset="2"/>
                </a:rPr>
                <a:t>–R</a:t>
              </a:r>
              <a:r>
                <a:rPr lang="en-US" altLang="zh-CN" baseline="-25000" dirty="0">
                  <a:solidFill>
                    <a:schemeClr val="tx2"/>
                  </a:solidFill>
                  <a:sym typeface="Symbol" pitchFamily="18" charset="2"/>
                </a:rPr>
                <a:t>3</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3</a:t>
              </a:r>
              <a:r>
                <a:rPr lang="en-US" altLang="zh-CN" i="1" dirty="0">
                  <a:solidFill>
                    <a:schemeClr val="tx2"/>
                  </a:solidFill>
                  <a:sym typeface="Symbol" pitchFamily="18" charset="2"/>
                </a:rPr>
                <a:t>+R</a:t>
              </a:r>
              <a:r>
                <a:rPr lang="en-US" altLang="zh-CN" baseline="-25000" dirty="0">
                  <a:solidFill>
                    <a:schemeClr val="tx2"/>
                  </a:solidFill>
                  <a:sym typeface="Symbol" pitchFamily="18" charset="2"/>
                </a:rPr>
                <a:t>4</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4</a:t>
              </a:r>
              <a:r>
                <a:rPr lang="en-US" altLang="zh-CN" i="1" dirty="0">
                  <a:solidFill>
                    <a:schemeClr val="tx2"/>
                  </a:solidFill>
                  <a:sym typeface="Symbol" pitchFamily="18" charset="2"/>
                </a:rPr>
                <a:t>=v</a:t>
              </a:r>
              <a:r>
                <a:rPr lang="en-US" altLang="zh-CN" baseline="-25000" dirty="0">
                  <a:solidFill>
                    <a:schemeClr val="tx2"/>
                  </a:solidFill>
                  <a:sym typeface="Symbol" pitchFamily="18" charset="2"/>
                </a:rPr>
                <a:t>S1</a:t>
              </a:r>
              <a:r>
                <a:rPr lang="en-US" altLang="zh-CN" i="1" dirty="0">
                  <a:solidFill>
                    <a:schemeClr val="tx2"/>
                  </a:solidFill>
                  <a:sym typeface="Symbol" pitchFamily="18" charset="2"/>
                </a:rPr>
                <a:t>–v</a:t>
              </a:r>
              <a:r>
                <a:rPr lang="en-US" altLang="zh-CN" baseline="-25000" dirty="0">
                  <a:solidFill>
                    <a:schemeClr val="tx2"/>
                  </a:solidFill>
                  <a:sym typeface="Symbol" pitchFamily="18" charset="2"/>
                </a:rPr>
                <a:t>S4</a:t>
              </a:r>
              <a:endParaRPr lang="en-US" altLang="zh-CN" i="1" dirty="0">
                <a:solidFill>
                  <a:schemeClr val="tx2"/>
                </a:solidFill>
                <a:sym typeface="Symbol" pitchFamily="18" charset="2"/>
              </a:endParaRPr>
            </a:p>
          </p:txBody>
        </p:sp>
        <p:sp>
          <p:nvSpPr>
            <p:cNvPr id="86028" name="Text Box 72"/>
            <p:cNvSpPr txBox="1">
              <a:spLocks noChangeArrowheads="1"/>
            </p:cNvSpPr>
            <p:nvPr/>
          </p:nvSpPr>
          <p:spPr bwMode="auto">
            <a:xfrm>
              <a:off x="2448" y="2237"/>
              <a:ext cx="200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i="1" dirty="0">
                  <a:solidFill>
                    <a:srgbClr val="000000"/>
                  </a:solidFill>
                  <a:latin typeface="黑体" pitchFamily="49" charset="-122"/>
                  <a:ea typeface="黑体" pitchFamily="49" charset="-122"/>
                  <a:sym typeface="Symbol" pitchFamily="18" charset="2"/>
                </a:rPr>
                <a:t>-</a:t>
              </a:r>
              <a:r>
                <a:rPr lang="en-US" altLang="zh-CN" i="1" dirty="0">
                  <a:solidFill>
                    <a:srgbClr val="000000"/>
                  </a:solidFill>
                  <a:sym typeface="Symbol" pitchFamily="18" charset="2"/>
                </a:rPr>
                <a:t>v</a:t>
              </a:r>
              <a:r>
                <a:rPr lang="en-US" altLang="zh-CN" baseline="-25000" dirty="0">
                  <a:solidFill>
                    <a:srgbClr val="000000"/>
                  </a:solidFill>
                  <a:sym typeface="Symbol" pitchFamily="18" charset="2"/>
                </a:rPr>
                <a:t>1</a:t>
              </a:r>
              <a:r>
                <a:rPr lang="en-US" altLang="zh-CN" dirty="0">
                  <a:solidFill>
                    <a:srgbClr val="000000"/>
                  </a:solidFill>
                  <a:latin typeface="黑体" pitchFamily="49" charset="-122"/>
                  <a:ea typeface="黑体" pitchFamily="49" charset="-122"/>
                  <a:sym typeface="Symbol" pitchFamily="18" charset="2"/>
                </a:rPr>
                <a:t>-</a:t>
              </a:r>
              <a:r>
                <a:rPr lang="en-US" altLang="zh-CN" i="1" dirty="0">
                  <a:solidFill>
                    <a:srgbClr val="000000"/>
                  </a:solidFill>
                  <a:sym typeface="Symbol" pitchFamily="18" charset="2"/>
                </a:rPr>
                <a:t>v</a:t>
              </a:r>
              <a:r>
                <a:rPr lang="en-US" altLang="zh-CN" baseline="-25000" dirty="0">
                  <a:solidFill>
                    <a:srgbClr val="000000"/>
                  </a:solidFill>
                  <a:sym typeface="Symbol" pitchFamily="18" charset="2"/>
                </a:rPr>
                <a:t>S1</a:t>
              </a:r>
              <a:r>
                <a:rPr lang="en-US" altLang="zh-CN" i="1" dirty="0">
                  <a:solidFill>
                    <a:srgbClr val="000000"/>
                  </a:solidFill>
                  <a:sym typeface="Symbol" pitchFamily="18" charset="2"/>
                </a:rPr>
                <a:t>+v</a:t>
              </a:r>
              <a:r>
                <a:rPr lang="en-US" altLang="zh-CN" baseline="-25000" dirty="0">
                  <a:solidFill>
                    <a:srgbClr val="000000"/>
                  </a:solidFill>
                  <a:sym typeface="Symbol" pitchFamily="18" charset="2"/>
                </a:rPr>
                <a:t>2</a:t>
              </a:r>
              <a:r>
                <a:rPr lang="en-US" altLang="zh-CN" dirty="0">
                  <a:solidFill>
                    <a:srgbClr val="000000"/>
                  </a:solidFill>
                  <a:sym typeface="Symbol" pitchFamily="18" charset="2"/>
                </a:rPr>
                <a:t>+</a:t>
              </a:r>
              <a:r>
                <a:rPr lang="en-US" altLang="zh-CN" i="1" dirty="0">
                  <a:solidFill>
                    <a:srgbClr val="000000"/>
                  </a:solidFill>
                  <a:sym typeface="Symbol" pitchFamily="18" charset="2"/>
                </a:rPr>
                <a:t>v</a:t>
              </a:r>
              <a:r>
                <a:rPr lang="en-US" altLang="zh-CN" baseline="-25000" dirty="0">
                  <a:solidFill>
                    <a:srgbClr val="000000"/>
                  </a:solidFill>
                  <a:sym typeface="Symbol" pitchFamily="18" charset="2"/>
                </a:rPr>
                <a:t>3</a:t>
              </a:r>
              <a:r>
                <a:rPr lang="en-US" altLang="zh-CN" dirty="0">
                  <a:solidFill>
                    <a:srgbClr val="000000"/>
                  </a:solidFill>
                  <a:sym typeface="Symbol" pitchFamily="18" charset="2"/>
                </a:rPr>
                <a:t>+</a:t>
              </a:r>
              <a:r>
                <a:rPr lang="en-US" altLang="zh-CN" i="1" dirty="0">
                  <a:solidFill>
                    <a:srgbClr val="000000"/>
                  </a:solidFill>
                  <a:sym typeface="Symbol" pitchFamily="18" charset="2"/>
                </a:rPr>
                <a:t>v</a:t>
              </a:r>
              <a:r>
                <a:rPr lang="en-US" altLang="zh-CN" baseline="-25000" dirty="0">
                  <a:solidFill>
                    <a:srgbClr val="000000"/>
                  </a:solidFill>
                  <a:sym typeface="Symbol" pitchFamily="18" charset="2"/>
                </a:rPr>
                <a:t>4</a:t>
              </a:r>
              <a:r>
                <a:rPr lang="en-US" altLang="zh-CN" dirty="0">
                  <a:solidFill>
                    <a:srgbClr val="000000"/>
                  </a:solidFill>
                  <a:sym typeface="Symbol" pitchFamily="18" charset="2"/>
                </a:rPr>
                <a:t>+</a:t>
              </a:r>
              <a:r>
                <a:rPr lang="en-US" altLang="zh-CN" i="1" dirty="0">
                  <a:solidFill>
                    <a:srgbClr val="000000"/>
                  </a:solidFill>
                  <a:sym typeface="Symbol" pitchFamily="18" charset="2"/>
                </a:rPr>
                <a:t>v</a:t>
              </a:r>
              <a:r>
                <a:rPr lang="en-US" altLang="zh-CN" baseline="-25000" dirty="0">
                  <a:solidFill>
                    <a:srgbClr val="000000"/>
                  </a:solidFill>
                  <a:sym typeface="Symbol" pitchFamily="18" charset="2"/>
                </a:rPr>
                <a:t>S4</a:t>
              </a:r>
              <a:r>
                <a:rPr lang="en-US" altLang="zh-CN" dirty="0">
                  <a:solidFill>
                    <a:srgbClr val="000000"/>
                  </a:solidFill>
                  <a:sym typeface="Symbol" pitchFamily="18" charset="2"/>
                </a:rPr>
                <a:t>=0</a:t>
              </a:r>
            </a:p>
          </p:txBody>
        </p:sp>
      </p:grpSp>
    </p:spTree>
    <p:extLst>
      <p:ext uri="{BB962C8B-B14F-4D97-AF65-F5344CB8AC3E}">
        <p14:creationId xmlns:p14="http://schemas.microsoft.com/office/powerpoint/2010/main" val="40987088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5819"/>
                                        </p:tgtEl>
                                        <p:attrNameLst>
                                          <p:attrName>style.visibility</p:attrName>
                                        </p:attrNameLst>
                                      </p:cBhvr>
                                      <p:to>
                                        <p:strVal val="visible"/>
                                      </p:to>
                                    </p:set>
                                    <p:animEffect transition="in" filter="wipe(left)">
                                      <p:cBhvr>
                                        <p:cTn id="7" dur="500"/>
                                        <p:tgtEl>
                                          <p:spTgt spid="37581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75810"/>
                                        </p:tgtEl>
                                        <p:attrNameLst>
                                          <p:attrName>style.visibility</p:attrName>
                                        </p:attrNameLst>
                                      </p:cBhvr>
                                      <p:to>
                                        <p:strVal val="visible"/>
                                      </p:to>
                                    </p:set>
                                    <p:anim calcmode="lin" valueType="num">
                                      <p:cBhvr additive="base">
                                        <p:cTn id="12" dur="500" fill="hold"/>
                                        <p:tgtEl>
                                          <p:spTgt spid="375810"/>
                                        </p:tgtEl>
                                        <p:attrNameLst>
                                          <p:attrName>ppt_x</p:attrName>
                                        </p:attrNameLst>
                                      </p:cBhvr>
                                      <p:tavLst>
                                        <p:tav tm="0">
                                          <p:val>
                                            <p:strVal val="1+#ppt_w/2"/>
                                          </p:val>
                                        </p:tav>
                                        <p:tav tm="100000">
                                          <p:val>
                                            <p:strVal val="#ppt_x"/>
                                          </p:val>
                                        </p:tav>
                                      </p:tavLst>
                                    </p:anim>
                                    <p:anim calcmode="lin" valueType="num">
                                      <p:cBhvr additive="base">
                                        <p:cTn id="13" dur="500" fill="hold"/>
                                        <p:tgtEl>
                                          <p:spTgt spid="3758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75878"/>
                                        </p:tgtEl>
                                        <p:attrNameLst>
                                          <p:attrName>style.visibility</p:attrName>
                                        </p:attrNameLst>
                                      </p:cBhvr>
                                      <p:to>
                                        <p:strVal val="visible"/>
                                      </p:to>
                                    </p:set>
                                    <p:animEffect transition="in" filter="wipe(left)">
                                      <p:cBhvr>
                                        <p:cTn id="18" dur="500"/>
                                        <p:tgtEl>
                                          <p:spTgt spid="37587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75814"/>
                                        </p:tgtEl>
                                        <p:attrNameLst>
                                          <p:attrName>style.visibility</p:attrName>
                                        </p:attrNameLst>
                                      </p:cBhvr>
                                      <p:to>
                                        <p:strVal val="visible"/>
                                      </p:to>
                                    </p:set>
                                    <p:animEffect transition="in" filter="barn(inVertical)">
                                      <p:cBhvr>
                                        <p:cTn id="23" dur="500"/>
                                        <p:tgtEl>
                                          <p:spTgt spid="375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6834" name="Group 2"/>
          <p:cNvGrpSpPr>
            <a:grpSpLocks/>
          </p:cNvGrpSpPr>
          <p:nvPr/>
        </p:nvGrpSpPr>
        <p:grpSpPr bwMode="auto">
          <a:xfrm>
            <a:off x="0" y="2155825"/>
            <a:ext cx="3429000" cy="4052888"/>
            <a:chOff x="0" y="932"/>
            <a:chExt cx="2160" cy="2553"/>
          </a:xfrm>
        </p:grpSpPr>
        <p:grpSp>
          <p:nvGrpSpPr>
            <p:cNvPr id="87106" name="Group 3"/>
            <p:cNvGrpSpPr>
              <a:grpSpLocks/>
            </p:cNvGrpSpPr>
            <p:nvPr/>
          </p:nvGrpSpPr>
          <p:grpSpPr bwMode="auto">
            <a:xfrm>
              <a:off x="688" y="932"/>
              <a:ext cx="864" cy="1796"/>
              <a:chOff x="672" y="1200"/>
              <a:chExt cx="864" cy="1796"/>
            </a:xfrm>
          </p:grpSpPr>
          <p:sp>
            <p:nvSpPr>
              <p:cNvPr id="87108" name="Text Box 4"/>
              <p:cNvSpPr txBox="1">
                <a:spLocks noChangeArrowheads="1"/>
              </p:cNvSpPr>
              <p:nvPr/>
            </p:nvSpPr>
            <p:spPr bwMode="auto">
              <a:xfrm>
                <a:off x="1008" y="1200"/>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a:t>
                </a:r>
              </a:p>
            </p:txBody>
          </p:sp>
          <p:sp>
            <p:nvSpPr>
              <p:cNvPr id="87109" name="Text Box 5"/>
              <p:cNvSpPr txBox="1">
                <a:spLocks noChangeArrowheads="1"/>
              </p:cNvSpPr>
              <p:nvPr/>
            </p:nvSpPr>
            <p:spPr bwMode="auto">
              <a:xfrm>
                <a:off x="996" y="2708"/>
                <a:ext cx="15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B</a:t>
                </a:r>
              </a:p>
            </p:txBody>
          </p:sp>
          <p:sp>
            <p:nvSpPr>
              <p:cNvPr id="87110" name="Oval 6"/>
              <p:cNvSpPr>
                <a:spLocks noChangeArrowheads="1"/>
              </p:cNvSpPr>
              <p:nvPr/>
            </p:nvSpPr>
            <p:spPr bwMode="auto">
              <a:xfrm>
                <a:off x="912" y="1570"/>
                <a:ext cx="336" cy="1056"/>
              </a:xfrm>
              <a:prstGeom prst="ellipse">
                <a:avLst/>
              </a:prstGeom>
              <a:solidFill>
                <a:schemeClr val="bg1"/>
              </a:solidFill>
              <a:ln w="2857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7111" name="Line 7"/>
              <p:cNvSpPr>
                <a:spLocks noChangeShapeType="1"/>
              </p:cNvSpPr>
              <p:nvPr/>
            </p:nvSpPr>
            <p:spPr bwMode="auto">
              <a:xfrm>
                <a:off x="912" y="2146"/>
                <a:ext cx="0" cy="96"/>
              </a:xfrm>
              <a:prstGeom prst="line">
                <a:avLst/>
              </a:prstGeom>
              <a:noFill/>
              <a:ln w="127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112" name="Line 8"/>
              <p:cNvSpPr>
                <a:spLocks noChangeShapeType="1"/>
              </p:cNvSpPr>
              <p:nvPr/>
            </p:nvSpPr>
            <p:spPr bwMode="auto">
              <a:xfrm>
                <a:off x="1248" y="1954"/>
                <a:ext cx="0" cy="192"/>
              </a:xfrm>
              <a:prstGeom prst="line">
                <a:avLst/>
              </a:prstGeom>
              <a:noFill/>
              <a:ln w="127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113" name="Text Box 9"/>
              <p:cNvSpPr txBox="1">
                <a:spLocks noChangeArrowheads="1"/>
              </p:cNvSpPr>
              <p:nvPr/>
            </p:nvSpPr>
            <p:spPr bwMode="auto">
              <a:xfrm>
                <a:off x="996" y="2530"/>
                <a:ext cx="14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1600">
                    <a:solidFill>
                      <a:schemeClr val="tx2"/>
                    </a:solidFill>
                    <a:sym typeface="Symbol" pitchFamily="18" charset="2"/>
                  </a:rPr>
                  <a:t></a:t>
                </a:r>
              </a:p>
            </p:txBody>
          </p:sp>
          <p:sp>
            <p:nvSpPr>
              <p:cNvPr id="87114" name="Text Box 10"/>
              <p:cNvSpPr txBox="1">
                <a:spLocks noChangeArrowheads="1"/>
              </p:cNvSpPr>
              <p:nvPr/>
            </p:nvSpPr>
            <p:spPr bwMode="auto">
              <a:xfrm>
                <a:off x="1008" y="1454"/>
                <a:ext cx="14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1600">
                    <a:solidFill>
                      <a:schemeClr val="tx2"/>
                    </a:solidFill>
                    <a:sym typeface="Symbol" pitchFamily="18" charset="2"/>
                  </a:rPr>
                  <a:t></a:t>
                </a:r>
              </a:p>
            </p:txBody>
          </p:sp>
          <p:sp>
            <p:nvSpPr>
              <p:cNvPr id="87115" name="Text Box 11"/>
              <p:cNvSpPr txBox="1">
                <a:spLocks noChangeArrowheads="1"/>
              </p:cNvSpPr>
              <p:nvPr/>
            </p:nvSpPr>
            <p:spPr bwMode="auto">
              <a:xfrm>
                <a:off x="672" y="2050"/>
                <a:ext cx="2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FF0000"/>
                    </a:solidFill>
                    <a:sym typeface="Symbol" pitchFamily="18" charset="2"/>
                  </a:rPr>
                  <a:t>l</a:t>
                </a:r>
                <a:r>
                  <a:rPr lang="en-US" altLang="zh-CN" baseline="-25000">
                    <a:solidFill>
                      <a:srgbClr val="FF0000"/>
                    </a:solidFill>
                    <a:sym typeface="Symbol" pitchFamily="18" charset="2"/>
                  </a:rPr>
                  <a:t>1</a:t>
                </a:r>
                <a:endParaRPr lang="en-US" altLang="zh-CN">
                  <a:solidFill>
                    <a:schemeClr val="tx2"/>
                  </a:solidFill>
                  <a:sym typeface="Symbol" pitchFamily="18" charset="2"/>
                </a:endParaRPr>
              </a:p>
            </p:txBody>
          </p:sp>
          <p:sp>
            <p:nvSpPr>
              <p:cNvPr id="87116" name="Text Box 12"/>
              <p:cNvSpPr txBox="1">
                <a:spLocks noChangeArrowheads="1"/>
              </p:cNvSpPr>
              <p:nvPr/>
            </p:nvSpPr>
            <p:spPr bwMode="auto">
              <a:xfrm>
                <a:off x="1200" y="2050"/>
                <a:ext cx="3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339933"/>
                    </a:solidFill>
                    <a:sym typeface="Symbol" pitchFamily="18" charset="2"/>
                  </a:rPr>
                  <a:t>l</a:t>
                </a:r>
                <a:r>
                  <a:rPr lang="en-US" altLang="zh-CN" baseline="-25000">
                    <a:solidFill>
                      <a:srgbClr val="339933"/>
                    </a:solidFill>
                    <a:sym typeface="Symbol" pitchFamily="18" charset="2"/>
                  </a:rPr>
                  <a:t>2</a:t>
                </a:r>
                <a:endParaRPr lang="en-US" altLang="zh-CN">
                  <a:solidFill>
                    <a:schemeClr val="tx2"/>
                  </a:solidFill>
                  <a:sym typeface="Symbol" pitchFamily="18" charset="2"/>
                </a:endParaRPr>
              </a:p>
            </p:txBody>
          </p:sp>
        </p:grpSp>
        <p:sp>
          <p:nvSpPr>
            <p:cNvPr id="87107" name="Text Box 13"/>
            <p:cNvSpPr txBox="1">
              <a:spLocks noChangeArrowheads="1"/>
            </p:cNvSpPr>
            <p:nvPr/>
          </p:nvSpPr>
          <p:spPr bwMode="auto">
            <a:xfrm>
              <a:off x="0" y="2852"/>
              <a:ext cx="2160" cy="6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AB</a:t>
              </a:r>
              <a:r>
                <a:rPr lang="en-US" altLang="zh-CN">
                  <a:solidFill>
                    <a:schemeClr val="tx2"/>
                  </a:solidFill>
                  <a:sym typeface="Symbol" pitchFamily="18" charset="2"/>
                </a:rPr>
                <a:t> (</a:t>
              </a:r>
              <a:r>
                <a:rPr lang="zh-CN" altLang="zh-CN">
                  <a:solidFill>
                    <a:schemeClr val="tx2"/>
                  </a:solidFill>
                  <a:sym typeface="Symbol" pitchFamily="18" charset="2"/>
                </a:rPr>
                <a:t>沿</a:t>
              </a:r>
              <a:r>
                <a:rPr lang="en-US" altLang="zh-CN" i="1">
                  <a:solidFill>
                    <a:srgbClr val="FF0000"/>
                  </a:solidFill>
                  <a:sym typeface="Symbol" pitchFamily="18" charset="2"/>
                </a:rPr>
                <a:t>l</a:t>
              </a:r>
              <a:r>
                <a:rPr lang="en-US" altLang="zh-CN" baseline="-25000">
                  <a:solidFill>
                    <a:srgbClr val="FF0000"/>
                  </a:solidFill>
                  <a:sym typeface="Symbol" pitchFamily="18" charset="2"/>
                </a:rPr>
                <a:t>1</a:t>
              </a:r>
              <a:r>
                <a:rPr lang="en-US" altLang="zh-CN">
                  <a:solidFill>
                    <a:schemeClr val="tx2"/>
                  </a:solidFill>
                  <a:sym typeface="Symbol" pitchFamily="18" charset="2"/>
                </a:rPr>
                <a:t>)</a:t>
              </a:r>
              <a:r>
                <a:rPr lang="en-US" altLang="zh-CN" i="1">
                  <a:solidFill>
                    <a:schemeClr val="tx2"/>
                  </a:solidFill>
                  <a:sym typeface="Symbol" pitchFamily="18" charset="2"/>
                </a:rPr>
                <a:t>=v</a:t>
              </a:r>
              <a:r>
                <a:rPr lang="en-US" altLang="zh-CN" baseline="-25000">
                  <a:solidFill>
                    <a:schemeClr val="tx2"/>
                  </a:solidFill>
                  <a:sym typeface="Symbol" pitchFamily="18" charset="2"/>
                </a:rPr>
                <a:t>AB  </a:t>
              </a:r>
              <a:r>
                <a:rPr lang="en-US" altLang="zh-CN">
                  <a:solidFill>
                    <a:schemeClr val="tx2"/>
                  </a:solidFill>
                  <a:sym typeface="Symbol" pitchFamily="18" charset="2"/>
                </a:rPr>
                <a:t>(</a:t>
              </a:r>
              <a:r>
                <a:rPr lang="zh-CN" altLang="en-US">
                  <a:solidFill>
                    <a:schemeClr val="tx2"/>
                  </a:solidFill>
                  <a:sym typeface="Symbol" pitchFamily="18" charset="2"/>
                </a:rPr>
                <a:t>沿</a:t>
              </a:r>
              <a:r>
                <a:rPr lang="en-US" altLang="zh-CN" i="1">
                  <a:solidFill>
                    <a:srgbClr val="339933"/>
                  </a:solidFill>
                  <a:sym typeface="Symbol" pitchFamily="18" charset="2"/>
                </a:rPr>
                <a:t>l</a:t>
              </a:r>
              <a:r>
                <a:rPr lang="en-US" altLang="zh-CN" baseline="-25000">
                  <a:solidFill>
                    <a:srgbClr val="339933"/>
                  </a:solidFill>
                  <a:sym typeface="Symbol" pitchFamily="18" charset="2"/>
                </a:rPr>
                <a:t>2</a:t>
              </a:r>
              <a:r>
                <a:rPr lang="zh-CN" altLang="en-US">
                  <a:solidFill>
                    <a:schemeClr val="tx2"/>
                  </a:solidFill>
                  <a:sym typeface="Symbol" pitchFamily="18" charset="2"/>
                </a:rPr>
                <a:t>）</a:t>
              </a:r>
            </a:p>
            <a:p>
              <a:pPr algn="ctr">
                <a:spcBef>
                  <a:spcPct val="50000"/>
                </a:spcBef>
              </a:pPr>
              <a:r>
                <a:rPr lang="zh-CN" altLang="en-US">
                  <a:solidFill>
                    <a:schemeClr val="tx2"/>
                  </a:solidFill>
                  <a:sym typeface="Symbol" pitchFamily="18" charset="2"/>
                </a:rPr>
                <a:t>电位的单值性</a:t>
              </a:r>
            </a:p>
          </p:txBody>
        </p:sp>
      </p:grpSp>
      <p:sp>
        <p:nvSpPr>
          <p:cNvPr id="87043" name="Text Box 14"/>
          <p:cNvSpPr txBox="1">
            <a:spLocks noChangeArrowheads="1"/>
          </p:cNvSpPr>
          <p:nvPr/>
        </p:nvSpPr>
        <p:spPr bwMode="auto">
          <a:xfrm>
            <a:off x="609600" y="676275"/>
            <a:ext cx="7391400" cy="1187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952500" indent="-9525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50000"/>
              </a:lnSpc>
              <a:spcBef>
                <a:spcPct val="50000"/>
              </a:spcBef>
            </a:pPr>
            <a:r>
              <a:rPr lang="zh-CN" altLang="en-US" dirty="0">
                <a:solidFill>
                  <a:srgbClr val="FF0000"/>
                </a:solidFill>
              </a:rPr>
              <a:t>推论</a:t>
            </a:r>
            <a:r>
              <a:rPr lang="zh-CN" altLang="en-US" i="1" dirty="0">
                <a:solidFill>
                  <a:schemeClr val="tx2"/>
                </a:solidFill>
              </a:rPr>
              <a:t>：</a:t>
            </a:r>
            <a:r>
              <a:rPr lang="zh-CN" altLang="en-US" dirty="0">
                <a:solidFill>
                  <a:schemeClr val="tx2"/>
                </a:solidFill>
              </a:rPr>
              <a:t>电路中任意两点间的电压等于两点间任一条路径经过的各元件电压的代数和。</a:t>
            </a:r>
          </a:p>
        </p:txBody>
      </p:sp>
      <p:grpSp>
        <p:nvGrpSpPr>
          <p:cNvPr id="376847" name="Group 15"/>
          <p:cNvGrpSpPr>
            <a:grpSpLocks/>
          </p:cNvGrpSpPr>
          <p:nvPr/>
        </p:nvGrpSpPr>
        <p:grpSpPr bwMode="auto">
          <a:xfrm>
            <a:off x="3933825" y="2276475"/>
            <a:ext cx="3524250" cy="4392613"/>
            <a:chOff x="2528" y="837"/>
            <a:chExt cx="2220" cy="2767"/>
          </a:xfrm>
        </p:grpSpPr>
        <p:graphicFrame>
          <p:nvGraphicFramePr>
            <p:cNvPr id="87045" name="Object 16"/>
            <p:cNvGraphicFramePr>
              <a:graphicFrameLocks noChangeAspect="1"/>
            </p:cNvGraphicFramePr>
            <p:nvPr/>
          </p:nvGraphicFramePr>
          <p:xfrm>
            <a:off x="2959" y="3013"/>
            <a:ext cx="946" cy="280"/>
          </p:xfrm>
          <a:graphic>
            <a:graphicData uri="http://schemas.openxmlformats.org/presentationml/2006/ole">
              <mc:AlternateContent xmlns:mc="http://schemas.openxmlformats.org/markup-compatibility/2006">
                <mc:Choice xmlns:v="urn:schemas-microsoft-com:vml" Requires="v">
                  <p:oleObj spid="_x0000_s442382" name="Equation" r:id="rId3" imgW="676240" imgH="190564" progId="Equation.DSMT4">
                    <p:embed/>
                  </p:oleObj>
                </mc:Choice>
                <mc:Fallback>
                  <p:oleObj name="Equation" r:id="rId3" imgW="676240" imgH="190564"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9" y="3013"/>
                          <a:ext cx="94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6" name="Object 17"/>
            <p:cNvGraphicFramePr>
              <a:graphicFrameLocks noChangeAspect="1"/>
            </p:cNvGraphicFramePr>
            <p:nvPr/>
          </p:nvGraphicFramePr>
          <p:xfrm>
            <a:off x="3056" y="3348"/>
            <a:ext cx="1568" cy="256"/>
          </p:xfrm>
          <a:graphic>
            <a:graphicData uri="http://schemas.openxmlformats.org/presentationml/2006/ole">
              <mc:AlternateContent xmlns:mc="http://schemas.openxmlformats.org/markup-compatibility/2006">
                <mc:Choice xmlns:v="urn:schemas-microsoft-com:vml" Requires="v">
                  <p:oleObj spid="_x0000_s442383" name="Equation" r:id="rId5" imgW="1238334" imgH="190564" progId="Equation.DSMT4">
                    <p:embed/>
                  </p:oleObj>
                </mc:Choice>
                <mc:Fallback>
                  <p:oleObj name="Equation" r:id="rId5" imgW="1238334" imgH="19056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6" y="3348"/>
                          <a:ext cx="156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7047" name="Group 18"/>
            <p:cNvGrpSpPr>
              <a:grpSpLocks/>
            </p:cNvGrpSpPr>
            <p:nvPr/>
          </p:nvGrpSpPr>
          <p:grpSpPr bwMode="auto">
            <a:xfrm>
              <a:off x="2528" y="837"/>
              <a:ext cx="2220" cy="2054"/>
              <a:chOff x="96" y="1545"/>
              <a:chExt cx="2220" cy="2054"/>
            </a:xfrm>
          </p:grpSpPr>
          <p:sp>
            <p:nvSpPr>
              <p:cNvPr id="87053" name="Oval 19"/>
              <p:cNvSpPr>
                <a:spLocks noChangeArrowheads="1"/>
              </p:cNvSpPr>
              <p:nvPr/>
            </p:nvSpPr>
            <p:spPr bwMode="auto">
              <a:xfrm>
                <a:off x="756" y="3083"/>
                <a:ext cx="288" cy="288"/>
              </a:xfrm>
              <a:prstGeom prst="ellipse">
                <a:avLst/>
              </a:prstGeom>
              <a:solidFill>
                <a:srgbClr val="66FF33"/>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7054" name="Oval 20"/>
              <p:cNvSpPr>
                <a:spLocks noChangeArrowheads="1"/>
              </p:cNvSpPr>
              <p:nvPr/>
            </p:nvSpPr>
            <p:spPr bwMode="auto">
              <a:xfrm>
                <a:off x="444" y="2064"/>
                <a:ext cx="288" cy="288"/>
              </a:xfrm>
              <a:prstGeom prst="ellipse">
                <a:avLst/>
              </a:prstGeom>
              <a:solidFill>
                <a:srgbClr val="66FF33"/>
              </a:solid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7055" name="Line 21"/>
              <p:cNvSpPr>
                <a:spLocks noChangeShapeType="1"/>
              </p:cNvSpPr>
              <p:nvPr/>
            </p:nvSpPr>
            <p:spPr bwMode="auto">
              <a:xfrm>
                <a:off x="588" y="1919"/>
                <a:ext cx="124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56" name="Rectangle 22"/>
              <p:cNvSpPr>
                <a:spLocks noChangeArrowheads="1"/>
              </p:cNvSpPr>
              <p:nvPr/>
            </p:nvSpPr>
            <p:spPr bwMode="auto">
              <a:xfrm>
                <a:off x="1008" y="1835"/>
                <a:ext cx="384" cy="144"/>
              </a:xfrm>
              <a:prstGeom prst="rect">
                <a:avLst/>
              </a:prstGeom>
              <a:solidFill>
                <a:srgbClr val="CCFFCC"/>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7057" name="Line 23"/>
              <p:cNvSpPr>
                <a:spLocks noChangeShapeType="1"/>
              </p:cNvSpPr>
              <p:nvPr/>
            </p:nvSpPr>
            <p:spPr bwMode="auto">
              <a:xfrm>
                <a:off x="588" y="1919"/>
                <a:ext cx="0" cy="130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7058" name="Rectangle 24"/>
              <p:cNvSpPr>
                <a:spLocks noChangeArrowheads="1"/>
              </p:cNvSpPr>
              <p:nvPr/>
            </p:nvSpPr>
            <p:spPr bwMode="auto">
              <a:xfrm rot="-5400000">
                <a:off x="408" y="2664"/>
                <a:ext cx="384" cy="144"/>
              </a:xfrm>
              <a:prstGeom prst="rect">
                <a:avLst/>
              </a:prstGeom>
              <a:solidFill>
                <a:srgbClr val="CCFFCC"/>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7059" name="Line 25"/>
              <p:cNvSpPr>
                <a:spLocks noChangeShapeType="1"/>
              </p:cNvSpPr>
              <p:nvPr/>
            </p:nvSpPr>
            <p:spPr bwMode="auto">
              <a:xfrm>
                <a:off x="588" y="3224"/>
                <a:ext cx="124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60" name="Rectangle 26"/>
              <p:cNvSpPr>
                <a:spLocks noChangeArrowheads="1"/>
              </p:cNvSpPr>
              <p:nvPr/>
            </p:nvSpPr>
            <p:spPr bwMode="auto">
              <a:xfrm>
                <a:off x="1356" y="3150"/>
                <a:ext cx="384" cy="144"/>
              </a:xfrm>
              <a:prstGeom prst="rect">
                <a:avLst/>
              </a:prstGeom>
              <a:solidFill>
                <a:srgbClr val="CCFFCC"/>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7061" name="Line 27"/>
              <p:cNvSpPr>
                <a:spLocks noChangeShapeType="1"/>
              </p:cNvSpPr>
              <p:nvPr/>
            </p:nvSpPr>
            <p:spPr bwMode="auto">
              <a:xfrm>
                <a:off x="1836" y="1919"/>
                <a:ext cx="0" cy="130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62" name="Rectangle 28"/>
              <p:cNvSpPr>
                <a:spLocks noChangeArrowheads="1"/>
              </p:cNvSpPr>
              <p:nvPr/>
            </p:nvSpPr>
            <p:spPr bwMode="auto">
              <a:xfrm rot="-5400000">
                <a:off x="1644" y="2507"/>
                <a:ext cx="384" cy="144"/>
              </a:xfrm>
              <a:prstGeom prst="rect">
                <a:avLst/>
              </a:prstGeom>
              <a:solidFill>
                <a:srgbClr val="CCFFCC"/>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7063" name="Line 29"/>
              <p:cNvSpPr>
                <a:spLocks noChangeShapeType="1"/>
              </p:cNvSpPr>
              <p:nvPr/>
            </p:nvSpPr>
            <p:spPr bwMode="auto">
              <a:xfrm>
                <a:off x="1836" y="3222"/>
                <a:ext cx="348" cy="23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7064" name="Line 30"/>
              <p:cNvSpPr>
                <a:spLocks noChangeShapeType="1"/>
              </p:cNvSpPr>
              <p:nvPr/>
            </p:nvSpPr>
            <p:spPr bwMode="auto">
              <a:xfrm flipV="1">
                <a:off x="1824" y="1663"/>
                <a:ext cx="420" cy="25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65" name="Line 31"/>
              <p:cNvSpPr>
                <a:spLocks noChangeShapeType="1"/>
              </p:cNvSpPr>
              <p:nvPr/>
            </p:nvSpPr>
            <p:spPr bwMode="auto">
              <a:xfrm flipH="1">
                <a:off x="240" y="3222"/>
                <a:ext cx="336" cy="209"/>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66" name="Line 32"/>
              <p:cNvSpPr>
                <a:spLocks noChangeShapeType="1"/>
              </p:cNvSpPr>
              <p:nvPr/>
            </p:nvSpPr>
            <p:spPr bwMode="auto">
              <a:xfrm>
                <a:off x="240" y="1632"/>
                <a:ext cx="348" cy="2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7067" name="Line 33"/>
              <p:cNvSpPr>
                <a:spLocks noChangeShapeType="1"/>
              </p:cNvSpPr>
              <p:nvPr/>
            </p:nvSpPr>
            <p:spPr bwMode="auto">
              <a:xfrm>
                <a:off x="588" y="2945"/>
                <a:ext cx="0" cy="271"/>
              </a:xfrm>
              <a:prstGeom prst="line">
                <a:avLst/>
              </a:prstGeom>
              <a:noFill/>
              <a:ln w="1270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68" name="Line 34"/>
              <p:cNvSpPr>
                <a:spLocks noChangeShapeType="1"/>
              </p:cNvSpPr>
              <p:nvPr/>
            </p:nvSpPr>
            <p:spPr bwMode="auto">
              <a:xfrm flipH="1" flipV="1">
                <a:off x="1116" y="3222"/>
                <a:ext cx="240" cy="2"/>
              </a:xfrm>
              <a:prstGeom prst="line">
                <a:avLst/>
              </a:prstGeom>
              <a:noFill/>
              <a:ln w="1270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69" name="Line 35"/>
              <p:cNvSpPr>
                <a:spLocks noChangeShapeType="1"/>
              </p:cNvSpPr>
              <p:nvPr/>
            </p:nvSpPr>
            <p:spPr bwMode="auto">
              <a:xfrm>
                <a:off x="1548" y="1919"/>
                <a:ext cx="192" cy="0"/>
              </a:xfrm>
              <a:prstGeom prst="line">
                <a:avLst/>
              </a:prstGeom>
              <a:noFill/>
              <a:ln w="1270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70" name="Line 36"/>
              <p:cNvSpPr>
                <a:spLocks noChangeShapeType="1"/>
              </p:cNvSpPr>
              <p:nvPr/>
            </p:nvSpPr>
            <p:spPr bwMode="auto">
              <a:xfrm flipV="1">
                <a:off x="1836" y="2879"/>
                <a:ext cx="0" cy="271"/>
              </a:xfrm>
              <a:prstGeom prst="line">
                <a:avLst/>
              </a:prstGeom>
              <a:noFill/>
              <a:ln w="12700">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7071" name="Text Box 37"/>
              <p:cNvSpPr txBox="1">
                <a:spLocks noChangeArrowheads="1"/>
              </p:cNvSpPr>
              <p:nvPr/>
            </p:nvSpPr>
            <p:spPr bwMode="auto">
              <a:xfrm>
                <a:off x="288" y="2928"/>
                <a:ext cx="3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87072" name="Text Box 38"/>
              <p:cNvSpPr txBox="1">
                <a:spLocks noChangeArrowheads="1"/>
              </p:cNvSpPr>
              <p:nvPr/>
            </p:nvSpPr>
            <p:spPr bwMode="auto">
              <a:xfrm>
                <a:off x="240" y="1884"/>
                <a:ext cx="2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87073" name="Text Box 39"/>
              <p:cNvSpPr txBox="1">
                <a:spLocks noChangeArrowheads="1"/>
              </p:cNvSpPr>
              <p:nvPr/>
            </p:nvSpPr>
            <p:spPr bwMode="auto">
              <a:xfrm>
                <a:off x="96" y="2076"/>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S1</a:t>
                </a:r>
                <a:endParaRPr lang="en-US" altLang="zh-CN">
                  <a:solidFill>
                    <a:schemeClr val="tx2"/>
                  </a:solidFill>
                  <a:sym typeface="Symbol" pitchFamily="18" charset="2"/>
                </a:endParaRPr>
              </a:p>
            </p:txBody>
          </p:sp>
          <p:sp>
            <p:nvSpPr>
              <p:cNvPr id="87074" name="Text Box 40"/>
              <p:cNvSpPr txBox="1">
                <a:spLocks noChangeArrowheads="1"/>
              </p:cNvSpPr>
              <p:nvPr/>
            </p:nvSpPr>
            <p:spPr bwMode="auto">
              <a:xfrm>
                <a:off x="108" y="2592"/>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87075" name="Text Box 41"/>
              <p:cNvSpPr txBox="1">
                <a:spLocks noChangeArrowheads="1"/>
              </p:cNvSpPr>
              <p:nvPr/>
            </p:nvSpPr>
            <p:spPr bwMode="auto">
              <a:xfrm>
                <a:off x="972" y="2928"/>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4</a:t>
                </a:r>
                <a:endParaRPr lang="en-US" altLang="zh-CN" i="1">
                  <a:solidFill>
                    <a:schemeClr val="tx2"/>
                  </a:solidFill>
                  <a:sym typeface="Symbol" pitchFamily="18" charset="2"/>
                </a:endParaRPr>
              </a:p>
            </p:txBody>
          </p:sp>
          <p:sp>
            <p:nvSpPr>
              <p:cNvPr id="87076" name="Text Box 42"/>
              <p:cNvSpPr txBox="1">
                <a:spLocks noChangeArrowheads="1"/>
              </p:cNvSpPr>
              <p:nvPr/>
            </p:nvSpPr>
            <p:spPr bwMode="auto">
              <a:xfrm>
                <a:off x="540" y="3215"/>
                <a:ext cx="1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87077" name="Text Box 43"/>
              <p:cNvSpPr txBox="1">
                <a:spLocks noChangeArrowheads="1"/>
              </p:cNvSpPr>
              <p:nvPr/>
            </p:nvSpPr>
            <p:spPr bwMode="auto">
              <a:xfrm>
                <a:off x="924" y="3311"/>
                <a:ext cx="3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ym typeface="Symbol" pitchFamily="18" charset="2"/>
                  </a:rPr>
                  <a:t>+</a:t>
                </a:r>
                <a:endParaRPr lang="en-US" altLang="zh-CN">
                  <a:solidFill>
                    <a:schemeClr val="tx2"/>
                  </a:solidFill>
                  <a:sym typeface="Symbol" pitchFamily="18" charset="2"/>
                </a:endParaRPr>
              </a:p>
            </p:txBody>
          </p:sp>
          <p:sp>
            <p:nvSpPr>
              <p:cNvPr id="87078" name="Text Box 44"/>
              <p:cNvSpPr txBox="1">
                <a:spLocks noChangeArrowheads="1"/>
              </p:cNvSpPr>
              <p:nvPr/>
            </p:nvSpPr>
            <p:spPr bwMode="auto">
              <a:xfrm>
                <a:off x="684" y="3311"/>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S4</a:t>
                </a:r>
                <a:endParaRPr lang="en-US" altLang="zh-CN">
                  <a:solidFill>
                    <a:schemeClr val="tx2"/>
                  </a:solidFill>
                  <a:sym typeface="Symbol" pitchFamily="18" charset="2"/>
                </a:endParaRPr>
              </a:p>
            </p:txBody>
          </p:sp>
          <p:sp>
            <p:nvSpPr>
              <p:cNvPr id="87079" name="Text Box 45"/>
              <p:cNvSpPr txBox="1">
                <a:spLocks noChangeArrowheads="1"/>
              </p:cNvSpPr>
              <p:nvPr/>
            </p:nvSpPr>
            <p:spPr bwMode="auto">
              <a:xfrm>
                <a:off x="1392" y="3264"/>
                <a:ext cx="3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baseline="-25000">
                    <a:solidFill>
                      <a:schemeClr val="tx2"/>
                    </a:solidFill>
                    <a:sym typeface="Symbol" pitchFamily="18" charset="2"/>
                  </a:rPr>
                  <a:t>4</a:t>
                </a:r>
                <a:endParaRPr lang="en-US" altLang="zh-CN" i="1">
                  <a:solidFill>
                    <a:schemeClr val="tx2"/>
                  </a:solidFill>
                  <a:sym typeface="Symbol" pitchFamily="18" charset="2"/>
                </a:endParaRPr>
              </a:p>
            </p:txBody>
          </p:sp>
          <p:sp>
            <p:nvSpPr>
              <p:cNvPr id="87080" name="Text Box 46"/>
              <p:cNvSpPr txBox="1">
                <a:spLocks noChangeArrowheads="1"/>
              </p:cNvSpPr>
              <p:nvPr/>
            </p:nvSpPr>
            <p:spPr bwMode="auto">
              <a:xfrm>
                <a:off x="1812" y="2861"/>
                <a:ext cx="36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3</a:t>
                </a:r>
                <a:endParaRPr lang="en-US" altLang="zh-CN">
                  <a:solidFill>
                    <a:schemeClr val="tx2"/>
                  </a:solidFill>
                  <a:sym typeface="Symbol" pitchFamily="18" charset="2"/>
                </a:endParaRPr>
              </a:p>
            </p:txBody>
          </p:sp>
          <p:sp>
            <p:nvSpPr>
              <p:cNvPr id="87081" name="Text Box 47"/>
              <p:cNvSpPr txBox="1">
                <a:spLocks noChangeArrowheads="1"/>
              </p:cNvSpPr>
              <p:nvPr/>
            </p:nvSpPr>
            <p:spPr bwMode="auto">
              <a:xfrm>
                <a:off x="1884" y="2447"/>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baseline="-25000">
                    <a:solidFill>
                      <a:schemeClr val="tx2"/>
                    </a:solidFill>
                    <a:sym typeface="Symbol" pitchFamily="18" charset="2"/>
                  </a:rPr>
                  <a:t>3</a:t>
                </a:r>
                <a:endParaRPr lang="en-US" altLang="zh-CN">
                  <a:solidFill>
                    <a:schemeClr val="tx2"/>
                  </a:solidFill>
                  <a:sym typeface="Symbol" pitchFamily="18" charset="2"/>
                </a:endParaRPr>
              </a:p>
            </p:txBody>
          </p:sp>
          <p:sp>
            <p:nvSpPr>
              <p:cNvPr id="87082" name="Text Box 48"/>
              <p:cNvSpPr txBox="1">
                <a:spLocks noChangeArrowheads="1"/>
              </p:cNvSpPr>
              <p:nvPr/>
            </p:nvSpPr>
            <p:spPr bwMode="auto">
              <a:xfrm>
                <a:off x="1008" y="1545"/>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baseline="-25000">
                    <a:solidFill>
                      <a:schemeClr val="tx2"/>
                    </a:solidFill>
                    <a:sym typeface="Symbol" pitchFamily="18" charset="2"/>
                  </a:rPr>
                  <a:t>2</a:t>
                </a:r>
                <a:endParaRPr lang="en-US" altLang="zh-CN" i="1">
                  <a:solidFill>
                    <a:schemeClr val="tx2"/>
                  </a:solidFill>
                  <a:sym typeface="Symbol" pitchFamily="18" charset="2"/>
                </a:endParaRPr>
              </a:p>
            </p:txBody>
          </p:sp>
          <p:sp>
            <p:nvSpPr>
              <p:cNvPr id="87083" name="Text Box 49"/>
              <p:cNvSpPr txBox="1">
                <a:spLocks noChangeArrowheads="1"/>
              </p:cNvSpPr>
              <p:nvPr/>
            </p:nvSpPr>
            <p:spPr bwMode="auto">
              <a:xfrm>
                <a:off x="1548" y="1598"/>
                <a:ext cx="3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i="1">
                  <a:solidFill>
                    <a:schemeClr val="tx2"/>
                  </a:solidFill>
                  <a:sym typeface="Symbol" pitchFamily="18" charset="2"/>
                </a:endParaRPr>
              </a:p>
            </p:txBody>
          </p:sp>
          <p:sp>
            <p:nvSpPr>
              <p:cNvPr id="87084" name="Text Box 50"/>
              <p:cNvSpPr txBox="1">
                <a:spLocks noChangeArrowheads="1"/>
              </p:cNvSpPr>
              <p:nvPr/>
            </p:nvSpPr>
            <p:spPr bwMode="auto">
              <a:xfrm>
                <a:off x="216" y="2159"/>
                <a:ext cx="2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endParaRPr lang="zh-CN" altLang="zh-CN">
                  <a:solidFill>
                    <a:schemeClr val="tx2"/>
                  </a:solidFill>
                  <a:sym typeface="Symbol" pitchFamily="18" charset="2"/>
                </a:endParaRPr>
              </a:p>
            </p:txBody>
          </p:sp>
          <p:sp>
            <p:nvSpPr>
              <p:cNvPr id="87085" name="Text Box 51"/>
              <p:cNvSpPr txBox="1">
                <a:spLocks noChangeArrowheads="1"/>
              </p:cNvSpPr>
              <p:nvPr/>
            </p:nvSpPr>
            <p:spPr bwMode="auto">
              <a:xfrm>
                <a:off x="240" y="2208"/>
                <a:ext cx="1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87086" name="Text Box 52"/>
              <p:cNvSpPr txBox="1">
                <a:spLocks noChangeArrowheads="1"/>
              </p:cNvSpPr>
              <p:nvPr/>
            </p:nvSpPr>
            <p:spPr bwMode="auto">
              <a:xfrm>
                <a:off x="1492" y="2499"/>
                <a:ext cx="2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sz="1400">
                    <a:solidFill>
                      <a:srgbClr val="FF0000"/>
                    </a:solidFill>
                    <a:sym typeface="Symbol" pitchFamily="18" charset="2"/>
                  </a:rPr>
                  <a:t>3</a:t>
                </a:r>
                <a:endParaRPr lang="en-US" altLang="zh-CN" i="1">
                  <a:solidFill>
                    <a:srgbClr val="FF0000"/>
                  </a:solidFill>
                  <a:sym typeface="Symbol" pitchFamily="18" charset="2"/>
                </a:endParaRPr>
              </a:p>
            </p:txBody>
          </p:sp>
          <p:sp>
            <p:nvSpPr>
              <p:cNvPr id="87087" name="Text Box 53"/>
              <p:cNvSpPr txBox="1">
                <a:spLocks noChangeArrowheads="1"/>
              </p:cNvSpPr>
              <p:nvPr/>
            </p:nvSpPr>
            <p:spPr bwMode="auto">
              <a:xfrm>
                <a:off x="664" y="2631"/>
                <a:ext cx="2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sz="1400">
                    <a:solidFill>
                      <a:srgbClr val="FF0000"/>
                    </a:solidFill>
                    <a:sym typeface="Symbol" pitchFamily="18" charset="2"/>
                  </a:rPr>
                  <a:t>1</a:t>
                </a:r>
                <a:endParaRPr lang="en-US" altLang="zh-CN" i="1">
                  <a:solidFill>
                    <a:srgbClr val="FF0000"/>
                  </a:solidFill>
                  <a:sym typeface="Symbol" pitchFamily="18" charset="2"/>
                </a:endParaRPr>
              </a:p>
            </p:txBody>
          </p:sp>
          <p:sp>
            <p:nvSpPr>
              <p:cNvPr id="87088" name="Line 54"/>
              <p:cNvSpPr>
                <a:spLocks noChangeShapeType="1"/>
              </p:cNvSpPr>
              <p:nvPr/>
            </p:nvSpPr>
            <p:spPr bwMode="auto">
              <a:xfrm flipV="1">
                <a:off x="1368" y="2077"/>
                <a:ext cx="1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7089" name="Group 55"/>
              <p:cNvGrpSpPr>
                <a:grpSpLocks/>
              </p:cNvGrpSpPr>
              <p:nvPr/>
            </p:nvGrpSpPr>
            <p:grpSpPr bwMode="auto">
              <a:xfrm>
                <a:off x="885" y="2013"/>
                <a:ext cx="112" cy="104"/>
                <a:chOff x="3303" y="1716"/>
                <a:chExt cx="168" cy="168"/>
              </a:xfrm>
            </p:grpSpPr>
            <p:sp>
              <p:nvSpPr>
                <p:cNvPr id="87104" name="Line 56"/>
                <p:cNvSpPr>
                  <a:spLocks noChangeShapeType="1"/>
                </p:cNvSpPr>
                <p:nvPr/>
              </p:nvSpPr>
              <p:spPr bwMode="auto">
                <a:xfrm>
                  <a:off x="3303" y="1812"/>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5" name="Line 57"/>
                <p:cNvSpPr>
                  <a:spLocks noChangeShapeType="1"/>
                </p:cNvSpPr>
                <p:nvPr/>
              </p:nvSpPr>
              <p:spPr bwMode="auto">
                <a:xfrm rot="-5400000">
                  <a:off x="3303" y="1800"/>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7090" name="Text Box 58"/>
              <p:cNvSpPr txBox="1">
                <a:spLocks noChangeArrowheads="1"/>
              </p:cNvSpPr>
              <p:nvPr/>
            </p:nvSpPr>
            <p:spPr bwMode="auto">
              <a:xfrm>
                <a:off x="1037" y="1931"/>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sz="1400">
                    <a:solidFill>
                      <a:srgbClr val="FF0000"/>
                    </a:solidFill>
                    <a:sym typeface="Symbol" pitchFamily="18" charset="2"/>
                  </a:rPr>
                  <a:t>2</a:t>
                </a:r>
                <a:endParaRPr lang="en-US" altLang="zh-CN" i="1">
                  <a:solidFill>
                    <a:srgbClr val="FF0000"/>
                  </a:solidFill>
                  <a:sym typeface="Symbol" pitchFamily="18" charset="2"/>
                </a:endParaRPr>
              </a:p>
            </p:txBody>
          </p:sp>
          <p:sp>
            <p:nvSpPr>
              <p:cNvPr id="87091" name="Text Box 59"/>
              <p:cNvSpPr txBox="1">
                <a:spLocks noChangeArrowheads="1"/>
              </p:cNvSpPr>
              <p:nvPr/>
            </p:nvSpPr>
            <p:spPr bwMode="auto">
              <a:xfrm>
                <a:off x="1381" y="2895"/>
                <a:ext cx="3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sz="1400">
                    <a:solidFill>
                      <a:srgbClr val="FF0000"/>
                    </a:solidFill>
                    <a:sym typeface="Symbol" pitchFamily="18" charset="2"/>
                  </a:rPr>
                  <a:t>4</a:t>
                </a:r>
                <a:endParaRPr lang="en-US" altLang="zh-CN" i="1">
                  <a:solidFill>
                    <a:srgbClr val="FF0000"/>
                  </a:solidFill>
                  <a:sym typeface="Symbol" pitchFamily="18" charset="2"/>
                </a:endParaRPr>
              </a:p>
            </p:txBody>
          </p:sp>
          <p:grpSp>
            <p:nvGrpSpPr>
              <p:cNvPr id="87092" name="Group 60"/>
              <p:cNvGrpSpPr>
                <a:grpSpLocks/>
              </p:cNvGrpSpPr>
              <p:nvPr/>
            </p:nvGrpSpPr>
            <p:grpSpPr bwMode="auto">
              <a:xfrm>
                <a:off x="725" y="2517"/>
                <a:ext cx="112" cy="104"/>
                <a:chOff x="3303" y="1716"/>
                <a:chExt cx="168" cy="168"/>
              </a:xfrm>
            </p:grpSpPr>
            <p:sp>
              <p:nvSpPr>
                <p:cNvPr id="87102" name="Line 61"/>
                <p:cNvSpPr>
                  <a:spLocks noChangeShapeType="1"/>
                </p:cNvSpPr>
                <p:nvPr/>
              </p:nvSpPr>
              <p:spPr bwMode="auto">
                <a:xfrm>
                  <a:off x="3303" y="1812"/>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3" name="Line 62"/>
                <p:cNvSpPr>
                  <a:spLocks noChangeShapeType="1"/>
                </p:cNvSpPr>
                <p:nvPr/>
              </p:nvSpPr>
              <p:spPr bwMode="auto">
                <a:xfrm rot="-5400000">
                  <a:off x="3303" y="1800"/>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93" name="Group 63"/>
              <p:cNvGrpSpPr>
                <a:grpSpLocks/>
              </p:cNvGrpSpPr>
              <p:nvPr/>
            </p:nvGrpSpPr>
            <p:grpSpPr bwMode="auto">
              <a:xfrm>
                <a:off x="1645" y="2989"/>
                <a:ext cx="112" cy="104"/>
                <a:chOff x="3303" y="1716"/>
                <a:chExt cx="168" cy="168"/>
              </a:xfrm>
            </p:grpSpPr>
            <p:sp>
              <p:nvSpPr>
                <p:cNvPr id="87100" name="Line 64"/>
                <p:cNvSpPr>
                  <a:spLocks noChangeShapeType="1"/>
                </p:cNvSpPr>
                <p:nvPr/>
              </p:nvSpPr>
              <p:spPr bwMode="auto">
                <a:xfrm>
                  <a:off x="3303" y="1812"/>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1" name="Line 65"/>
                <p:cNvSpPr>
                  <a:spLocks noChangeShapeType="1"/>
                </p:cNvSpPr>
                <p:nvPr/>
              </p:nvSpPr>
              <p:spPr bwMode="auto">
                <a:xfrm rot="-5400000">
                  <a:off x="3303" y="1800"/>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94" name="Group 66"/>
              <p:cNvGrpSpPr>
                <a:grpSpLocks/>
              </p:cNvGrpSpPr>
              <p:nvPr/>
            </p:nvGrpSpPr>
            <p:grpSpPr bwMode="auto">
              <a:xfrm>
                <a:off x="1565" y="2349"/>
                <a:ext cx="112" cy="104"/>
                <a:chOff x="3303" y="1716"/>
                <a:chExt cx="168" cy="168"/>
              </a:xfrm>
            </p:grpSpPr>
            <p:sp>
              <p:nvSpPr>
                <p:cNvPr id="87098" name="Line 67"/>
                <p:cNvSpPr>
                  <a:spLocks noChangeShapeType="1"/>
                </p:cNvSpPr>
                <p:nvPr/>
              </p:nvSpPr>
              <p:spPr bwMode="auto">
                <a:xfrm>
                  <a:off x="3303" y="1812"/>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9" name="Line 68"/>
                <p:cNvSpPr>
                  <a:spLocks noChangeShapeType="1"/>
                </p:cNvSpPr>
                <p:nvPr/>
              </p:nvSpPr>
              <p:spPr bwMode="auto">
                <a:xfrm rot="-5400000">
                  <a:off x="3303" y="1800"/>
                  <a:ext cx="16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7095" name="Line 69"/>
              <p:cNvSpPr>
                <a:spLocks noChangeShapeType="1"/>
              </p:cNvSpPr>
              <p:nvPr/>
            </p:nvSpPr>
            <p:spPr bwMode="auto">
              <a:xfrm flipV="1">
                <a:off x="1568" y="2805"/>
                <a:ext cx="1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6" name="Line 70"/>
              <p:cNvSpPr>
                <a:spLocks noChangeShapeType="1"/>
              </p:cNvSpPr>
              <p:nvPr/>
            </p:nvSpPr>
            <p:spPr bwMode="auto">
              <a:xfrm flipV="1">
                <a:off x="728" y="2933"/>
                <a:ext cx="1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7" name="Line 71"/>
              <p:cNvSpPr>
                <a:spLocks noChangeShapeType="1"/>
              </p:cNvSpPr>
              <p:nvPr/>
            </p:nvSpPr>
            <p:spPr bwMode="auto">
              <a:xfrm flipV="1">
                <a:off x="1296" y="3045"/>
                <a:ext cx="10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48" name="Group 72"/>
            <p:cNvGrpSpPr>
              <a:grpSpLocks/>
            </p:cNvGrpSpPr>
            <p:nvPr/>
          </p:nvGrpSpPr>
          <p:grpSpPr bwMode="auto">
            <a:xfrm>
              <a:off x="2905" y="908"/>
              <a:ext cx="1497" cy="1936"/>
              <a:chOff x="3001" y="1176"/>
              <a:chExt cx="1497" cy="1936"/>
            </a:xfrm>
          </p:grpSpPr>
          <p:sp>
            <p:nvSpPr>
              <p:cNvPr id="87049" name="Text Box 73"/>
              <p:cNvSpPr txBox="1">
                <a:spLocks noChangeArrowheads="1"/>
              </p:cNvSpPr>
              <p:nvPr/>
            </p:nvSpPr>
            <p:spPr bwMode="auto">
              <a:xfrm>
                <a:off x="3001" y="1176"/>
                <a:ext cx="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0000"/>
                    </a:solidFill>
                    <a:sym typeface="Symbol" pitchFamily="18" charset="2"/>
                  </a:rPr>
                  <a:t>A</a:t>
                </a:r>
              </a:p>
            </p:txBody>
          </p:sp>
          <p:sp>
            <p:nvSpPr>
              <p:cNvPr id="87050" name="Text Box 74"/>
              <p:cNvSpPr txBox="1">
                <a:spLocks noChangeArrowheads="1"/>
              </p:cNvSpPr>
              <p:nvPr/>
            </p:nvSpPr>
            <p:spPr bwMode="auto">
              <a:xfrm>
                <a:off x="4254" y="2824"/>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0000"/>
                    </a:solidFill>
                    <a:sym typeface="Symbol" pitchFamily="18" charset="2"/>
                  </a:rPr>
                  <a:t>B</a:t>
                </a:r>
              </a:p>
            </p:txBody>
          </p:sp>
          <p:sp>
            <p:nvSpPr>
              <p:cNvPr id="87051" name="Oval 75"/>
              <p:cNvSpPr>
                <a:spLocks noChangeArrowheads="1"/>
              </p:cNvSpPr>
              <p:nvPr/>
            </p:nvSpPr>
            <p:spPr bwMode="auto">
              <a:xfrm>
                <a:off x="4344" y="2744"/>
                <a:ext cx="80" cy="80"/>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87052" name="Oval 76"/>
              <p:cNvSpPr>
                <a:spLocks noChangeArrowheads="1"/>
              </p:cNvSpPr>
              <p:nvPr/>
            </p:nvSpPr>
            <p:spPr bwMode="auto">
              <a:xfrm>
                <a:off x="3080" y="1424"/>
                <a:ext cx="80" cy="80"/>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sp>
        <p:nvSpPr>
          <p:cNvPr id="77" name="Text Box 2"/>
          <p:cNvSpPr txBox="1">
            <a:spLocks noChangeArrowheads="1"/>
          </p:cNvSpPr>
          <p:nvPr/>
        </p:nvSpPr>
        <p:spPr bwMode="auto">
          <a:xfrm>
            <a:off x="679450" y="222250"/>
            <a:ext cx="58023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a:solidFill>
                  <a:srgbClr val="0000D0"/>
                </a:solidFill>
                <a:sym typeface="Symbol" pitchFamily="18" charset="2"/>
              </a:rPr>
              <a:t>物理</a:t>
            </a:r>
            <a:r>
              <a:rPr lang="zh-CN" altLang="en-US" dirty="0" smtClean="0">
                <a:solidFill>
                  <a:srgbClr val="0000D0"/>
                </a:solidFill>
                <a:sym typeface="Symbol" pitchFamily="18" charset="2"/>
              </a:rPr>
              <a:t>基础：</a:t>
            </a:r>
            <a:r>
              <a:rPr lang="zh-CN" altLang="en-US" dirty="0" smtClean="0">
                <a:solidFill>
                  <a:schemeClr val="tx2"/>
                </a:solidFill>
                <a:sym typeface="Symbol" pitchFamily="18" charset="2"/>
              </a:rPr>
              <a:t>能量守恒。</a:t>
            </a:r>
            <a:endParaRPr lang="zh-CN" altLang="en-US" dirty="0">
              <a:solidFill>
                <a:schemeClr val="tx2"/>
              </a:solidFill>
              <a:sym typeface="Symbol" pitchFamily="18" charset="2"/>
            </a:endParaRPr>
          </a:p>
        </p:txBody>
      </p:sp>
    </p:spTree>
    <p:extLst>
      <p:ext uri="{BB962C8B-B14F-4D97-AF65-F5344CB8AC3E}">
        <p14:creationId xmlns:p14="http://schemas.microsoft.com/office/powerpoint/2010/main" val="3052379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7043"/>
                                        </p:tgtEl>
                                        <p:attrNameLst>
                                          <p:attrName>style.visibility</p:attrName>
                                        </p:attrNameLst>
                                      </p:cBhvr>
                                      <p:to>
                                        <p:strVal val="visible"/>
                                      </p:to>
                                    </p:set>
                                    <p:animEffect transition="in" filter="barn(inVertical)">
                                      <p:cBhvr>
                                        <p:cTn id="7" dur="500"/>
                                        <p:tgtEl>
                                          <p:spTgt spid="870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6834"/>
                                        </p:tgtEl>
                                        <p:attrNameLst>
                                          <p:attrName>style.visibility</p:attrName>
                                        </p:attrNameLst>
                                      </p:cBhvr>
                                      <p:to>
                                        <p:strVal val="visible"/>
                                      </p:to>
                                    </p:set>
                                    <p:animEffect transition="in" filter="wipe(left)">
                                      <p:cBhvr>
                                        <p:cTn id="12" dur="500"/>
                                        <p:tgtEl>
                                          <p:spTgt spid="3768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6847"/>
                                        </p:tgtEl>
                                        <p:attrNameLst>
                                          <p:attrName>style.visibility</p:attrName>
                                        </p:attrNameLst>
                                      </p:cBhvr>
                                      <p:to>
                                        <p:strVal val="visible"/>
                                      </p:to>
                                    </p:set>
                                    <p:animEffect transition="in" filter="wipe(left)">
                                      <p:cBhvr>
                                        <p:cTn id="17" dur="500"/>
                                        <p:tgtEl>
                                          <p:spTgt spid="376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4" name="Rectangle 64"/>
          <p:cNvSpPr>
            <a:spLocks noChangeArrowheads="1"/>
          </p:cNvSpPr>
          <p:nvPr/>
        </p:nvSpPr>
        <p:spPr bwMode="auto">
          <a:xfrm>
            <a:off x="666750" y="409575"/>
            <a:ext cx="7515225" cy="519113"/>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pPr eaLnBrk="0" hangingPunct="0"/>
            <a:r>
              <a:rPr lang="en-US" altLang="zh-CN" sz="2800" dirty="0" smtClean="0">
                <a:solidFill>
                  <a:schemeClr val="tx2"/>
                </a:solidFill>
              </a:rPr>
              <a:t>2.3  </a:t>
            </a:r>
            <a:r>
              <a:rPr lang="zh-CN" altLang="en-US" sz="2800" dirty="0">
                <a:solidFill>
                  <a:schemeClr val="tx2"/>
                </a:solidFill>
              </a:rPr>
              <a:t>电阻电路</a:t>
            </a:r>
            <a:r>
              <a:rPr lang="zh-CN" altLang="en-US" sz="2800" dirty="0" smtClean="0">
                <a:solidFill>
                  <a:schemeClr val="tx2"/>
                </a:solidFill>
              </a:rPr>
              <a:t>的等效变换</a:t>
            </a:r>
            <a:endParaRPr lang="zh-CN" altLang="en-US" sz="2800" dirty="0">
              <a:solidFill>
                <a:schemeClr val="tx2"/>
              </a:solidFill>
            </a:endParaRPr>
          </a:p>
        </p:txBody>
      </p:sp>
      <p:sp>
        <p:nvSpPr>
          <p:cNvPr id="235585" name="Text Box 65"/>
          <p:cNvSpPr txBox="1">
            <a:spLocks noChangeArrowheads="1"/>
          </p:cNvSpPr>
          <p:nvPr/>
        </p:nvSpPr>
        <p:spPr bwMode="auto">
          <a:xfrm>
            <a:off x="388938" y="1239193"/>
            <a:ext cx="828833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0" hangingPunct="0"/>
            <a:r>
              <a:rPr lang="en-US" altLang="zh-CN" dirty="0" smtClean="0">
                <a:solidFill>
                  <a:srgbClr val="990033"/>
                </a:solidFill>
              </a:rPr>
              <a:t>2.3.1  </a:t>
            </a:r>
            <a:r>
              <a:rPr lang="zh-CN" altLang="en-US" dirty="0">
                <a:solidFill>
                  <a:srgbClr val="990033"/>
                </a:solidFill>
              </a:rPr>
              <a:t>电阻的</a:t>
            </a:r>
            <a:r>
              <a:rPr lang="zh-CN" altLang="en-US" dirty="0" smtClean="0">
                <a:solidFill>
                  <a:srgbClr val="A50021"/>
                </a:solidFill>
              </a:rPr>
              <a:t>串联和并联</a:t>
            </a:r>
            <a:endParaRPr lang="en-US" altLang="zh-CN" dirty="0">
              <a:solidFill>
                <a:srgbClr val="990033"/>
              </a:solidFill>
            </a:endParaRPr>
          </a:p>
        </p:txBody>
      </p:sp>
      <p:grpSp>
        <p:nvGrpSpPr>
          <p:cNvPr id="65" name="Group 3"/>
          <p:cNvGrpSpPr>
            <a:grpSpLocks/>
          </p:cNvGrpSpPr>
          <p:nvPr/>
        </p:nvGrpSpPr>
        <p:grpSpPr bwMode="auto">
          <a:xfrm>
            <a:off x="468313" y="3905250"/>
            <a:ext cx="8437563" cy="1981200"/>
            <a:chOff x="349" y="2160"/>
            <a:chExt cx="5315" cy="1248"/>
          </a:xfrm>
        </p:grpSpPr>
        <p:grpSp>
          <p:nvGrpSpPr>
            <p:cNvPr id="67" name="Group 4"/>
            <p:cNvGrpSpPr>
              <a:grpSpLocks/>
            </p:cNvGrpSpPr>
            <p:nvPr/>
          </p:nvGrpSpPr>
          <p:grpSpPr bwMode="auto">
            <a:xfrm>
              <a:off x="3360" y="2544"/>
              <a:ext cx="672" cy="432"/>
              <a:chOff x="1488" y="720"/>
              <a:chExt cx="672" cy="432"/>
            </a:xfrm>
          </p:grpSpPr>
          <p:sp>
            <p:nvSpPr>
              <p:cNvPr id="116" name="AutoShape 5"/>
              <p:cNvSpPr>
                <a:spLocks noChangeArrowheads="1"/>
              </p:cNvSpPr>
              <p:nvPr/>
            </p:nvSpPr>
            <p:spPr bwMode="auto">
              <a:xfrm>
                <a:off x="1488" y="960"/>
                <a:ext cx="672" cy="192"/>
              </a:xfrm>
              <a:prstGeom prst="rightArrow">
                <a:avLst>
                  <a:gd name="adj1" fmla="val 50000"/>
                  <a:gd name="adj2" fmla="val 8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Text Box 6"/>
              <p:cNvSpPr txBox="1">
                <a:spLocks noChangeArrowheads="1"/>
              </p:cNvSpPr>
              <p:nvPr/>
            </p:nvSpPr>
            <p:spPr bwMode="auto">
              <a:xfrm>
                <a:off x="1536" y="720"/>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a:t>等效</a:t>
                </a:r>
              </a:p>
            </p:txBody>
          </p:sp>
        </p:grpSp>
        <p:grpSp>
          <p:nvGrpSpPr>
            <p:cNvPr id="68" name="Group 7"/>
            <p:cNvGrpSpPr>
              <a:grpSpLocks/>
            </p:cNvGrpSpPr>
            <p:nvPr/>
          </p:nvGrpSpPr>
          <p:grpSpPr bwMode="auto">
            <a:xfrm>
              <a:off x="349" y="2160"/>
              <a:ext cx="2963" cy="1248"/>
              <a:chOff x="205" y="576"/>
              <a:chExt cx="2963" cy="1248"/>
            </a:xfrm>
          </p:grpSpPr>
          <p:sp>
            <p:nvSpPr>
              <p:cNvPr id="83" name="Rectangle 8"/>
              <p:cNvSpPr>
                <a:spLocks noChangeArrowheads="1"/>
              </p:cNvSpPr>
              <p:nvPr/>
            </p:nvSpPr>
            <p:spPr bwMode="auto">
              <a:xfrm rot="5400000">
                <a:off x="885" y="795"/>
                <a:ext cx="120" cy="25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4" name="Text Box 9"/>
              <p:cNvSpPr txBox="1">
                <a:spLocks noChangeArrowheads="1"/>
              </p:cNvSpPr>
              <p:nvPr/>
            </p:nvSpPr>
            <p:spPr bwMode="auto">
              <a:xfrm>
                <a:off x="384" y="153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a:t>
                </a:r>
              </a:p>
            </p:txBody>
          </p:sp>
          <p:sp>
            <p:nvSpPr>
              <p:cNvPr id="85" name="Text Box 10"/>
              <p:cNvSpPr txBox="1">
                <a:spLocks noChangeArrowheads="1"/>
              </p:cNvSpPr>
              <p:nvPr/>
            </p:nvSpPr>
            <p:spPr bwMode="auto">
              <a:xfrm>
                <a:off x="2976" y="148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_</a:t>
                </a:r>
              </a:p>
            </p:txBody>
          </p:sp>
          <p:sp>
            <p:nvSpPr>
              <p:cNvPr id="86" name="Text Box 11"/>
              <p:cNvSpPr txBox="1">
                <a:spLocks noChangeArrowheads="1"/>
              </p:cNvSpPr>
              <p:nvPr/>
            </p:nvSpPr>
            <p:spPr bwMode="auto">
              <a:xfrm>
                <a:off x="768" y="57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R</a:t>
                </a:r>
                <a:r>
                  <a:rPr lang="en-US" altLang="zh-CN" baseline="-25000"/>
                  <a:t>1</a:t>
                </a:r>
                <a:endParaRPr lang="en-US" altLang="zh-CN"/>
              </a:p>
            </p:txBody>
          </p:sp>
          <p:sp>
            <p:nvSpPr>
              <p:cNvPr id="87" name="Text Box 12"/>
              <p:cNvSpPr txBox="1">
                <a:spLocks noChangeArrowheads="1"/>
              </p:cNvSpPr>
              <p:nvPr/>
            </p:nvSpPr>
            <p:spPr bwMode="auto">
              <a:xfrm>
                <a:off x="2448" y="57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R</a:t>
                </a:r>
                <a:r>
                  <a:rPr lang="en-US" altLang="zh-CN" i="1" baseline="-25000"/>
                  <a:t>n</a:t>
                </a:r>
                <a:endParaRPr lang="en-US" altLang="zh-CN"/>
              </a:p>
            </p:txBody>
          </p:sp>
          <p:grpSp>
            <p:nvGrpSpPr>
              <p:cNvPr id="88" name="Group 13"/>
              <p:cNvGrpSpPr>
                <a:grpSpLocks/>
              </p:cNvGrpSpPr>
              <p:nvPr/>
            </p:nvGrpSpPr>
            <p:grpSpPr bwMode="auto">
              <a:xfrm>
                <a:off x="1440" y="1008"/>
                <a:ext cx="768" cy="384"/>
                <a:chOff x="576" y="1152"/>
                <a:chExt cx="768" cy="384"/>
              </a:xfrm>
            </p:grpSpPr>
            <p:sp>
              <p:nvSpPr>
                <p:cNvPr id="113" name="Text Box 14"/>
                <p:cNvSpPr txBox="1">
                  <a:spLocks noChangeArrowheads="1"/>
                </p:cNvSpPr>
                <p:nvPr/>
              </p:nvSpPr>
              <p:spPr bwMode="auto">
                <a:xfrm>
                  <a:off x="576" y="124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a:t>
                  </a:r>
                </a:p>
              </p:txBody>
            </p:sp>
            <p:sp>
              <p:nvSpPr>
                <p:cNvPr id="114" name="Text Box 15"/>
                <p:cNvSpPr txBox="1">
                  <a:spLocks noChangeArrowheads="1"/>
                </p:cNvSpPr>
                <p:nvPr/>
              </p:nvSpPr>
              <p:spPr bwMode="auto">
                <a:xfrm>
                  <a:off x="1152" y="1152"/>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_</a:t>
                  </a:r>
                </a:p>
              </p:txBody>
            </p:sp>
            <p:sp>
              <p:nvSpPr>
                <p:cNvPr id="115" name="Text Box 16"/>
                <p:cNvSpPr txBox="1">
                  <a:spLocks noChangeArrowheads="1"/>
                </p:cNvSpPr>
                <p:nvPr/>
              </p:nvSpPr>
              <p:spPr bwMode="auto">
                <a:xfrm>
                  <a:off x="816" y="124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v</a:t>
                  </a:r>
                  <a:r>
                    <a:rPr lang="en-US" altLang="zh-CN" i="1" baseline="-25000"/>
                    <a:t>k</a:t>
                  </a:r>
                  <a:endParaRPr lang="en-US" altLang="zh-CN"/>
                </a:p>
              </p:txBody>
            </p:sp>
          </p:grpSp>
          <p:sp>
            <p:nvSpPr>
              <p:cNvPr id="89" name="Text Box 17"/>
              <p:cNvSpPr txBox="1">
                <a:spLocks noChangeArrowheads="1"/>
              </p:cNvSpPr>
              <p:nvPr/>
            </p:nvSpPr>
            <p:spPr bwMode="auto">
              <a:xfrm>
                <a:off x="205" y="112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dirty="0" err="1"/>
                  <a:t>i</a:t>
                </a:r>
                <a:endParaRPr lang="en-US" altLang="zh-CN" i="1" dirty="0"/>
              </a:p>
            </p:txBody>
          </p:sp>
          <p:sp>
            <p:nvSpPr>
              <p:cNvPr id="90" name="Rectangle 18"/>
              <p:cNvSpPr>
                <a:spLocks noChangeArrowheads="1"/>
              </p:cNvSpPr>
              <p:nvPr/>
            </p:nvSpPr>
            <p:spPr bwMode="auto">
              <a:xfrm rot="5400000">
                <a:off x="2565" y="795"/>
                <a:ext cx="120" cy="25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1" name="Rectangle 19"/>
              <p:cNvSpPr>
                <a:spLocks noChangeArrowheads="1"/>
              </p:cNvSpPr>
              <p:nvPr/>
            </p:nvSpPr>
            <p:spPr bwMode="auto">
              <a:xfrm rot="5400000">
                <a:off x="1725" y="795"/>
                <a:ext cx="120" cy="25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2" name="Line 20"/>
              <p:cNvSpPr>
                <a:spLocks noChangeShapeType="1"/>
              </p:cNvSpPr>
              <p:nvPr/>
            </p:nvSpPr>
            <p:spPr bwMode="auto">
              <a:xfrm>
                <a:off x="480" y="912"/>
                <a:ext cx="33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21"/>
              <p:cNvSpPr>
                <a:spLocks noChangeShapeType="1"/>
              </p:cNvSpPr>
              <p:nvPr/>
            </p:nvSpPr>
            <p:spPr bwMode="auto">
              <a:xfrm>
                <a:off x="1076" y="912"/>
                <a:ext cx="24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22"/>
              <p:cNvSpPr>
                <a:spLocks noChangeShapeType="1"/>
              </p:cNvSpPr>
              <p:nvPr/>
            </p:nvSpPr>
            <p:spPr bwMode="auto">
              <a:xfrm>
                <a:off x="2256" y="912"/>
                <a:ext cx="24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23"/>
              <p:cNvSpPr>
                <a:spLocks noChangeShapeType="1"/>
              </p:cNvSpPr>
              <p:nvPr/>
            </p:nvSpPr>
            <p:spPr bwMode="auto">
              <a:xfrm>
                <a:off x="1296" y="912"/>
                <a:ext cx="336" cy="0"/>
              </a:xfrm>
              <a:prstGeom prst="line">
                <a:avLst/>
              </a:prstGeom>
              <a:noFill/>
              <a:ln w="1905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24"/>
              <p:cNvSpPr>
                <a:spLocks noChangeShapeType="1"/>
              </p:cNvSpPr>
              <p:nvPr/>
            </p:nvSpPr>
            <p:spPr bwMode="auto">
              <a:xfrm>
                <a:off x="1920" y="912"/>
                <a:ext cx="336" cy="0"/>
              </a:xfrm>
              <a:prstGeom prst="line">
                <a:avLst/>
              </a:prstGeom>
              <a:noFill/>
              <a:ln w="1905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7" name="Group 25"/>
              <p:cNvGrpSpPr>
                <a:grpSpLocks/>
              </p:cNvGrpSpPr>
              <p:nvPr/>
            </p:nvGrpSpPr>
            <p:grpSpPr bwMode="auto">
              <a:xfrm>
                <a:off x="624" y="1008"/>
                <a:ext cx="768" cy="384"/>
                <a:chOff x="576" y="1152"/>
                <a:chExt cx="768" cy="384"/>
              </a:xfrm>
            </p:grpSpPr>
            <p:sp>
              <p:nvSpPr>
                <p:cNvPr id="110" name="Text Box 26"/>
                <p:cNvSpPr txBox="1">
                  <a:spLocks noChangeArrowheads="1"/>
                </p:cNvSpPr>
                <p:nvPr/>
              </p:nvSpPr>
              <p:spPr bwMode="auto">
                <a:xfrm>
                  <a:off x="576" y="124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a:t>
                  </a:r>
                </a:p>
              </p:txBody>
            </p:sp>
            <p:sp>
              <p:nvSpPr>
                <p:cNvPr id="111" name="Text Box 27"/>
                <p:cNvSpPr txBox="1">
                  <a:spLocks noChangeArrowheads="1"/>
                </p:cNvSpPr>
                <p:nvPr/>
              </p:nvSpPr>
              <p:spPr bwMode="auto">
                <a:xfrm>
                  <a:off x="1152" y="1152"/>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_</a:t>
                  </a:r>
                </a:p>
              </p:txBody>
            </p:sp>
            <p:sp>
              <p:nvSpPr>
                <p:cNvPr id="112" name="Text Box 28"/>
                <p:cNvSpPr txBox="1">
                  <a:spLocks noChangeArrowheads="1"/>
                </p:cNvSpPr>
                <p:nvPr/>
              </p:nvSpPr>
              <p:spPr bwMode="auto">
                <a:xfrm>
                  <a:off x="816" y="124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v</a:t>
                  </a:r>
                  <a:r>
                    <a:rPr lang="en-US" altLang="zh-CN" baseline="-25000"/>
                    <a:t>1</a:t>
                  </a:r>
                  <a:endParaRPr lang="en-US" altLang="zh-CN"/>
                </a:p>
              </p:txBody>
            </p:sp>
          </p:grpSp>
          <p:grpSp>
            <p:nvGrpSpPr>
              <p:cNvPr id="98" name="Group 29"/>
              <p:cNvGrpSpPr>
                <a:grpSpLocks/>
              </p:cNvGrpSpPr>
              <p:nvPr/>
            </p:nvGrpSpPr>
            <p:grpSpPr bwMode="auto">
              <a:xfrm>
                <a:off x="2304" y="1008"/>
                <a:ext cx="768" cy="384"/>
                <a:chOff x="576" y="1152"/>
                <a:chExt cx="768" cy="384"/>
              </a:xfrm>
            </p:grpSpPr>
            <p:sp>
              <p:nvSpPr>
                <p:cNvPr id="107" name="Text Box 30"/>
                <p:cNvSpPr txBox="1">
                  <a:spLocks noChangeArrowheads="1"/>
                </p:cNvSpPr>
                <p:nvPr/>
              </p:nvSpPr>
              <p:spPr bwMode="auto">
                <a:xfrm>
                  <a:off x="576" y="124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a:t>
                  </a:r>
                </a:p>
              </p:txBody>
            </p:sp>
            <p:sp>
              <p:nvSpPr>
                <p:cNvPr id="108" name="Text Box 31"/>
                <p:cNvSpPr txBox="1">
                  <a:spLocks noChangeArrowheads="1"/>
                </p:cNvSpPr>
                <p:nvPr/>
              </p:nvSpPr>
              <p:spPr bwMode="auto">
                <a:xfrm>
                  <a:off x="1152" y="1152"/>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_</a:t>
                  </a:r>
                </a:p>
              </p:txBody>
            </p:sp>
            <p:sp>
              <p:nvSpPr>
                <p:cNvPr id="109" name="Text Box 32"/>
                <p:cNvSpPr txBox="1">
                  <a:spLocks noChangeArrowheads="1"/>
                </p:cNvSpPr>
                <p:nvPr/>
              </p:nvSpPr>
              <p:spPr bwMode="auto">
                <a:xfrm>
                  <a:off x="816" y="124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v</a:t>
                  </a:r>
                  <a:r>
                    <a:rPr lang="en-US" altLang="zh-CN" i="1" baseline="-25000"/>
                    <a:t>n</a:t>
                  </a:r>
                  <a:endParaRPr lang="en-US" altLang="zh-CN"/>
                </a:p>
              </p:txBody>
            </p:sp>
          </p:grpSp>
          <p:sp>
            <p:nvSpPr>
              <p:cNvPr id="99" name="Line 33"/>
              <p:cNvSpPr>
                <a:spLocks noChangeShapeType="1"/>
              </p:cNvSpPr>
              <p:nvPr/>
            </p:nvSpPr>
            <p:spPr bwMode="auto">
              <a:xfrm>
                <a:off x="2756" y="912"/>
                <a:ext cx="31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34"/>
              <p:cNvSpPr>
                <a:spLocks noChangeShapeType="1"/>
              </p:cNvSpPr>
              <p:nvPr/>
            </p:nvSpPr>
            <p:spPr bwMode="auto">
              <a:xfrm>
                <a:off x="3058" y="912"/>
                <a:ext cx="0" cy="57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35"/>
              <p:cNvSpPr>
                <a:spLocks noChangeShapeType="1"/>
              </p:cNvSpPr>
              <p:nvPr/>
            </p:nvSpPr>
            <p:spPr bwMode="auto">
              <a:xfrm>
                <a:off x="494" y="912"/>
                <a:ext cx="0" cy="576"/>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Text Box 36"/>
              <p:cNvSpPr txBox="1">
                <a:spLocks noChangeArrowheads="1"/>
              </p:cNvSpPr>
              <p:nvPr/>
            </p:nvSpPr>
            <p:spPr bwMode="auto">
              <a:xfrm>
                <a:off x="1680" y="1536"/>
                <a:ext cx="32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v</a:t>
                </a:r>
                <a:endParaRPr lang="en-US" altLang="zh-CN"/>
              </a:p>
            </p:txBody>
          </p:sp>
          <p:sp>
            <p:nvSpPr>
              <p:cNvPr id="103" name="Text Box 37"/>
              <p:cNvSpPr txBox="1">
                <a:spLocks noChangeArrowheads="1"/>
              </p:cNvSpPr>
              <p:nvPr/>
            </p:nvSpPr>
            <p:spPr bwMode="auto">
              <a:xfrm>
                <a:off x="1584" y="57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R</a:t>
                </a:r>
                <a:r>
                  <a:rPr lang="en-US" altLang="zh-CN" i="1" baseline="-25000"/>
                  <a:t>k</a:t>
                </a:r>
                <a:endParaRPr lang="en-US" altLang="zh-CN"/>
              </a:p>
            </p:txBody>
          </p:sp>
          <p:sp>
            <p:nvSpPr>
              <p:cNvPr id="104" name="Line 38"/>
              <p:cNvSpPr>
                <a:spLocks noChangeShapeType="1"/>
              </p:cNvSpPr>
              <p:nvPr/>
            </p:nvSpPr>
            <p:spPr bwMode="auto">
              <a:xfrm flipV="1">
                <a:off x="401" y="1104"/>
                <a:ext cx="0" cy="336"/>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Oval 39"/>
              <p:cNvSpPr>
                <a:spLocks noChangeArrowheads="1"/>
              </p:cNvSpPr>
              <p:nvPr/>
            </p:nvSpPr>
            <p:spPr bwMode="auto">
              <a:xfrm>
                <a:off x="3024" y="148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 name="Oval 40"/>
              <p:cNvSpPr>
                <a:spLocks noChangeArrowheads="1"/>
              </p:cNvSpPr>
              <p:nvPr/>
            </p:nvSpPr>
            <p:spPr bwMode="auto">
              <a:xfrm>
                <a:off x="460" y="1488"/>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9" name="Group 41"/>
            <p:cNvGrpSpPr>
              <a:grpSpLocks/>
            </p:cNvGrpSpPr>
            <p:nvPr/>
          </p:nvGrpSpPr>
          <p:grpSpPr bwMode="auto">
            <a:xfrm>
              <a:off x="4128" y="2174"/>
              <a:ext cx="1536" cy="1234"/>
              <a:chOff x="3984" y="734"/>
              <a:chExt cx="1536" cy="1234"/>
            </a:xfrm>
          </p:grpSpPr>
          <p:sp>
            <p:nvSpPr>
              <p:cNvPr id="70" name="Text Box 42"/>
              <p:cNvSpPr txBox="1">
                <a:spLocks noChangeArrowheads="1"/>
              </p:cNvSpPr>
              <p:nvPr/>
            </p:nvSpPr>
            <p:spPr bwMode="auto">
              <a:xfrm>
                <a:off x="4752" y="168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v</a:t>
                </a:r>
                <a:endParaRPr lang="en-US" altLang="zh-CN"/>
              </a:p>
            </p:txBody>
          </p:sp>
          <p:sp>
            <p:nvSpPr>
              <p:cNvPr id="71" name="Text Box 43"/>
              <p:cNvSpPr txBox="1">
                <a:spLocks noChangeArrowheads="1"/>
              </p:cNvSpPr>
              <p:nvPr/>
            </p:nvSpPr>
            <p:spPr bwMode="auto">
              <a:xfrm rot="-5400000">
                <a:off x="4200" y="165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a:t>
                </a:r>
              </a:p>
            </p:txBody>
          </p:sp>
          <p:sp>
            <p:nvSpPr>
              <p:cNvPr id="72" name="Text Box 44"/>
              <p:cNvSpPr txBox="1">
                <a:spLocks noChangeArrowheads="1"/>
              </p:cNvSpPr>
              <p:nvPr/>
            </p:nvSpPr>
            <p:spPr bwMode="auto">
              <a:xfrm>
                <a:off x="5328" y="1584"/>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_</a:t>
                </a:r>
              </a:p>
            </p:txBody>
          </p:sp>
          <p:sp>
            <p:nvSpPr>
              <p:cNvPr id="73" name="Rectangle 45"/>
              <p:cNvSpPr>
                <a:spLocks noChangeArrowheads="1"/>
              </p:cNvSpPr>
              <p:nvPr/>
            </p:nvSpPr>
            <p:spPr bwMode="auto">
              <a:xfrm rot="-5400000">
                <a:off x="4791" y="974"/>
                <a:ext cx="120" cy="257"/>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4" name="Line 46"/>
              <p:cNvSpPr>
                <a:spLocks noChangeShapeType="1"/>
              </p:cNvSpPr>
              <p:nvPr/>
            </p:nvSpPr>
            <p:spPr bwMode="auto">
              <a:xfrm rot="-5400000">
                <a:off x="4070" y="1368"/>
                <a:ext cx="5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47"/>
              <p:cNvSpPr>
                <a:spLocks noChangeShapeType="1"/>
              </p:cNvSpPr>
              <p:nvPr/>
            </p:nvSpPr>
            <p:spPr bwMode="auto">
              <a:xfrm rot="-5400000">
                <a:off x="4520" y="903"/>
                <a:ext cx="1" cy="4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48"/>
              <p:cNvSpPr>
                <a:spLocks noChangeShapeType="1"/>
              </p:cNvSpPr>
              <p:nvPr/>
            </p:nvSpPr>
            <p:spPr bwMode="auto">
              <a:xfrm rot="5400000" flipV="1">
                <a:off x="5201" y="881"/>
                <a:ext cx="1" cy="44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Text Box 49"/>
              <p:cNvSpPr txBox="1">
                <a:spLocks noChangeArrowheads="1"/>
              </p:cNvSpPr>
              <p:nvPr/>
            </p:nvSpPr>
            <p:spPr bwMode="auto">
              <a:xfrm>
                <a:off x="4694" y="734"/>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latinLnBrk="1">
                  <a:spcBef>
                    <a:spcPct val="50000"/>
                  </a:spcBef>
                </a:pPr>
                <a:r>
                  <a:rPr lang="en-US" altLang="zh-CN" i="1" dirty="0" err="1" smtClean="0"/>
                  <a:t>R</a:t>
                </a:r>
                <a:r>
                  <a:rPr lang="en-US" altLang="zh-CN" i="1" baseline="-25000" dirty="0" err="1" smtClean="0"/>
                  <a:t>eq</a:t>
                </a:r>
                <a:endParaRPr lang="en-US" altLang="zh-CN" baseline="-25000" dirty="0"/>
              </a:p>
            </p:txBody>
          </p:sp>
          <p:sp>
            <p:nvSpPr>
              <p:cNvPr id="78" name="Line 50"/>
              <p:cNvSpPr>
                <a:spLocks noChangeShapeType="1"/>
              </p:cNvSpPr>
              <p:nvPr/>
            </p:nvSpPr>
            <p:spPr bwMode="auto">
              <a:xfrm rot="-5400000">
                <a:off x="4032" y="1392"/>
                <a:ext cx="384"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Text Box 51"/>
              <p:cNvSpPr txBox="1">
                <a:spLocks noChangeArrowheads="1"/>
              </p:cNvSpPr>
              <p:nvPr/>
            </p:nvSpPr>
            <p:spPr bwMode="auto">
              <a:xfrm>
                <a:off x="3984" y="129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p>
            </p:txBody>
          </p:sp>
          <p:sp>
            <p:nvSpPr>
              <p:cNvPr id="80" name="Oval 52"/>
              <p:cNvSpPr>
                <a:spLocks noChangeArrowheads="1"/>
              </p:cNvSpPr>
              <p:nvPr/>
            </p:nvSpPr>
            <p:spPr bwMode="auto">
              <a:xfrm>
                <a:off x="4300" y="163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53"/>
              <p:cNvSpPr>
                <a:spLocks noChangeShapeType="1"/>
              </p:cNvSpPr>
              <p:nvPr/>
            </p:nvSpPr>
            <p:spPr bwMode="auto">
              <a:xfrm rot="-5400000">
                <a:off x="5160" y="1368"/>
                <a:ext cx="52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Oval 54"/>
              <p:cNvSpPr>
                <a:spLocks noChangeArrowheads="1"/>
              </p:cNvSpPr>
              <p:nvPr/>
            </p:nvSpPr>
            <p:spPr bwMode="auto">
              <a:xfrm>
                <a:off x="5390" y="163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8" name="Text Box 56"/>
          <p:cNvSpPr txBox="1">
            <a:spLocks noChangeArrowheads="1"/>
          </p:cNvSpPr>
          <p:nvPr/>
        </p:nvSpPr>
        <p:spPr bwMode="auto">
          <a:xfrm>
            <a:off x="1127125" y="5889625"/>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endParaRPr lang="zh-CN" altLang="zh-CN" sz="2800" b="0"/>
          </a:p>
        </p:txBody>
      </p:sp>
      <p:grpSp>
        <p:nvGrpSpPr>
          <p:cNvPr id="119" name="Group 57"/>
          <p:cNvGrpSpPr>
            <a:grpSpLocks/>
          </p:cNvGrpSpPr>
          <p:nvPr/>
        </p:nvGrpSpPr>
        <p:grpSpPr bwMode="auto">
          <a:xfrm>
            <a:off x="1192213" y="5895975"/>
            <a:ext cx="6589713" cy="906463"/>
            <a:chOff x="715" y="3510"/>
            <a:chExt cx="4151" cy="571"/>
          </a:xfrm>
        </p:grpSpPr>
        <p:graphicFrame>
          <p:nvGraphicFramePr>
            <p:cNvPr id="120" name="Object 58"/>
            <p:cNvGraphicFramePr>
              <a:graphicFrameLocks noChangeAspect="1"/>
            </p:cNvGraphicFramePr>
            <p:nvPr>
              <p:extLst>
                <p:ext uri="{D42A27DB-BD31-4B8C-83A1-F6EECF244321}">
                  <p14:modId xmlns:p14="http://schemas.microsoft.com/office/powerpoint/2010/main" val="700452127"/>
                </p:ext>
              </p:extLst>
            </p:nvPr>
          </p:nvGraphicFramePr>
          <p:xfrm>
            <a:off x="715" y="3510"/>
            <a:ext cx="1887" cy="571"/>
          </p:xfrm>
          <a:graphic>
            <a:graphicData uri="http://schemas.openxmlformats.org/presentationml/2006/ole">
              <mc:AlternateContent xmlns:mc="http://schemas.openxmlformats.org/markup-compatibility/2006">
                <mc:Choice xmlns:v="urn:schemas-microsoft-com:vml" Requires="v">
                  <p:oleObj spid="_x0000_s235791" name="Equation" r:id="rId3" imgW="1295280" imgH="393480" progId="Equation.DSMT4">
                    <p:embed/>
                  </p:oleObj>
                </mc:Choice>
                <mc:Fallback>
                  <p:oleObj name="Equation" r:id="rId3" imgW="1295280" imgH="393480" progId="Equation.DSMT4">
                    <p:embed/>
                    <p:pic>
                      <p:nvPicPr>
                        <p:cNvPr id="0" name=""/>
                        <p:cNvPicPr>
                          <a:picLocks noChangeAspect="1" noChangeArrowheads="1"/>
                        </p:cNvPicPr>
                        <p:nvPr/>
                      </p:nvPicPr>
                      <p:blipFill>
                        <a:blip r:embed="rId4"/>
                        <a:srcRect/>
                        <a:stretch>
                          <a:fillRect/>
                        </a:stretch>
                      </p:blipFill>
                      <p:spPr bwMode="auto">
                        <a:xfrm>
                          <a:off x="715" y="3510"/>
                          <a:ext cx="1887" cy="571"/>
                        </a:xfrm>
                        <a:prstGeom prst="rect">
                          <a:avLst/>
                        </a:prstGeom>
                        <a:solidFill>
                          <a:srgbClr val="92D050"/>
                        </a:solidFill>
                        <a:ln>
                          <a:noFill/>
                        </a:ln>
                        <a:effectLst/>
                      </p:spPr>
                    </p:pic>
                  </p:oleObj>
                </mc:Fallback>
              </mc:AlternateContent>
            </a:graphicData>
          </a:graphic>
        </p:graphicFrame>
        <p:sp>
          <p:nvSpPr>
            <p:cNvPr id="121" name="Rectangle 59"/>
            <p:cNvSpPr>
              <a:spLocks noChangeArrowheads="1"/>
            </p:cNvSpPr>
            <p:nvPr/>
          </p:nvSpPr>
          <p:spPr bwMode="auto">
            <a:xfrm>
              <a:off x="3186" y="3514"/>
              <a:ext cx="16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dirty="0">
                  <a:solidFill>
                    <a:schemeClr val="accent2"/>
                  </a:solidFill>
                  <a:sym typeface="Symbol" pitchFamily="18" charset="2"/>
                </a:rPr>
                <a:t>串联电路的总电阻</a:t>
              </a:r>
            </a:p>
            <a:p>
              <a:pPr algn="l"/>
              <a:r>
                <a:rPr lang="zh-CN" altLang="en-US" sz="2000" dirty="0">
                  <a:solidFill>
                    <a:schemeClr val="accent2"/>
                  </a:solidFill>
                  <a:sym typeface="Symbol" pitchFamily="18" charset="2"/>
                </a:rPr>
                <a:t>等于各分电阻之和。  </a:t>
              </a:r>
            </a:p>
          </p:txBody>
        </p:sp>
      </p:grpSp>
      <p:grpSp>
        <p:nvGrpSpPr>
          <p:cNvPr id="122" name="Group 60"/>
          <p:cNvGrpSpPr>
            <a:grpSpLocks/>
          </p:cNvGrpSpPr>
          <p:nvPr/>
        </p:nvGrpSpPr>
        <p:grpSpPr bwMode="auto">
          <a:xfrm>
            <a:off x="542925" y="2190750"/>
            <a:ext cx="6610350" cy="1482725"/>
            <a:chOff x="576" y="1056"/>
            <a:chExt cx="4164" cy="934"/>
          </a:xfrm>
        </p:grpSpPr>
        <p:sp>
          <p:nvSpPr>
            <p:cNvPr id="123" name="Text Box 61"/>
            <p:cNvSpPr txBox="1">
              <a:spLocks noChangeArrowheads="1"/>
            </p:cNvSpPr>
            <p:nvPr/>
          </p:nvSpPr>
          <p:spPr bwMode="auto">
            <a:xfrm>
              <a:off x="576" y="1056"/>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solidFill>
                    <a:schemeClr val="accent2"/>
                  </a:solidFill>
                </a:rPr>
                <a:t>1. </a:t>
              </a:r>
              <a:r>
                <a:rPr lang="zh-CN" altLang="en-US" dirty="0">
                  <a:solidFill>
                    <a:schemeClr val="accent2"/>
                  </a:solidFill>
                </a:rPr>
                <a:t>电路特点</a:t>
              </a:r>
              <a:r>
                <a:rPr lang="en-US" altLang="zh-CN" dirty="0">
                  <a:solidFill>
                    <a:schemeClr val="accent2"/>
                  </a:solidFill>
                </a:rPr>
                <a:t>:</a:t>
              </a:r>
            </a:p>
          </p:txBody>
        </p:sp>
        <p:sp>
          <p:nvSpPr>
            <p:cNvPr id="124" name="Text Box 62"/>
            <p:cNvSpPr txBox="1">
              <a:spLocks noChangeArrowheads="1"/>
            </p:cNvSpPr>
            <p:nvPr/>
          </p:nvSpPr>
          <p:spPr bwMode="auto">
            <a:xfrm>
              <a:off x="800" y="1380"/>
              <a:ext cx="39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(a) </a:t>
              </a:r>
              <a:r>
                <a:rPr lang="zh-CN" altLang="zh-CN" sz="2000" dirty="0"/>
                <a:t>各电阻顺序连接，流过同一电流 </a:t>
              </a:r>
              <a:r>
                <a:rPr lang="en-US" altLang="zh-CN" sz="2000" dirty="0"/>
                <a:t>(KCL)</a:t>
              </a:r>
              <a:r>
                <a:rPr lang="zh-CN" altLang="en-US" sz="2000" dirty="0"/>
                <a:t>；</a:t>
              </a:r>
            </a:p>
          </p:txBody>
        </p:sp>
        <p:sp>
          <p:nvSpPr>
            <p:cNvPr id="125" name="Text Box 63"/>
            <p:cNvSpPr txBox="1">
              <a:spLocks noChangeArrowheads="1"/>
            </p:cNvSpPr>
            <p:nvPr/>
          </p:nvSpPr>
          <p:spPr bwMode="auto">
            <a:xfrm>
              <a:off x="804" y="1740"/>
              <a:ext cx="39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t>(b) </a:t>
              </a:r>
              <a:r>
                <a:rPr lang="zh-CN" altLang="en-US" sz="2000"/>
                <a:t>总电压等于各串联电阻的电压之和</a:t>
              </a:r>
              <a:r>
                <a:rPr lang="zh-CN" altLang="zh-CN" sz="2000"/>
                <a:t> </a:t>
              </a:r>
              <a:r>
                <a:rPr lang="en-US" altLang="zh-CN" sz="2000"/>
                <a:t>(KVL)</a:t>
              </a:r>
              <a:r>
                <a:rPr lang="zh-CN" altLang="en-US" sz="2000"/>
                <a:t>。</a:t>
              </a:r>
            </a:p>
          </p:txBody>
        </p:sp>
      </p:grpSp>
      <p:sp>
        <p:nvSpPr>
          <p:cNvPr id="126" name="Text Box 3"/>
          <p:cNvSpPr txBox="1">
            <a:spLocks noChangeArrowheads="1"/>
          </p:cNvSpPr>
          <p:nvPr/>
        </p:nvSpPr>
        <p:spPr bwMode="auto">
          <a:xfrm>
            <a:off x="501650" y="1715443"/>
            <a:ext cx="746125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l"/>
            <a:r>
              <a:rPr lang="zh-CN" altLang="en-US" dirty="0">
                <a:solidFill>
                  <a:srgbClr val="990033"/>
                </a:solidFill>
              </a:rPr>
              <a:t>一、电阻的</a:t>
            </a:r>
            <a:r>
              <a:rPr lang="zh-CN" altLang="en-US" dirty="0" smtClean="0">
                <a:solidFill>
                  <a:srgbClr val="990033"/>
                </a:solidFill>
              </a:rPr>
              <a:t>串联 </a:t>
            </a:r>
            <a:r>
              <a:rPr lang="en-US" altLang="zh-CN" dirty="0" smtClean="0"/>
              <a:t>( </a:t>
            </a:r>
            <a:r>
              <a:rPr lang="en-US" altLang="zh-CN" dirty="0"/>
              <a:t>Series Connection of Resistors )</a:t>
            </a:r>
            <a:r>
              <a:rPr lang="zh-CN" altLang="en-US" dirty="0">
                <a:solidFill>
                  <a:srgbClr val="A50021"/>
                </a:solidFill>
              </a:rPr>
              <a:t> </a:t>
            </a:r>
            <a:r>
              <a:rPr lang="zh-CN" altLang="en-US" dirty="0" smtClean="0">
                <a:solidFill>
                  <a:srgbClr val="990033"/>
                </a:solidFill>
              </a:rPr>
              <a:t> </a:t>
            </a:r>
            <a:endParaRPr lang="en-US" altLang="zh-CN" dirty="0">
              <a:solidFill>
                <a:srgbClr val="990033"/>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5585"/>
                                        </p:tgtEl>
                                        <p:attrNameLst>
                                          <p:attrName>style.visibility</p:attrName>
                                        </p:attrNameLst>
                                      </p:cBhvr>
                                      <p:to>
                                        <p:strVal val="visible"/>
                                      </p:to>
                                    </p:set>
                                    <p:animEffect transition="in" filter="wipe(down)">
                                      <p:cBhvr>
                                        <p:cTn id="7" dur="500"/>
                                        <p:tgtEl>
                                          <p:spTgt spid="23558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barn(inVertical)">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22"/>
                                        </p:tgtEl>
                                        <p:attrNameLst>
                                          <p:attrName>style.visibility</p:attrName>
                                        </p:attrNameLst>
                                      </p:cBhvr>
                                      <p:to>
                                        <p:strVal val="visible"/>
                                      </p:to>
                                    </p:set>
                                    <p:animEffect transition="in" filter="barn(inVertical)">
                                      <p:cBhvr>
                                        <p:cTn id="17" dur="500"/>
                                        <p:tgtEl>
                                          <p:spTgt spid="12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barn(inVertical)">
                                      <p:cBhvr>
                                        <p:cTn id="22" dur="500"/>
                                        <p:tgtEl>
                                          <p:spTgt spid="65"/>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19"/>
                                        </p:tgtEl>
                                        <p:attrNameLst>
                                          <p:attrName>style.visibility</p:attrName>
                                        </p:attrNameLst>
                                      </p:cBhvr>
                                      <p:to>
                                        <p:strVal val="visible"/>
                                      </p:to>
                                    </p:set>
                                    <p:animEffect transition="in" filter="fade">
                                      <p:cBhvr>
                                        <p:cTn id="27" dur="1000"/>
                                        <p:tgtEl>
                                          <p:spTgt spid="119"/>
                                        </p:tgtEl>
                                      </p:cBhvr>
                                    </p:animEffect>
                                    <p:anim calcmode="lin" valueType="num">
                                      <p:cBhvr>
                                        <p:cTn id="28" dur="1000" fill="hold"/>
                                        <p:tgtEl>
                                          <p:spTgt spid="119"/>
                                        </p:tgtEl>
                                        <p:attrNameLst>
                                          <p:attrName>ppt_x</p:attrName>
                                        </p:attrNameLst>
                                      </p:cBhvr>
                                      <p:tavLst>
                                        <p:tav tm="0">
                                          <p:val>
                                            <p:strVal val="#ppt_x"/>
                                          </p:val>
                                        </p:tav>
                                        <p:tav tm="100000">
                                          <p:val>
                                            <p:strVal val="#ppt_x"/>
                                          </p:val>
                                        </p:tav>
                                      </p:tavLst>
                                    </p:anim>
                                    <p:anim calcmode="lin" valueType="num">
                                      <p:cBhvr>
                                        <p:cTn id="29" dur="1000" fill="hold"/>
                                        <p:tgtEl>
                                          <p:spTgt spid="1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5" grpId="0"/>
      <p:bldP spid="1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8" name="Text Box 4"/>
          <p:cNvSpPr txBox="1">
            <a:spLocks noChangeArrowheads="1"/>
          </p:cNvSpPr>
          <p:nvPr/>
        </p:nvSpPr>
        <p:spPr bwMode="auto">
          <a:xfrm>
            <a:off x="533400" y="674914"/>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solidFill>
                  <a:schemeClr val="accent2"/>
                </a:solidFill>
              </a:rPr>
              <a:t>2.  </a:t>
            </a:r>
            <a:r>
              <a:rPr lang="zh-CN" altLang="en-US" dirty="0">
                <a:solidFill>
                  <a:schemeClr val="accent2"/>
                </a:solidFill>
              </a:rPr>
              <a:t>电压的分配公式</a:t>
            </a:r>
            <a:endParaRPr lang="zh-CN" altLang="en-US" dirty="0"/>
          </a:p>
        </p:txBody>
      </p:sp>
      <p:graphicFrame>
        <p:nvGraphicFramePr>
          <p:cNvPr id="236550" name="Object 6"/>
          <p:cNvGraphicFramePr>
            <a:graphicFrameLocks noChangeAspect="1"/>
          </p:cNvGraphicFramePr>
          <p:nvPr>
            <p:extLst>
              <p:ext uri="{D42A27DB-BD31-4B8C-83A1-F6EECF244321}">
                <p14:modId xmlns:p14="http://schemas.microsoft.com/office/powerpoint/2010/main" val="2581619949"/>
              </p:ext>
            </p:extLst>
          </p:nvPr>
        </p:nvGraphicFramePr>
        <p:xfrm>
          <a:off x="2849563" y="1855333"/>
          <a:ext cx="2663825" cy="933450"/>
        </p:xfrm>
        <a:graphic>
          <a:graphicData uri="http://schemas.openxmlformats.org/presentationml/2006/ole">
            <mc:AlternateContent xmlns:mc="http://schemas.openxmlformats.org/markup-compatibility/2006">
              <mc:Choice xmlns:v="urn:schemas-microsoft-com:vml" Requires="v">
                <p:oleObj spid="_x0000_s444438" name="Equation" r:id="rId3" imgW="1117440" imgH="393480" progId="Equation.DSMT4">
                  <p:embed/>
                </p:oleObj>
              </mc:Choice>
              <mc:Fallback>
                <p:oleObj name="Equation" r:id="rId3" imgW="111744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9563" y="1855333"/>
                        <a:ext cx="2663825" cy="9334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sp>
        <p:nvSpPr>
          <p:cNvPr id="236551" name="Text Box 7"/>
          <p:cNvSpPr txBox="1">
            <a:spLocks noChangeArrowheads="1"/>
          </p:cNvSpPr>
          <p:nvPr/>
        </p:nvSpPr>
        <p:spPr bwMode="auto">
          <a:xfrm>
            <a:off x="5882727" y="3419020"/>
            <a:ext cx="2806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dirty="0">
                <a:solidFill>
                  <a:srgbClr val="3333FF"/>
                </a:solidFill>
              </a:rPr>
              <a:t>电压与电阻成正比</a:t>
            </a:r>
            <a:endParaRPr lang="zh-CN" altLang="en-US" sz="2000" dirty="0"/>
          </a:p>
        </p:txBody>
      </p:sp>
      <p:graphicFrame>
        <p:nvGraphicFramePr>
          <p:cNvPr id="236552" name="Object 8"/>
          <p:cNvGraphicFramePr>
            <a:graphicFrameLocks noChangeAspect="1"/>
          </p:cNvGraphicFramePr>
          <p:nvPr>
            <p:extLst>
              <p:ext uri="{D42A27DB-BD31-4B8C-83A1-F6EECF244321}">
                <p14:modId xmlns:p14="http://schemas.microsoft.com/office/powerpoint/2010/main" val="719829810"/>
              </p:ext>
            </p:extLst>
          </p:nvPr>
        </p:nvGraphicFramePr>
        <p:xfrm>
          <a:off x="3043238" y="3185658"/>
          <a:ext cx="2397125" cy="863600"/>
        </p:xfrm>
        <a:graphic>
          <a:graphicData uri="http://schemas.openxmlformats.org/presentationml/2006/ole">
            <mc:AlternateContent xmlns:mc="http://schemas.openxmlformats.org/markup-compatibility/2006">
              <mc:Choice xmlns:v="urn:schemas-microsoft-com:vml" Requires="v">
                <p:oleObj spid="_x0000_s444439" name="Equation" r:id="rId5" imgW="1091880" imgH="393480" progId="Equation.DSMT4">
                  <p:embed/>
                </p:oleObj>
              </mc:Choice>
              <mc:Fallback>
                <p:oleObj name="Equation" r:id="rId5" imgW="109188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3238" y="3185658"/>
                        <a:ext cx="2397125" cy="8636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pSp>
        <p:nvGrpSpPr>
          <p:cNvPr id="3" name="组合 2"/>
          <p:cNvGrpSpPr/>
          <p:nvPr/>
        </p:nvGrpSpPr>
        <p:grpSpPr>
          <a:xfrm>
            <a:off x="609600" y="1467983"/>
            <a:ext cx="1843088" cy="2665303"/>
            <a:chOff x="609600" y="569913"/>
            <a:chExt cx="1843088" cy="2665303"/>
          </a:xfrm>
        </p:grpSpPr>
        <p:sp>
          <p:nvSpPr>
            <p:cNvPr id="236556" name="Line 12"/>
            <p:cNvSpPr>
              <a:spLocks noChangeShapeType="1"/>
            </p:cNvSpPr>
            <p:nvPr/>
          </p:nvSpPr>
          <p:spPr bwMode="auto">
            <a:xfrm>
              <a:off x="1709738" y="2770188"/>
              <a:ext cx="0" cy="4095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57" name="Line 13"/>
            <p:cNvSpPr>
              <a:spLocks noChangeShapeType="1"/>
            </p:cNvSpPr>
            <p:nvPr/>
          </p:nvSpPr>
          <p:spPr bwMode="auto">
            <a:xfrm>
              <a:off x="1709738" y="1631950"/>
              <a:ext cx="0" cy="49371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58" name="Line 14"/>
            <p:cNvSpPr>
              <a:spLocks noChangeShapeType="1"/>
            </p:cNvSpPr>
            <p:nvPr/>
          </p:nvSpPr>
          <p:spPr bwMode="auto">
            <a:xfrm flipV="1">
              <a:off x="1709738" y="966788"/>
              <a:ext cx="0" cy="3413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59" name="Line 15"/>
            <p:cNvSpPr>
              <a:spLocks noChangeShapeType="1"/>
            </p:cNvSpPr>
            <p:nvPr/>
          </p:nvSpPr>
          <p:spPr bwMode="auto">
            <a:xfrm>
              <a:off x="871538" y="3179763"/>
              <a:ext cx="838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60" name="Line 16"/>
            <p:cNvSpPr>
              <a:spLocks noChangeShapeType="1"/>
            </p:cNvSpPr>
            <p:nvPr/>
          </p:nvSpPr>
          <p:spPr bwMode="auto">
            <a:xfrm flipH="1">
              <a:off x="871538" y="966788"/>
              <a:ext cx="838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61" name="Rectangle 17"/>
            <p:cNvSpPr>
              <a:spLocks noChangeArrowheads="1"/>
            </p:cNvSpPr>
            <p:nvPr/>
          </p:nvSpPr>
          <p:spPr bwMode="auto">
            <a:xfrm>
              <a:off x="1614488" y="1854200"/>
              <a:ext cx="190500" cy="409575"/>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6562" name="Text Box 18"/>
            <p:cNvSpPr txBox="1">
              <a:spLocks noChangeArrowheads="1"/>
            </p:cNvSpPr>
            <p:nvPr/>
          </p:nvSpPr>
          <p:spPr bwMode="auto">
            <a:xfrm>
              <a:off x="609600" y="947738"/>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a:t>
              </a:r>
            </a:p>
          </p:txBody>
        </p:sp>
        <p:sp>
          <p:nvSpPr>
            <p:cNvPr id="236563" name="Text Box 19"/>
            <p:cNvSpPr txBox="1">
              <a:spLocks noChangeArrowheads="1"/>
            </p:cNvSpPr>
            <p:nvPr/>
          </p:nvSpPr>
          <p:spPr bwMode="auto">
            <a:xfrm>
              <a:off x="711200" y="2617788"/>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_</a:t>
              </a:r>
            </a:p>
          </p:txBody>
        </p:sp>
        <p:sp>
          <p:nvSpPr>
            <p:cNvPr id="236564" name="Text Box 20"/>
            <p:cNvSpPr txBox="1">
              <a:spLocks noChangeArrowheads="1"/>
            </p:cNvSpPr>
            <p:nvPr/>
          </p:nvSpPr>
          <p:spPr bwMode="auto">
            <a:xfrm>
              <a:off x="609600" y="183673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v</a:t>
              </a:r>
              <a:endParaRPr lang="en-US" altLang="zh-CN"/>
            </a:p>
          </p:txBody>
        </p:sp>
        <p:sp>
          <p:nvSpPr>
            <p:cNvPr id="236565" name="Text Box 21"/>
            <p:cNvSpPr txBox="1">
              <a:spLocks noChangeArrowheads="1"/>
            </p:cNvSpPr>
            <p:nvPr/>
          </p:nvSpPr>
          <p:spPr bwMode="auto">
            <a:xfrm>
              <a:off x="1843088" y="117475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R</a:t>
              </a:r>
              <a:r>
                <a:rPr lang="en-US" altLang="zh-CN" baseline="-25000"/>
                <a:t>1</a:t>
              </a:r>
              <a:endParaRPr lang="en-US" altLang="zh-CN"/>
            </a:p>
          </p:txBody>
        </p:sp>
        <p:sp>
          <p:nvSpPr>
            <p:cNvPr id="236566" name="Text Box 22"/>
            <p:cNvSpPr txBox="1">
              <a:spLocks noChangeArrowheads="1"/>
            </p:cNvSpPr>
            <p:nvPr/>
          </p:nvSpPr>
          <p:spPr bwMode="auto">
            <a:xfrm>
              <a:off x="1804988" y="183673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R</a:t>
              </a:r>
              <a:r>
                <a:rPr lang="en-US" altLang="zh-CN" i="1" baseline="-25000"/>
                <a:t>k</a:t>
              </a:r>
              <a:endParaRPr lang="en-US" altLang="zh-CN"/>
            </a:p>
          </p:txBody>
        </p:sp>
        <p:sp>
          <p:nvSpPr>
            <p:cNvPr id="236567" name="Text Box 23"/>
            <p:cNvSpPr txBox="1">
              <a:spLocks noChangeArrowheads="1"/>
            </p:cNvSpPr>
            <p:nvPr/>
          </p:nvSpPr>
          <p:spPr bwMode="auto">
            <a:xfrm>
              <a:off x="1252538" y="1560513"/>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a:t>
              </a:r>
            </a:p>
          </p:txBody>
        </p:sp>
        <p:sp>
          <p:nvSpPr>
            <p:cNvPr id="236568" name="Text Box 24"/>
            <p:cNvSpPr txBox="1">
              <a:spLocks noChangeArrowheads="1"/>
            </p:cNvSpPr>
            <p:nvPr/>
          </p:nvSpPr>
          <p:spPr bwMode="auto">
            <a:xfrm>
              <a:off x="1265238" y="1944688"/>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_</a:t>
              </a:r>
            </a:p>
          </p:txBody>
        </p:sp>
        <p:sp>
          <p:nvSpPr>
            <p:cNvPr id="236569" name="Text Box 25"/>
            <p:cNvSpPr txBox="1">
              <a:spLocks noChangeArrowheads="1"/>
            </p:cNvSpPr>
            <p:nvPr/>
          </p:nvSpPr>
          <p:spPr bwMode="auto">
            <a:xfrm>
              <a:off x="1195388" y="177165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v</a:t>
              </a:r>
              <a:r>
                <a:rPr lang="en-US" altLang="zh-CN" i="1" baseline="-25000"/>
                <a:t>k</a:t>
              </a:r>
              <a:endParaRPr lang="en-US" altLang="zh-CN"/>
            </a:p>
          </p:txBody>
        </p:sp>
        <p:sp>
          <p:nvSpPr>
            <p:cNvPr id="236570" name="Text Box 26"/>
            <p:cNvSpPr txBox="1">
              <a:spLocks noChangeArrowheads="1"/>
            </p:cNvSpPr>
            <p:nvPr/>
          </p:nvSpPr>
          <p:spPr bwMode="auto">
            <a:xfrm>
              <a:off x="1054101" y="569913"/>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dirty="0" err="1"/>
                <a:t>i</a:t>
              </a:r>
              <a:endParaRPr lang="en-US" altLang="zh-CN" i="1" dirty="0"/>
            </a:p>
          </p:txBody>
        </p:sp>
        <p:sp>
          <p:nvSpPr>
            <p:cNvPr id="236571" name="Rectangle 27"/>
            <p:cNvSpPr>
              <a:spLocks noChangeArrowheads="1"/>
            </p:cNvSpPr>
            <p:nvPr/>
          </p:nvSpPr>
          <p:spPr bwMode="auto">
            <a:xfrm>
              <a:off x="1614488" y="1222375"/>
              <a:ext cx="190500" cy="409575"/>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6572" name="Rectangle 28"/>
            <p:cNvSpPr>
              <a:spLocks noChangeArrowheads="1"/>
            </p:cNvSpPr>
            <p:nvPr/>
          </p:nvSpPr>
          <p:spPr bwMode="auto">
            <a:xfrm>
              <a:off x="1614488" y="2532063"/>
              <a:ext cx="190500" cy="409575"/>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6573" name="Text Box 29"/>
            <p:cNvSpPr txBox="1">
              <a:spLocks noChangeArrowheads="1"/>
            </p:cNvSpPr>
            <p:nvPr/>
          </p:nvSpPr>
          <p:spPr bwMode="auto">
            <a:xfrm>
              <a:off x="1843088" y="2582863"/>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R</a:t>
              </a:r>
              <a:r>
                <a:rPr lang="en-US" altLang="zh-CN" i="1" baseline="-25000"/>
                <a:t>n</a:t>
              </a:r>
              <a:endParaRPr lang="en-US" altLang="zh-CN"/>
            </a:p>
          </p:txBody>
        </p:sp>
        <p:sp>
          <p:nvSpPr>
            <p:cNvPr id="236574" name="Line 30"/>
            <p:cNvSpPr>
              <a:spLocks noChangeShapeType="1"/>
            </p:cNvSpPr>
            <p:nvPr/>
          </p:nvSpPr>
          <p:spPr bwMode="auto">
            <a:xfrm>
              <a:off x="1709738" y="2263775"/>
              <a:ext cx="0" cy="2682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575" name="Oval 31"/>
            <p:cNvSpPr>
              <a:spLocks noChangeArrowheads="1"/>
            </p:cNvSpPr>
            <p:nvPr/>
          </p:nvSpPr>
          <p:spPr bwMode="auto">
            <a:xfrm>
              <a:off x="765175" y="917466"/>
              <a:ext cx="107950" cy="10795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36576" name="Oval 32"/>
            <p:cNvSpPr>
              <a:spLocks noChangeArrowheads="1"/>
            </p:cNvSpPr>
            <p:nvPr/>
          </p:nvSpPr>
          <p:spPr bwMode="auto">
            <a:xfrm>
              <a:off x="765175" y="3127266"/>
              <a:ext cx="107950" cy="10795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9" name="Line 54"/>
            <p:cNvSpPr>
              <a:spLocks noChangeShapeType="1"/>
            </p:cNvSpPr>
            <p:nvPr/>
          </p:nvSpPr>
          <p:spPr bwMode="auto">
            <a:xfrm>
              <a:off x="990600" y="962134"/>
              <a:ext cx="457200"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8500275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36550"/>
                                        </p:tgtEl>
                                        <p:attrNameLst>
                                          <p:attrName>style.visibility</p:attrName>
                                        </p:attrNameLst>
                                      </p:cBhvr>
                                      <p:to>
                                        <p:strVal val="visible"/>
                                      </p:to>
                                    </p:set>
                                    <p:animEffect transition="in" filter="barn(inVertical)">
                                      <p:cBhvr>
                                        <p:cTn id="12" dur="500"/>
                                        <p:tgtEl>
                                          <p:spTgt spid="23655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36552"/>
                                        </p:tgtEl>
                                        <p:attrNameLst>
                                          <p:attrName>style.visibility</p:attrName>
                                        </p:attrNameLst>
                                      </p:cBhvr>
                                      <p:to>
                                        <p:strVal val="visible"/>
                                      </p:to>
                                    </p:set>
                                    <p:animEffect transition="in" filter="barn(inVertical)">
                                      <p:cBhvr>
                                        <p:cTn id="17" dur="500"/>
                                        <p:tgtEl>
                                          <p:spTgt spid="23655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36551"/>
                                        </p:tgtEl>
                                        <p:attrNameLst>
                                          <p:attrName>style.visibility</p:attrName>
                                        </p:attrNameLst>
                                      </p:cBhvr>
                                      <p:to>
                                        <p:strVal val="visible"/>
                                      </p:to>
                                    </p:set>
                                    <p:animEffect transition="in" filter="barn(inVertical)">
                                      <p:cBhvr>
                                        <p:cTn id="22" dur="500"/>
                                        <p:tgtEl>
                                          <p:spTgt spid="236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p:cNvSpPr txBox="1">
            <a:spLocks noChangeArrowheads="1"/>
          </p:cNvSpPr>
          <p:nvPr/>
        </p:nvSpPr>
        <p:spPr bwMode="auto">
          <a:xfrm>
            <a:off x="690563" y="923259"/>
            <a:ext cx="1517650" cy="45720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spcBef>
                <a:spcPct val="50000"/>
              </a:spcBef>
            </a:pPr>
            <a:r>
              <a:rPr lang="zh-CN" altLang="en-US">
                <a:latin typeface="楷体_GB2312" pitchFamily="49" charset="-122"/>
                <a:ea typeface="楷体_GB2312" pitchFamily="49" charset="-122"/>
              </a:rPr>
              <a:t>功率</a:t>
            </a:r>
          </a:p>
        </p:txBody>
      </p:sp>
      <p:sp>
        <p:nvSpPr>
          <p:cNvPr id="270339" name="Text Box 3"/>
          <p:cNvSpPr txBox="1">
            <a:spLocks noChangeArrowheads="1"/>
          </p:cNvSpPr>
          <p:nvPr/>
        </p:nvSpPr>
        <p:spPr bwMode="auto">
          <a:xfrm>
            <a:off x="2490788" y="994696"/>
            <a:ext cx="5832475"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i="1" dirty="0">
                <a:latin typeface="+mn-lt"/>
              </a:rPr>
              <a:t>p</a:t>
            </a:r>
            <a:r>
              <a:rPr lang="en-US" altLang="zh-CN" b="0" baseline="-25000" dirty="0">
                <a:latin typeface="+mn-lt"/>
              </a:rPr>
              <a:t>1</a:t>
            </a:r>
            <a:r>
              <a:rPr lang="en-US" altLang="zh-CN" b="0" dirty="0">
                <a:latin typeface="+mn-lt"/>
              </a:rPr>
              <a:t>=</a:t>
            </a:r>
            <a:r>
              <a:rPr lang="en-US" altLang="zh-CN" b="0" i="1" dirty="0">
                <a:latin typeface="+mn-lt"/>
              </a:rPr>
              <a:t>R</a:t>
            </a:r>
            <a:r>
              <a:rPr lang="en-US" altLang="zh-CN" b="0" baseline="-25000" dirty="0">
                <a:latin typeface="+mn-lt"/>
              </a:rPr>
              <a:t>1</a:t>
            </a:r>
            <a:r>
              <a:rPr lang="en-US" altLang="zh-CN" b="0" i="1" dirty="0">
                <a:latin typeface="+mn-lt"/>
              </a:rPr>
              <a:t>i</a:t>
            </a:r>
            <a:r>
              <a:rPr lang="en-US" altLang="zh-CN" b="0" baseline="30000" dirty="0">
                <a:latin typeface="+mn-lt"/>
              </a:rPr>
              <a:t>2</a:t>
            </a:r>
            <a:r>
              <a:rPr lang="zh-CN" altLang="en-US" b="0" dirty="0">
                <a:latin typeface="+mn-lt"/>
              </a:rPr>
              <a:t>， </a:t>
            </a:r>
            <a:r>
              <a:rPr lang="en-US" altLang="zh-CN" b="0" i="1" dirty="0">
                <a:latin typeface="+mn-lt"/>
              </a:rPr>
              <a:t>p</a:t>
            </a:r>
            <a:r>
              <a:rPr lang="en-US" altLang="zh-CN" b="0" baseline="-25000" dirty="0">
                <a:latin typeface="+mn-lt"/>
              </a:rPr>
              <a:t>2</a:t>
            </a:r>
            <a:r>
              <a:rPr lang="en-US" altLang="zh-CN" b="0" dirty="0">
                <a:latin typeface="+mn-lt"/>
              </a:rPr>
              <a:t>=</a:t>
            </a:r>
            <a:r>
              <a:rPr lang="en-US" altLang="zh-CN" b="0" i="1" dirty="0">
                <a:latin typeface="+mn-lt"/>
              </a:rPr>
              <a:t>R</a:t>
            </a:r>
            <a:r>
              <a:rPr lang="en-US" altLang="zh-CN" b="0" baseline="-25000" dirty="0">
                <a:latin typeface="+mn-lt"/>
              </a:rPr>
              <a:t>2</a:t>
            </a:r>
            <a:r>
              <a:rPr lang="en-US" altLang="zh-CN" b="0" i="1" dirty="0">
                <a:latin typeface="+mn-lt"/>
              </a:rPr>
              <a:t>i</a:t>
            </a:r>
            <a:r>
              <a:rPr lang="en-US" altLang="zh-CN" b="0" baseline="30000" dirty="0">
                <a:latin typeface="+mn-lt"/>
              </a:rPr>
              <a:t>2</a:t>
            </a:r>
            <a:r>
              <a:rPr lang="zh-CN" altLang="en-US" b="0" dirty="0">
                <a:latin typeface="+mn-lt"/>
              </a:rPr>
              <a:t>，</a:t>
            </a:r>
            <a:r>
              <a:rPr lang="zh-CN" altLang="en-US" b="0" dirty="0">
                <a:latin typeface="+mn-lt"/>
                <a:sym typeface="Symbol" pitchFamily="18" charset="2"/>
              </a:rPr>
              <a:t>， </a:t>
            </a:r>
            <a:r>
              <a:rPr lang="en-US" altLang="zh-CN" b="0" i="1" dirty="0" err="1">
                <a:latin typeface="+mn-lt"/>
              </a:rPr>
              <a:t>p</a:t>
            </a:r>
            <a:r>
              <a:rPr lang="en-US" altLang="zh-CN" b="0" i="1" baseline="-25000" dirty="0" err="1">
                <a:latin typeface="+mn-lt"/>
              </a:rPr>
              <a:t>n</a:t>
            </a:r>
            <a:r>
              <a:rPr lang="en-US" altLang="zh-CN" b="0" dirty="0">
                <a:latin typeface="+mn-lt"/>
              </a:rPr>
              <a:t>=</a:t>
            </a:r>
            <a:r>
              <a:rPr lang="en-US" altLang="zh-CN" b="0" i="1" dirty="0">
                <a:latin typeface="+mn-lt"/>
              </a:rPr>
              <a:t>R</a:t>
            </a:r>
            <a:r>
              <a:rPr lang="en-US" altLang="zh-CN" b="0" i="1" baseline="-25000" dirty="0">
                <a:latin typeface="+mn-lt"/>
              </a:rPr>
              <a:t>n</a:t>
            </a:r>
            <a:r>
              <a:rPr lang="en-US" altLang="zh-CN" b="0" i="1" dirty="0">
                <a:latin typeface="+mn-lt"/>
              </a:rPr>
              <a:t>i</a:t>
            </a:r>
            <a:r>
              <a:rPr lang="en-US" altLang="zh-CN" b="0" baseline="30000" dirty="0">
                <a:latin typeface="+mn-lt"/>
              </a:rPr>
              <a:t>2</a:t>
            </a:r>
            <a:endParaRPr lang="en-US" altLang="zh-CN" b="0" dirty="0">
              <a:latin typeface="+mn-lt"/>
            </a:endParaRPr>
          </a:p>
        </p:txBody>
      </p:sp>
      <p:sp>
        <p:nvSpPr>
          <p:cNvPr id="270340" name="Text Box 4"/>
          <p:cNvSpPr txBox="1">
            <a:spLocks noChangeArrowheads="1"/>
          </p:cNvSpPr>
          <p:nvPr/>
        </p:nvSpPr>
        <p:spPr bwMode="auto">
          <a:xfrm>
            <a:off x="2490788" y="1570959"/>
            <a:ext cx="5976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i="1"/>
              <a:t>p</a:t>
            </a:r>
            <a:r>
              <a:rPr lang="en-US" altLang="zh-CN" b="0" baseline="-25000"/>
              <a:t>1</a:t>
            </a:r>
            <a:r>
              <a:rPr lang="en-US" altLang="zh-CN" b="0"/>
              <a:t>: </a:t>
            </a:r>
            <a:r>
              <a:rPr lang="en-US" altLang="zh-CN" b="0" i="1"/>
              <a:t>p</a:t>
            </a:r>
            <a:r>
              <a:rPr lang="en-US" altLang="zh-CN" b="0" baseline="-25000"/>
              <a:t>2 </a:t>
            </a:r>
            <a:r>
              <a:rPr lang="en-US" altLang="zh-CN" b="0"/>
              <a:t>: </a:t>
            </a:r>
            <a:r>
              <a:rPr lang="en-US" altLang="zh-CN" b="0">
                <a:sym typeface="Symbol" pitchFamily="18" charset="2"/>
              </a:rPr>
              <a:t> : </a:t>
            </a:r>
            <a:r>
              <a:rPr lang="en-US" altLang="zh-CN" b="0" i="1"/>
              <a:t>p</a:t>
            </a:r>
            <a:r>
              <a:rPr lang="en-US" altLang="zh-CN" b="0" i="1" baseline="-25000"/>
              <a:t>n</a:t>
            </a:r>
            <a:r>
              <a:rPr lang="en-US" altLang="zh-CN" b="0"/>
              <a:t>= </a:t>
            </a:r>
            <a:r>
              <a:rPr lang="en-US" altLang="zh-CN" b="0" i="1"/>
              <a:t>R</a:t>
            </a:r>
            <a:r>
              <a:rPr lang="en-US" altLang="zh-CN" b="0" baseline="-25000"/>
              <a:t>1 </a:t>
            </a:r>
            <a:r>
              <a:rPr lang="en-US" altLang="zh-CN" b="0"/>
              <a:t>: </a:t>
            </a:r>
            <a:r>
              <a:rPr lang="en-US" altLang="zh-CN" b="0" i="1"/>
              <a:t>R</a:t>
            </a:r>
            <a:r>
              <a:rPr lang="en-US" altLang="zh-CN" b="0" baseline="-25000"/>
              <a:t>2  </a:t>
            </a:r>
            <a:r>
              <a:rPr lang="en-US" altLang="zh-CN" b="0"/>
              <a:t>: </a:t>
            </a:r>
            <a:r>
              <a:rPr lang="en-US" altLang="zh-CN" b="0">
                <a:sym typeface="Symbol" pitchFamily="18" charset="2"/>
              </a:rPr>
              <a:t> :</a:t>
            </a:r>
            <a:r>
              <a:rPr lang="en-US" altLang="zh-CN" b="0" i="1"/>
              <a:t>R</a:t>
            </a:r>
            <a:r>
              <a:rPr lang="en-US" altLang="zh-CN" b="0" i="1" baseline="-25000"/>
              <a:t>n</a:t>
            </a:r>
            <a:endParaRPr lang="en-US" altLang="zh-CN" b="0" baseline="30000"/>
          </a:p>
        </p:txBody>
      </p:sp>
      <p:sp>
        <p:nvSpPr>
          <p:cNvPr id="270341" name="Text Box 5"/>
          <p:cNvSpPr txBox="1">
            <a:spLocks noChangeArrowheads="1"/>
          </p:cNvSpPr>
          <p:nvPr/>
        </p:nvSpPr>
        <p:spPr bwMode="auto">
          <a:xfrm>
            <a:off x="690563" y="2220246"/>
            <a:ext cx="7200900" cy="1938992"/>
          </a:xfrm>
          <a:prstGeom prst="rect">
            <a:avLst/>
          </a:prstGeom>
          <a:noFill/>
          <a:ln>
            <a:noFill/>
          </a:ln>
          <a:effectLst/>
          <a:extLst>
            <a:ext uri="{909E8E84-426E-40DD-AFC4-6F175D3DCCD1}">
              <a14:hiddenFill xmlns:a14="http://schemas.microsoft.com/office/drawing/2010/main">
                <a:solidFill>
                  <a:srgbClr val="66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dirty="0">
                <a:ea typeface="楷体_GB2312" pitchFamily="49" charset="-122"/>
              </a:rPr>
              <a:t>总功率</a:t>
            </a:r>
            <a:r>
              <a:rPr lang="zh-CN" altLang="en-US" b="0" dirty="0"/>
              <a:t>         </a:t>
            </a:r>
            <a:r>
              <a:rPr lang="en-US" altLang="zh-CN" b="0" i="1" dirty="0"/>
              <a:t>p </a:t>
            </a:r>
            <a:r>
              <a:rPr lang="en-US" altLang="zh-CN" b="0" dirty="0"/>
              <a:t>= </a:t>
            </a:r>
            <a:r>
              <a:rPr lang="en-US" altLang="zh-CN" b="0" i="1" dirty="0"/>
              <a:t>R</a:t>
            </a:r>
            <a:r>
              <a:rPr lang="en-US" altLang="zh-CN" b="0" i="1" baseline="-25000" dirty="0"/>
              <a:t>eq</a:t>
            </a:r>
            <a:r>
              <a:rPr lang="en-US" altLang="zh-CN" b="0" i="1" dirty="0"/>
              <a:t>i</a:t>
            </a:r>
            <a:r>
              <a:rPr lang="en-US" altLang="zh-CN" b="0" baseline="30000" dirty="0"/>
              <a:t>2 </a:t>
            </a:r>
            <a:r>
              <a:rPr lang="en-US" altLang="zh-CN" b="0" dirty="0"/>
              <a:t>= (</a:t>
            </a:r>
            <a:r>
              <a:rPr lang="en-US" altLang="zh-CN" b="0" i="1" dirty="0"/>
              <a:t>R</a:t>
            </a:r>
            <a:r>
              <a:rPr lang="en-US" altLang="zh-CN" b="0" baseline="-25000" dirty="0"/>
              <a:t>1</a:t>
            </a:r>
            <a:r>
              <a:rPr lang="en-US" altLang="zh-CN" b="0" dirty="0"/>
              <a:t>+ </a:t>
            </a:r>
            <a:r>
              <a:rPr lang="en-US" altLang="zh-CN" b="0" i="1" dirty="0"/>
              <a:t>R</a:t>
            </a:r>
            <a:r>
              <a:rPr lang="en-US" altLang="zh-CN" b="0" baseline="-25000" dirty="0"/>
              <a:t>2</a:t>
            </a:r>
            <a:r>
              <a:rPr lang="en-US" altLang="zh-CN" b="0" dirty="0"/>
              <a:t>+ …+</a:t>
            </a:r>
            <a:r>
              <a:rPr lang="en-US" altLang="zh-CN" b="0" i="1" dirty="0"/>
              <a:t>R</a:t>
            </a:r>
            <a:r>
              <a:rPr lang="en-US" altLang="zh-CN" b="0" i="1" baseline="-25000" dirty="0"/>
              <a:t>n </a:t>
            </a:r>
            <a:r>
              <a:rPr lang="en-US" altLang="zh-CN" b="0" dirty="0"/>
              <a:t>) </a:t>
            </a:r>
            <a:r>
              <a:rPr lang="en-US" altLang="zh-CN" b="0" i="1" dirty="0"/>
              <a:t>i</a:t>
            </a:r>
            <a:r>
              <a:rPr lang="en-US" altLang="zh-CN" b="0" baseline="30000" dirty="0"/>
              <a:t>2</a:t>
            </a:r>
          </a:p>
          <a:p>
            <a:pPr algn="l">
              <a:spcBef>
                <a:spcPct val="50000"/>
              </a:spcBef>
            </a:pPr>
            <a:r>
              <a:rPr lang="en-US" altLang="zh-CN" b="0" dirty="0"/>
              <a:t>                   = </a:t>
            </a:r>
            <a:r>
              <a:rPr lang="en-US" altLang="zh-CN" b="0" i="1" dirty="0"/>
              <a:t>R</a:t>
            </a:r>
            <a:r>
              <a:rPr lang="en-US" altLang="zh-CN" b="0" baseline="-25000" dirty="0"/>
              <a:t>1</a:t>
            </a:r>
            <a:r>
              <a:rPr lang="en-US" altLang="zh-CN" b="0" i="1" dirty="0"/>
              <a:t>i</a:t>
            </a:r>
            <a:r>
              <a:rPr lang="en-US" altLang="zh-CN" b="0" baseline="30000" dirty="0"/>
              <a:t>2</a:t>
            </a:r>
            <a:r>
              <a:rPr lang="en-US" altLang="zh-CN" b="0" dirty="0"/>
              <a:t>+</a:t>
            </a:r>
            <a:r>
              <a:rPr lang="en-US" altLang="zh-CN" b="0" i="1" dirty="0"/>
              <a:t>R</a:t>
            </a:r>
            <a:r>
              <a:rPr lang="en-US" altLang="zh-CN" b="0" baseline="-25000" dirty="0"/>
              <a:t>2</a:t>
            </a:r>
            <a:r>
              <a:rPr lang="en-US" altLang="zh-CN" b="0" i="1" dirty="0"/>
              <a:t>i</a:t>
            </a:r>
            <a:r>
              <a:rPr lang="en-US" altLang="zh-CN" b="0" baseline="30000" dirty="0"/>
              <a:t>2</a:t>
            </a:r>
            <a:r>
              <a:rPr lang="en-US" altLang="zh-CN" b="0" dirty="0"/>
              <a:t>+ </a:t>
            </a:r>
            <a:r>
              <a:rPr lang="en-US" altLang="zh-CN" b="0" dirty="0">
                <a:sym typeface="Symbol" pitchFamily="18" charset="2"/>
              </a:rPr>
              <a:t></a:t>
            </a:r>
            <a:r>
              <a:rPr lang="en-US" altLang="zh-CN" b="0" dirty="0"/>
              <a:t>+</a:t>
            </a:r>
            <a:r>
              <a:rPr lang="en-US" altLang="zh-CN" b="0" i="1" dirty="0"/>
              <a:t>R</a:t>
            </a:r>
            <a:r>
              <a:rPr lang="en-US" altLang="zh-CN" b="0" i="1" baseline="-25000" dirty="0"/>
              <a:t>n</a:t>
            </a:r>
            <a:r>
              <a:rPr lang="en-US" altLang="zh-CN" b="0" i="1" dirty="0"/>
              <a:t>i</a:t>
            </a:r>
            <a:r>
              <a:rPr lang="en-US" altLang="zh-CN" b="0" baseline="30000" dirty="0"/>
              <a:t>2</a:t>
            </a:r>
          </a:p>
          <a:p>
            <a:pPr algn="l">
              <a:spcBef>
                <a:spcPct val="50000"/>
              </a:spcBef>
            </a:pPr>
            <a:r>
              <a:rPr lang="en-US" altLang="zh-CN" b="0" dirty="0"/>
              <a:t>                   = </a:t>
            </a:r>
            <a:r>
              <a:rPr lang="en-US" altLang="zh-CN" b="0" i="1" dirty="0"/>
              <a:t>p</a:t>
            </a:r>
            <a:r>
              <a:rPr lang="en-US" altLang="zh-CN" b="0" baseline="-25000" dirty="0"/>
              <a:t>1</a:t>
            </a:r>
            <a:r>
              <a:rPr lang="en-US" altLang="zh-CN" b="0" dirty="0"/>
              <a:t>+ </a:t>
            </a:r>
            <a:r>
              <a:rPr lang="en-US" altLang="zh-CN" b="0" i="1" dirty="0"/>
              <a:t>p</a:t>
            </a:r>
            <a:r>
              <a:rPr lang="en-US" altLang="zh-CN" b="0" baseline="-25000" dirty="0"/>
              <a:t>2</a:t>
            </a:r>
            <a:r>
              <a:rPr lang="en-US" altLang="zh-CN" b="0" dirty="0"/>
              <a:t>+</a:t>
            </a:r>
            <a:r>
              <a:rPr lang="en-US" altLang="zh-CN" b="0" dirty="0">
                <a:sym typeface="Symbol" pitchFamily="18" charset="2"/>
              </a:rPr>
              <a:t>+ </a:t>
            </a:r>
            <a:r>
              <a:rPr lang="en-US" altLang="zh-CN" b="0" i="1" dirty="0" err="1"/>
              <a:t>p</a:t>
            </a:r>
            <a:r>
              <a:rPr lang="en-US" altLang="zh-CN" b="0" i="1" baseline="-25000" dirty="0" err="1"/>
              <a:t>n</a:t>
            </a:r>
            <a:endParaRPr lang="en-US" altLang="zh-CN" b="0" dirty="0"/>
          </a:p>
          <a:p>
            <a:pPr algn="l">
              <a:spcBef>
                <a:spcPct val="50000"/>
              </a:spcBef>
            </a:pPr>
            <a:endParaRPr lang="en-US" altLang="zh-CN" b="0" baseline="30000" dirty="0"/>
          </a:p>
        </p:txBody>
      </p:sp>
      <p:sp>
        <p:nvSpPr>
          <p:cNvPr id="270342" name="Text Box 6"/>
          <p:cNvSpPr txBox="1">
            <a:spLocks noChangeArrowheads="1"/>
          </p:cNvSpPr>
          <p:nvPr/>
        </p:nvSpPr>
        <p:spPr bwMode="auto">
          <a:xfrm>
            <a:off x="990600" y="5499482"/>
            <a:ext cx="7561263" cy="8826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lnSpc>
                <a:spcPct val="120000"/>
              </a:lnSpc>
              <a:spcBef>
                <a:spcPct val="20000"/>
              </a:spcBef>
              <a:buFontTx/>
              <a:buAutoNum type="circleNumDbPlain"/>
            </a:pPr>
            <a:r>
              <a:rPr kumimoji="0" lang="zh-CN" altLang="en-US" sz="2000">
                <a:solidFill>
                  <a:srgbClr val="0066FF"/>
                </a:solidFill>
                <a:latin typeface="楷体_GB2312" pitchFamily="49" charset="-122"/>
                <a:ea typeface="楷体_GB2312" pitchFamily="49" charset="-122"/>
              </a:rPr>
              <a:t>电阻串联时，各电阻消耗的功率与电阻大小成正比；</a:t>
            </a:r>
          </a:p>
          <a:p>
            <a:pPr>
              <a:lnSpc>
                <a:spcPct val="120000"/>
              </a:lnSpc>
              <a:spcBef>
                <a:spcPct val="20000"/>
              </a:spcBef>
              <a:buFontTx/>
              <a:buAutoNum type="circleNumDbPlain"/>
            </a:pPr>
            <a:r>
              <a:rPr kumimoji="0" lang="zh-CN" altLang="en-US" sz="2000">
                <a:solidFill>
                  <a:srgbClr val="0066FF"/>
                </a:solidFill>
                <a:latin typeface="楷体_GB2312" pitchFamily="49" charset="-122"/>
                <a:ea typeface="楷体_GB2312" pitchFamily="49" charset="-122"/>
              </a:rPr>
              <a:t>等效电阻消耗的功率等于各串联电阻消耗功率的总和。</a:t>
            </a:r>
          </a:p>
        </p:txBody>
      </p:sp>
      <p:grpSp>
        <p:nvGrpSpPr>
          <p:cNvPr id="270343" name="Group 7"/>
          <p:cNvGrpSpPr>
            <a:grpSpLocks/>
          </p:cNvGrpSpPr>
          <p:nvPr/>
        </p:nvGrpSpPr>
        <p:grpSpPr bwMode="auto">
          <a:xfrm>
            <a:off x="304800" y="4645407"/>
            <a:ext cx="1441450" cy="850900"/>
            <a:chOff x="385" y="3022"/>
            <a:chExt cx="908" cy="536"/>
          </a:xfrm>
        </p:grpSpPr>
        <p:pic>
          <p:nvPicPr>
            <p:cNvPr id="270344" name="Picture 8" descr="1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270345" name="Text Box 9"/>
            <p:cNvSpPr txBox="1">
              <a:spLocks noChangeArrowheads="1"/>
            </p:cNvSpPr>
            <p:nvPr/>
          </p:nvSpPr>
          <p:spPr bwMode="auto">
            <a:xfrm>
              <a:off x="793" y="3182"/>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0">
                  <a:solidFill>
                    <a:srgbClr val="FF3300"/>
                  </a:solidFill>
                  <a:ea typeface="华文行楷" pitchFamily="2" charset="-122"/>
                </a:rPr>
                <a:t>表明</a:t>
              </a:r>
            </a:p>
          </p:txBody>
        </p:sp>
      </p:grpSp>
      <p:sp>
        <p:nvSpPr>
          <p:cNvPr id="270346" name="Text Box 10"/>
          <p:cNvSpPr txBox="1">
            <a:spLocks noChangeArrowheads="1"/>
          </p:cNvSpPr>
          <p:nvPr/>
        </p:nvSpPr>
        <p:spPr bwMode="auto">
          <a:xfrm>
            <a:off x="285750" y="258096"/>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accent2"/>
                </a:solidFill>
              </a:rPr>
              <a:t>3.  </a:t>
            </a:r>
            <a:r>
              <a:rPr lang="zh-CN" altLang="en-US">
                <a:solidFill>
                  <a:schemeClr val="accent2"/>
                </a:solidFill>
              </a:rPr>
              <a:t>功率分配</a:t>
            </a:r>
            <a:endParaRPr lang="zh-CN" altLang="en-US"/>
          </a:p>
        </p:txBody>
      </p:sp>
    </p:spTree>
    <p:extLst>
      <p:ext uri="{BB962C8B-B14F-4D97-AF65-F5344CB8AC3E}">
        <p14:creationId xmlns:p14="http://schemas.microsoft.com/office/powerpoint/2010/main" val="2198062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70338"/>
                                        </p:tgtEl>
                                        <p:attrNameLst>
                                          <p:attrName>style.visibility</p:attrName>
                                        </p:attrNameLst>
                                      </p:cBhvr>
                                      <p:to>
                                        <p:strVal val="visible"/>
                                      </p:to>
                                    </p:set>
                                    <p:anim calcmode="lin" valueType="num">
                                      <p:cBhvr additive="base">
                                        <p:cTn id="7" dur="500" fill="hold"/>
                                        <p:tgtEl>
                                          <p:spTgt spid="270338"/>
                                        </p:tgtEl>
                                        <p:attrNameLst>
                                          <p:attrName>ppt_x</p:attrName>
                                        </p:attrNameLst>
                                      </p:cBhvr>
                                      <p:tavLst>
                                        <p:tav tm="0">
                                          <p:val>
                                            <p:strVal val="0-#ppt_w/2"/>
                                          </p:val>
                                        </p:tav>
                                        <p:tav tm="100000">
                                          <p:val>
                                            <p:strVal val="#ppt_x"/>
                                          </p:val>
                                        </p:tav>
                                      </p:tavLst>
                                    </p:anim>
                                    <p:anim calcmode="lin" valueType="num">
                                      <p:cBhvr additive="base">
                                        <p:cTn id="8" dur="500" fill="hold"/>
                                        <p:tgtEl>
                                          <p:spTgt spid="27033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0339"/>
                                        </p:tgtEl>
                                        <p:attrNameLst>
                                          <p:attrName>style.visibility</p:attrName>
                                        </p:attrNameLst>
                                      </p:cBhvr>
                                      <p:to>
                                        <p:strVal val="visible"/>
                                      </p:to>
                                    </p:set>
                                    <p:animEffect transition="in" filter="wipe(left)">
                                      <p:cBhvr>
                                        <p:cTn id="13" dur="3000"/>
                                        <p:tgtEl>
                                          <p:spTgt spid="27033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0340"/>
                                        </p:tgtEl>
                                        <p:attrNameLst>
                                          <p:attrName>style.visibility</p:attrName>
                                        </p:attrNameLst>
                                      </p:cBhvr>
                                      <p:to>
                                        <p:strVal val="visible"/>
                                      </p:to>
                                    </p:set>
                                    <p:animEffect transition="in" filter="wipe(left)">
                                      <p:cBhvr>
                                        <p:cTn id="18" dur="3000"/>
                                        <p:tgtEl>
                                          <p:spTgt spid="2703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70341"/>
                                        </p:tgtEl>
                                        <p:attrNameLst>
                                          <p:attrName>style.visibility</p:attrName>
                                        </p:attrNameLst>
                                      </p:cBhvr>
                                      <p:to>
                                        <p:strVal val="visible"/>
                                      </p:to>
                                    </p:set>
                                    <p:animEffect transition="in" filter="blinds(horizontal)">
                                      <p:cBhvr>
                                        <p:cTn id="23" dur="500"/>
                                        <p:tgtEl>
                                          <p:spTgt spid="27034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70343"/>
                                        </p:tgtEl>
                                        <p:attrNameLst>
                                          <p:attrName>style.visibility</p:attrName>
                                        </p:attrNameLst>
                                      </p:cBhvr>
                                      <p:to>
                                        <p:strVal val="visible"/>
                                      </p:to>
                                    </p:set>
                                    <p:animEffect transition="in" filter="blinds(horizontal)">
                                      <p:cBhvr>
                                        <p:cTn id="28" dur="500"/>
                                        <p:tgtEl>
                                          <p:spTgt spid="270343"/>
                                        </p:tgtEl>
                                      </p:cBhvr>
                                    </p:animEffect>
                                  </p:childTnLst>
                                </p:cTn>
                              </p:par>
                            </p:childTnLst>
                          </p:cTn>
                        </p:par>
                        <p:par>
                          <p:cTn id="29" fill="hold">
                            <p:stCondLst>
                              <p:cond delay="500"/>
                            </p:stCondLst>
                            <p:childTnLst>
                              <p:par>
                                <p:cTn id="30" presetID="17" presetClass="entr" presetSubtype="10" fill="hold" grpId="0" nodeType="afterEffect">
                                  <p:stCondLst>
                                    <p:cond delay="0"/>
                                  </p:stCondLst>
                                  <p:iterate type="lt">
                                    <p:tmPct val="100000"/>
                                  </p:iterate>
                                  <p:childTnLst>
                                    <p:set>
                                      <p:cBhvr>
                                        <p:cTn id="31" dur="1" fill="hold">
                                          <p:stCondLst>
                                            <p:cond delay="0"/>
                                          </p:stCondLst>
                                        </p:cTn>
                                        <p:tgtEl>
                                          <p:spTgt spid="270342"/>
                                        </p:tgtEl>
                                        <p:attrNameLst>
                                          <p:attrName>style.visibility</p:attrName>
                                        </p:attrNameLst>
                                      </p:cBhvr>
                                      <p:to>
                                        <p:strVal val="visible"/>
                                      </p:to>
                                    </p:set>
                                    <p:anim calcmode="lin" valueType="num">
                                      <p:cBhvr>
                                        <p:cTn id="32" dur="100" fill="hold"/>
                                        <p:tgtEl>
                                          <p:spTgt spid="270342"/>
                                        </p:tgtEl>
                                        <p:attrNameLst>
                                          <p:attrName>ppt_w</p:attrName>
                                        </p:attrNameLst>
                                      </p:cBhvr>
                                      <p:tavLst>
                                        <p:tav tm="0">
                                          <p:val>
                                            <p:fltVal val="0"/>
                                          </p:val>
                                        </p:tav>
                                        <p:tav tm="100000">
                                          <p:val>
                                            <p:strVal val="#ppt_w"/>
                                          </p:val>
                                        </p:tav>
                                      </p:tavLst>
                                    </p:anim>
                                    <p:anim calcmode="lin" valueType="num">
                                      <p:cBhvr>
                                        <p:cTn id="33" dur="100" fill="hold"/>
                                        <p:tgtEl>
                                          <p:spTgt spid="2703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8" grpId="0"/>
      <p:bldP spid="270339" grpId="0"/>
      <p:bldP spid="270340" grpId="0" autoUpdateAnimBg="0"/>
      <p:bldP spid="270341" grpId="0"/>
      <p:bldP spid="2703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Text Box 2"/>
          <p:cNvSpPr txBox="1">
            <a:spLocks noChangeArrowheads="1"/>
          </p:cNvSpPr>
          <p:nvPr/>
        </p:nvSpPr>
        <p:spPr bwMode="auto">
          <a:xfrm>
            <a:off x="457199" y="514350"/>
            <a:ext cx="7038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dirty="0" smtClean="0">
                <a:solidFill>
                  <a:srgbClr val="A50021"/>
                </a:solidFill>
              </a:rPr>
              <a:t>二、电阻</a:t>
            </a:r>
            <a:r>
              <a:rPr lang="zh-CN" altLang="en-US" dirty="0">
                <a:solidFill>
                  <a:srgbClr val="A50021"/>
                </a:solidFill>
              </a:rPr>
              <a:t>并联 </a:t>
            </a:r>
            <a:r>
              <a:rPr lang="en-US" altLang="zh-CN" dirty="0" smtClean="0"/>
              <a:t>( Parallel Connection of Resistors )</a:t>
            </a:r>
            <a:endParaRPr lang="en-US" altLang="zh-CN" dirty="0"/>
          </a:p>
        </p:txBody>
      </p:sp>
      <p:sp>
        <p:nvSpPr>
          <p:cNvPr id="237572" name="Text Box 4"/>
          <p:cNvSpPr txBox="1">
            <a:spLocks noChangeArrowheads="1"/>
          </p:cNvSpPr>
          <p:nvPr/>
        </p:nvSpPr>
        <p:spPr bwMode="auto">
          <a:xfrm>
            <a:off x="673100" y="1116013"/>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solidFill>
                  <a:schemeClr val="accent2"/>
                </a:solidFill>
              </a:rPr>
              <a:t>1. </a:t>
            </a:r>
            <a:r>
              <a:rPr lang="zh-CN" altLang="en-US" dirty="0">
                <a:solidFill>
                  <a:schemeClr val="accent2"/>
                </a:solidFill>
              </a:rPr>
              <a:t>电路特点</a:t>
            </a:r>
            <a:r>
              <a:rPr lang="en-US" altLang="zh-CN" dirty="0">
                <a:solidFill>
                  <a:schemeClr val="accent2"/>
                </a:solidFill>
              </a:rPr>
              <a:t>:</a:t>
            </a:r>
          </a:p>
        </p:txBody>
      </p:sp>
      <p:sp>
        <p:nvSpPr>
          <p:cNvPr id="237573" name="Text Box 5"/>
          <p:cNvSpPr txBox="1">
            <a:spLocks noChangeArrowheads="1"/>
          </p:cNvSpPr>
          <p:nvPr/>
        </p:nvSpPr>
        <p:spPr bwMode="auto">
          <a:xfrm>
            <a:off x="1062038" y="1585913"/>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t>(a) </a:t>
            </a:r>
            <a:r>
              <a:rPr lang="zh-CN" altLang="zh-CN" dirty="0"/>
              <a:t>各电阻两端分别接在一起，两端为同一电压 </a:t>
            </a:r>
            <a:r>
              <a:rPr lang="en-US" altLang="zh-CN" dirty="0"/>
              <a:t>(KVL)</a:t>
            </a:r>
            <a:r>
              <a:rPr lang="zh-CN" altLang="en-US" dirty="0"/>
              <a:t>；</a:t>
            </a:r>
          </a:p>
        </p:txBody>
      </p:sp>
      <p:sp>
        <p:nvSpPr>
          <p:cNvPr id="237574" name="Text Box 6"/>
          <p:cNvSpPr txBox="1">
            <a:spLocks noChangeArrowheads="1"/>
          </p:cNvSpPr>
          <p:nvPr/>
        </p:nvSpPr>
        <p:spPr bwMode="auto">
          <a:xfrm>
            <a:off x="1047750" y="2082800"/>
            <a:ext cx="754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t>(b) </a:t>
            </a:r>
            <a:r>
              <a:rPr lang="zh-CN" altLang="en-US" dirty="0"/>
              <a:t>总电流等于流过各并联电阻的电流之和</a:t>
            </a:r>
            <a:r>
              <a:rPr lang="zh-CN" altLang="zh-CN" dirty="0"/>
              <a:t> </a:t>
            </a:r>
            <a:r>
              <a:rPr lang="en-US" altLang="zh-CN" dirty="0"/>
              <a:t>(KCL)</a:t>
            </a:r>
            <a:r>
              <a:rPr lang="zh-CN" altLang="en-US" dirty="0"/>
              <a:t>。</a:t>
            </a:r>
          </a:p>
        </p:txBody>
      </p:sp>
      <p:grpSp>
        <p:nvGrpSpPr>
          <p:cNvPr id="9" name="Group 2"/>
          <p:cNvGrpSpPr>
            <a:grpSpLocks/>
          </p:cNvGrpSpPr>
          <p:nvPr/>
        </p:nvGrpSpPr>
        <p:grpSpPr bwMode="auto">
          <a:xfrm>
            <a:off x="1143000" y="5248275"/>
            <a:ext cx="6553200" cy="476250"/>
            <a:chOff x="720" y="1884"/>
            <a:chExt cx="4128" cy="300"/>
          </a:xfrm>
        </p:grpSpPr>
        <p:sp>
          <p:nvSpPr>
            <p:cNvPr id="10" name="Text Box 3"/>
            <p:cNvSpPr txBox="1">
              <a:spLocks noChangeArrowheads="1"/>
            </p:cNvSpPr>
            <p:nvPr/>
          </p:nvSpPr>
          <p:spPr bwMode="auto">
            <a:xfrm>
              <a:off x="720" y="1884"/>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dirty="0"/>
                <a:t>由</a:t>
              </a:r>
              <a:r>
                <a:rPr lang="en-US" altLang="zh-CN" dirty="0"/>
                <a:t>KCL:</a:t>
              </a:r>
            </a:p>
          </p:txBody>
        </p:sp>
        <p:sp>
          <p:nvSpPr>
            <p:cNvPr id="11" name="Text Box 4"/>
            <p:cNvSpPr txBox="1">
              <a:spLocks noChangeArrowheads="1"/>
            </p:cNvSpPr>
            <p:nvPr/>
          </p:nvSpPr>
          <p:spPr bwMode="auto">
            <a:xfrm>
              <a:off x="1920" y="1896"/>
              <a:ext cx="29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dirty="0" err="1"/>
                <a:t>i</a:t>
              </a:r>
              <a:r>
                <a:rPr lang="en-US" altLang="zh-CN" i="1" dirty="0"/>
                <a:t> </a:t>
              </a:r>
              <a:r>
                <a:rPr lang="en-US" altLang="zh-CN" i="1" dirty="0" smtClean="0"/>
                <a:t>=</a:t>
              </a:r>
              <a:r>
                <a:rPr lang="en-US" altLang="zh-CN" dirty="0">
                  <a:sym typeface="Symbol" pitchFamily="18" charset="2"/>
                </a:rPr>
                <a:t> </a:t>
              </a:r>
              <a:r>
                <a:rPr lang="en-US" altLang="zh-CN" i="1" dirty="0" smtClean="0"/>
                <a:t> </a:t>
              </a:r>
              <a:r>
                <a:rPr lang="en-US" altLang="zh-CN" i="1" dirty="0" err="1" smtClean="0"/>
                <a:t>i</a:t>
              </a:r>
              <a:r>
                <a:rPr lang="en-US" altLang="zh-CN" i="1" baseline="-25000" dirty="0" err="1" smtClean="0"/>
                <a:t>k</a:t>
              </a:r>
              <a:r>
                <a:rPr lang="en-US" altLang="zh-CN" i="1" dirty="0" smtClean="0"/>
                <a:t>= </a:t>
              </a:r>
              <a:r>
                <a:rPr lang="en-US" altLang="zh-CN" i="1" dirty="0"/>
                <a:t>v </a:t>
              </a:r>
              <a:r>
                <a:rPr lang="en-US" altLang="zh-CN" dirty="0"/>
                <a:t>/</a:t>
              </a:r>
              <a:r>
                <a:rPr lang="en-US" altLang="zh-CN" i="1" dirty="0"/>
                <a:t> </a:t>
              </a:r>
              <a:r>
                <a:rPr lang="en-US" altLang="zh-CN" i="1" dirty="0" err="1"/>
                <a:t>R</a:t>
              </a:r>
              <a:r>
                <a:rPr lang="en-US" altLang="zh-CN" i="1" baseline="-25000" dirty="0" err="1"/>
                <a:t>eq</a:t>
              </a:r>
              <a:endParaRPr lang="en-US" altLang="zh-CN" i="1" baseline="-25000" dirty="0"/>
            </a:p>
          </p:txBody>
        </p:sp>
      </p:grpSp>
      <p:sp>
        <p:nvSpPr>
          <p:cNvPr id="13" name="Text Box 6"/>
          <p:cNvSpPr txBox="1">
            <a:spLocks noChangeArrowheads="1"/>
          </p:cNvSpPr>
          <p:nvPr/>
        </p:nvSpPr>
        <p:spPr bwMode="auto">
          <a:xfrm>
            <a:off x="1220788" y="5883275"/>
            <a:ext cx="7370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i="1" dirty="0"/>
              <a:t>v</a:t>
            </a:r>
            <a:r>
              <a:rPr lang="en-US" altLang="zh-CN" dirty="0"/>
              <a:t>/</a:t>
            </a:r>
            <a:r>
              <a:rPr lang="en-US" altLang="zh-CN" i="1" dirty="0" err="1"/>
              <a:t>R</a:t>
            </a:r>
            <a:r>
              <a:rPr lang="en-US" altLang="zh-CN" i="1" baseline="-25000" dirty="0" err="1"/>
              <a:t>eq</a:t>
            </a:r>
            <a:r>
              <a:rPr lang="en-US" altLang="zh-CN" i="1" dirty="0"/>
              <a:t>= </a:t>
            </a:r>
            <a:r>
              <a:rPr lang="en-US" altLang="zh-CN" i="1" dirty="0" err="1"/>
              <a:t>i</a:t>
            </a:r>
            <a:r>
              <a:rPr lang="en-US" altLang="zh-CN" i="1" dirty="0"/>
              <a:t> = </a:t>
            </a:r>
            <a:r>
              <a:rPr lang="en-US" altLang="zh-CN" dirty="0">
                <a:sym typeface="Symbol" pitchFamily="18" charset="2"/>
              </a:rPr>
              <a:t></a:t>
            </a:r>
            <a:r>
              <a:rPr lang="en-US" altLang="zh-CN" dirty="0">
                <a:solidFill>
                  <a:srgbClr val="FF0000"/>
                </a:solidFill>
                <a:sym typeface="Symbol" pitchFamily="18" charset="2"/>
              </a:rPr>
              <a:t> </a:t>
            </a:r>
            <a:r>
              <a:rPr lang="en-US" altLang="zh-CN" i="1" dirty="0" smtClean="0"/>
              <a:t>v</a:t>
            </a:r>
            <a:r>
              <a:rPr lang="en-US" altLang="zh-CN" dirty="0" smtClean="0"/>
              <a:t>/</a:t>
            </a:r>
            <a:r>
              <a:rPr lang="en-US" altLang="zh-CN" i="1" dirty="0" err="1" smtClean="0"/>
              <a:t>R</a:t>
            </a:r>
            <a:r>
              <a:rPr lang="en-US" altLang="zh-CN" i="1" baseline="-25000" dirty="0" err="1" smtClean="0"/>
              <a:t>k</a:t>
            </a:r>
            <a:r>
              <a:rPr lang="en-US" altLang="zh-CN" i="1" dirty="0" smtClean="0"/>
              <a:t> = v</a:t>
            </a:r>
            <a:r>
              <a:rPr lang="en-US" altLang="zh-CN" dirty="0">
                <a:sym typeface="Symbol" pitchFamily="18" charset="2"/>
              </a:rPr>
              <a:t> </a:t>
            </a:r>
            <a:r>
              <a:rPr lang="en-US" altLang="zh-CN" dirty="0" smtClean="0">
                <a:sym typeface="Symbol" pitchFamily="18" charset="2"/>
              </a:rPr>
              <a:t></a:t>
            </a:r>
            <a:r>
              <a:rPr lang="en-US" altLang="zh-CN" dirty="0" smtClean="0"/>
              <a:t>1/</a:t>
            </a:r>
            <a:r>
              <a:rPr lang="en-US" altLang="zh-CN" i="1" dirty="0" err="1" smtClean="0"/>
              <a:t>R</a:t>
            </a:r>
            <a:r>
              <a:rPr lang="en-US" altLang="zh-CN" i="1" baseline="-25000" dirty="0" err="1" smtClean="0"/>
              <a:t>k</a:t>
            </a:r>
            <a:endParaRPr lang="en-US" altLang="zh-CN" dirty="0"/>
          </a:p>
        </p:txBody>
      </p:sp>
      <p:grpSp>
        <p:nvGrpSpPr>
          <p:cNvPr id="16" name="Group 9"/>
          <p:cNvGrpSpPr>
            <a:grpSpLocks/>
          </p:cNvGrpSpPr>
          <p:nvPr/>
        </p:nvGrpSpPr>
        <p:grpSpPr bwMode="auto">
          <a:xfrm>
            <a:off x="771525" y="2640013"/>
            <a:ext cx="5043488" cy="2147888"/>
            <a:chOff x="1083" y="601"/>
            <a:chExt cx="3177" cy="1353"/>
          </a:xfrm>
        </p:grpSpPr>
        <p:sp>
          <p:nvSpPr>
            <p:cNvPr id="17" name="Text Box 10"/>
            <p:cNvSpPr txBox="1">
              <a:spLocks noChangeArrowheads="1"/>
            </p:cNvSpPr>
            <p:nvPr/>
          </p:nvSpPr>
          <p:spPr bwMode="auto">
            <a:xfrm>
              <a:off x="3936" y="96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dirty="0"/>
                <a:t>i</a:t>
              </a:r>
              <a:r>
                <a:rPr lang="en-US" altLang="zh-CN" i="1" baseline="-25000" dirty="0"/>
                <a:t>n</a:t>
              </a:r>
              <a:endParaRPr lang="en-US" altLang="zh-CN" i="1" dirty="0"/>
            </a:p>
          </p:txBody>
        </p:sp>
        <p:sp>
          <p:nvSpPr>
            <p:cNvPr id="18" name="Line 11"/>
            <p:cNvSpPr>
              <a:spLocks noChangeShapeType="1"/>
            </p:cNvSpPr>
            <p:nvPr/>
          </p:nvSpPr>
          <p:spPr bwMode="auto">
            <a:xfrm>
              <a:off x="1296" y="960"/>
              <a:ext cx="110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Line 12"/>
            <p:cNvSpPr>
              <a:spLocks noChangeShapeType="1"/>
            </p:cNvSpPr>
            <p:nvPr/>
          </p:nvSpPr>
          <p:spPr bwMode="auto">
            <a:xfrm rot="-5400000">
              <a:off x="1354" y="1440"/>
              <a:ext cx="960" cy="0"/>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3"/>
            <p:cNvSpPr>
              <a:spLocks noChangeShapeType="1"/>
            </p:cNvSpPr>
            <p:nvPr/>
          </p:nvSpPr>
          <p:spPr bwMode="auto">
            <a:xfrm rot="-5400000">
              <a:off x="1790" y="1440"/>
              <a:ext cx="960" cy="0"/>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4"/>
            <p:cNvSpPr>
              <a:spLocks noChangeShapeType="1"/>
            </p:cNvSpPr>
            <p:nvPr/>
          </p:nvSpPr>
          <p:spPr bwMode="auto">
            <a:xfrm>
              <a:off x="1296" y="1920"/>
              <a:ext cx="110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Line 15"/>
            <p:cNvSpPr>
              <a:spLocks noChangeShapeType="1"/>
            </p:cNvSpPr>
            <p:nvPr/>
          </p:nvSpPr>
          <p:spPr bwMode="auto">
            <a:xfrm>
              <a:off x="2400" y="960"/>
              <a:ext cx="38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Line 16"/>
            <p:cNvSpPr>
              <a:spLocks noChangeShapeType="1"/>
            </p:cNvSpPr>
            <p:nvPr/>
          </p:nvSpPr>
          <p:spPr bwMode="auto">
            <a:xfrm>
              <a:off x="2414" y="1920"/>
              <a:ext cx="38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Line 17"/>
            <p:cNvSpPr>
              <a:spLocks noChangeShapeType="1"/>
            </p:cNvSpPr>
            <p:nvPr/>
          </p:nvSpPr>
          <p:spPr bwMode="auto">
            <a:xfrm>
              <a:off x="2798" y="960"/>
              <a:ext cx="38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Line 18"/>
            <p:cNvSpPr>
              <a:spLocks noChangeShapeType="1"/>
            </p:cNvSpPr>
            <p:nvPr/>
          </p:nvSpPr>
          <p:spPr bwMode="auto">
            <a:xfrm rot="-5400000">
              <a:off x="2506" y="1440"/>
              <a:ext cx="960" cy="0"/>
            </a:xfrm>
            <a:prstGeom prst="line">
              <a:avLst/>
            </a:prstGeom>
            <a:noFill/>
            <a:ln w="1905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9"/>
            <p:cNvSpPr>
              <a:spLocks noChangeShapeType="1"/>
            </p:cNvSpPr>
            <p:nvPr/>
          </p:nvSpPr>
          <p:spPr bwMode="auto">
            <a:xfrm>
              <a:off x="2798" y="1920"/>
              <a:ext cx="38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Line 20"/>
            <p:cNvSpPr>
              <a:spLocks noChangeShapeType="1"/>
            </p:cNvSpPr>
            <p:nvPr/>
          </p:nvSpPr>
          <p:spPr bwMode="auto">
            <a:xfrm>
              <a:off x="3134" y="960"/>
              <a:ext cx="38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Line 21"/>
            <p:cNvSpPr>
              <a:spLocks noChangeShapeType="1"/>
            </p:cNvSpPr>
            <p:nvPr/>
          </p:nvSpPr>
          <p:spPr bwMode="auto">
            <a:xfrm>
              <a:off x="3182" y="1920"/>
              <a:ext cx="38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Line 22"/>
            <p:cNvSpPr>
              <a:spLocks noChangeShapeType="1"/>
            </p:cNvSpPr>
            <p:nvPr/>
          </p:nvSpPr>
          <p:spPr bwMode="auto">
            <a:xfrm>
              <a:off x="3518" y="960"/>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Line 23"/>
            <p:cNvSpPr>
              <a:spLocks noChangeShapeType="1"/>
            </p:cNvSpPr>
            <p:nvPr/>
          </p:nvSpPr>
          <p:spPr bwMode="auto">
            <a:xfrm>
              <a:off x="3518" y="1920"/>
              <a:ext cx="3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Line 24"/>
            <p:cNvSpPr>
              <a:spLocks noChangeShapeType="1"/>
            </p:cNvSpPr>
            <p:nvPr/>
          </p:nvSpPr>
          <p:spPr bwMode="auto">
            <a:xfrm rot="-5400000">
              <a:off x="3374" y="1440"/>
              <a:ext cx="9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Rectangle 25"/>
            <p:cNvSpPr>
              <a:spLocks noChangeArrowheads="1"/>
            </p:cNvSpPr>
            <p:nvPr/>
          </p:nvSpPr>
          <p:spPr bwMode="auto">
            <a:xfrm>
              <a:off x="1512" y="1248"/>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i="1"/>
                <a:t>R</a:t>
              </a:r>
              <a:r>
                <a:rPr lang="en-US" altLang="zh-CN" baseline="-25000"/>
                <a:t>1</a:t>
              </a:r>
              <a:endParaRPr lang="en-US" altLang="zh-CN" i="1" baseline="-25000"/>
            </a:p>
          </p:txBody>
        </p:sp>
        <p:sp>
          <p:nvSpPr>
            <p:cNvPr id="33" name="Rectangle 26"/>
            <p:cNvSpPr>
              <a:spLocks noChangeArrowheads="1"/>
            </p:cNvSpPr>
            <p:nvPr/>
          </p:nvSpPr>
          <p:spPr bwMode="auto">
            <a:xfrm>
              <a:off x="1915" y="1248"/>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i="1"/>
                <a:t>R</a:t>
              </a:r>
              <a:r>
                <a:rPr lang="en-US" altLang="zh-CN" baseline="-25000"/>
                <a:t>2</a:t>
              </a:r>
              <a:endParaRPr lang="en-US" altLang="zh-CN" i="1" baseline="-25000"/>
            </a:p>
          </p:txBody>
        </p:sp>
        <p:sp>
          <p:nvSpPr>
            <p:cNvPr id="34" name="Rectangle 27"/>
            <p:cNvSpPr>
              <a:spLocks noChangeArrowheads="1"/>
            </p:cNvSpPr>
            <p:nvPr/>
          </p:nvSpPr>
          <p:spPr bwMode="auto">
            <a:xfrm>
              <a:off x="2634" y="1248"/>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i="1"/>
                <a:t>R</a:t>
              </a:r>
              <a:r>
                <a:rPr lang="en-US" altLang="zh-CN" i="1" baseline="-25000"/>
                <a:t>k</a:t>
              </a:r>
            </a:p>
          </p:txBody>
        </p:sp>
        <p:sp>
          <p:nvSpPr>
            <p:cNvPr id="35" name="Rectangle 28"/>
            <p:cNvSpPr>
              <a:spLocks noChangeArrowheads="1"/>
            </p:cNvSpPr>
            <p:nvPr/>
          </p:nvSpPr>
          <p:spPr bwMode="auto">
            <a:xfrm>
              <a:off x="3509" y="1248"/>
              <a:ext cx="31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i="1"/>
                <a:t>R</a:t>
              </a:r>
              <a:r>
                <a:rPr lang="en-US" altLang="zh-CN" i="1" baseline="-25000"/>
                <a:t>n</a:t>
              </a:r>
            </a:p>
          </p:txBody>
        </p:sp>
        <p:sp>
          <p:nvSpPr>
            <p:cNvPr id="36" name="Line 29"/>
            <p:cNvSpPr>
              <a:spLocks noChangeShapeType="1"/>
            </p:cNvSpPr>
            <p:nvPr/>
          </p:nvSpPr>
          <p:spPr bwMode="auto">
            <a:xfrm>
              <a:off x="1366" y="901"/>
              <a:ext cx="384"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Text Box 30"/>
            <p:cNvSpPr txBox="1">
              <a:spLocks noChangeArrowheads="1"/>
            </p:cNvSpPr>
            <p:nvPr/>
          </p:nvSpPr>
          <p:spPr bwMode="auto">
            <a:xfrm>
              <a:off x="1459" y="601"/>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2800" i="1" dirty="0" err="1"/>
                <a:t>i</a:t>
              </a:r>
              <a:endParaRPr lang="en-US" altLang="zh-CN" sz="2800" i="1" dirty="0"/>
            </a:p>
          </p:txBody>
        </p:sp>
        <p:sp>
          <p:nvSpPr>
            <p:cNvPr id="38" name="Rectangle 31"/>
            <p:cNvSpPr>
              <a:spLocks noChangeArrowheads="1"/>
            </p:cNvSpPr>
            <p:nvPr/>
          </p:nvSpPr>
          <p:spPr bwMode="auto">
            <a:xfrm>
              <a:off x="1104" y="912"/>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a:solidFill>
                    <a:srgbClr val="FF0000"/>
                  </a:solidFill>
                  <a:sym typeface="CommonBullets" pitchFamily="34" charset="2"/>
                </a:rPr>
                <a:t>+</a:t>
              </a:r>
              <a:endParaRPr lang="en-US" altLang="zh-CN" sz="4400">
                <a:solidFill>
                  <a:srgbClr val="FF0000"/>
                </a:solidFill>
                <a:sym typeface="CommonBullets" pitchFamily="34" charset="2"/>
              </a:endParaRPr>
            </a:p>
          </p:txBody>
        </p:sp>
        <p:sp>
          <p:nvSpPr>
            <p:cNvPr id="39" name="Text Box 32"/>
            <p:cNvSpPr txBox="1">
              <a:spLocks noChangeArrowheads="1"/>
            </p:cNvSpPr>
            <p:nvPr/>
          </p:nvSpPr>
          <p:spPr bwMode="auto">
            <a:xfrm>
              <a:off x="1083" y="1324"/>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i="1"/>
                <a:t>v</a:t>
              </a:r>
            </a:p>
          </p:txBody>
        </p:sp>
        <p:sp>
          <p:nvSpPr>
            <p:cNvPr id="40" name="Rectangle 33"/>
            <p:cNvSpPr>
              <a:spLocks noChangeArrowheads="1"/>
            </p:cNvSpPr>
            <p:nvPr/>
          </p:nvSpPr>
          <p:spPr bwMode="auto">
            <a:xfrm>
              <a:off x="2206" y="1287"/>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1" name="Rectangle 34"/>
            <p:cNvSpPr>
              <a:spLocks noChangeArrowheads="1"/>
            </p:cNvSpPr>
            <p:nvPr/>
          </p:nvSpPr>
          <p:spPr bwMode="auto">
            <a:xfrm>
              <a:off x="1778" y="1287"/>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2" name="Rectangle 35"/>
            <p:cNvSpPr>
              <a:spLocks noChangeArrowheads="1"/>
            </p:cNvSpPr>
            <p:nvPr/>
          </p:nvSpPr>
          <p:spPr bwMode="auto">
            <a:xfrm>
              <a:off x="2926" y="1287"/>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 name="Rectangle 36"/>
            <p:cNvSpPr>
              <a:spLocks noChangeArrowheads="1"/>
            </p:cNvSpPr>
            <p:nvPr/>
          </p:nvSpPr>
          <p:spPr bwMode="auto">
            <a:xfrm>
              <a:off x="3794" y="1287"/>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4" name="Line 37"/>
            <p:cNvSpPr>
              <a:spLocks noChangeShapeType="1"/>
            </p:cNvSpPr>
            <p:nvPr/>
          </p:nvSpPr>
          <p:spPr bwMode="auto">
            <a:xfrm>
              <a:off x="1920" y="1008"/>
              <a:ext cx="0" cy="252"/>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Text Box 38"/>
            <p:cNvSpPr txBox="1">
              <a:spLocks noChangeArrowheads="1"/>
            </p:cNvSpPr>
            <p:nvPr/>
          </p:nvSpPr>
          <p:spPr bwMode="auto">
            <a:xfrm>
              <a:off x="1920" y="96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r>
                <a:rPr lang="en-US" altLang="zh-CN" baseline="-25000"/>
                <a:t>1</a:t>
              </a:r>
              <a:endParaRPr lang="en-US" altLang="zh-CN" i="1"/>
            </a:p>
          </p:txBody>
        </p:sp>
        <p:sp>
          <p:nvSpPr>
            <p:cNvPr id="46" name="Text Box 39"/>
            <p:cNvSpPr txBox="1">
              <a:spLocks noChangeArrowheads="1"/>
            </p:cNvSpPr>
            <p:nvPr/>
          </p:nvSpPr>
          <p:spPr bwMode="auto">
            <a:xfrm>
              <a:off x="2352" y="96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r>
                <a:rPr lang="en-US" altLang="zh-CN" baseline="-25000"/>
                <a:t>2</a:t>
              </a:r>
              <a:endParaRPr lang="en-US" altLang="zh-CN" i="1"/>
            </a:p>
          </p:txBody>
        </p:sp>
        <p:sp>
          <p:nvSpPr>
            <p:cNvPr id="47" name="Text Box 40"/>
            <p:cNvSpPr txBox="1">
              <a:spLocks noChangeArrowheads="1"/>
            </p:cNvSpPr>
            <p:nvPr/>
          </p:nvSpPr>
          <p:spPr bwMode="auto">
            <a:xfrm>
              <a:off x="3066" y="96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dirty="0" err="1"/>
                <a:t>i</a:t>
              </a:r>
              <a:r>
                <a:rPr lang="en-US" altLang="zh-CN" i="1" baseline="-25000" dirty="0" err="1"/>
                <a:t>k</a:t>
              </a:r>
              <a:endParaRPr lang="en-US" altLang="zh-CN" i="1" dirty="0"/>
            </a:p>
          </p:txBody>
        </p:sp>
        <p:sp>
          <p:nvSpPr>
            <p:cNvPr id="48" name="Text Box 41"/>
            <p:cNvSpPr txBox="1">
              <a:spLocks noChangeArrowheads="1"/>
            </p:cNvSpPr>
            <p:nvPr/>
          </p:nvSpPr>
          <p:spPr bwMode="auto">
            <a:xfrm>
              <a:off x="1108" y="161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a:solidFill>
                    <a:srgbClr val="FF0000"/>
                  </a:solidFill>
                </a:rPr>
                <a:t>_</a:t>
              </a:r>
            </a:p>
          </p:txBody>
        </p:sp>
        <p:sp>
          <p:nvSpPr>
            <p:cNvPr id="49" name="Line 42"/>
            <p:cNvSpPr>
              <a:spLocks noChangeShapeType="1"/>
            </p:cNvSpPr>
            <p:nvPr/>
          </p:nvSpPr>
          <p:spPr bwMode="auto">
            <a:xfrm>
              <a:off x="2352" y="1008"/>
              <a:ext cx="0" cy="252"/>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3"/>
            <p:cNvSpPr>
              <a:spLocks noChangeShapeType="1"/>
            </p:cNvSpPr>
            <p:nvPr/>
          </p:nvSpPr>
          <p:spPr bwMode="auto">
            <a:xfrm>
              <a:off x="3072" y="1008"/>
              <a:ext cx="0" cy="252"/>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4"/>
            <p:cNvSpPr>
              <a:spLocks noChangeShapeType="1"/>
            </p:cNvSpPr>
            <p:nvPr/>
          </p:nvSpPr>
          <p:spPr bwMode="auto">
            <a:xfrm>
              <a:off x="3936" y="960"/>
              <a:ext cx="0" cy="252"/>
            </a:xfrm>
            <a:prstGeom prst="line">
              <a:avLst/>
            </a:prstGeom>
            <a:noFill/>
            <a:ln w="190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Oval 45"/>
            <p:cNvSpPr>
              <a:spLocks noChangeArrowheads="1"/>
            </p:cNvSpPr>
            <p:nvPr/>
          </p:nvSpPr>
          <p:spPr bwMode="auto">
            <a:xfrm>
              <a:off x="1234" y="188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Oval 46"/>
            <p:cNvSpPr>
              <a:spLocks noChangeArrowheads="1"/>
            </p:cNvSpPr>
            <p:nvPr/>
          </p:nvSpPr>
          <p:spPr bwMode="auto">
            <a:xfrm>
              <a:off x="1234" y="926"/>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 name="Group 47"/>
          <p:cNvGrpSpPr>
            <a:grpSpLocks/>
          </p:cNvGrpSpPr>
          <p:nvPr/>
        </p:nvGrpSpPr>
        <p:grpSpPr bwMode="auto">
          <a:xfrm>
            <a:off x="5638800" y="2524125"/>
            <a:ext cx="3124200" cy="2241550"/>
            <a:chOff x="3552" y="288"/>
            <a:chExt cx="1968" cy="1412"/>
          </a:xfrm>
        </p:grpSpPr>
        <p:grpSp>
          <p:nvGrpSpPr>
            <p:cNvPr id="55" name="Group 48"/>
            <p:cNvGrpSpPr>
              <a:grpSpLocks/>
            </p:cNvGrpSpPr>
            <p:nvPr/>
          </p:nvGrpSpPr>
          <p:grpSpPr bwMode="auto">
            <a:xfrm>
              <a:off x="3552" y="864"/>
              <a:ext cx="624" cy="480"/>
              <a:chOff x="3648" y="1008"/>
              <a:chExt cx="624" cy="480"/>
            </a:xfrm>
          </p:grpSpPr>
          <p:sp>
            <p:nvSpPr>
              <p:cNvPr id="69" name="AutoShape 49"/>
              <p:cNvSpPr>
                <a:spLocks noChangeArrowheads="1"/>
              </p:cNvSpPr>
              <p:nvPr/>
            </p:nvSpPr>
            <p:spPr bwMode="auto">
              <a:xfrm>
                <a:off x="3648" y="1200"/>
                <a:ext cx="624" cy="288"/>
              </a:xfrm>
              <a:prstGeom prst="rightArrow">
                <a:avLst>
                  <a:gd name="adj1" fmla="val 50000"/>
                  <a:gd name="adj2" fmla="val 541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Text Box 50"/>
              <p:cNvSpPr txBox="1">
                <a:spLocks noChangeArrowheads="1"/>
              </p:cNvSpPr>
              <p:nvPr/>
            </p:nvSpPr>
            <p:spPr bwMode="auto">
              <a:xfrm>
                <a:off x="3648" y="1008"/>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a:t>等效</a:t>
                </a:r>
              </a:p>
            </p:txBody>
          </p:sp>
        </p:grpSp>
        <p:grpSp>
          <p:nvGrpSpPr>
            <p:cNvPr id="56" name="Group 51"/>
            <p:cNvGrpSpPr>
              <a:grpSpLocks/>
            </p:cNvGrpSpPr>
            <p:nvPr/>
          </p:nvGrpSpPr>
          <p:grpSpPr bwMode="auto">
            <a:xfrm>
              <a:off x="4272" y="288"/>
              <a:ext cx="1248" cy="1412"/>
              <a:chOff x="4272" y="288"/>
              <a:chExt cx="1248" cy="1412"/>
            </a:xfrm>
          </p:grpSpPr>
          <p:sp>
            <p:nvSpPr>
              <p:cNvPr id="57" name="Freeform 52"/>
              <p:cNvSpPr>
                <a:spLocks/>
              </p:cNvSpPr>
              <p:nvPr/>
            </p:nvSpPr>
            <p:spPr bwMode="auto">
              <a:xfrm>
                <a:off x="4443" y="705"/>
                <a:ext cx="597" cy="2"/>
              </a:xfrm>
              <a:custGeom>
                <a:avLst/>
                <a:gdLst>
                  <a:gd name="T0" fmla="*/ 0 w 597"/>
                  <a:gd name="T1" fmla="*/ 0 h 2"/>
                  <a:gd name="T2" fmla="*/ 597 w 597"/>
                  <a:gd name="T3" fmla="*/ 2 h 2"/>
                </a:gdLst>
                <a:ahLst/>
                <a:cxnLst>
                  <a:cxn ang="0">
                    <a:pos x="T0" y="T1"/>
                  </a:cxn>
                  <a:cxn ang="0">
                    <a:pos x="T2" y="T3"/>
                  </a:cxn>
                </a:cxnLst>
                <a:rect l="0" t="0" r="r" b="b"/>
                <a:pathLst>
                  <a:path w="597" h="2">
                    <a:moveTo>
                      <a:pt x="0" y="0"/>
                    </a:moveTo>
                    <a:lnTo>
                      <a:pt x="597" y="2"/>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Freeform 53"/>
              <p:cNvSpPr>
                <a:spLocks/>
              </p:cNvSpPr>
              <p:nvPr/>
            </p:nvSpPr>
            <p:spPr bwMode="auto">
              <a:xfrm>
                <a:off x="4479" y="1667"/>
                <a:ext cx="561" cy="1"/>
              </a:xfrm>
              <a:custGeom>
                <a:avLst/>
                <a:gdLst>
                  <a:gd name="T0" fmla="*/ 0 w 561"/>
                  <a:gd name="T1" fmla="*/ 1 h 1"/>
                  <a:gd name="T2" fmla="*/ 561 w 561"/>
                  <a:gd name="T3" fmla="*/ 0 h 1"/>
                </a:gdLst>
                <a:ahLst/>
                <a:cxnLst>
                  <a:cxn ang="0">
                    <a:pos x="T0" y="T1"/>
                  </a:cxn>
                  <a:cxn ang="0">
                    <a:pos x="T2" y="T3"/>
                  </a:cxn>
                </a:cxnLst>
                <a:rect l="0" t="0" r="r" b="b"/>
                <a:pathLst>
                  <a:path w="561" h="1">
                    <a:moveTo>
                      <a:pt x="0" y="1"/>
                    </a:moveTo>
                    <a:lnTo>
                      <a:pt x="561" y="0"/>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Freeform 54"/>
              <p:cNvSpPr>
                <a:spLocks/>
              </p:cNvSpPr>
              <p:nvPr/>
            </p:nvSpPr>
            <p:spPr bwMode="auto">
              <a:xfrm>
                <a:off x="5040" y="702"/>
                <a:ext cx="3" cy="966"/>
              </a:xfrm>
              <a:custGeom>
                <a:avLst/>
                <a:gdLst>
                  <a:gd name="T0" fmla="*/ 0 w 3"/>
                  <a:gd name="T1" fmla="*/ 0 h 966"/>
                  <a:gd name="T2" fmla="*/ 3 w 3"/>
                  <a:gd name="T3" fmla="*/ 966 h 966"/>
                </a:gdLst>
                <a:ahLst/>
                <a:cxnLst>
                  <a:cxn ang="0">
                    <a:pos x="T0" y="T1"/>
                  </a:cxn>
                  <a:cxn ang="0">
                    <a:pos x="T2" y="T3"/>
                  </a:cxn>
                </a:cxnLst>
                <a:rect l="0" t="0" r="r" b="b"/>
                <a:pathLst>
                  <a:path w="3" h="966">
                    <a:moveTo>
                      <a:pt x="0" y="0"/>
                    </a:moveTo>
                    <a:lnTo>
                      <a:pt x="3" y="966"/>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5"/>
              <p:cNvSpPr>
                <a:spLocks noChangeShapeType="1"/>
              </p:cNvSpPr>
              <p:nvPr/>
            </p:nvSpPr>
            <p:spPr bwMode="auto">
              <a:xfrm>
                <a:off x="4416" y="624"/>
                <a:ext cx="288"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 Box 56"/>
              <p:cNvSpPr txBox="1">
                <a:spLocks noChangeArrowheads="1"/>
              </p:cNvSpPr>
              <p:nvPr/>
            </p:nvSpPr>
            <p:spPr bwMode="auto">
              <a:xfrm>
                <a:off x="4272" y="76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a:t>
                </a:r>
              </a:p>
            </p:txBody>
          </p:sp>
          <p:sp>
            <p:nvSpPr>
              <p:cNvPr id="62" name="Text Box 57"/>
              <p:cNvSpPr txBox="1">
                <a:spLocks noChangeArrowheads="1"/>
              </p:cNvSpPr>
              <p:nvPr/>
            </p:nvSpPr>
            <p:spPr bwMode="auto">
              <a:xfrm>
                <a:off x="4272" y="1056"/>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v</a:t>
                </a:r>
                <a:endParaRPr lang="en-US" altLang="zh-CN"/>
              </a:p>
            </p:txBody>
          </p:sp>
          <p:sp>
            <p:nvSpPr>
              <p:cNvPr id="63" name="Text Box 58"/>
              <p:cNvSpPr txBox="1">
                <a:spLocks noChangeArrowheads="1"/>
              </p:cNvSpPr>
              <p:nvPr/>
            </p:nvSpPr>
            <p:spPr bwMode="auto">
              <a:xfrm>
                <a:off x="4320" y="129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_</a:t>
                </a:r>
              </a:p>
            </p:txBody>
          </p:sp>
          <p:sp>
            <p:nvSpPr>
              <p:cNvPr id="64" name="Text Box 59"/>
              <p:cNvSpPr txBox="1">
                <a:spLocks noChangeArrowheads="1"/>
              </p:cNvSpPr>
              <p:nvPr/>
            </p:nvSpPr>
            <p:spPr bwMode="auto">
              <a:xfrm>
                <a:off x="4464" y="28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p>
            </p:txBody>
          </p:sp>
          <p:sp>
            <p:nvSpPr>
              <p:cNvPr id="65" name="Text Box 60"/>
              <p:cNvSpPr txBox="1">
                <a:spLocks noChangeArrowheads="1"/>
              </p:cNvSpPr>
              <p:nvPr/>
            </p:nvSpPr>
            <p:spPr bwMode="auto">
              <a:xfrm>
                <a:off x="5088" y="100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dirty="0" err="1"/>
                  <a:t>R</a:t>
                </a:r>
                <a:r>
                  <a:rPr lang="en-US" altLang="zh-CN" i="1" baseline="-25000" dirty="0" err="1"/>
                  <a:t>eq</a:t>
                </a:r>
                <a:endParaRPr lang="en-US" altLang="zh-CN" i="1" baseline="-25000" dirty="0"/>
              </a:p>
            </p:txBody>
          </p:sp>
          <p:sp>
            <p:nvSpPr>
              <p:cNvPr id="66" name="Rectangle 61"/>
              <p:cNvSpPr>
                <a:spLocks noChangeArrowheads="1"/>
              </p:cNvSpPr>
              <p:nvPr/>
            </p:nvSpPr>
            <p:spPr bwMode="auto">
              <a:xfrm>
                <a:off x="4980" y="1008"/>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7" name="Oval 62"/>
              <p:cNvSpPr>
                <a:spLocks noChangeArrowheads="1"/>
              </p:cNvSpPr>
              <p:nvPr/>
            </p:nvSpPr>
            <p:spPr bwMode="auto">
              <a:xfrm>
                <a:off x="4416" y="163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Oval 63"/>
              <p:cNvSpPr>
                <a:spLocks noChangeArrowheads="1"/>
              </p:cNvSpPr>
              <p:nvPr/>
            </p:nvSpPr>
            <p:spPr bwMode="auto">
              <a:xfrm>
                <a:off x="4378" y="672"/>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17095144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37572"/>
                                        </p:tgtEl>
                                        <p:attrNameLst>
                                          <p:attrName>style.visibility</p:attrName>
                                        </p:attrNameLst>
                                      </p:cBhvr>
                                      <p:to>
                                        <p:strVal val="visible"/>
                                      </p:to>
                                    </p:set>
                                    <p:animEffect transition="in" filter="barn(inVertical)">
                                      <p:cBhvr>
                                        <p:cTn id="7" dur="500"/>
                                        <p:tgtEl>
                                          <p:spTgt spid="23757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37573"/>
                                        </p:tgtEl>
                                        <p:attrNameLst>
                                          <p:attrName>style.visibility</p:attrName>
                                        </p:attrNameLst>
                                      </p:cBhvr>
                                      <p:to>
                                        <p:strVal val="visible"/>
                                      </p:to>
                                    </p:set>
                                    <p:animEffect transition="in" filter="barn(inVertical)">
                                      <p:cBhvr>
                                        <p:cTn id="12" dur="500"/>
                                        <p:tgtEl>
                                          <p:spTgt spid="23757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37574"/>
                                        </p:tgtEl>
                                        <p:attrNameLst>
                                          <p:attrName>style.visibility</p:attrName>
                                        </p:attrNameLst>
                                      </p:cBhvr>
                                      <p:to>
                                        <p:strVal val="visible"/>
                                      </p:to>
                                    </p:set>
                                    <p:animEffect transition="in" filter="barn(inVertical)">
                                      <p:cBhvr>
                                        <p:cTn id="17" dur="500"/>
                                        <p:tgtEl>
                                          <p:spTgt spid="23757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barn(inVertical)">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2" grpId="0"/>
      <p:bldP spid="237573" grpId="0"/>
      <p:bldP spid="237574"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8656" name="Group 64"/>
          <p:cNvGrpSpPr>
            <a:grpSpLocks/>
          </p:cNvGrpSpPr>
          <p:nvPr/>
        </p:nvGrpSpPr>
        <p:grpSpPr bwMode="auto">
          <a:xfrm>
            <a:off x="1917700" y="1382710"/>
            <a:ext cx="4832449" cy="1006475"/>
            <a:chOff x="1104" y="3256"/>
            <a:chExt cx="2865" cy="634"/>
          </a:xfrm>
        </p:grpSpPr>
        <p:sp>
          <p:nvSpPr>
            <p:cNvPr id="238657" name="Text Box 65"/>
            <p:cNvSpPr txBox="1">
              <a:spLocks noChangeArrowheads="1"/>
            </p:cNvSpPr>
            <p:nvPr/>
          </p:nvSpPr>
          <p:spPr bwMode="auto">
            <a:xfrm>
              <a:off x="1104" y="3256"/>
              <a:ext cx="1580" cy="288"/>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pPr algn="l">
                <a:spcBef>
                  <a:spcPct val="50000"/>
                </a:spcBef>
              </a:pPr>
              <a:r>
                <a:rPr lang="en-US" altLang="zh-CN" i="1" dirty="0" err="1" smtClean="0">
                  <a:solidFill>
                    <a:srgbClr val="FF0000"/>
                  </a:solidFill>
                </a:rPr>
                <a:t>G</a:t>
              </a:r>
              <a:r>
                <a:rPr lang="en-US" altLang="zh-CN" i="1" baseline="-25000" dirty="0" err="1" smtClean="0">
                  <a:solidFill>
                    <a:srgbClr val="FF0000"/>
                  </a:solidFill>
                </a:rPr>
                <a:t>eq</a:t>
              </a:r>
              <a:r>
                <a:rPr lang="en-US" altLang="zh-CN" i="1" dirty="0" smtClean="0">
                  <a:solidFill>
                    <a:srgbClr val="FF0000"/>
                  </a:solidFill>
                </a:rPr>
                <a:t>= </a:t>
              </a:r>
              <a:r>
                <a:rPr lang="en-US" altLang="zh-CN" dirty="0">
                  <a:solidFill>
                    <a:srgbClr val="FF0000"/>
                  </a:solidFill>
                  <a:sym typeface="Symbol" pitchFamily="18" charset="2"/>
                </a:rPr>
                <a:t></a:t>
              </a:r>
              <a:r>
                <a:rPr lang="en-US" altLang="zh-CN" i="1" dirty="0">
                  <a:solidFill>
                    <a:srgbClr val="FF0000"/>
                  </a:solidFill>
                  <a:sym typeface="Symbol" pitchFamily="18" charset="2"/>
                </a:rPr>
                <a:t> </a:t>
              </a:r>
              <a:r>
                <a:rPr lang="en-US" altLang="zh-CN" i="1" dirty="0" err="1">
                  <a:solidFill>
                    <a:srgbClr val="FF0000"/>
                  </a:solidFill>
                </a:rPr>
                <a:t>G</a:t>
              </a:r>
              <a:r>
                <a:rPr lang="en-US" altLang="zh-CN" i="1" baseline="-25000" dirty="0" err="1">
                  <a:solidFill>
                    <a:srgbClr val="FF0000"/>
                  </a:solidFill>
                </a:rPr>
                <a:t>k</a:t>
              </a:r>
              <a:r>
                <a:rPr lang="en-US" altLang="zh-CN" i="1" baseline="-25000" dirty="0">
                  <a:solidFill>
                    <a:srgbClr val="FF0000"/>
                  </a:solidFill>
                </a:rPr>
                <a:t> </a:t>
              </a:r>
              <a:r>
                <a:rPr lang="en-US" altLang="zh-CN" i="1" dirty="0">
                  <a:solidFill>
                    <a:srgbClr val="FF0000"/>
                  </a:solidFill>
                </a:rPr>
                <a:t>= </a:t>
              </a:r>
              <a:r>
                <a:rPr lang="en-US" altLang="zh-CN" dirty="0">
                  <a:solidFill>
                    <a:srgbClr val="FF0000"/>
                  </a:solidFill>
                  <a:sym typeface="Symbol" pitchFamily="18" charset="2"/>
                </a:rPr>
                <a:t> 1</a:t>
              </a:r>
              <a:r>
                <a:rPr lang="en-US" altLang="zh-CN" i="1" dirty="0">
                  <a:solidFill>
                    <a:srgbClr val="FF0000"/>
                  </a:solidFill>
                  <a:sym typeface="Symbol" pitchFamily="18" charset="2"/>
                </a:rPr>
                <a:t>/</a:t>
              </a:r>
              <a:r>
                <a:rPr lang="en-US" altLang="zh-CN" i="1" dirty="0" err="1">
                  <a:solidFill>
                    <a:srgbClr val="FF0000"/>
                  </a:solidFill>
                  <a:sym typeface="Symbol" pitchFamily="18" charset="2"/>
                </a:rPr>
                <a:t>R</a:t>
              </a:r>
              <a:r>
                <a:rPr lang="en-US" altLang="zh-CN" i="1" baseline="-25000" dirty="0" err="1">
                  <a:solidFill>
                    <a:srgbClr val="FF0000"/>
                  </a:solidFill>
                  <a:sym typeface="Symbol" pitchFamily="18" charset="2"/>
                </a:rPr>
                <a:t>k</a:t>
              </a:r>
              <a:endParaRPr lang="en-US" altLang="zh-CN" i="1" baseline="-25000" dirty="0">
                <a:solidFill>
                  <a:srgbClr val="FF0000"/>
                </a:solidFill>
                <a:sym typeface="Symbol" pitchFamily="18" charset="2"/>
              </a:endParaRPr>
            </a:p>
          </p:txBody>
        </p:sp>
        <p:sp>
          <p:nvSpPr>
            <p:cNvPr id="238658" name="Text Box 66"/>
            <p:cNvSpPr txBox="1">
              <a:spLocks noChangeArrowheads="1"/>
            </p:cNvSpPr>
            <p:nvPr/>
          </p:nvSpPr>
          <p:spPr bwMode="auto">
            <a:xfrm>
              <a:off x="1137" y="3640"/>
              <a:ext cx="28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a:solidFill>
                    <a:schemeClr val="accent2"/>
                  </a:solidFill>
                </a:rPr>
                <a:t>等效电导等于并联的各电导之和</a:t>
              </a:r>
              <a:endParaRPr lang="zh-CN" altLang="en-US" sz="2000" b="0">
                <a:solidFill>
                  <a:schemeClr val="accent2"/>
                </a:solidFill>
              </a:endParaRPr>
            </a:p>
          </p:txBody>
        </p:sp>
      </p:grpSp>
      <p:sp>
        <p:nvSpPr>
          <p:cNvPr id="69" name="Text Box 2"/>
          <p:cNvSpPr txBox="1">
            <a:spLocks noChangeArrowheads="1"/>
          </p:cNvSpPr>
          <p:nvPr/>
        </p:nvSpPr>
        <p:spPr bwMode="auto">
          <a:xfrm>
            <a:off x="273050" y="2905125"/>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solidFill>
                  <a:schemeClr val="accent2"/>
                </a:solidFill>
              </a:rPr>
              <a:t>2.  </a:t>
            </a:r>
            <a:r>
              <a:rPr lang="zh-CN" altLang="en-US" dirty="0">
                <a:solidFill>
                  <a:schemeClr val="accent2"/>
                </a:solidFill>
              </a:rPr>
              <a:t>并联电阻的分流公式</a:t>
            </a:r>
          </a:p>
        </p:txBody>
      </p:sp>
      <p:graphicFrame>
        <p:nvGraphicFramePr>
          <p:cNvPr id="70" name="Object 3"/>
          <p:cNvGraphicFramePr>
            <a:graphicFrameLocks noChangeAspect="1"/>
          </p:cNvGraphicFramePr>
          <p:nvPr>
            <p:extLst/>
          </p:nvPr>
        </p:nvGraphicFramePr>
        <p:xfrm>
          <a:off x="760413" y="3459163"/>
          <a:ext cx="2279650" cy="884237"/>
        </p:xfrm>
        <a:graphic>
          <a:graphicData uri="http://schemas.openxmlformats.org/presentationml/2006/ole">
            <mc:AlternateContent xmlns:mc="http://schemas.openxmlformats.org/markup-compatibility/2006">
              <mc:Choice xmlns:v="urn:schemas-microsoft-com:vml" Requires="v">
                <p:oleObj spid="_x0000_s445466" name="Equation" r:id="rId3" imgW="977760" imgH="380880" progId="Equation.DSMT4">
                  <p:embed/>
                </p:oleObj>
              </mc:Choice>
              <mc:Fallback>
                <p:oleObj name="Equation" r:id="rId3" imgW="977760" imgH="380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413" y="3459163"/>
                        <a:ext cx="2279650" cy="884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 name="Object 4"/>
          <p:cNvGraphicFramePr>
            <a:graphicFrameLocks noChangeAspect="1"/>
          </p:cNvGraphicFramePr>
          <p:nvPr>
            <p:extLst/>
          </p:nvPr>
        </p:nvGraphicFramePr>
        <p:xfrm>
          <a:off x="3886200" y="4467225"/>
          <a:ext cx="3744913" cy="768350"/>
        </p:xfrm>
        <a:graphic>
          <a:graphicData uri="http://schemas.openxmlformats.org/presentationml/2006/ole">
            <mc:AlternateContent xmlns:mc="http://schemas.openxmlformats.org/markup-compatibility/2006">
              <mc:Choice xmlns:v="urn:schemas-microsoft-com:vml" Requires="v">
                <p:oleObj spid="_x0000_s445467" name="公式" r:id="rId5" imgW="1879560" imgH="406080" progId="Equation.3">
                  <p:embed/>
                </p:oleObj>
              </mc:Choice>
              <mc:Fallback>
                <p:oleObj name="公式" r:id="rId5" imgW="1879560" imgH="4060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4467225"/>
                        <a:ext cx="3744913" cy="7683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99FFCC"/>
                                </a:gs>
                              </a:gsLst>
                              <a:lin ang="27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13500000" algn="ctr" rotWithShape="0">
                                <a:srgbClr val="808080"/>
                              </a:outerShdw>
                            </a:effectLst>
                          </a14:hiddenEffects>
                        </a:ext>
                      </a:extLst>
                    </p:spPr>
                  </p:pic>
                </p:oleObj>
              </mc:Fallback>
            </mc:AlternateContent>
          </a:graphicData>
        </a:graphic>
      </p:graphicFrame>
      <p:grpSp>
        <p:nvGrpSpPr>
          <p:cNvPr id="72" name="Group 5"/>
          <p:cNvGrpSpPr>
            <a:grpSpLocks/>
          </p:cNvGrpSpPr>
          <p:nvPr/>
        </p:nvGrpSpPr>
        <p:grpSpPr bwMode="auto">
          <a:xfrm>
            <a:off x="3859213" y="5403850"/>
            <a:ext cx="3787775" cy="730250"/>
            <a:chOff x="2473" y="2990"/>
            <a:chExt cx="2386" cy="460"/>
          </a:xfrm>
        </p:grpSpPr>
        <p:sp>
          <p:nvSpPr>
            <p:cNvPr id="73" name="Rectangle 6"/>
            <p:cNvSpPr>
              <a:spLocks noChangeArrowheads="1"/>
            </p:cNvSpPr>
            <p:nvPr/>
          </p:nvSpPr>
          <p:spPr bwMode="auto">
            <a:xfrm>
              <a:off x="2753" y="3096"/>
              <a:ext cx="176" cy="204"/>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Rectangle 7"/>
            <p:cNvSpPr>
              <a:spLocks noChangeArrowheads="1"/>
            </p:cNvSpPr>
            <p:nvPr/>
          </p:nvSpPr>
          <p:spPr bwMode="auto">
            <a:xfrm>
              <a:off x="4056" y="3096"/>
              <a:ext cx="176" cy="204"/>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5" name="Object 8"/>
            <p:cNvGraphicFramePr>
              <a:graphicFrameLocks noChangeAspect="1"/>
            </p:cNvGraphicFramePr>
            <p:nvPr>
              <p:extLst/>
            </p:nvPr>
          </p:nvGraphicFramePr>
          <p:xfrm>
            <a:off x="2473" y="2990"/>
            <a:ext cx="2386" cy="460"/>
          </p:xfrm>
          <a:graphic>
            <a:graphicData uri="http://schemas.openxmlformats.org/presentationml/2006/ole">
              <mc:AlternateContent xmlns:mc="http://schemas.openxmlformats.org/markup-compatibility/2006">
                <mc:Choice xmlns:v="urn:schemas-microsoft-com:vml" Requires="v">
                  <p:oleObj spid="_x0000_s445468" name="Equation" r:id="rId7" imgW="2095200" imgH="406080" progId="Equation.DSMT4">
                    <p:embed/>
                  </p:oleObj>
                </mc:Choice>
                <mc:Fallback>
                  <p:oleObj name="Equation" r:id="rId7" imgW="2095200" imgH="4060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73" y="2990"/>
                          <a:ext cx="2386" cy="46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99FFCC"/>
                                  </a:gs>
                                </a:gsLst>
                                <a:lin ang="27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53882" dir="13500000" algn="ctr" rotWithShape="0">
                                  <a:srgbClr val="808080"/>
                                </a:outerShdw>
                              </a:effectLst>
                            </a14:hiddenEffects>
                          </a:ext>
                        </a:extLst>
                      </p:spPr>
                    </p:pic>
                  </p:oleObj>
                </mc:Fallback>
              </mc:AlternateContent>
            </a:graphicData>
          </a:graphic>
        </p:graphicFrame>
      </p:grpSp>
      <p:grpSp>
        <p:nvGrpSpPr>
          <p:cNvPr id="76" name="Group 9"/>
          <p:cNvGrpSpPr>
            <a:grpSpLocks/>
          </p:cNvGrpSpPr>
          <p:nvPr/>
        </p:nvGrpSpPr>
        <p:grpSpPr bwMode="auto">
          <a:xfrm>
            <a:off x="3282950" y="3390900"/>
            <a:ext cx="5507038" cy="901700"/>
            <a:chOff x="2182" y="1722"/>
            <a:chExt cx="3469" cy="568"/>
          </a:xfrm>
        </p:grpSpPr>
        <p:sp>
          <p:nvSpPr>
            <p:cNvPr id="77" name="Text Box 10"/>
            <p:cNvSpPr txBox="1">
              <a:spLocks noChangeArrowheads="1"/>
            </p:cNvSpPr>
            <p:nvPr/>
          </p:nvSpPr>
          <p:spPr bwMode="auto">
            <a:xfrm>
              <a:off x="3389" y="1869"/>
              <a:ext cx="22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dirty="0">
                  <a:solidFill>
                    <a:schemeClr val="accent2"/>
                  </a:solidFill>
                </a:rPr>
                <a:t>电流分配与电导成正比</a:t>
              </a:r>
            </a:p>
          </p:txBody>
        </p:sp>
        <p:graphicFrame>
          <p:nvGraphicFramePr>
            <p:cNvPr id="78" name="Object 11"/>
            <p:cNvGraphicFramePr>
              <a:graphicFrameLocks noChangeAspect="1"/>
            </p:cNvGraphicFramePr>
            <p:nvPr/>
          </p:nvGraphicFramePr>
          <p:xfrm>
            <a:off x="2182" y="1722"/>
            <a:ext cx="909" cy="568"/>
          </p:xfrm>
          <a:graphic>
            <a:graphicData uri="http://schemas.openxmlformats.org/presentationml/2006/ole">
              <mc:AlternateContent xmlns:mc="http://schemas.openxmlformats.org/markup-compatibility/2006">
                <mc:Choice xmlns:v="urn:schemas-microsoft-com:vml" Requires="v">
                  <p:oleObj spid="_x0000_s445469" name="Equation" r:id="rId9" imgW="647640" imgH="406080" progId="Equation.DSMT4">
                    <p:embed/>
                  </p:oleObj>
                </mc:Choice>
                <mc:Fallback>
                  <p:oleObj name="Equation" r:id="rId9" imgW="647640" imgH="4060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2" y="1722"/>
                          <a:ext cx="909" cy="5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7" name="Group 50"/>
          <p:cNvGrpSpPr>
            <a:grpSpLocks/>
          </p:cNvGrpSpPr>
          <p:nvPr/>
        </p:nvGrpSpPr>
        <p:grpSpPr bwMode="auto">
          <a:xfrm>
            <a:off x="704850" y="4371975"/>
            <a:ext cx="2851150" cy="1919288"/>
            <a:chOff x="444" y="2340"/>
            <a:chExt cx="1796" cy="1209"/>
          </a:xfrm>
        </p:grpSpPr>
        <p:sp>
          <p:nvSpPr>
            <p:cNvPr id="118" name="Text Box 51"/>
            <p:cNvSpPr txBox="1">
              <a:spLocks noChangeArrowheads="1"/>
            </p:cNvSpPr>
            <p:nvPr/>
          </p:nvSpPr>
          <p:spPr bwMode="auto">
            <a:xfrm>
              <a:off x="444" y="2340"/>
              <a:ext cx="16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a:t>对于两电阻并联</a:t>
              </a:r>
            </a:p>
          </p:txBody>
        </p:sp>
        <p:sp>
          <p:nvSpPr>
            <p:cNvPr id="119" name="Line 52"/>
            <p:cNvSpPr>
              <a:spLocks noChangeShapeType="1"/>
            </p:cNvSpPr>
            <p:nvPr/>
          </p:nvSpPr>
          <p:spPr bwMode="auto">
            <a:xfrm>
              <a:off x="610" y="3516"/>
              <a:ext cx="1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Line 53"/>
            <p:cNvSpPr>
              <a:spLocks noChangeShapeType="1"/>
            </p:cNvSpPr>
            <p:nvPr/>
          </p:nvSpPr>
          <p:spPr bwMode="auto">
            <a:xfrm>
              <a:off x="608" y="2844"/>
              <a:ext cx="1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 name="Line 54"/>
            <p:cNvSpPr>
              <a:spLocks noChangeShapeType="1"/>
            </p:cNvSpPr>
            <p:nvPr/>
          </p:nvSpPr>
          <p:spPr bwMode="auto">
            <a:xfrm>
              <a:off x="1004" y="2844"/>
              <a:ext cx="0" cy="672"/>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 name="Line 55"/>
            <p:cNvSpPr>
              <a:spLocks noChangeShapeType="1"/>
            </p:cNvSpPr>
            <p:nvPr/>
          </p:nvSpPr>
          <p:spPr bwMode="auto">
            <a:xfrm>
              <a:off x="1808" y="2844"/>
              <a:ext cx="0"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 name="Rectangle 56"/>
            <p:cNvSpPr>
              <a:spLocks noChangeArrowheads="1"/>
            </p:cNvSpPr>
            <p:nvPr/>
          </p:nvSpPr>
          <p:spPr bwMode="auto">
            <a:xfrm>
              <a:off x="944" y="3036"/>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4" name="Rectangle 57"/>
            <p:cNvSpPr>
              <a:spLocks noChangeArrowheads="1"/>
            </p:cNvSpPr>
            <p:nvPr/>
          </p:nvSpPr>
          <p:spPr bwMode="auto">
            <a:xfrm>
              <a:off x="1748" y="3036"/>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5" name="Text Box 58"/>
            <p:cNvSpPr txBox="1">
              <a:spLocks noChangeArrowheads="1"/>
            </p:cNvSpPr>
            <p:nvPr/>
          </p:nvSpPr>
          <p:spPr bwMode="auto">
            <a:xfrm>
              <a:off x="1040" y="303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baseline="-25000"/>
                <a:t>1</a:t>
              </a:r>
              <a:endParaRPr lang="en-US" altLang="zh-CN" sz="2000" i="1"/>
            </a:p>
          </p:txBody>
        </p:sp>
        <p:sp>
          <p:nvSpPr>
            <p:cNvPr id="126" name="Text Box 59"/>
            <p:cNvSpPr txBox="1">
              <a:spLocks noChangeArrowheads="1"/>
            </p:cNvSpPr>
            <p:nvPr/>
          </p:nvSpPr>
          <p:spPr bwMode="auto">
            <a:xfrm>
              <a:off x="1904" y="303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baseline="-25000"/>
                <a:t>2</a:t>
              </a:r>
              <a:endParaRPr lang="en-US" altLang="zh-CN" sz="2000" b="0" i="1"/>
            </a:p>
          </p:txBody>
        </p:sp>
        <p:sp>
          <p:nvSpPr>
            <p:cNvPr id="127" name="Line 60"/>
            <p:cNvSpPr>
              <a:spLocks noChangeShapeType="1"/>
            </p:cNvSpPr>
            <p:nvPr/>
          </p:nvSpPr>
          <p:spPr bwMode="auto">
            <a:xfrm>
              <a:off x="1004" y="2844"/>
              <a:ext cx="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Line 61"/>
            <p:cNvSpPr>
              <a:spLocks noChangeShapeType="1"/>
            </p:cNvSpPr>
            <p:nvPr/>
          </p:nvSpPr>
          <p:spPr bwMode="auto">
            <a:xfrm rot="-10800000">
              <a:off x="1808" y="2880"/>
              <a:ext cx="0" cy="144"/>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 name="Line 62"/>
            <p:cNvSpPr>
              <a:spLocks noChangeShapeType="1"/>
            </p:cNvSpPr>
            <p:nvPr/>
          </p:nvSpPr>
          <p:spPr bwMode="auto">
            <a:xfrm>
              <a:off x="656" y="2844"/>
              <a:ext cx="19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 name="Text Box 63"/>
            <p:cNvSpPr txBox="1">
              <a:spLocks noChangeArrowheads="1"/>
            </p:cNvSpPr>
            <p:nvPr/>
          </p:nvSpPr>
          <p:spPr bwMode="auto">
            <a:xfrm>
              <a:off x="992" y="279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r>
                <a:rPr lang="en-US" altLang="zh-CN" baseline="-25000"/>
                <a:t>1</a:t>
              </a:r>
              <a:endParaRPr lang="en-US" altLang="zh-CN" i="1"/>
            </a:p>
          </p:txBody>
        </p:sp>
        <p:sp>
          <p:nvSpPr>
            <p:cNvPr id="131" name="Text Box 64"/>
            <p:cNvSpPr txBox="1">
              <a:spLocks noChangeArrowheads="1"/>
            </p:cNvSpPr>
            <p:nvPr/>
          </p:nvSpPr>
          <p:spPr bwMode="auto">
            <a:xfrm>
              <a:off x="1808" y="274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r>
                <a:rPr lang="en-US" altLang="zh-CN" baseline="-25000"/>
                <a:t>2</a:t>
              </a:r>
              <a:endParaRPr lang="en-US" altLang="zh-CN" i="1"/>
            </a:p>
          </p:txBody>
        </p:sp>
        <p:sp>
          <p:nvSpPr>
            <p:cNvPr id="132" name="Text Box 65"/>
            <p:cNvSpPr txBox="1">
              <a:spLocks noChangeArrowheads="1"/>
            </p:cNvSpPr>
            <p:nvPr/>
          </p:nvSpPr>
          <p:spPr bwMode="auto">
            <a:xfrm>
              <a:off x="656" y="25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p>
          </p:txBody>
        </p:sp>
        <p:sp>
          <p:nvSpPr>
            <p:cNvPr id="133" name="Oval 66"/>
            <p:cNvSpPr>
              <a:spLocks noChangeArrowheads="1"/>
            </p:cNvSpPr>
            <p:nvPr/>
          </p:nvSpPr>
          <p:spPr bwMode="auto">
            <a:xfrm>
              <a:off x="554" y="3481"/>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4" name="Oval 67"/>
            <p:cNvSpPr>
              <a:spLocks noChangeArrowheads="1"/>
            </p:cNvSpPr>
            <p:nvPr/>
          </p:nvSpPr>
          <p:spPr bwMode="auto">
            <a:xfrm>
              <a:off x="544" y="281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35" name="Text Box 7"/>
          <p:cNvSpPr txBox="1">
            <a:spLocks noChangeArrowheads="1"/>
          </p:cNvSpPr>
          <p:nvPr/>
        </p:nvSpPr>
        <p:spPr bwMode="auto">
          <a:xfrm>
            <a:off x="1190625" y="619125"/>
            <a:ext cx="541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dirty="0"/>
              <a:t>即</a:t>
            </a:r>
          </a:p>
        </p:txBody>
      </p:sp>
      <p:sp>
        <p:nvSpPr>
          <p:cNvPr id="136" name="Text Box 8"/>
          <p:cNvSpPr txBox="1">
            <a:spLocks noChangeArrowheads="1"/>
          </p:cNvSpPr>
          <p:nvPr/>
        </p:nvSpPr>
        <p:spPr bwMode="auto">
          <a:xfrm>
            <a:off x="1952625" y="771525"/>
            <a:ext cx="4191000" cy="457200"/>
          </a:xfrm>
          <a:prstGeom prst="rect">
            <a:avLst/>
          </a:prstGeom>
          <a:noFill/>
          <a:ln>
            <a:noFill/>
          </a:ln>
          <a:effectLst/>
          <a:extLst>
            <a:ext uri="{909E8E84-426E-40DD-AFC4-6F175D3DCCD1}">
              <a14:hiddenFill xmlns:a14="http://schemas.microsoft.com/office/drawing/2010/main">
                <a:gradFill rotWithShape="0">
                  <a:gsLst>
                    <a:gs pos="0">
                      <a:schemeClr val="accent1"/>
                    </a:gs>
                    <a:gs pos="100000">
                      <a:schemeClr val="bg1"/>
                    </a:gs>
                  </a:gsLst>
                  <a:lin ang="0" scaled="1"/>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13500000" algn="ctr" rotWithShape="0">
                    <a:schemeClr val="bg2"/>
                  </a:outerShdw>
                </a:effectLst>
              </a14:hiddenEffects>
            </a:ext>
          </a:extLst>
        </p:spPr>
        <p:txBody>
          <a:bodyPr>
            <a:spAutoFit/>
          </a:bodyPr>
          <a:lstStyle/>
          <a:p>
            <a:pPr algn="l">
              <a:spcBef>
                <a:spcPct val="50000"/>
              </a:spcBef>
            </a:pPr>
            <a:r>
              <a:rPr lang="en-US" altLang="zh-CN" dirty="0">
                <a:solidFill>
                  <a:srgbClr val="FF0000"/>
                </a:solidFill>
              </a:rPr>
              <a:t>1/</a:t>
            </a:r>
            <a:r>
              <a:rPr lang="en-US" altLang="zh-CN" i="1" dirty="0" err="1">
                <a:solidFill>
                  <a:srgbClr val="FF0000"/>
                </a:solidFill>
              </a:rPr>
              <a:t>R</a:t>
            </a:r>
            <a:r>
              <a:rPr lang="en-US" altLang="zh-CN" i="1" baseline="-25000" dirty="0" err="1">
                <a:solidFill>
                  <a:srgbClr val="FF0000"/>
                </a:solidFill>
              </a:rPr>
              <a:t>eq</a:t>
            </a:r>
            <a:r>
              <a:rPr lang="en-US" altLang="zh-CN" i="1" dirty="0">
                <a:solidFill>
                  <a:srgbClr val="FF0000"/>
                </a:solidFill>
              </a:rPr>
              <a:t>= </a:t>
            </a:r>
            <a:r>
              <a:rPr lang="en-US" altLang="zh-CN" dirty="0">
                <a:solidFill>
                  <a:srgbClr val="FF0000"/>
                </a:solidFill>
                <a:sym typeface="Symbol" pitchFamily="18" charset="2"/>
              </a:rPr>
              <a:t> </a:t>
            </a:r>
            <a:r>
              <a:rPr lang="en-US" altLang="zh-CN" dirty="0" smtClean="0">
                <a:solidFill>
                  <a:srgbClr val="FF0000"/>
                </a:solidFill>
              </a:rPr>
              <a:t>1/</a:t>
            </a:r>
            <a:r>
              <a:rPr lang="en-US" altLang="zh-CN" i="1" dirty="0" err="1" smtClean="0">
                <a:solidFill>
                  <a:srgbClr val="FF0000"/>
                </a:solidFill>
              </a:rPr>
              <a:t>R</a:t>
            </a:r>
            <a:r>
              <a:rPr lang="en-US" altLang="zh-CN" i="1" baseline="-25000" dirty="0" err="1" smtClean="0">
                <a:solidFill>
                  <a:srgbClr val="FF0000"/>
                </a:solidFill>
              </a:rPr>
              <a:t>k</a:t>
            </a:r>
            <a:endParaRPr lang="en-US" altLang="zh-CN" i="1" baseline="-25000" dirty="0">
              <a:solidFill>
                <a:srgbClr val="FF0000"/>
              </a:solidFill>
            </a:endParaRPr>
          </a:p>
        </p:txBody>
      </p:sp>
    </p:spTree>
    <p:extLst>
      <p:ext uri="{BB962C8B-B14F-4D97-AF65-F5344CB8AC3E}">
        <p14:creationId xmlns:p14="http://schemas.microsoft.com/office/powerpoint/2010/main" val="10749259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8656"/>
                                        </p:tgtEl>
                                        <p:attrNameLst>
                                          <p:attrName>style.visibility</p:attrName>
                                        </p:attrNameLst>
                                      </p:cBhvr>
                                      <p:to>
                                        <p:strVal val="visible"/>
                                      </p:to>
                                    </p:set>
                                    <p:animEffect transition="in" filter="wipe(left)">
                                      <p:cBhvr>
                                        <p:cTn id="7" dur="500"/>
                                        <p:tgtEl>
                                          <p:spTgt spid="23865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9"/>
                                        </p:tgtEl>
                                        <p:attrNameLst>
                                          <p:attrName>style.visibility</p:attrName>
                                        </p:attrNameLst>
                                      </p:cBhvr>
                                      <p:to>
                                        <p:strVal val="visible"/>
                                      </p:to>
                                    </p:set>
                                    <p:anim calcmode="lin" valueType="num">
                                      <p:cBhvr additive="base">
                                        <p:cTn id="12" dur="500" fill="hold"/>
                                        <p:tgtEl>
                                          <p:spTgt spid="69"/>
                                        </p:tgtEl>
                                        <p:attrNameLst>
                                          <p:attrName>ppt_x</p:attrName>
                                        </p:attrNameLst>
                                      </p:cBhvr>
                                      <p:tavLst>
                                        <p:tav tm="0">
                                          <p:val>
                                            <p:strVal val="0-#ppt_w/2"/>
                                          </p:val>
                                        </p:tav>
                                        <p:tav tm="100000">
                                          <p:val>
                                            <p:strVal val="#ppt_x"/>
                                          </p:val>
                                        </p:tav>
                                      </p:tavLst>
                                    </p:anim>
                                    <p:anim calcmode="lin" valueType="num">
                                      <p:cBhvr additive="base">
                                        <p:cTn id="13" dur="500" fill="hold"/>
                                        <p:tgtEl>
                                          <p:spTgt spid="69"/>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2" presetClass="entr" presetSubtype="2" fill="hold" nodeType="afterEffect">
                                  <p:stCondLst>
                                    <p:cond delay="500"/>
                                  </p:stCondLst>
                                  <p:childTnLst>
                                    <p:set>
                                      <p:cBhvr>
                                        <p:cTn id="16" dur="1" fill="hold">
                                          <p:stCondLst>
                                            <p:cond delay="0"/>
                                          </p:stCondLst>
                                        </p:cTn>
                                        <p:tgtEl>
                                          <p:spTgt spid="70"/>
                                        </p:tgtEl>
                                        <p:attrNameLst>
                                          <p:attrName>style.visibility</p:attrName>
                                        </p:attrNameLst>
                                      </p:cBhvr>
                                      <p:to>
                                        <p:strVal val="visible"/>
                                      </p:to>
                                    </p:set>
                                    <p:animEffect transition="in" filter="slide(fromRight)">
                                      <p:cBhvr>
                                        <p:cTn id="17" dur="500"/>
                                        <p:tgtEl>
                                          <p:spTgt spid="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6"/>
                                        </p:tgtEl>
                                        <p:attrNameLst>
                                          <p:attrName>style.visibility</p:attrName>
                                        </p:attrNameLst>
                                      </p:cBhvr>
                                      <p:to>
                                        <p:strVal val="visible"/>
                                      </p:to>
                                    </p:set>
                                    <p:animEffect transition="in" filter="wipe(left)">
                                      <p:cBhvr>
                                        <p:cTn id="22" dur="500"/>
                                        <p:tgtEl>
                                          <p:spTgt spid="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7"/>
                                        </p:tgtEl>
                                        <p:attrNameLst>
                                          <p:attrName>style.visibility</p:attrName>
                                        </p:attrNameLst>
                                      </p:cBhvr>
                                      <p:to>
                                        <p:strVal val="visible"/>
                                      </p:to>
                                    </p:set>
                                    <p:animEffect transition="in" filter="wipe(left)">
                                      <p:cBhvr>
                                        <p:cTn id="27" dur="500"/>
                                        <p:tgtEl>
                                          <p:spTgt spid="11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1"/>
                                        </p:tgtEl>
                                        <p:attrNameLst>
                                          <p:attrName>style.visibility</p:attrName>
                                        </p:attrNameLst>
                                      </p:cBhvr>
                                      <p:to>
                                        <p:strVal val="visible"/>
                                      </p:to>
                                    </p:set>
                                    <p:anim calcmode="lin" valueType="num">
                                      <p:cBhvr additive="base">
                                        <p:cTn id="32" dur="500" fill="hold"/>
                                        <p:tgtEl>
                                          <p:spTgt spid="71"/>
                                        </p:tgtEl>
                                        <p:attrNameLst>
                                          <p:attrName>ppt_x</p:attrName>
                                        </p:attrNameLst>
                                      </p:cBhvr>
                                      <p:tavLst>
                                        <p:tav tm="0">
                                          <p:val>
                                            <p:strVal val="#ppt_x"/>
                                          </p:val>
                                        </p:tav>
                                        <p:tav tm="100000">
                                          <p:val>
                                            <p:strVal val="#ppt_x"/>
                                          </p:val>
                                        </p:tav>
                                      </p:tavLst>
                                    </p:anim>
                                    <p:anim calcmode="lin" valueType="num">
                                      <p:cBhvr additive="base">
                                        <p:cTn id="33"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72"/>
                                        </p:tgtEl>
                                        <p:attrNameLst>
                                          <p:attrName>style.visibility</p:attrName>
                                        </p:attrNameLst>
                                      </p:cBhvr>
                                      <p:to>
                                        <p:strVal val="visible"/>
                                      </p:to>
                                    </p:set>
                                    <p:animEffect transition="in" filter="wipe(left)">
                                      <p:cBhvr>
                                        <p:cTn id="38"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Text Box 2"/>
          <p:cNvSpPr txBox="1">
            <a:spLocks noChangeArrowheads="1"/>
          </p:cNvSpPr>
          <p:nvPr/>
        </p:nvSpPr>
        <p:spPr bwMode="auto">
          <a:xfrm>
            <a:off x="895350" y="812954"/>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spcBef>
                <a:spcPct val="50000"/>
              </a:spcBef>
            </a:pPr>
            <a:r>
              <a:rPr lang="zh-CN" altLang="en-US" dirty="0">
                <a:solidFill>
                  <a:srgbClr val="C00000"/>
                </a:solidFill>
                <a:latin typeface="楷体_GB2312" pitchFamily="49" charset="-122"/>
                <a:ea typeface="楷体_GB2312" pitchFamily="49" charset="-122"/>
              </a:rPr>
              <a:t>功率</a:t>
            </a:r>
          </a:p>
        </p:txBody>
      </p:sp>
      <p:sp>
        <p:nvSpPr>
          <p:cNvPr id="271363" name="Text Box 3"/>
          <p:cNvSpPr txBox="1">
            <a:spLocks noChangeArrowheads="1"/>
          </p:cNvSpPr>
          <p:nvPr/>
        </p:nvSpPr>
        <p:spPr bwMode="auto">
          <a:xfrm>
            <a:off x="1916112" y="1179371"/>
            <a:ext cx="6659563" cy="4572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i="1" dirty="0"/>
              <a:t>p</a:t>
            </a:r>
            <a:r>
              <a:rPr lang="en-US" altLang="zh-CN" b="0" baseline="-25000" dirty="0"/>
              <a:t>1</a:t>
            </a:r>
            <a:r>
              <a:rPr lang="en-US" altLang="zh-CN" b="0" dirty="0"/>
              <a:t>= </a:t>
            </a:r>
            <a:r>
              <a:rPr lang="en-US" altLang="zh-CN" b="0" i="1" dirty="0"/>
              <a:t>G</a:t>
            </a:r>
            <a:r>
              <a:rPr lang="en-US" altLang="zh-CN" b="0" baseline="-25000" dirty="0"/>
              <a:t>1</a:t>
            </a:r>
            <a:r>
              <a:rPr lang="en-US" altLang="zh-CN" b="0" i="1" dirty="0"/>
              <a:t>v</a:t>
            </a:r>
            <a:r>
              <a:rPr lang="en-US" altLang="zh-CN" b="0" baseline="30000" dirty="0"/>
              <a:t>2</a:t>
            </a:r>
            <a:r>
              <a:rPr lang="zh-CN" altLang="en-US" b="0" dirty="0"/>
              <a:t>， </a:t>
            </a:r>
            <a:r>
              <a:rPr lang="en-US" altLang="zh-CN" b="0" i="1" dirty="0"/>
              <a:t>p</a:t>
            </a:r>
            <a:r>
              <a:rPr lang="en-US" altLang="zh-CN" b="0" baseline="-25000" dirty="0"/>
              <a:t>2</a:t>
            </a:r>
            <a:r>
              <a:rPr lang="en-US" altLang="zh-CN" b="0" dirty="0"/>
              <a:t>=</a:t>
            </a:r>
            <a:r>
              <a:rPr lang="en-US" altLang="zh-CN" b="0" i="1" dirty="0"/>
              <a:t>G</a:t>
            </a:r>
            <a:r>
              <a:rPr lang="en-US" altLang="zh-CN" b="0" baseline="-25000" dirty="0"/>
              <a:t>2</a:t>
            </a:r>
            <a:r>
              <a:rPr lang="en-US" altLang="zh-CN" b="0" i="1" dirty="0"/>
              <a:t>v</a:t>
            </a:r>
            <a:r>
              <a:rPr lang="en-US" altLang="zh-CN" b="0" baseline="30000" dirty="0"/>
              <a:t>2</a:t>
            </a:r>
            <a:r>
              <a:rPr lang="zh-CN" altLang="en-US" b="0" dirty="0"/>
              <a:t>，</a:t>
            </a:r>
            <a:r>
              <a:rPr lang="zh-CN" altLang="en-US" b="0" dirty="0">
                <a:sym typeface="Symbol" pitchFamily="18" charset="2"/>
              </a:rPr>
              <a:t>， </a:t>
            </a:r>
            <a:r>
              <a:rPr lang="en-US" altLang="zh-CN" b="0" i="1" dirty="0" err="1"/>
              <a:t>p</a:t>
            </a:r>
            <a:r>
              <a:rPr lang="en-US" altLang="zh-CN" b="0" i="1" baseline="-25000" dirty="0" err="1"/>
              <a:t>n</a:t>
            </a:r>
            <a:r>
              <a:rPr lang="en-US" altLang="zh-CN" b="0" dirty="0"/>
              <a:t>=</a:t>
            </a:r>
            <a:r>
              <a:rPr lang="en-US" altLang="zh-CN" b="0" i="1" dirty="0"/>
              <a:t>G</a:t>
            </a:r>
            <a:r>
              <a:rPr lang="en-US" altLang="zh-CN" b="0" i="1" baseline="-25000" dirty="0"/>
              <a:t>n</a:t>
            </a:r>
            <a:r>
              <a:rPr lang="en-US" altLang="zh-CN" b="0" i="1" dirty="0"/>
              <a:t>v</a:t>
            </a:r>
            <a:r>
              <a:rPr lang="en-US" altLang="zh-CN" b="0" baseline="30000" dirty="0"/>
              <a:t>2</a:t>
            </a:r>
            <a:endParaRPr lang="en-US" altLang="zh-CN" b="0" dirty="0"/>
          </a:p>
        </p:txBody>
      </p:sp>
      <p:sp>
        <p:nvSpPr>
          <p:cNvPr id="271364" name="Text Box 4"/>
          <p:cNvSpPr txBox="1">
            <a:spLocks noChangeArrowheads="1"/>
          </p:cNvSpPr>
          <p:nvPr/>
        </p:nvSpPr>
        <p:spPr bwMode="auto">
          <a:xfrm>
            <a:off x="1914525" y="1792146"/>
            <a:ext cx="5976937" cy="4572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0" i="1"/>
              <a:t>p</a:t>
            </a:r>
            <a:r>
              <a:rPr lang="en-US" altLang="zh-CN" b="0" baseline="-25000"/>
              <a:t>1</a:t>
            </a:r>
            <a:r>
              <a:rPr lang="en-US" altLang="zh-CN" b="0"/>
              <a:t>: </a:t>
            </a:r>
            <a:r>
              <a:rPr lang="en-US" altLang="zh-CN" b="0" i="1"/>
              <a:t>p</a:t>
            </a:r>
            <a:r>
              <a:rPr lang="en-US" altLang="zh-CN" b="0" baseline="-25000"/>
              <a:t>2 </a:t>
            </a:r>
            <a:r>
              <a:rPr lang="en-US" altLang="zh-CN" b="0"/>
              <a:t>: </a:t>
            </a:r>
            <a:r>
              <a:rPr lang="en-US" altLang="zh-CN" b="0">
                <a:sym typeface="Symbol" pitchFamily="18" charset="2"/>
              </a:rPr>
              <a:t> : </a:t>
            </a:r>
            <a:r>
              <a:rPr lang="en-US" altLang="zh-CN" b="0" i="1"/>
              <a:t>p</a:t>
            </a:r>
            <a:r>
              <a:rPr lang="en-US" altLang="zh-CN" b="0" i="1" baseline="-25000"/>
              <a:t>n</a:t>
            </a:r>
            <a:r>
              <a:rPr lang="en-US" altLang="zh-CN" b="0"/>
              <a:t>= </a:t>
            </a:r>
            <a:r>
              <a:rPr lang="en-US" altLang="zh-CN" b="0" i="1"/>
              <a:t>G</a:t>
            </a:r>
            <a:r>
              <a:rPr lang="en-US" altLang="zh-CN" b="0" baseline="-25000"/>
              <a:t>1 </a:t>
            </a:r>
            <a:r>
              <a:rPr lang="en-US" altLang="zh-CN" b="0"/>
              <a:t>: </a:t>
            </a:r>
            <a:r>
              <a:rPr lang="en-US" altLang="zh-CN" b="0" i="1"/>
              <a:t>G</a:t>
            </a:r>
            <a:r>
              <a:rPr lang="en-US" altLang="zh-CN" b="0" baseline="-25000"/>
              <a:t>2  </a:t>
            </a:r>
            <a:r>
              <a:rPr lang="en-US" altLang="zh-CN" b="0"/>
              <a:t>: </a:t>
            </a:r>
            <a:r>
              <a:rPr lang="en-US" altLang="zh-CN" b="0">
                <a:sym typeface="Symbol" pitchFamily="18" charset="2"/>
              </a:rPr>
              <a:t> :</a:t>
            </a:r>
            <a:r>
              <a:rPr lang="en-US" altLang="zh-CN" b="0" i="1"/>
              <a:t>G</a:t>
            </a:r>
            <a:r>
              <a:rPr lang="en-US" altLang="zh-CN" b="0" i="1" baseline="-25000"/>
              <a:t>n</a:t>
            </a:r>
            <a:endParaRPr lang="en-US" altLang="zh-CN" b="0" baseline="30000"/>
          </a:p>
        </p:txBody>
      </p:sp>
      <p:sp>
        <p:nvSpPr>
          <p:cNvPr id="271365" name="Text Box 5"/>
          <p:cNvSpPr txBox="1">
            <a:spLocks noChangeArrowheads="1"/>
          </p:cNvSpPr>
          <p:nvPr/>
        </p:nvSpPr>
        <p:spPr bwMode="auto">
          <a:xfrm>
            <a:off x="798513" y="2249346"/>
            <a:ext cx="7777162" cy="2086725"/>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gn="l">
              <a:spcBef>
                <a:spcPct val="50000"/>
              </a:spcBef>
            </a:pPr>
            <a:r>
              <a:rPr lang="zh-CN" altLang="en-US" dirty="0">
                <a:solidFill>
                  <a:srgbClr val="C00000"/>
                </a:solidFill>
                <a:latin typeface="楷体_GB2312" pitchFamily="49" charset="-122"/>
                <a:ea typeface="楷体_GB2312" pitchFamily="49" charset="-122"/>
              </a:rPr>
              <a:t>总功率</a:t>
            </a:r>
          </a:p>
          <a:p>
            <a:pPr algn="l">
              <a:spcBef>
                <a:spcPct val="20000"/>
              </a:spcBef>
            </a:pPr>
            <a:r>
              <a:rPr lang="zh-CN" altLang="en-US" b="0" dirty="0"/>
              <a:t>                </a:t>
            </a:r>
            <a:r>
              <a:rPr lang="en-US" altLang="zh-CN" b="0" i="1" dirty="0"/>
              <a:t>p </a:t>
            </a:r>
            <a:r>
              <a:rPr lang="en-US" altLang="zh-CN" b="0" dirty="0"/>
              <a:t>= </a:t>
            </a:r>
            <a:r>
              <a:rPr lang="en-US" altLang="zh-CN" b="0" i="1" dirty="0"/>
              <a:t>G</a:t>
            </a:r>
            <a:r>
              <a:rPr lang="en-US" altLang="zh-CN" b="0" baseline="-25000" dirty="0"/>
              <a:t>eq</a:t>
            </a:r>
            <a:r>
              <a:rPr lang="en-US" altLang="zh-CN" b="0" i="1" dirty="0"/>
              <a:t>v</a:t>
            </a:r>
            <a:r>
              <a:rPr lang="en-US" altLang="zh-CN" b="0" baseline="30000" dirty="0"/>
              <a:t>2 </a:t>
            </a:r>
            <a:r>
              <a:rPr lang="en-US" altLang="zh-CN" b="0" dirty="0"/>
              <a:t>= (</a:t>
            </a:r>
            <a:r>
              <a:rPr lang="en-US" altLang="zh-CN" b="0" i="1" dirty="0"/>
              <a:t>G</a:t>
            </a:r>
            <a:r>
              <a:rPr lang="en-US" altLang="zh-CN" b="0" baseline="-25000" dirty="0"/>
              <a:t>1</a:t>
            </a:r>
            <a:r>
              <a:rPr lang="en-US" altLang="zh-CN" b="0" dirty="0"/>
              <a:t>+ </a:t>
            </a:r>
            <a:r>
              <a:rPr lang="en-US" altLang="zh-CN" b="0" i="1" dirty="0"/>
              <a:t>G</a:t>
            </a:r>
            <a:r>
              <a:rPr lang="en-US" altLang="zh-CN" b="0" baseline="-25000" dirty="0"/>
              <a:t>2</a:t>
            </a:r>
            <a:r>
              <a:rPr lang="en-US" altLang="zh-CN" b="0" dirty="0"/>
              <a:t>+ …+</a:t>
            </a:r>
            <a:r>
              <a:rPr lang="en-US" altLang="zh-CN" b="0" i="1" dirty="0" err="1"/>
              <a:t>G</a:t>
            </a:r>
            <a:r>
              <a:rPr lang="en-US" altLang="zh-CN" b="0" i="1" baseline="-25000" dirty="0" err="1"/>
              <a:t>n</a:t>
            </a:r>
            <a:r>
              <a:rPr lang="en-US" altLang="zh-CN" b="0" i="1" baseline="-25000" dirty="0"/>
              <a:t> </a:t>
            </a:r>
            <a:r>
              <a:rPr lang="en-US" altLang="zh-CN" b="0" dirty="0"/>
              <a:t>) </a:t>
            </a:r>
            <a:r>
              <a:rPr lang="en-US" altLang="zh-CN" b="0" i="1" dirty="0"/>
              <a:t>v</a:t>
            </a:r>
            <a:r>
              <a:rPr lang="en-US" altLang="zh-CN" b="0" baseline="30000" dirty="0"/>
              <a:t>2</a:t>
            </a:r>
          </a:p>
          <a:p>
            <a:pPr algn="l">
              <a:spcBef>
                <a:spcPct val="20000"/>
              </a:spcBef>
            </a:pPr>
            <a:r>
              <a:rPr lang="en-US" altLang="zh-CN" b="0" dirty="0"/>
              <a:t>                   = </a:t>
            </a:r>
            <a:r>
              <a:rPr lang="en-US" altLang="zh-CN" b="0" i="1" dirty="0"/>
              <a:t>G</a:t>
            </a:r>
            <a:r>
              <a:rPr lang="en-US" altLang="zh-CN" b="0" baseline="-25000" dirty="0"/>
              <a:t>1</a:t>
            </a:r>
            <a:r>
              <a:rPr lang="en-US" altLang="zh-CN" b="0" i="1" dirty="0"/>
              <a:t>v</a:t>
            </a:r>
            <a:r>
              <a:rPr lang="en-US" altLang="zh-CN" b="0" baseline="30000" dirty="0"/>
              <a:t>2</a:t>
            </a:r>
            <a:r>
              <a:rPr lang="en-US" altLang="zh-CN" b="0" dirty="0"/>
              <a:t>+</a:t>
            </a:r>
            <a:r>
              <a:rPr lang="en-US" altLang="zh-CN" b="0" i="1" dirty="0"/>
              <a:t>G</a:t>
            </a:r>
            <a:r>
              <a:rPr lang="en-US" altLang="zh-CN" b="0" baseline="-25000" dirty="0"/>
              <a:t>2</a:t>
            </a:r>
            <a:r>
              <a:rPr lang="en-US" altLang="zh-CN" b="0" i="1" dirty="0"/>
              <a:t>v</a:t>
            </a:r>
            <a:r>
              <a:rPr lang="en-US" altLang="zh-CN" b="0" baseline="30000" dirty="0"/>
              <a:t>2</a:t>
            </a:r>
            <a:r>
              <a:rPr lang="en-US" altLang="zh-CN" b="0" dirty="0"/>
              <a:t>+ </a:t>
            </a:r>
            <a:r>
              <a:rPr lang="en-US" altLang="zh-CN" b="0" dirty="0">
                <a:sym typeface="Symbol" pitchFamily="18" charset="2"/>
              </a:rPr>
              <a:t></a:t>
            </a:r>
            <a:r>
              <a:rPr lang="en-US" altLang="zh-CN" b="0" dirty="0"/>
              <a:t>+</a:t>
            </a:r>
            <a:r>
              <a:rPr lang="en-US" altLang="zh-CN" b="0" i="1" dirty="0"/>
              <a:t>G</a:t>
            </a:r>
            <a:r>
              <a:rPr lang="en-US" altLang="zh-CN" b="0" i="1" baseline="-25000" dirty="0"/>
              <a:t>n</a:t>
            </a:r>
            <a:r>
              <a:rPr lang="en-US" altLang="zh-CN" b="0" i="1" dirty="0"/>
              <a:t>v</a:t>
            </a:r>
            <a:r>
              <a:rPr lang="en-US" altLang="zh-CN" b="0" baseline="30000" dirty="0"/>
              <a:t>2</a:t>
            </a:r>
          </a:p>
          <a:p>
            <a:pPr algn="l">
              <a:spcBef>
                <a:spcPct val="20000"/>
              </a:spcBef>
            </a:pPr>
            <a:r>
              <a:rPr lang="en-US" altLang="zh-CN" b="0" dirty="0"/>
              <a:t>                   = </a:t>
            </a:r>
            <a:r>
              <a:rPr lang="en-US" altLang="zh-CN" b="0" i="1" dirty="0"/>
              <a:t>p</a:t>
            </a:r>
            <a:r>
              <a:rPr lang="en-US" altLang="zh-CN" b="0" baseline="-25000" dirty="0"/>
              <a:t>1</a:t>
            </a:r>
            <a:r>
              <a:rPr lang="en-US" altLang="zh-CN" b="0" dirty="0"/>
              <a:t>+ </a:t>
            </a:r>
            <a:r>
              <a:rPr lang="en-US" altLang="zh-CN" b="0" i="1" dirty="0"/>
              <a:t>p</a:t>
            </a:r>
            <a:r>
              <a:rPr lang="en-US" altLang="zh-CN" b="0" baseline="-25000" dirty="0"/>
              <a:t>2</a:t>
            </a:r>
            <a:r>
              <a:rPr lang="en-US" altLang="zh-CN" b="0" dirty="0"/>
              <a:t>+</a:t>
            </a:r>
            <a:r>
              <a:rPr lang="en-US" altLang="zh-CN" b="0" dirty="0">
                <a:sym typeface="Symbol" pitchFamily="18" charset="2"/>
              </a:rPr>
              <a:t>+ </a:t>
            </a:r>
            <a:r>
              <a:rPr lang="en-US" altLang="zh-CN" b="0" i="1" dirty="0" err="1"/>
              <a:t>p</a:t>
            </a:r>
            <a:r>
              <a:rPr lang="en-US" altLang="zh-CN" b="0" i="1" baseline="-25000" dirty="0" err="1"/>
              <a:t>n</a:t>
            </a:r>
            <a:endParaRPr lang="en-US" altLang="zh-CN" b="0" dirty="0"/>
          </a:p>
          <a:p>
            <a:pPr algn="l">
              <a:spcBef>
                <a:spcPct val="20000"/>
              </a:spcBef>
            </a:pPr>
            <a:endParaRPr lang="en-US" altLang="zh-CN" b="0" baseline="30000" dirty="0"/>
          </a:p>
        </p:txBody>
      </p:sp>
      <p:sp>
        <p:nvSpPr>
          <p:cNvPr id="271366" name="Text Box 6"/>
          <p:cNvSpPr txBox="1">
            <a:spLocks noChangeArrowheads="1"/>
          </p:cNvSpPr>
          <p:nvPr/>
        </p:nvSpPr>
        <p:spPr bwMode="auto">
          <a:xfrm>
            <a:off x="1420813" y="5534025"/>
            <a:ext cx="6911975" cy="88265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itchFamily="18" charset="0"/>
                <a:ea typeface="宋体" charset="-122"/>
              </a:defRPr>
            </a:lvl1pPr>
            <a:lvl2pPr marL="800100" indent="-342900" algn="l">
              <a:defRPr kumimoji="1" sz="2400">
                <a:solidFill>
                  <a:schemeClr val="tx1"/>
                </a:solidFill>
                <a:latin typeface="Times New Roman" pitchFamily="18" charset="0"/>
                <a:ea typeface="宋体" charset="-122"/>
              </a:defRPr>
            </a:lvl2pPr>
            <a:lvl3pPr marL="1257300" indent="-342900" algn="l">
              <a:defRPr kumimoji="1" sz="2400">
                <a:solidFill>
                  <a:schemeClr val="tx1"/>
                </a:solidFill>
                <a:latin typeface="Times New Roman" pitchFamily="18" charset="0"/>
                <a:ea typeface="宋体" charset="-122"/>
              </a:defRPr>
            </a:lvl3pPr>
            <a:lvl4pPr marL="1714500" indent="-342900" algn="l">
              <a:defRPr kumimoji="1" sz="2400">
                <a:solidFill>
                  <a:schemeClr val="tx1"/>
                </a:solidFill>
                <a:latin typeface="Times New Roman" pitchFamily="18" charset="0"/>
                <a:ea typeface="宋体" charset="-122"/>
              </a:defRPr>
            </a:lvl4pPr>
            <a:lvl5pPr marL="2171700" indent="-342900" algn="l">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a:lnSpc>
                <a:spcPct val="120000"/>
              </a:lnSpc>
              <a:spcBef>
                <a:spcPct val="20000"/>
              </a:spcBef>
              <a:buFontTx/>
              <a:buAutoNum type="circleNumDbPlain"/>
            </a:pPr>
            <a:r>
              <a:rPr kumimoji="0" lang="zh-CN" altLang="en-US" sz="2000">
                <a:solidFill>
                  <a:schemeClr val="accent2"/>
                </a:solidFill>
                <a:latin typeface="Arial" charset="0"/>
                <a:ea typeface="楷体_GB2312" pitchFamily="49" charset="-122"/>
              </a:rPr>
              <a:t>电阻并联时，各电阻消耗的功率与电阻大小成反比；</a:t>
            </a:r>
          </a:p>
          <a:p>
            <a:pPr>
              <a:lnSpc>
                <a:spcPct val="120000"/>
              </a:lnSpc>
              <a:spcBef>
                <a:spcPct val="20000"/>
              </a:spcBef>
              <a:buFontTx/>
              <a:buAutoNum type="circleNumDbPlain"/>
            </a:pPr>
            <a:r>
              <a:rPr kumimoji="0" lang="zh-CN" altLang="en-US" sz="2000">
                <a:solidFill>
                  <a:schemeClr val="accent2"/>
                </a:solidFill>
                <a:latin typeface="Arial" charset="0"/>
                <a:ea typeface="楷体_GB2312" pitchFamily="49" charset="-122"/>
              </a:rPr>
              <a:t>等效电阻消耗的功率等于各并联电阻消耗功率的总和</a:t>
            </a:r>
          </a:p>
        </p:txBody>
      </p:sp>
      <p:grpSp>
        <p:nvGrpSpPr>
          <p:cNvPr id="271367" name="Group 7"/>
          <p:cNvGrpSpPr>
            <a:grpSpLocks/>
          </p:cNvGrpSpPr>
          <p:nvPr/>
        </p:nvGrpSpPr>
        <p:grpSpPr bwMode="auto">
          <a:xfrm>
            <a:off x="342900" y="4700588"/>
            <a:ext cx="1441450" cy="850900"/>
            <a:chOff x="385" y="3022"/>
            <a:chExt cx="908" cy="536"/>
          </a:xfrm>
        </p:grpSpPr>
        <p:pic>
          <p:nvPicPr>
            <p:cNvPr id="271368" name="Picture 8" descr="1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271369" name="Text Box 9"/>
            <p:cNvSpPr txBox="1">
              <a:spLocks noChangeArrowheads="1"/>
            </p:cNvSpPr>
            <p:nvPr/>
          </p:nvSpPr>
          <p:spPr bwMode="auto">
            <a:xfrm>
              <a:off x="793" y="3182"/>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rgbClr val="FF0000"/>
                  </a:solidFill>
                  <a:ea typeface="华文行楷" pitchFamily="2" charset="-122"/>
                </a:rPr>
                <a:t>表明</a:t>
              </a:r>
            </a:p>
          </p:txBody>
        </p:sp>
      </p:grpSp>
      <p:sp>
        <p:nvSpPr>
          <p:cNvPr id="271370" name="Text Box 10"/>
          <p:cNvSpPr txBox="1">
            <a:spLocks noChangeArrowheads="1"/>
          </p:cNvSpPr>
          <p:nvPr/>
        </p:nvSpPr>
        <p:spPr bwMode="auto">
          <a:xfrm>
            <a:off x="295275" y="312891"/>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accent2"/>
                </a:solidFill>
              </a:rPr>
              <a:t>3.  </a:t>
            </a:r>
            <a:r>
              <a:rPr lang="zh-CN" altLang="en-US">
                <a:solidFill>
                  <a:schemeClr val="accent2"/>
                </a:solidFill>
              </a:rPr>
              <a:t>功率分配</a:t>
            </a:r>
            <a:endParaRPr lang="zh-CN" altLang="en-US"/>
          </a:p>
        </p:txBody>
      </p:sp>
    </p:spTree>
    <p:extLst>
      <p:ext uri="{BB962C8B-B14F-4D97-AF65-F5344CB8AC3E}">
        <p14:creationId xmlns:p14="http://schemas.microsoft.com/office/powerpoint/2010/main" val="957529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271362"/>
                                        </p:tgtEl>
                                        <p:attrNameLst>
                                          <p:attrName>style.visibility</p:attrName>
                                        </p:attrNameLst>
                                      </p:cBhvr>
                                      <p:to>
                                        <p:strVal val="visible"/>
                                      </p:to>
                                    </p:set>
                                    <p:anim calcmode="lin" valueType="num">
                                      <p:cBhvr additive="base">
                                        <p:cTn id="7" dur="500" fill="hold"/>
                                        <p:tgtEl>
                                          <p:spTgt spid="271362"/>
                                        </p:tgtEl>
                                        <p:attrNameLst>
                                          <p:attrName>ppt_x</p:attrName>
                                        </p:attrNameLst>
                                      </p:cBhvr>
                                      <p:tavLst>
                                        <p:tav tm="0">
                                          <p:val>
                                            <p:strVal val="0-#ppt_w/2"/>
                                          </p:val>
                                        </p:tav>
                                        <p:tav tm="100000">
                                          <p:val>
                                            <p:strVal val="#ppt_x"/>
                                          </p:val>
                                        </p:tav>
                                      </p:tavLst>
                                    </p:anim>
                                    <p:anim calcmode="lin" valueType="num">
                                      <p:cBhvr additive="base">
                                        <p:cTn id="8" dur="500" fill="hold"/>
                                        <p:tgtEl>
                                          <p:spTgt spid="27136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1363"/>
                                        </p:tgtEl>
                                        <p:attrNameLst>
                                          <p:attrName>style.visibility</p:attrName>
                                        </p:attrNameLst>
                                      </p:cBhvr>
                                      <p:to>
                                        <p:strVal val="visible"/>
                                      </p:to>
                                    </p:set>
                                    <p:animEffect transition="in" filter="wipe(left)">
                                      <p:cBhvr>
                                        <p:cTn id="13" dur="3000"/>
                                        <p:tgtEl>
                                          <p:spTgt spid="27136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1364"/>
                                        </p:tgtEl>
                                        <p:attrNameLst>
                                          <p:attrName>style.visibility</p:attrName>
                                        </p:attrNameLst>
                                      </p:cBhvr>
                                      <p:to>
                                        <p:strVal val="visible"/>
                                      </p:to>
                                    </p:set>
                                    <p:animEffect transition="in" filter="wipe(left)">
                                      <p:cBhvr>
                                        <p:cTn id="18" dur="3000"/>
                                        <p:tgtEl>
                                          <p:spTgt spid="27136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71365"/>
                                        </p:tgtEl>
                                        <p:attrNameLst>
                                          <p:attrName>style.visibility</p:attrName>
                                        </p:attrNameLst>
                                      </p:cBhvr>
                                      <p:to>
                                        <p:strVal val="visible"/>
                                      </p:to>
                                    </p:set>
                                    <p:animEffect transition="in" filter="blinds(horizontal)">
                                      <p:cBhvr>
                                        <p:cTn id="23" dur="500"/>
                                        <p:tgtEl>
                                          <p:spTgt spid="27136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71367"/>
                                        </p:tgtEl>
                                        <p:attrNameLst>
                                          <p:attrName>style.visibility</p:attrName>
                                        </p:attrNameLst>
                                      </p:cBhvr>
                                      <p:to>
                                        <p:strVal val="visible"/>
                                      </p:to>
                                    </p:set>
                                    <p:animEffect transition="in" filter="blinds(horizontal)">
                                      <p:cBhvr>
                                        <p:cTn id="28" dur="500"/>
                                        <p:tgtEl>
                                          <p:spTgt spid="271367"/>
                                        </p:tgtEl>
                                      </p:cBhvr>
                                    </p:animEffect>
                                  </p:childTnLst>
                                </p:cTn>
                              </p:par>
                            </p:childTnLst>
                          </p:cTn>
                        </p:par>
                        <p:par>
                          <p:cTn id="29" fill="hold">
                            <p:stCondLst>
                              <p:cond delay="500"/>
                            </p:stCondLst>
                            <p:childTnLst>
                              <p:par>
                                <p:cTn id="30" presetID="17" presetClass="entr" presetSubtype="10" fill="hold" grpId="0" nodeType="afterEffect">
                                  <p:stCondLst>
                                    <p:cond delay="0"/>
                                  </p:stCondLst>
                                  <p:iterate type="lt">
                                    <p:tmPct val="100000"/>
                                  </p:iterate>
                                  <p:childTnLst>
                                    <p:set>
                                      <p:cBhvr>
                                        <p:cTn id="31" dur="1" fill="hold">
                                          <p:stCondLst>
                                            <p:cond delay="0"/>
                                          </p:stCondLst>
                                        </p:cTn>
                                        <p:tgtEl>
                                          <p:spTgt spid="271366"/>
                                        </p:tgtEl>
                                        <p:attrNameLst>
                                          <p:attrName>style.visibility</p:attrName>
                                        </p:attrNameLst>
                                      </p:cBhvr>
                                      <p:to>
                                        <p:strVal val="visible"/>
                                      </p:to>
                                    </p:set>
                                    <p:anim calcmode="lin" valueType="num">
                                      <p:cBhvr>
                                        <p:cTn id="32" dur="100" fill="hold"/>
                                        <p:tgtEl>
                                          <p:spTgt spid="271366"/>
                                        </p:tgtEl>
                                        <p:attrNameLst>
                                          <p:attrName>ppt_w</p:attrName>
                                        </p:attrNameLst>
                                      </p:cBhvr>
                                      <p:tavLst>
                                        <p:tav tm="0">
                                          <p:val>
                                            <p:fltVal val="0"/>
                                          </p:val>
                                        </p:tav>
                                        <p:tav tm="100000">
                                          <p:val>
                                            <p:strVal val="#ppt_w"/>
                                          </p:val>
                                        </p:tav>
                                      </p:tavLst>
                                    </p:anim>
                                    <p:anim calcmode="lin" valueType="num">
                                      <p:cBhvr>
                                        <p:cTn id="33" dur="100" fill="hold"/>
                                        <p:tgtEl>
                                          <p:spTgt spid="2713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2" grpId="0"/>
      <p:bldP spid="271363" grpId="0"/>
      <p:bldP spid="271364" grpId="0"/>
      <p:bldP spid="271365" grpId="0"/>
      <p:bldP spid="27136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7" name="Text Box 3"/>
          <p:cNvSpPr txBox="1">
            <a:spLocks noChangeArrowheads="1"/>
          </p:cNvSpPr>
          <p:nvPr/>
        </p:nvSpPr>
        <p:spPr bwMode="auto">
          <a:xfrm>
            <a:off x="4241800" y="2222500"/>
            <a:ext cx="3276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a:t> = 4∥[2+(3∥6) ]= 2 </a:t>
            </a:r>
            <a:r>
              <a:rPr lang="en-US" altLang="zh-CN" sz="2000">
                <a:sym typeface="Symbol" pitchFamily="18" charset="2"/>
              </a:rPr>
              <a:t></a:t>
            </a:r>
          </a:p>
        </p:txBody>
      </p:sp>
      <p:sp>
        <p:nvSpPr>
          <p:cNvPr id="241668" name="AutoShape 4"/>
          <p:cNvSpPr>
            <a:spLocks noChangeArrowheads="1"/>
          </p:cNvSpPr>
          <p:nvPr/>
        </p:nvSpPr>
        <p:spPr bwMode="auto">
          <a:xfrm>
            <a:off x="4425950" y="4635500"/>
            <a:ext cx="514350" cy="322263"/>
          </a:xfrm>
          <a:prstGeom prst="rightArrow">
            <a:avLst>
              <a:gd name="adj1" fmla="val 50000"/>
              <a:gd name="adj2" fmla="val 39901"/>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69" name="Text Box 5"/>
          <p:cNvSpPr txBox="1">
            <a:spLocks noChangeArrowheads="1"/>
          </p:cNvSpPr>
          <p:nvPr/>
        </p:nvSpPr>
        <p:spPr bwMode="auto">
          <a:xfrm>
            <a:off x="1287463" y="6167438"/>
            <a:ext cx="510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t>  </a:t>
            </a:r>
            <a:r>
              <a:rPr lang="en-US" altLang="zh-CN" sz="2000" i="1"/>
              <a:t>R</a:t>
            </a:r>
            <a:r>
              <a:rPr lang="en-US" altLang="zh-CN" sz="2000"/>
              <a:t> = (40∥40)+(30∥30∥30) = 30</a:t>
            </a:r>
            <a:r>
              <a:rPr lang="en-US" altLang="zh-CN" sz="2000">
                <a:sym typeface="Symbol" pitchFamily="18" charset="2"/>
              </a:rPr>
              <a:t></a:t>
            </a:r>
          </a:p>
        </p:txBody>
      </p:sp>
      <p:grpSp>
        <p:nvGrpSpPr>
          <p:cNvPr id="241670" name="Group 6"/>
          <p:cNvGrpSpPr>
            <a:grpSpLocks/>
          </p:cNvGrpSpPr>
          <p:nvPr/>
        </p:nvGrpSpPr>
        <p:grpSpPr bwMode="auto">
          <a:xfrm>
            <a:off x="712788" y="3643313"/>
            <a:ext cx="3429000" cy="2398713"/>
            <a:chOff x="449" y="1923"/>
            <a:chExt cx="2160" cy="1511"/>
          </a:xfrm>
        </p:grpSpPr>
        <p:grpSp>
          <p:nvGrpSpPr>
            <p:cNvPr id="241671" name="Group 7"/>
            <p:cNvGrpSpPr>
              <a:grpSpLocks/>
            </p:cNvGrpSpPr>
            <p:nvPr/>
          </p:nvGrpSpPr>
          <p:grpSpPr bwMode="auto">
            <a:xfrm>
              <a:off x="449" y="1923"/>
              <a:ext cx="2160" cy="1511"/>
              <a:chOff x="449" y="1923"/>
              <a:chExt cx="2160" cy="1511"/>
            </a:xfrm>
          </p:grpSpPr>
          <p:grpSp>
            <p:nvGrpSpPr>
              <p:cNvPr id="241672" name="Group 8"/>
              <p:cNvGrpSpPr>
                <a:grpSpLocks/>
              </p:cNvGrpSpPr>
              <p:nvPr/>
            </p:nvGrpSpPr>
            <p:grpSpPr bwMode="auto">
              <a:xfrm>
                <a:off x="1037" y="1923"/>
                <a:ext cx="1572" cy="1511"/>
                <a:chOff x="1037" y="1923"/>
                <a:chExt cx="1572" cy="1511"/>
              </a:xfrm>
            </p:grpSpPr>
            <p:sp>
              <p:nvSpPr>
                <p:cNvPr id="241673" name="Text Box 9"/>
                <p:cNvSpPr txBox="1">
                  <a:spLocks noChangeArrowheads="1"/>
                </p:cNvSpPr>
                <p:nvPr/>
              </p:nvSpPr>
              <p:spPr bwMode="auto">
                <a:xfrm>
                  <a:off x="1869" y="1923"/>
                  <a:ext cx="5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40</a:t>
                  </a:r>
                  <a:r>
                    <a:rPr lang="en-US" altLang="zh-CN" sz="2000" dirty="0">
                      <a:sym typeface="Symbol" pitchFamily="18" charset="2"/>
                    </a:rPr>
                    <a:t></a:t>
                  </a:r>
                </a:p>
              </p:txBody>
            </p:sp>
            <p:sp>
              <p:nvSpPr>
                <p:cNvPr id="241674" name="Line 10"/>
                <p:cNvSpPr>
                  <a:spLocks noChangeShapeType="1"/>
                </p:cNvSpPr>
                <p:nvPr/>
              </p:nvSpPr>
              <p:spPr bwMode="auto">
                <a:xfrm>
                  <a:off x="1278" y="2183"/>
                  <a:ext cx="114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75" name="Line 11"/>
                <p:cNvSpPr>
                  <a:spLocks noChangeShapeType="1"/>
                </p:cNvSpPr>
                <p:nvPr/>
              </p:nvSpPr>
              <p:spPr bwMode="auto">
                <a:xfrm>
                  <a:off x="1288" y="2995"/>
                  <a:ext cx="114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76" name="Line 12"/>
                <p:cNvSpPr>
                  <a:spLocks noChangeShapeType="1"/>
                </p:cNvSpPr>
                <p:nvPr/>
              </p:nvSpPr>
              <p:spPr bwMode="auto">
                <a:xfrm>
                  <a:off x="2414" y="2183"/>
                  <a:ext cx="0" cy="81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77" name="Rectangle 13"/>
                <p:cNvSpPr>
                  <a:spLocks noChangeArrowheads="1"/>
                </p:cNvSpPr>
                <p:nvPr/>
              </p:nvSpPr>
              <p:spPr bwMode="auto">
                <a:xfrm rot="-5400000">
                  <a:off x="2034" y="2061"/>
                  <a:ext cx="85" cy="245"/>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678" name="Rectangle 14"/>
                <p:cNvSpPr>
                  <a:spLocks noChangeArrowheads="1"/>
                </p:cNvSpPr>
                <p:nvPr/>
              </p:nvSpPr>
              <p:spPr bwMode="auto">
                <a:xfrm rot="-5400000">
                  <a:off x="1994" y="2864"/>
                  <a:ext cx="84" cy="245"/>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679" name="Text Box 15"/>
                <p:cNvSpPr txBox="1">
                  <a:spLocks noChangeArrowheads="1"/>
                </p:cNvSpPr>
                <p:nvPr/>
              </p:nvSpPr>
              <p:spPr bwMode="auto">
                <a:xfrm>
                  <a:off x="1824" y="2732"/>
                  <a:ext cx="6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30</a:t>
                  </a:r>
                  <a:r>
                    <a:rPr lang="en-US" altLang="zh-CN" sz="2000" dirty="0">
                      <a:sym typeface="Symbol" pitchFamily="18" charset="2"/>
                    </a:rPr>
                    <a:t></a:t>
                  </a:r>
                </a:p>
              </p:txBody>
            </p:sp>
            <p:sp>
              <p:nvSpPr>
                <p:cNvPr id="241680" name="Line 16"/>
                <p:cNvSpPr>
                  <a:spLocks noChangeShapeType="1"/>
                </p:cNvSpPr>
                <p:nvPr/>
              </p:nvSpPr>
              <p:spPr bwMode="auto">
                <a:xfrm flipH="1" flipV="1">
                  <a:off x="1954" y="2623"/>
                  <a:ext cx="450" cy="372"/>
                </a:xfrm>
                <a:prstGeom prst="line">
                  <a:avLst/>
                </a:prstGeom>
                <a:noFill/>
                <a:ln w="1270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81" name="Line 17"/>
                <p:cNvSpPr>
                  <a:spLocks noChangeShapeType="1"/>
                </p:cNvSpPr>
                <p:nvPr/>
              </p:nvSpPr>
              <p:spPr bwMode="auto">
                <a:xfrm>
                  <a:off x="1421" y="2183"/>
                  <a:ext cx="451" cy="373"/>
                </a:xfrm>
                <a:prstGeom prst="line">
                  <a:avLst/>
                </a:prstGeom>
                <a:noFill/>
                <a:ln w="127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41682" name="AutoShape 18"/>
                <p:cNvCxnSpPr>
                  <a:cxnSpLocks noChangeShapeType="1"/>
                  <a:stCxn id="241681" idx="1"/>
                  <a:endCxn id="241680" idx="1"/>
                </p:cNvCxnSpPr>
                <p:nvPr/>
              </p:nvCxnSpPr>
              <p:spPr bwMode="auto">
                <a:xfrm rot="16200000" flipH="1">
                  <a:off x="1879" y="2549"/>
                  <a:ext cx="67" cy="82"/>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1683" name="Rectangle 19"/>
                <p:cNvSpPr>
                  <a:spLocks noChangeArrowheads="1"/>
                </p:cNvSpPr>
                <p:nvPr/>
              </p:nvSpPr>
              <p:spPr bwMode="auto">
                <a:xfrm rot="-2700000">
                  <a:off x="1667" y="2319"/>
                  <a:ext cx="102" cy="203"/>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684" name="Line 20"/>
                <p:cNvSpPr>
                  <a:spLocks noChangeShapeType="1"/>
                </p:cNvSpPr>
                <p:nvPr/>
              </p:nvSpPr>
              <p:spPr bwMode="auto">
                <a:xfrm flipH="1">
                  <a:off x="1421" y="2183"/>
                  <a:ext cx="983" cy="81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85" name="Rectangle 21"/>
                <p:cNvSpPr>
                  <a:spLocks noChangeArrowheads="1"/>
                </p:cNvSpPr>
                <p:nvPr/>
              </p:nvSpPr>
              <p:spPr bwMode="auto">
                <a:xfrm rot="2700000">
                  <a:off x="2075" y="2306"/>
                  <a:ext cx="85" cy="245"/>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686" name="Line 22"/>
                <p:cNvSpPr>
                  <a:spLocks noChangeShapeType="1"/>
                </p:cNvSpPr>
                <p:nvPr/>
              </p:nvSpPr>
              <p:spPr bwMode="auto">
                <a:xfrm>
                  <a:off x="2404" y="2183"/>
                  <a:ext cx="205" cy="0"/>
                </a:xfrm>
                <a:prstGeom prst="line">
                  <a:avLst/>
                </a:prstGeom>
                <a:noFill/>
                <a:ln w="12700">
                  <a:solidFill>
                    <a:schemeClr val="tx1"/>
                  </a:solidFill>
                  <a:round/>
                  <a:headEnd type="oval"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87" name="Line 23"/>
                <p:cNvSpPr>
                  <a:spLocks noChangeShapeType="1"/>
                </p:cNvSpPr>
                <p:nvPr/>
              </p:nvSpPr>
              <p:spPr bwMode="auto">
                <a:xfrm>
                  <a:off x="2609" y="2183"/>
                  <a:ext cx="0" cy="101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88" name="Line 24"/>
                <p:cNvSpPr>
                  <a:spLocks noChangeShapeType="1"/>
                </p:cNvSpPr>
                <p:nvPr/>
              </p:nvSpPr>
              <p:spPr bwMode="auto">
                <a:xfrm>
                  <a:off x="1421" y="2987"/>
                  <a:ext cx="0" cy="203"/>
                </a:xfrm>
                <a:prstGeom prst="line">
                  <a:avLst/>
                </a:prstGeom>
                <a:noFill/>
                <a:ln w="12700">
                  <a:solidFill>
                    <a:schemeClr val="tx1"/>
                  </a:solidFill>
                  <a:round/>
                  <a:headEnd type="oval"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89" name="Line 25"/>
                <p:cNvSpPr>
                  <a:spLocks noChangeShapeType="1"/>
                </p:cNvSpPr>
                <p:nvPr/>
              </p:nvSpPr>
              <p:spPr bwMode="auto">
                <a:xfrm>
                  <a:off x="1421" y="3190"/>
                  <a:ext cx="11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90" name="Text Box 26"/>
                <p:cNvSpPr txBox="1">
                  <a:spLocks noChangeArrowheads="1"/>
                </p:cNvSpPr>
                <p:nvPr/>
              </p:nvSpPr>
              <p:spPr bwMode="auto">
                <a:xfrm>
                  <a:off x="1846" y="3184"/>
                  <a:ext cx="6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30</a:t>
                  </a:r>
                  <a:r>
                    <a:rPr lang="en-US" altLang="zh-CN" sz="2000" dirty="0">
                      <a:sym typeface="Symbol" pitchFamily="18" charset="2"/>
                    </a:rPr>
                    <a:t></a:t>
                  </a:r>
                </a:p>
              </p:txBody>
            </p:sp>
            <p:sp>
              <p:nvSpPr>
                <p:cNvPr id="241691" name="Text Box 27"/>
                <p:cNvSpPr txBox="1">
                  <a:spLocks noChangeArrowheads="1"/>
                </p:cNvSpPr>
                <p:nvPr/>
              </p:nvSpPr>
              <p:spPr bwMode="auto">
                <a:xfrm rot="2668168">
                  <a:off x="1654" y="2242"/>
                  <a:ext cx="44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40</a:t>
                  </a:r>
                  <a:r>
                    <a:rPr lang="en-US" altLang="zh-CN" sz="2000" dirty="0">
                      <a:sym typeface="Symbol" pitchFamily="18" charset="2"/>
                    </a:rPr>
                    <a:t></a:t>
                  </a:r>
                </a:p>
              </p:txBody>
            </p:sp>
            <p:sp>
              <p:nvSpPr>
                <p:cNvPr id="241692" name="Text Box 28"/>
                <p:cNvSpPr txBox="1">
                  <a:spLocks noChangeArrowheads="1"/>
                </p:cNvSpPr>
                <p:nvPr/>
              </p:nvSpPr>
              <p:spPr bwMode="auto">
                <a:xfrm rot="-2700000">
                  <a:off x="1951" y="2369"/>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t>30</a:t>
                  </a:r>
                  <a:r>
                    <a:rPr lang="en-US" altLang="zh-CN" sz="2000">
                      <a:sym typeface="Symbol" pitchFamily="18" charset="2"/>
                    </a:rPr>
                    <a:t></a:t>
                  </a:r>
                </a:p>
              </p:txBody>
            </p:sp>
            <p:sp>
              <p:nvSpPr>
                <p:cNvPr id="241693" name="Rectangle 29"/>
                <p:cNvSpPr>
                  <a:spLocks noChangeArrowheads="1"/>
                </p:cNvSpPr>
                <p:nvPr/>
              </p:nvSpPr>
              <p:spPr bwMode="auto">
                <a:xfrm rot="-5400000">
                  <a:off x="1994" y="3067"/>
                  <a:ext cx="84" cy="245"/>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241694" name="Group 30"/>
                <p:cNvGrpSpPr>
                  <a:grpSpLocks/>
                </p:cNvGrpSpPr>
                <p:nvPr/>
              </p:nvGrpSpPr>
              <p:grpSpPr bwMode="auto">
                <a:xfrm>
                  <a:off x="1037" y="2445"/>
                  <a:ext cx="384" cy="425"/>
                  <a:chOff x="860" y="2573"/>
                  <a:chExt cx="384" cy="425"/>
                </a:xfrm>
              </p:grpSpPr>
              <p:sp>
                <p:nvSpPr>
                  <p:cNvPr id="241695" name="Text Box 31"/>
                  <p:cNvSpPr txBox="1">
                    <a:spLocks noChangeArrowheads="1"/>
                  </p:cNvSpPr>
                  <p:nvPr/>
                </p:nvSpPr>
                <p:spPr bwMode="auto">
                  <a:xfrm>
                    <a:off x="908" y="2748"/>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sz="2000" i="1"/>
                      <a:t>R</a:t>
                    </a:r>
                  </a:p>
                </p:txBody>
              </p:sp>
              <p:sp>
                <p:nvSpPr>
                  <p:cNvPr id="241696" name="AutoShape 32"/>
                  <p:cNvSpPr>
                    <a:spLocks noChangeArrowheads="1"/>
                  </p:cNvSpPr>
                  <p:nvPr/>
                </p:nvSpPr>
                <p:spPr bwMode="auto">
                  <a:xfrm>
                    <a:off x="860" y="2573"/>
                    <a:ext cx="384" cy="144"/>
                  </a:xfrm>
                  <a:prstGeom prst="notchedRightArrow">
                    <a:avLst>
                      <a:gd name="adj1" fmla="val 50000"/>
                      <a:gd name="adj2" fmla="val 66667"/>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41697" name="Text Box 33"/>
              <p:cNvSpPr txBox="1">
                <a:spLocks noChangeArrowheads="1"/>
              </p:cNvSpPr>
              <p:nvPr/>
            </p:nvSpPr>
            <p:spPr bwMode="auto">
              <a:xfrm>
                <a:off x="449" y="212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a:solidFill>
                      <a:srgbClr val="FF0000"/>
                    </a:solidFill>
                  </a:rPr>
                  <a:t>例</a:t>
                </a:r>
                <a:r>
                  <a:rPr lang="en-US" altLang="zh-CN" sz="2000">
                    <a:solidFill>
                      <a:srgbClr val="FF0000"/>
                    </a:solidFill>
                  </a:rPr>
                  <a:t>2</a:t>
                </a:r>
              </a:p>
            </p:txBody>
          </p:sp>
        </p:grpSp>
        <p:sp>
          <p:nvSpPr>
            <p:cNvPr id="241698" name="Oval 34"/>
            <p:cNvSpPr>
              <a:spLocks noChangeArrowheads="1"/>
            </p:cNvSpPr>
            <p:nvPr/>
          </p:nvSpPr>
          <p:spPr bwMode="auto">
            <a:xfrm>
              <a:off x="1216" y="2146"/>
              <a:ext cx="68" cy="6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699" name="Oval 35"/>
            <p:cNvSpPr>
              <a:spLocks noChangeArrowheads="1"/>
            </p:cNvSpPr>
            <p:nvPr/>
          </p:nvSpPr>
          <p:spPr bwMode="auto">
            <a:xfrm>
              <a:off x="1229" y="2955"/>
              <a:ext cx="68" cy="6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241700" name="Group 36"/>
          <p:cNvGrpSpPr>
            <a:grpSpLocks/>
          </p:cNvGrpSpPr>
          <p:nvPr/>
        </p:nvGrpSpPr>
        <p:grpSpPr bwMode="auto">
          <a:xfrm>
            <a:off x="5302250" y="3552825"/>
            <a:ext cx="3479800" cy="2119313"/>
            <a:chOff x="3340" y="1866"/>
            <a:chExt cx="2192" cy="1335"/>
          </a:xfrm>
        </p:grpSpPr>
        <p:grpSp>
          <p:nvGrpSpPr>
            <p:cNvPr id="241701" name="Group 37"/>
            <p:cNvGrpSpPr>
              <a:grpSpLocks/>
            </p:cNvGrpSpPr>
            <p:nvPr/>
          </p:nvGrpSpPr>
          <p:grpSpPr bwMode="auto">
            <a:xfrm>
              <a:off x="3340" y="1866"/>
              <a:ext cx="2192" cy="1296"/>
              <a:chOff x="3340" y="1866"/>
              <a:chExt cx="2192" cy="1296"/>
            </a:xfrm>
          </p:grpSpPr>
          <p:sp>
            <p:nvSpPr>
              <p:cNvPr id="241702" name="Text Box 38"/>
              <p:cNvSpPr txBox="1">
                <a:spLocks noChangeArrowheads="1"/>
              </p:cNvSpPr>
              <p:nvPr/>
            </p:nvSpPr>
            <p:spPr bwMode="auto">
              <a:xfrm>
                <a:off x="4928" y="2687"/>
                <a:ext cx="6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t>30</a:t>
                </a:r>
                <a:r>
                  <a:rPr lang="en-US" altLang="zh-CN" sz="2000">
                    <a:sym typeface="Symbol" pitchFamily="18" charset="2"/>
                  </a:rPr>
                  <a:t></a:t>
                </a:r>
              </a:p>
            </p:txBody>
          </p:sp>
          <p:grpSp>
            <p:nvGrpSpPr>
              <p:cNvPr id="241703" name="Group 39"/>
              <p:cNvGrpSpPr>
                <a:grpSpLocks/>
              </p:cNvGrpSpPr>
              <p:nvPr/>
            </p:nvGrpSpPr>
            <p:grpSpPr bwMode="auto">
              <a:xfrm>
                <a:off x="3340" y="1866"/>
                <a:ext cx="1611" cy="1296"/>
                <a:chOff x="3340" y="1866"/>
                <a:chExt cx="1611" cy="1296"/>
              </a:xfrm>
            </p:grpSpPr>
            <p:sp>
              <p:nvSpPr>
                <p:cNvPr id="241704" name="Text Box 40"/>
                <p:cNvSpPr txBox="1">
                  <a:spLocks noChangeArrowheads="1"/>
                </p:cNvSpPr>
                <p:nvPr/>
              </p:nvSpPr>
              <p:spPr bwMode="auto">
                <a:xfrm>
                  <a:off x="3952" y="1866"/>
                  <a:ext cx="50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40</a:t>
                  </a:r>
                  <a:r>
                    <a:rPr lang="en-US" altLang="zh-CN" sz="2000" dirty="0">
                      <a:sym typeface="Symbol" pitchFamily="18" charset="2"/>
                    </a:rPr>
                    <a:t></a:t>
                  </a:r>
                </a:p>
              </p:txBody>
            </p:sp>
            <p:sp>
              <p:nvSpPr>
                <p:cNvPr id="241705" name="Line 41"/>
                <p:cNvSpPr>
                  <a:spLocks noChangeShapeType="1"/>
                </p:cNvSpPr>
                <p:nvPr/>
              </p:nvSpPr>
              <p:spPr bwMode="auto">
                <a:xfrm>
                  <a:off x="3441" y="2137"/>
                  <a:ext cx="103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06" name="Line 42"/>
                <p:cNvSpPr>
                  <a:spLocks noChangeShapeType="1"/>
                </p:cNvSpPr>
                <p:nvPr/>
              </p:nvSpPr>
              <p:spPr bwMode="auto">
                <a:xfrm>
                  <a:off x="3451" y="3162"/>
                  <a:ext cx="103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07" name="Line 43"/>
                <p:cNvSpPr>
                  <a:spLocks noChangeShapeType="1"/>
                </p:cNvSpPr>
                <p:nvPr/>
              </p:nvSpPr>
              <p:spPr bwMode="auto">
                <a:xfrm>
                  <a:off x="4466" y="2137"/>
                  <a:ext cx="0" cy="1025"/>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08" name="Line 44"/>
                <p:cNvSpPr>
                  <a:spLocks noChangeShapeType="1"/>
                </p:cNvSpPr>
                <p:nvPr/>
              </p:nvSpPr>
              <p:spPr bwMode="auto">
                <a:xfrm flipH="1">
                  <a:off x="3755" y="2479"/>
                  <a:ext cx="702" cy="0"/>
                </a:xfrm>
                <a:prstGeom prst="line">
                  <a:avLst/>
                </a:prstGeom>
                <a:noFill/>
                <a:ln w="1270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09" name="Rectangle 45"/>
                <p:cNvSpPr>
                  <a:spLocks noChangeArrowheads="1"/>
                </p:cNvSpPr>
                <p:nvPr/>
              </p:nvSpPr>
              <p:spPr bwMode="auto">
                <a:xfrm rot="-5400000">
                  <a:off x="4109" y="2026"/>
                  <a:ext cx="106" cy="221"/>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10" name="Rectangle 46"/>
                <p:cNvSpPr>
                  <a:spLocks noChangeArrowheads="1"/>
                </p:cNvSpPr>
                <p:nvPr/>
              </p:nvSpPr>
              <p:spPr bwMode="auto">
                <a:xfrm rot="-5400000">
                  <a:off x="4098" y="2379"/>
                  <a:ext cx="107" cy="22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11" name="Text Box 47"/>
                <p:cNvSpPr txBox="1">
                  <a:spLocks noChangeArrowheads="1"/>
                </p:cNvSpPr>
                <p:nvPr/>
              </p:nvSpPr>
              <p:spPr bwMode="auto">
                <a:xfrm>
                  <a:off x="3946" y="2223"/>
                  <a:ext cx="47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40</a:t>
                  </a:r>
                  <a:r>
                    <a:rPr lang="en-US" altLang="zh-CN" sz="2000" dirty="0">
                      <a:sym typeface="Symbol" pitchFamily="18" charset="2"/>
                    </a:rPr>
                    <a:t></a:t>
                  </a:r>
                </a:p>
              </p:txBody>
            </p:sp>
            <p:sp>
              <p:nvSpPr>
                <p:cNvPr id="241712" name="Text Box 48"/>
                <p:cNvSpPr txBox="1">
                  <a:spLocks noChangeArrowheads="1"/>
                </p:cNvSpPr>
                <p:nvPr/>
              </p:nvSpPr>
              <p:spPr bwMode="auto">
                <a:xfrm>
                  <a:off x="4474" y="2692"/>
                  <a:ext cx="4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30</a:t>
                  </a:r>
                  <a:r>
                    <a:rPr lang="en-US" altLang="zh-CN" sz="2000" dirty="0">
                      <a:sym typeface="Symbol" pitchFamily="18" charset="2"/>
                    </a:rPr>
                    <a:t></a:t>
                  </a:r>
                </a:p>
              </p:txBody>
            </p:sp>
            <p:sp>
              <p:nvSpPr>
                <p:cNvPr id="241713" name="Line 49"/>
                <p:cNvSpPr>
                  <a:spLocks noChangeShapeType="1"/>
                </p:cNvSpPr>
                <p:nvPr/>
              </p:nvSpPr>
              <p:spPr bwMode="auto">
                <a:xfrm flipV="1">
                  <a:off x="3746" y="2137"/>
                  <a:ext cx="0" cy="342"/>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14" name="Line 50"/>
                <p:cNvSpPr>
                  <a:spLocks noChangeShapeType="1"/>
                </p:cNvSpPr>
                <p:nvPr/>
              </p:nvSpPr>
              <p:spPr bwMode="auto">
                <a:xfrm flipH="1">
                  <a:off x="3875" y="2479"/>
                  <a:ext cx="591" cy="683"/>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15" name="Rectangle 51"/>
                <p:cNvSpPr>
                  <a:spLocks noChangeArrowheads="1"/>
                </p:cNvSpPr>
                <p:nvPr/>
              </p:nvSpPr>
              <p:spPr bwMode="auto">
                <a:xfrm rot="2700000">
                  <a:off x="4103" y="2718"/>
                  <a:ext cx="107" cy="22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16" name="Text Box 52"/>
                <p:cNvSpPr txBox="1">
                  <a:spLocks noChangeArrowheads="1"/>
                </p:cNvSpPr>
                <p:nvPr/>
              </p:nvSpPr>
              <p:spPr bwMode="auto">
                <a:xfrm rot="18900000">
                  <a:off x="4033" y="2762"/>
                  <a:ext cx="4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30</a:t>
                  </a:r>
                  <a:r>
                    <a:rPr lang="en-US" altLang="zh-CN" sz="2000" dirty="0">
                      <a:sym typeface="Symbol" pitchFamily="18" charset="2"/>
                    </a:rPr>
                    <a:t></a:t>
                  </a:r>
                </a:p>
              </p:txBody>
            </p:sp>
            <p:sp>
              <p:nvSpPr>
                <p:cNvPr id="241717" name="Rectangle 53"/>
                <p:cNvSpPr>
                  <a:spLocks noChangeArrowheads="1"/>
                </p:cNvSpPr>
                <p:nvPr/>
              </p:nvSpPr>
              <p:spPr bwMode="auto">
                <a:xfrm>
                  <a:off x="4420" y="2703"/>
                  <a:ext cx="92" cy="25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18" name="Line 54"/>
                <p:cNvSpPr>
                  <a:spLocks noChangeShapeType="1"/>
                </p:cNvSpPr>
                <p:nvPr/>
              </p:nvSpPr>
              <p:spPr bwMode="auto">
                <a:xfrm>
                  <a:off x="4466" y="2479"/>
                  <a:ext cx="44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19" name="Line 55"/>
                <p:cNvSpPr>
                  <a:spLocks noChangeShapeType="1"/>
                </p:cNvSpPr>
                <p:nvPr/>
              </p:nvSpPr>
              <p:spPr bwMode="auto">
                <a:xfrm>
                  <a:off x="4466" y="3162"/>
                  <a:ext cx="44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20" name="Line 56"/>
                <p:cNvSpPr>
                  <a:spLocks noChangeShapeType="1"/>
                </p:cNvSpPr>
                <p:nvPr/>
              </p:nvSpPr>
              <p:spPr bwMode="auto">
                <a:xfrm>
                  <a:off x="4905" y="2479"/>
                  <a:ext cx="0" cy="6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21" name="Rectangle 57"/>
                <p:cNvSpPr>
                  <a:spLocks noChangeArrowheads="1"/>
                </p:cNvSpPr>
                <p:nvPr/>
              </p:nvSpPr>
              <p:spPr bwMode="auto">
                <a:xfrm>
                  <a:off x="4859" y="2703"/>
                  <a:ext cx="92" cy="25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241722" name="Group 58"/>
                <p:cNvGrpSpPr>
                  <a:grpSpLocks/>
                </p:cNvGrpSpPr>
                <p:nvPr/>
              </p:nvGrpSpPr>
              <p:grpSpPr bwMode="auto">
                <a:xfrm>
                  <a:off x="3340" y="2553"/>
                  <a:ext cx="295" cy="409"/>
                  <a:chOff x="816" y="1488"/>
                  <a:chExt cx="384" cy="459"/>
                </a:xfrm>
              </p:grpSpPr>
              <p:sp>
                <p:nvSpPr>
                  <p:cNvPr id="241723" name="Text Box 59"/>
                  <p:cNvSpPr txBox="1">
                    <a:spLocks noChangeArrowheads="1"/>
                  </p:cNvSpPr>
                  <p:nvPr/>
                </p:nvSpPr>
                <p:spPr bwMode="auto">
                  <a:xfrm>
                    <a:off x="864" y="1666"/>
                    <a:ext cx="290"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sz="2000" i="1"/>
                      <a:t>R</a:t>
                    </a:r>
                  </a:p>
                </p:txBody>
              </p:sp>
              <p:sp>
                <p:nvSpPr>
                  <p:cNvPr id="241724" name="AutoShape 60"/>
                  <p:cNvSpPr>
                    <a:spLocks noChangeArrowheads="1"/>
                  </p:cNvSpPr>
                  <p:nvPr/>
                </p:nvSpPr>
                <p:spPr bwMode="auto">
                  <a:xfrm>
                    <a:off x="816" y="1488"/>
                    <a:ext cx="384" cy="144"/>
                  </a:xfrm>
                  <a:prstGeom prst="notchedRightArrow">
                    <a:avLst>
                      <a:gd name="adj1" fmla="val 50000"/>
                      <a:gd name="adj2" fmla="val 66667"/>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241725" name="Oval 61"/>
            <p:cNvSpPr>
              <a:spLocks noChangeArrowheads="1"/>
            </p:cNvSpPr>
            <p:nvPr/>
          </p:nvSpPr>
          <p:spPr bwMode="auto">
            <a:xfrm>
              <a:off x="3375" y="3133"/>
              <a:ext cx="68" cy="6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26" name="Oval 62"/>
            <p:cNvSpPr>
              <a:spLocks noChangeArrowheads="1"/>
            </p:cNvSpPr>
            <p:nvPr/>
          </p:nvSpPr>
          <p:spPr bwMode="auto">
            <a:xfrm>
              <a:off x="3351" y="2114"/>
              <a:ext cx="68" cy="6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241727" name="Group 63"/>
          <p:cNvGrpSpPr>
            <a:grpSpLocks/>
          </p:cNvGrpSpPr>
          <p:nvPr/>
        </p:nvGrpSpPr>
        <p:grpSpPr bwMode="auto">
          <a:xfrm>
            <a:off x="609600" y="1376363"/>
            <a:ext cx="3117850" cy="2084388"/>
            <a:chOff x="387" y="513"/>
            <a:chExt cx="1964" cy="1313"/>
          </a:xfrm>
        </p:grpSpPr>
        <p:grpSp>
          <p:nvGrpSpPr>
            <p:cNvPr id="241728" name="Group 64"/>
            <p:cNvGrpSpPr>
              <a:grpSpLocks/>
            </p:cNvGrpSpPr>
            <p:nvPr/>
          </p:nvGrpSpPr>
          <p:grpSpPr bwMode="auto">
            <a:xfrm>
              <a:off x="387" y="513"/>
              <a:ext cx="1964" cy="1277"/>
              <a:chOff x="387" y="513"/>
              <a:chExt cx="1964" cy="1277"/>
            </a:xfrm>
          </p:grpSpPr>
          <p:sp>
            <p:nvSpPr>
              <p:cNvPr id="241729" name="Text Box 65"/>
              <p:cNvSpPr txBox="1">
                <a:spLocks noChangeArrowheads="1"/>
              </p:cNvSpPr>
              <p:nvPr/>
            </p:nvSpPr>
            <p:spPr bwMode="auto">
              <a:xfrm>
                <a:off x="387" y="54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a:solidFill>
                      <a:srgbClr val="FF0000"/>
                    </a:solidFill>
                  </a:rPr>
                  <a:t>例</a:t>
                </a:r>
                <a:r>
                  <a:rPr lang="en-US" altLang="zh-CN" sz="2000">
                    <a:solidFill>
                      <a:srgbClr val="FF0000"/>
                    </a:solidFill>
                  </a:rPr>
                  <a:t>1</a:t>
                </a:r>
                <a:endParaRPr lang="en-US" altLang="zh-CN" sz="2000">
                  <a:solidFill>
                    <a:srgbClr val="3333FF"/>
                  </a:solidFill>
                </a:endParaRPr>
              </a:p>
            </p:txBody>
          </p:sp>
          <p:sp>
            <p:nvSpPr>
              <p:cNvPr id="241730" name="Text Box 66"/>
              <p:cNvSpPr txBox="1">
                <a:spLocks noChangeArrowheads="1"/>
              </p:cNvSpPr>
              <p:nvPr/>
            </p:nvSpPr>
            <p:spPr bwMode="auto">
              <a:xfrm>
                <a:off x="1717" y="513"/>
                <a:ext cx="4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4</a:t>
                </a:r>
                <a:r>
                  <a:rPr lang="en-US" altLang="zh-CN" sz="2000" dirty="0">
                    <a:sym typeface="Symbol" pitchFamily="18" charset="2"/>
                  </a:rPr>
                  <a:t></a:t>
                </a:r>
              </a:p>
            </p:txBody>
          </p:sp>
          <p:sp>
            <p:nvSpPr>
              <p:cNvPr id="241731" name="Line 67"/>
              <p:cNvSpPr>
                <a:spLocks noChangeShapeType="1"/>
              </p:cNvSpPr>
              <p:nvPr/>
            </p:nvSpPr>
            <p:spPr bwMode="auto">
              <a:xfrm>
                <a:off x="1478" y="1300"/>
                <a:ext cx="862" cy="0"/>
              </a:xfrm>
              <a:prstGeom prst="line">
                <a:avLst/>
              </a:prstGeom>
              <a:noFill/>
              <a:ln w="9525">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32" name="Line 68"/>
              <p:cNvSpPr>
                <a:spLocks noChangeShapeType="1"/>
              </p:cNvSpPr>
              <p:nvPr/>
            </p:nvSpPr>
            <p:spPr bwMode="auto">
              <a:xfrm>
                <a:off x="1133" y="790"/>
                <a:ext cx="120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33" name="Line 69"/>
              <p:cNvSpPr>
                <a:spLocks noChangeShapeType="1"/>
              </p:cNvSpPr>
              <p:nvPr/>
            </p:nvSpPr>
            <p:spPr bwMode="auto">
              <a:xfrm>
                <a:off x="1144" y="1790"/>
                <a:ext cx="120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34" name="Line 70"/>
              <p:cNvSpPr>
                <a:spLocks noChangeShapeType="1"/>
              </p:cNvSpPr>
              <p:nvPr/>
            </p:nvSpPr>
            <p:spPr bwMode="auto">
              <a:xfrm>
                <a:off x="1478" y="790"/>
                <a:ext cx="0" cy="100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35" name="Line 71"/>
              <p:cNvSpPr>
                <a:spLocks noChangeShapeType="1"/>
              </p:cNvSpPr>
              <p:nvPr/>
            </p:nvSpPr>
            <p:spPr bwMode="auto">
              <a:xfrm>
                <a:off x="2340" y="790"/>
                <a:ext cx="0" cy="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36" name="Text Box 72"/>
              <p:cNvSpPr txBox="1">
                <a:spLocks noChangeArrowheads="1"/>
              </p:cNvSpPr>
              <p:nvPr/>
            </p:nvSpPr>
            <p:spPr bwMode="auto">
              <a:xfrm>
                <a:off x="1506" y="915"/>
                <a:ext cx="3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2</a:t>
                </a:r>
                <a:r>
                  <a:rPr lang="en-US" altLang="zh-CN" sz="2000" dirty="0">
                    <a:sym typeface="Symbol" pitchFamily="18" charset="2"/>
                  </a:rPr>
                  <a:t></a:t>
                </a:r>
              </a:p>
            </p:txBody>
          </p:sp>
          <p:sp>
            <p:nvSpPr>
              <p:cNvPr id="241737" name="Text Box 73"/>
              <p:cNvSpPr txBox="1">
                <a:spLocks noChangeArrowheads="1"/>
              </p:cNvSpPr>
              <p:nvPr/>
            </p:nvSpPr>
            <p:spPr bwMode="auto">
              <a:xfrm>
                <a:off x="1713" y="1033"/>
                <a:ext cx="41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3</a:t>
                </a:r>
                <a:r>
                  <a:rPr lang="en-US" altLang="zh-CN" sz="2000" dirty="0">
                    <a:sym typeface="Symbol" pitchFamily="18" charset="2"/>
                  </a:rPr>
                  <a:t></a:t>
                </a:r>
              </a:p>
            </p:txBody>
          </p:sp>
          <p:sp>
            <p:nvSpPr>
              <p:cNvPr id="241738" name="Text Box 74"/>
              <p:cNvSpPr txBox="1">
                <a:spLocks noChangeArrowheads="1"/>
              </p:cNvSpPr>
              <p:nvPr/>
            </p:nvSpPr>
            <p:spPr bwMode="auto">
              <a:xfrm>
                <a:off x="1509" y="1403"/>
                <a:ext cx="5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t>6</a:t>
                </a:r>
                <a:r>
                  <a:rPr lang="en-US" altLang="zh-CN" sz="2000" dirty="0">
                    <a:sym typeface="Symbol" pitchFamily="18" charset="2"/>
                  </a:rPr>
                  <a:t></a:t>
                </a:r>
              </a:p>
            </p:txBody>
          </p:sp>
          <p:sp>
            <p:nvSpPr>
              <p:cNvPr id="241739" name="Text Box 75"/>
              <p:cNvSpPr txBox="1">
                <a:spLocks noChangeArrowheads="1"/>
              </p:cNvSpPr>
              <p:nvPr/>
            </p:nvSpPr>
            <p:spPr bwMode="auto">
              <a:xfrm>
                <a:off x="846" y="1404"/>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sz="2000" i="1"/>
                  <a:t>R</a:t>
                </a:r>
              </a:p>
            </p:txBody>
          </p:sp>
          <p:sp>
            <p:nvSpPr>
              <p:cNvPr id="241740" name="AutoShape 76"/>
              <p:cNvSpPr>
                <a:spLocks noChangeArrowheads="1"/>
              </p:cNvSpPr>
              <p:nvPr/>
            </p:nvSpPr>
            <p:spPr bwMode="auto">
              <a:xfrm>
                <a:off x="803" y="1248"/>
                <a:ext cx="345" cy="125"/>
              </a:xfrm>
              <a:prstGeom prst="notchedRightArrow">
                <a:avLst>
                  <a:gd name="adj1" fmla="val 50000"/>
                  <a:gd name="adj2" fmla="val 69000"/>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741" name="Rectangle 77"/>
              <p:cNvSpPr>
                <a:spLocks noChangeArrowheads="1"/>
              </p:cNvSpPr>
              <p:nvPr/>
            </p:nvSpPr>
            <p:spPr bwMode="auto">
              <a:xfrm rot="-5400000">
                <a:off x="1826" y="1171"/>
                <a:ext cx="104" cy="25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42" name="Rectangle 78"/>
              <p:cNvSpPr>
                <a:spLocks noChangeArrowheads="1"/>
              </p:cNvSpPr>
              <p:nvPr/>
            </p:nvSpPr>
            <p:spPr bwMode="auto">
              <a:xfrm rot="-5400000">
                <a:off x="1826" y="661"/>
                <a:ext cx="104" cy="25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43" name="Rectangle 79"/>
              <p:cNvSpPr>
                <a:spLocks noChangeArrowheads="1"/>
              </p:cNvSpPr>
              <p:nvPr/>
            </p:nvSpPr>
            <p:spPr bwMode="auto">
              <a:xfrm>
                <a:off x="1421" y="915"/>
                <a:ext cx="108" cy="250"/>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44" name="Rectangle 80"/>
              <p:cNvSpPr>
                <a:spLocks noChangeArrowheads="1"/>
              </p:cNvSpPr>
              <p:nvPr/>
            </p:nvSpPr>
            <p:spPr bwMode="auto">
              <a:xfrm>
                <a:off x="1419" y="1413"/>
                <a:ext cx="108" cy="250"/>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41745" name="Oval 81"/>
            <p:cNvSpPr>
              <a:spLocks noChangeArrowheads="1"/>
            </p:cNvSpPr>
            <p:nvPr/>
          </p:nvSpPr>
          <p:spPr bwMode="auto">
            <a:xfrm>
              <a:off x="1084" y="1758"/>
              <a:ext cx="68" cy="6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1746" name="Oval 82"/>
            <p:cNvSpPr>
              <a:spLocks noChangeArrowheads="1"/>
            </p:cNvSpPr>
            <p:nvPr/>
          </p:nvSpPr>
          <p:spPr bwMode="auto">
            <a:xfrm>
              <a:off x="1071" y="747"/>
              <a:ext cx="68" cy="6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41747" name="Text Box 83"/>
          <p:cNvSpPr txBox="1">
            <a:spLocks noChangeArrowheads="1"/>
          </p:cNvSpPr>
          <p:nvPr/>
        </p:nvSpPr>
        <p:spPr bwMode="auto">
          <a:xfrm>
            <a:off x="247650" y="142875"/>
            <a:ext cx="52308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dirty="0" smtClean="0">
                <a:solidFill>
                  <a:srgbClr val="990033"/>
                </a:solidFill>
              </a:rPr>
              <a:t>2.3.2  </a:t>
            </a:r>
            <a:r>
              <a:rPr lang="zh-CN" altLang="en-US" dirty="0">
                <a:solidFill>
                  <a:srgbClr val="A50021"/>
                </a:solidFill>
              </a:rPr>
              <a:t>电阻的混</a:t>
            </a:r>
            <a:r>
              <a:rPr lang="zh-CN" altLang="en-US" dirty="0" smtClean="0">
                <a:solidFill>
                  <a:srgbClr val="A50021"/>
                </a:solidFill>
              </a:rPr>
              <a:t>联和</a:t>
            </a:r>
            <a:r>
              <a:rPr lang="en-US" altLang="zh-CN" dirty="0" smtClean="0">
                <a:solidFill>
                  <a:srgbClr val="A50021"/>
                </a:solidFill>
              </a:rPr>
              <a:t>Y-</a:t>
            </a:r>
            <a:r>
              <a:rPr lang="en-US" altLang="zh-CN" dirty="0" smtClean="0">
                <a:solidFill>
                  <a:srgbClr val="A50021"/>
                </a:solidFill>
                <a:latin typeface="Symbol" pitchFamily="18" charset="2"/>
              </a:rPr>
              <a:t></a:t>
            </a:r>
            <a:r>
              <a:rPr lang="zh-CN" altLang="en-US" dirty="0" smtClean="0">
                <a:solidFill>
                  <a:srgbClr val="A50021"/>
                </a:solidFill>
                <a:latin typeface="Symbol" pitchFamily="18" charset="2"/>
              </a:rPr>
              <a:t>等效</a:t>
            </a:r>
            <a:r>
              <a:rPr lang="zh-CN" altLang="en-US" dirty="0" smtClean="0">
                <a:solidFill>
                  <a:srgbClr val="A50021"/>
                </a:solidFill>
              </a:rPr>
              <a:t>变换</a:t>
            </a:r>
            <a:endParaRPr lang="zh-CN" altLang="en-US" dirty="0">
              <a:solidFill>
                <a:srgbClr val="A50021"/>
              </a:solidFill>
            </a:endParaRPr>
          </a:p>
        </p:txBody>
      </p:sp>
      <p:sp>
        <p:nvSpPr>
          <p:cNvPr id="241748" name="Text Box 84"/>
          <p:cNvSpPr txBox="1">
            <a:spLocks noChangeArrowheads="1"/>
          </p:cNvSpPr>
          <p:nvPr/>
        </p:nvSpPr>
        <p:spPr bwMode="auto">
          <a:xfrm>
            <a:off x="395288" y="785813"/>
            <a:ext cx="4767262" cy="461665"/>
          </a:xfrm>
          <a:prstGeom prst="rect">
            <a:avLst/>
          </a:prstGeom>
          <a:ln>
            <a:solidFill>
              <a:schemeClr val="bg1"/>
            </a:solidFill>
          </a:ln>
          <a:extLst/>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l">
              <a:spcBef>
                <a:spcPct val="50000"/>
              </a:spcBef>
            </a:pPr>
            <a:r>
              <a:rPr lang="zh-CN" altLang="en-US" dirty="0" smtClean="0">
                <a:solidFill>
                  <a:srgbClr val="A50021"/>
                </a:solidFill>
              </a:rPr>
              <a:t>一、</a:t>
            </a:r>
            <a:r>
              <a:rPr lang="zh-CN" altLang="zh-CN" dirty="0" smtClean="0">
                <a:solidFill>
                  <a:srgbClr val="A50021"/>
                </a:solidFill>
              </a:rPr>
              <a:t>较</a:t>
            </a:r>
            <a:r>
              <a:rPr lang="zh-CN" altLang="zh-CN" dirty="0">
                <a:solidFill>
                  <a:srgbClr val="A50021"/>
                </a:solidFill>
              </a:rPr>
              <a:t>复杂的电阻串并联</a:t>
            </a:r>
            <a:endParaRPr lang="zh-CN" altLang="en-US" dirty="0">
              <a:solidFill>
                <a:srgbClr val="A5002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1748"/>
                                        </p:tgtEl>
                                        <p:attrNameLst>
                                          <p:attrName>style.visibility</p:attrName>
                                        </p:attrNameLst>
                                      </p:cBhvr>
                                      <p:to>
                                        <p:strVal val="visible"/>
                                      </p:to>
                                    </p:set>
                                    <p:animEffect transition="in" filter="barn(inVertical)">
                                      <p:cBhvr>
                                        <p:cTn id="7" dur="500"/>
                                        <p:tgtEl>
                                          <p:spTgt spid="2417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1727"/>
                                        </p:tgtEl>
                                        <p:attrNameLst>
                                          <p:attrName>style.visibility</p:attrName>
                                        </p:attrNameLst>
                                      </p:cBhvr>
                                      <p:to>
                                        <p:strVal val="visible"/>
                                      </p:to>
                                    </p:set>
                                    <p:animEffect transition="in" filter="wipe(left)">
                                      <p:cBhvr>
                                        <p:cTn id="12" dur="500"/>
                                        <p:tgtEl>
                                          <p:spTgt spid="2417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1667"/>
                                        </p:tgtEl>
                                        <p:attrNameLst>
                                          <p:attrName>style.visibility</p:attrName>
                                        </p:attrNameLst>
                                      </p:cBhvr>
                                      <p:to>
                                        <p:strVal val="visible"/>
                                      </p:to>
                                    </p:set>
                                    <p:animEffect transition="in" filter="checkerboard(across)">
                                      <p:cBhvr>
                                        <p:cTn id="17" dur="500"/>
                                        <p:tgtEl>
                                          <p:spTgt spid="2416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1670"/>
                                        </p:tgtEl>
                                        <p:attrNameLst>
                                          <p:attrName>style.visibility</p:attrName>
                                        </p:attrNameLst>
                                      </p:cBhvr>
                                      <p:to>
                                        <p:strVal val="visible"/>
                                      </p:to>
                                    </p:set>
                                    <p:animEffect transition="in" filter="wipe(left)">
                                      <p:cBhvr>
                                        <p:cTn id="22" dur="500"/>
                                        <p:tgtEl>
                                          <p:spTgt spid="2416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241668"/>
                                        </p:tgtEl>
                                        <p:attrNameLst>
                                          <p:attrName>style.visibility</p:attrName>
                                        </p:attrNameLst>
                                      </p:cBhvr>
                                      <p:to>
                                        <p:strVal val="visible"/>
                                      </p:to>
                                    </p:set>
                                    <p:animEffect transition="in" filter="slide(fromLeft)">
                                      <p:cBhvr>
                                        <p:cTn id="27" dur="500"/>
                                        <p:tgtEl>
                                          <p:spTgt spid="241668"/>
                                        </p:tgtEl>
                                      </p:cBhvr>
                                    </p:animEffect>
                                  </p:childTnLst>
                                </p:cTn>
                              </p:par>
                            </p:childTnLst>
                          </p:cTn>
                        </p:par>
                        <p:par>
                          <p:cTn id="28" fill="hold" nodeType="with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41700"/>
                                        </p:tgtEl>
                                        <p:attrNameLst>
                                          <p:attrName>style.visibility</p:attrName>
                                        </p:attrNameLst>
                                      </p:cBhvr>
                                      <p:to>
                                        <p:strVal val="visible"/>
                                      </p:to>
                                    </p:set>
                                    <p:animEffect transition="in" filter="wipe(left)">
                                      <p:cBhvr>
                                        <p:cTn id="31" dur="500"/>
                                        <p:tgtEl>
                                          <p:spTgt spid="24170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241669"/>
                                        </p:tgtEl>
                                        <p:attrNameLst>
                                          <p:attrName>style.visibility</p:attrName>
                                        </p:attrNameLst>
                                      </p:cBhvr>
                                      <p:to>
                                        <p:strVal val="visible"/>
                                      </p:to>
                                    </p:set>
                                    <p:animEffect transition="in" filter="box(in)">
                                      <p:cBhvr>
                                        <p:cTn id="36" dur="500"/>
                                        <p:tgtEl>
                                          <p:spTgt spid="241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autoUpdateAnimBg="0"/>
      <p:bldP spid="241668" grpId="0" animBg="1"/>
      <p:bldP spid="241669" grpId="0"/>
      <p:bldP spid="2417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p:cNvSpPr txBox="1">
            <a:spLocks noChangeArrowheads="1"/>
          </p:cNvSpPr>
          <p:nvPr/>
        </p:nvSpPr>
        <p:spPr bwMode="auto">
          <a:xfrm>
            <a:off x="381000" y="657225"/>
            <a:ext cx="8439150" cy="461665"/>
          </a:xfrm>
          <a:prstGeom prst="rect">
            <a:avLst/>
          </a:prstGeom>
          <a:solidFill>
            <a:schemeClr val="bg1"/>
          </a:solidFill>
          <a:ln>
            <a:noFill/>
          </a:ln>
          <a:effectLst/>
          <a:extLst/>
        </p:spPr>
        <p:txBody>
          <a:bodyPr wrap="square">
            <a:spAutoFit/>
          </a:bodyPr>
          <a:lstStyle/>
          <a:p>
            <a:pPr algn="l">
              <a:spcBef>
                <a:spcPct val="50000"/>
              </a:spcBef>
            </a:pPr>
            <a:r>
              <a:rPr lang="zh-CN" altLang="en-US" dirty="0" smtClean="0">
                <a:solidFill>
                  <a:srgbClr val="A50021"/>
                </a:solidFill>
                <a:latin typeface="+mn-lt"/>
                <a:ea typeface="+mn-ea"/>
              </a:rPr>
              <a:t>二、星形</a:t>
            </a:r>
            <a:r>
              <a:rPr lang="zh-CN" altLang="en-US" dirty="0">
                <a:solidFill>
                  <a:srgbClr val="A50021"/>
                </a:solidFill>
                <a:latin typeface="+mn-lt"/>
                <a:ea typeface="+mn-ea"/>
              </a:rPr>
              <a:t>联接与三角形联接的电阻的等效</a:t>
            </a:r>
            <a:r>
              <a:rPr lang="zh-CN" altLang="en-US" dirty="0" smtClean="0">
                <a:solidFill>
                  <a:srgbClr val="A50021"/>
                </a:solidFill>
                <a:latin typeface="+mn-lt"/>
                <a:ea typeface="+mn-ea"/>
              </a:rPr>
              <a:t>变换 </a:t>
            </a:r>
            <a:r>
              <a:rPr lang="en-US" altLang="zh-CN" dirty="0">
                <a:solidFill>
                  <a:srgbClr val="A50021"/>
                </a:solidFill>
                <a:latin typeface="+mn-lt"/>
                <a:ea typeface="+mn-ea"/>
              </a:rPr>
              <a:t>(</a:t>
            </a:r>
            <a:r>
              <a:rPr lang="en-US" altLang="zh-CN" dirty="0">
                <a:solidFill>
                  <a:srgbClr val="A50021"/>
                </a:solidFill>
                <a:latin typeface="+mn-lt"/>
                <a:ea typeface="+mn-ea"/>
                <a:sym typeface="Wingdings 3" pitchFamily="18" charset="2"/>
              </a:rPr>
              <a:t>Y-</a:t>
            </a:r>
            <a:r>
              <a:rPr lang="en-US" altLang="zh-CN" dirty="0">
                <a:solidFill>
                  <a:srgbClr val="A50021"/>
                </a:solidFill>
                <a:latin typeface="+mn-lt"/>
                <a:ea typeface="+mn-ea"/>
                <a:sym typeface="Symbol" pitchFamily="18" charset="2"/>
              </a:rPr>
              <a:t></a:t>
            </a:r>
            <a:r>
              <a:rPr lang="zh-CN" altLang="en-US" dirty="0">
                <a:solidFill>
                  <a:srgbClr val="A50021"/>
                </a:solidFill>
                <a:latin typeface="+mn-lt"/>
                <a:ea typeface="+mn-ea"/>
              </a:rPr>
              <a:t>变换</a:t>
            </a:r>
            <a:r>
              <a:rPr lang="en-US" altLang="zh-CN" dirty="0" smtClean="0">
                <a:solidFill>
                  <a:srgbClr val="A50021"/>
                </a:solidFill>
                <a:latin typeface="+mn-lt"/>
                <a:ea typeface="+mn-ea"/>
              </a:rPr>
              <a:t>)</a:t>
            </a:r>
            <a:endParaRPr lang="en-US" altLang="zh-CN" dirty="0">
              <a:solidFill>
                <a:srgbClr val="A50021"/>
              </a:solidFill>
              <a:latin typeface="+mn-lt"/>
              <a:ea typeface="+mn-ea"/>
            </a:endParaRPr>
          </a:p>
        </p:txBody>
      </p:sp>
      <p:grpSp>
        <p:nvGrpSpPr>
          <p:cNvPr id="244739" name="Group 3"/>
          <p:cNvGrpSpPr>
            <a:grpSpLocks/>
          </p:cNvGrpSpPr>
          <p:nvPr/>
        </p:nvGrpSpPr>
        <p:grpSpPr bwMode="auto">
          <a:xfrm>
            <a:off x="478660" y="1787772"/>
            <a:ext cx="7953373" cy="2862273"/>
            <a:chOff x="192" y="1151"/>
            <a:chExt cx="5376" cy="1803"/>
          </a:xfrm>
        </p:grpSpPr>
        <p:sp>
          <p:nvSpPr>
            <p:cNvPr id="244740" name="Text Box 4"/>
            <p:cNvSpPr txBox="1">
              <a:spLocks noChangeArrowheads="1"/>
            </p:cNvSpPr>
            <p:nvPr/>
          </p:nvSpPr>
          <p:spPr bwMode="auto">
            <a:xfrm>
              <a:off x="192" y="1151"/>
              <a:ext cx="5376"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dirty="0">
                  <a:solidFill>
                    <a:srgbClr val="3333FF"/>
                  </a:solidFill>
                </a:rPr>
                <a:t>三端无源网络</a:t>
              </a:r>
              <a:endParaRPr lang="zh-CN" altLang="en-US" dirty="0"/>
            </a:p>
            <a:p>
              <a:pPr algn="l">
                <a:spcBef>
                  <a:spcPct val="50000"/>
                </a:spcBef>
              </a:pPr>
              <a:r>
                <a:rPr lang="zh-CN" altLang="en-US" dirty="0"/>
                <a:t>        向外引出三个端钮的网络，并且内部没有独立源。</a:t>
              </a:r>
            </a:p>
          </p:txBody>
        </p:sp>
        <p:grpSp>
          <p:nvGrpSpPr>
            <p:cNvPr id="244741" name="Group 5"/>
            <p:cNvGrpSpPr>
              <a:grpSpLocks/>
            </p:cNvGrpSpPr>
            <p:nvPr/>
          </p:nvGrpSpPr>
          <p:grpSpPr bwMode="auto">
            <a:xfrm>
              <a:off x="1888" y="2330"/>
              <a:ext cx="955" cy="624"/>
              <a:chOff x="1888" y="2330"/>
              <a:chExt cx="955" cy="624"/>
            </a:xfrm>
          </p:grpSpPr>
          <p:sp>
            <p:nvSpPr>
              <p:cNvPr id="244742" name="Rectangle 6"/>
              <p:cNvSpPr>
                <a:spLocks noChangeArrowheads="1"/>
              </p:cNvSpPr>
              <p:nvPr/>
            </p:nvSpPr>
            <p:spPr bwMode="auto">
              <a:xfrm>
                <a:off x="2411" y="2330"/>
                <a:ext cx="432" cy="624"/>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a:t>无</a:t>
                </a:r>
              </a:p>
              <a:p>
                <a:r>
                  <a:rPr lang="zh-CN" altLang="en-US"/>
                  <a:t>源</a:t>
                </a:r>
              </a:p>
            </p:txBody>
          </p:sp>
          <p:sp>
            <p:nvSpPr>
              <p:cNvPr id="244743" name="Line 7"/>
              <p:cNvSpPr>
                <a:spLocks noChangeShapeType="1"/>
              </p:cNvSpPr>
              <p:nvPr/>
            </p:nvSpPr>
            <p:spPr bwMode="auto">
              <a:xfrm>
                <a:off x="1979" y="2390"/>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44" name="Line 8"/>
              <p:cNvSpPr>
                <a:spLocks noChangeShapeType="1"/>
              </p:cNvSpPr>
              <p:nvPr/>
            </p:nvSpPr>
            <p:spPr bwMode="auto">
              <a:xfrm>
                <a:off x="1979" y="2882"/>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45" name="Line 9"/>
              <p:cNvSpPr>
                <a:spLocks noChangeShapeType="1"/>
              </p:cNvSpPr>
              <p:nvPr/>
            </p:nvSpPr>
            <p:spPr bwMode="auto">
              <a:xfrm>
                <a:off x="1979" y="2630"/>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46" name="Oval 10"/>
              <p:cNvSpPr>
                <a:spLocks noChangeArrowheads="1"/>
              </p:cNvSpPr>
              <p:nvPr/>
            </p:nvSpPr>
            <p:spPr bwMode="auto">
              <a:xfrm>
                <a:off x="1888" y="2355"/>
                <a:ext cx="77"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4747" name="Oval 11"/>
              <p:cNvSpPr>
                <a:spLocks noChangeArrowheads="1"/>
              </p:cNvSpPr>
              <p:nvPr/>
            </p:nvSpPr>
            <p:spPr bwMode="auto">
              <a:xfrm>
                <a:off x="1902" y="2845"/>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4748" name="Oval 12"/>
              <p:cNvSpPr>
                <a:spLocks noChangeArrowheads="1"/>
              </p:cNvSpPr>
              <p:nvPr/>
            </p:nvSpPr>
            <p:spPr bwMode="auto">
              <a:xfrm>
                <a:off x="1901" y="2607"/>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4739"/>
                                        </p:tgtEl>
                                        <p:attrNameLst>
                                          <p:attrName>style.visibility</p:attrName>
                                        </p:attrNameLst>
                                      </p:cBhvr>
                                      <p:to>
                                        <p:strVal val="visible"/>
                                      </p:to>
                                    </p:set>
                                    <p:animEffect transition="in" filter="wipe(left)">
                                      <p:cBhvr>
                                        <p:cTn id="7" dur="500"/>
                                        <p:tgtEl>
                                          <p:spTgt spid="244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Text Box 3"/>
          <p:cNvSpPr txBox="1">
            <a:spLocks noChangeArrowheads="1"/>
          </p:cNvSpPr>
          <p:nvPr/>
        </p:nvSpPr>
        <p:spPr bwMode="auto">
          <a:xfrm>
            <a:off x="1865313" y="3263900"/>
            <a:ext cx="152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solidFill>
                  <a:schemeClr val="accent2"/>
                </a:solidFill>
                <a:sym typeface="Symbol" pitchFamily="18" charset="2"/>
              </a:rPr>
              <a:t></a:t>
            </a:r>
            <a:r>
              <a:rPr lang="en-US" altLang="zh-CN" sz="2000" dirty="0">
                <a:sym typeface="Symbol" pitchFamily="18" charset="2"/>
              </a:rPr>
              <a:t> </a:t>
            </a:r>
            <a:r>
              <a:rPr lang="zh-CN" altLang="en-US" sz="2000" dirty="0">
                <a:solidFill>
                  <a:srgbClr val="3333FF"/>
                </a:solidFill>
                <a:sym typeface="Wingdings 3" pitchFamily="18" charset="2"/>
              </a:rPr>
              <a:t>型</a:t>
            </a:r>
            <a:r>
              <a:rPr lang="zh-CN" altLang="en-US" sz="2000" dirty="0">
                <a:solidFill>
                  <a:srgbClr val="3333FF"/>
                </a:solidFill>
              </a:rPr>
              <a:t>网络 </a:t>
            </a:r>
          </a:p>
        </p:txBody>
      </p:sp>
      <p:grpSp>
        <p:nvGrpSpPr>
          <p:cNvPr id="245870" name="Group 110"/>
          <p:cNvGrpSpPr>
            <a:grpSpLocks/>
          </p:cNvGrpSpPr>
          <p:nvPr/>
        </p:nvGrpSpPr>
        <p:grpSpPr bwMode="auto">
          <a:xfrm>
            <a:off x="555625" y="128588"/>
            <a:ext cx="4114800" cy="3063875"/>
            <a:chOff x="350" y="177"/>
            <a:chExt cx="2592" cy="1930"/>
          </a:xfrm>
        </p:grpSpPr>
        <p:sp>
          <p:nvSpPr>
            <p:cNvPr id="245765" name="Line 5"/>
            <p:cNvSpPr>
              <a:spLocks noChangeShapeType="1"/>
            </p:cNvSpPr>
            <p:nvPr/>
          </p:nvSpPr>
          <p:spPr bwMode="auto">
            <a:xfrm>
              <a:off x="1070" y="1558"/>
              <a:ext cx="1176" cy="0"/>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66" name="Line 6"/>
            <p:cNvSpPr>
              <a:spLocks noChangeShapeType="1"/>
            </p:cNvSpPr>
            <p:nvPr/>
          </p:nvSpPr>
          <p:spPr bwMode="auto">
            <a:xfrm flipH="1" flipV="1">
              <a:off x="1631" y="671"/>
              <a:ext cx="615" cy="887"/>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45767" name="AutoShape 7"/>
            <p:cNvCxnSpPr>
              <a:cxnSpLocks noChangeShapeType="1"/>
              <a:stCxn id="245766" idx="1"/>
              <a:endCxn id="245765" idx="0"/>
            </p:cNvCxnSpPr>
            <p:nvPr/>
          </p:nvCxnSpPr>
          <p:spPr bwMode="auto">
            <a:xfrm flipH="1">
              <a:off x="1070" y="666"/>
              <a:ext cx="562" cy="883"/>
            </a:xfrm>
            <a:prstGeom prst="straightConnector1">
              <a:avLst/>
            </a:prstGeom>
            <a:noFill/>
            <a:ln w="1905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768" name="Line 8"/>
            <p:cNvSpPr>
              <a:spLocks noChangeShapeType="1"/>
            </p:cNvSpPr>
            <p:nvPr/>
          </p:nvSpPr>
          <p:spPr bwMode="auto">
            <a:xfrm>
              <a:off x="1502" y="321"/>
              <a:ext cx="0"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45769" name="AutoShape 9"/>
            <p:cNvCxnSpPr>
              <a:cxnSpLocks noChangeShapeType="1"/>
            </p:cNvCxnSpPr>
            <p:nvPr/>
          </p:nvCxnSpPr>
          <p:spPr bwMode="auto">
            <a:xfrm flipH="1">
              <a:off x="1070" y="671"/>
              <a:ext cx="561" cy="887"/>
            </a:xfrm>
            <a:prstGeom prst="straightConnector1">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770" name="Rectangle 10"/>
            <p:cNvSpPr>
              <a:spLocks noChangeArrowheads="1"/>
            </p:cNvSpPr>
            <p:nvPr/>
          </p:nvSpPr>
          <p:spPr bwMode="auto">
            <a:xfrm rot="-5400000">
              <a:off x="1584" y="1415"/>
              <a:ext cx="123" cy="288"/>
            </a:xfrm>
            <a:prstGeom prst="rect">
              <a:avLst/>
            </a:prstGeom>
            <a:solidFill>
              <a:schemeClr val="accent1"/>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771" name="Rectangle 11"/>
            <p:cNvSpPr>
              <a:spLocks noChangeArrowheads="1"/>
            </p:cNvSpPr>
            <p:nvPr/>
          </p:nvSpPr>
          <p:spPr bwMode="auto">
            <a:xfrm rot="-2268645">
              <a:off x="1886" y="967"/>
              <a:ext cx="120" cy="29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772" name="Rectangle 12"/>
            <p:cNvSpPr>
              <a:spLocks noChangeArrowheads="1"/>
            </p:cNvSpPr>
            <p:nvPr/>
          </p:nvSpPr>
          <p:spPr bwMode="auto">
            <a:xfrm rot="2115987">
              <a:off x="1298" y="967"/>
              <a:ext cx="120" cy="29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773" name="Text Box 13"/>
            <p:cNvSpPr txBox="1">
              <a:spLocks noChangeArrowheads="1"/>
            </p:cNvSpPr>
            <p:nvPr/>
          </p:nvSpPr>
          <p:spPr bwMode="auto">
            <a:xfrm>
              <a:off x="950" y="873"/>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12</a:t>
              </a:r>
              <a:endParaRPr lang="en-US" altLang="zh-CN" sz="2000" i="1" dirty="0"/>
            </a:p>
          </p:txBody>
        </p:sp>
        <p:sp>
          <p:nvSpPr>
            <p:cNvPr id="245774" name="Text Box 14"/>
            <p:cNvSpPr txBox="1">
              <a:spLocks noChangeArrowheads="1"/>
            </p:cNvSpPr>
            <p:nvPr/>
          </p:nvSpPr>
          <p:spPr bwMode="auto">
            <a:xfrm>
              <a:off x="1986" y="881"/>
              <a:ext cx="45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31</a:t>
              </a:r>
              <a:endParaRPr lang="en-US" altLang="zh-CN" sz="2000" i="1" dirty="0"/>
            </a:p>
          </p:txBody>
        </p:sp>
        <p:sp>
          <p:nvSpPr>
            <p:cNvPr id="245775" name="Text Box 15"/>
            <p:cNvSpPr txBox="1">
              <a:spLocks noChangeArrowheads="1"/>
            </p:cNvSpPr>
            <p:nvPr/>
          </p:nvSpPr>
          <p:spPr bwMode="auto">
            <a:xfrm>
              <a:off x="1504" y="1587"/>
              <a:ext cx="5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23</a:t>
              </a:r>
              <a:endParaRPr lang="en-US" altLang="zh-CN" sz="2000" i="1" dirty="0"/>
            </a:p>
          </p:txBody>
        </p:sp>
        <p:sp>
          <p:nvSpPr>
            <p:cNvPr id="245776" name="Text Box 16"/>
            <p:cNvSpPr txBox="1">
              <a:spLocks noChangeArrowheads="1"/>
            </p:cNvSpPr>
            <p:nvPr/>
          </p:nvSpPr>
          <p:spPr bwMode="auto">
            <a:xfrm>
              <a:off x="2414" y="1329"/>
              <a:ext cx="4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3 </a:t>
              </a:r>
              <a:r>
                <a:rPr lang="en-US" altLang="zh-CN" sz="2000" baseline="-25000">
                  <a:sym typeface="Symbol" pitchFamily="18" charset="2"/>
                </a:rPr>
                <a:t></a:t>
              </a:r>
              <a:endParaRPr lang="en-US" altLang="zh-CN" sz="2000" baseline="30000">
                <a:sym typeface="Symbol" pitchFamily="18" charset="2"/>
              </a:endParaRPr>
            </a:p>
          </p:txBody>
        </p:sp>
        <p:sp>
          <p:nvSpPr>
            <p:cNvPr id="245777" name="Text Box 17"/>
            <p:cNvSpPr txBox="1">
              <a:spLocks noChangeArrowheads="1"/>
            </p:cNvSpPr>
            <p:nvPr/>
          </p:nvSpPr>
          <p:spPr bwMode="auto">
            <a:xfrm>
              <a:off x="542" y="1281"/>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2 </a:t>
              </a:r>
              <a:r>
                <a:rPr lang="en-US" altLang="zh-CN" sz="2000" baseline="-25000">
                  <a:sym typeface="Symbol" pitchFamily="18" charset="2"/>
                </a:rPr>
                <a:t></a:t>
              </a:r>
              <a:endParaRPr lang="en-US" altLang="zh-CN" sz="2000" baseline="30000">
                <a:sym typeface="Symbol" pitchFamily="18" charset="2"/>
              </a:endParaRPr>
            </a:p>
          </p:txBody>
        </p:sp>
        <p:sp>
          <p:nvSpPr>
            <p:cNvPr id="245778" name="Text Box 18"/>
            <p:cNvSpPr txBox="1">
              <a:spLocks noChangeArrowheads="1"/>
            </p:cNvSpPr>
            <p:nvPr/>
          </p:nvSpPr>
          <p:spPr bwMode="auto">
            <a:xfrm>
              <a:off x="1166" y="321"/>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1</a:t>
              </a:r>
              <a:r>
                <a:rPr lang="en-US" altLang="zh-CN" sz="2000" baseline="-25000">
                  <a:sym typeface="Symbol" pitchFamily="18" charset="2"/>
                </a:rPr>
                <a:t></a:t>
              </a:r>
              <a:endParaRPr lang="en-US" altLang="zh-CN" sz="2000" i="1"/>
            </a:p>
          </p:txBody>
        </p:sp>
        <p:sp>
          <p:nvSpPr>
            <p:cNvPr id="245779" name="Line 19"/>
            <p:cNvSpPr>
              <a:spLocks noChangeShapeType="1"/>
            </p:cNvSpPr>
            <p:nvPr/>
          </p:nvSpPr>
          <p:spPr bwMode="auto">
            <a:xfrm>
              <a:off x="1598" y="277"/>
              <a:ext cx="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80" name="Line 20"/>
            <p:cNvSpPr>
              <a:spLocks noChangeShapeType="1"/>
            </p:cNvSpPr>
            <p:nvPr/>
          </p:nvSpPr>
          <p:spPr bwMode="auto">
            <a:xfrm>
              <a:off x="1646" y="375"/>
              <a:ext cx="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81" name="Line 21"/>
            <p:cNvSpPr>
              <a:spLocks noChangeShapeType="1"/>
            </p:cNvSpPr>
            <p:nvPr/>
          </p:nvSpPr>
          <p:spPr bwMode="auto">
            <a:xfrm flipV="1">
              <a:off x="1626" y="277"/>
              <a:ext cx="0" cy="39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82" name="Freeform 22"/>
            <p:cNvSpPr>
              <a:spLocks/>
            </p:cNvSpPr>
            <p:nvPr/>
          </p:nvSpPr>
          <p:spPr bwMode="auto">
            <a:xfrm>
              <a:off x="674" y="1558"/>
              <a:ext cx="396" cy="251"/>
            </a:xfrm>
            <a:custGeom>
              <a:avLst/>
              <a:gdLst>
                <a:gd name="T0" fmla="*/ 396 w 396"/>
                <a:gd name="T1" fmla="*/ 0 h 251"/>
                <a:gd name="T2" fmla="*/ 0 w 396"/>
                <a:gd name="T3" fmla="*/ 251 h 251"/>
              </a:gdLst>
              <a:ahLst/>
              <a:cxnLst>
                <a:cxn ang="0">
                  <a:pos x="T0" y="T1"/>
                </a:cxn>
                <a:cxn ang="0">
                  <a:pos x="T2" y="T3"/>
                </a:cxn>
              </a:cxnLst>
              <a:rect l="0" t="0" r="r" b="b"/>
              <a:pathLst>
                <a:path w="396" h="251">
                  <a:moveTo>
                    <a:pt x="396" y="0"/>
                  </a:moveTo>
                  <a:lnTo>
                    <a:pt x="0" y="251"/>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83" name="Freeform 23"/>
            <p:cNvSpPr>
              <a:spLocks/>
            </p:cNvSpPr>
            <p:nvPr/>
          </p:nvSpPr>
          <p:spPr bwMode="auto">
            <a:xfrm>
              <a:off x="2222" y="1558"/>
              <a:ext cx="336" cy="245"/>
            </a:xfrm>
            <a:custGeom>
              <a:avLst/>
              <a:gdLst>
                <a:gd name="T0" fmla="*/ 0 w 336"/>
                <a:gd name="T1" fmla="*/ 0 h 245"/>
                <a:gd name="T2" fmla="*/ 336 w 336"/>
                <a:gd name="T3" fmla="*/ 245 h 245"/>
              </a:gdLst>
              <a:ahLst/>
              <a:cxnLst>
                <a:cxn ang="0">
                  <a:pos x="T0" y="T1"/>
                </a:cxn>
                <a:cxn ang="0">
                  <a:pos x="T2" y="T3"/>
                </a:cxn>
              </a:cxnLst>
              <a:rect l="0" t="0" r="r" b="b"/>
              <a:pathLst>
                <a:path w="336" h="245">
                  <a:moveTo>
                    <a:pt x="0" y="0"/>
                  </a:moveTo>
                  <a:lnTo>
                    <a:pt x="336" y="245"/>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84" name="Freeform 24"/>
            <p:cNvSpPr>
              <a:spLocks/>
            </p:cNvSpPr>
            <p:nvPr/>
          </p:nvSpPr>
          <p:spPr bwMode="auto">
            <a:xfrm>
              <a:off x="638" y="1521"/>
              <a:ext cx="303" cy="169"/>
            </a:xfrm>
            <a:custGeom>
              <a:avLst/>
              <a:gdLst>
                <a:gd name="T0" fmla="*/ 0 w 303"/>
                <a:gd name="T1" fmla="*/ 169 h 169"/>
                <a:gd name="T2" fmla="*/ 303 w 303"/>
                <a:gd name="T3" fmla="*/ 0 h 169"/>
              </a:gdLst>
              <a:ahLst/>
              <a:cxnLst>
                <a:cxn ang="0">
                  <a:pos x="T0" y="T1"/>
                </a:cxn>
                <a:cxn ang="0">
                  <a:pos x="T2" y="T3"/>
                </a:cxn>
              </a:cxnLst>
              <a:rect l="0" t="0" r="r" b="b"/>
              <a:pathLst>
                <a:path w="303" h="169">
                  <a:moveTo>
                    <a:pt x="0" y="169"/>
                  </a:moveTo>
                  <a:lnTo>
                    <a:pt x="303" y="0"/>
                  </a:lnTo>
                </a:path>
              </a:pathLst>
            </a:custGeom>
            <a:noFill/>
            <a:ln w="19050" cmpd="sng">
              <a:solidFill>
                <a:schemeClr val="tx1"/>
              </a:solidFill>
              <a:round/>
              <a:headE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85" name="Freeform 25"/>
            <p:cNvSpPr>
              <a:spLocks/>
            </p:cNvSpPr>
            <p:nvPr/>
          </p:nvSpPr>
          <p:spPr bwMode="auto">
            <a:xfrm>
              <a:off x="2346" y="1524"/>
              <a:ext cx="296" cy="195"/>
            </a:xfrm>
            <a:custGeom>
              <a:avLst/>
              <a:gdLst>
                <a:gd name="T0" fmla="*/ 296 w 296"/>
                <a:gd name="T1" fmla="*/ 195 h 195"/>
                <a:gd name="T2" fmla="*/ 0 w 296"/>
                <a:gd name="T3" fmla="*/ 0 h 195"/>
              </a:gdLst>
              <a:ahLst/>
              <a:cxnLst>
                <a:cxn ang="0">
                  <a:pos x="T0" y="T1"/>
                </a:cxn>
                <a:cxn ang="0">
                  <a:pos x="T2" y="T3"/>
                </a:cxn>
              </a:cxnLst>
              <a:rect l="0" t="0" r="r" b="b"/>
              <a:pathLst>
                <a:path w="296" h="195">
                  <a:moveTo>
                    <a:pt x="296" y="195"/>
                  </a:moveTo>
                  <a:lnTo>
                    <a:pt x="0" y="0"/>
                  </a:lnTo>
                </a:path>
              </a:pathLst>
            </a:custGeom>
            <a:noFill/>
            <a:ln w="19050" cmpd="sng">
              <a:solidFill>
                <a:schemeClr val="tx1"/>
              </a:solidFill>
              <a:round/>
              <a:headE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86" name="Text Box 26"/>
            <p:cNvSpPr txBox="1">
              <a:spLocks noChangeArrowheads="1"/>
            </p:cNvSpPr>
            <p:nvPr/>
          </p:nvSpPr>
          <p:spPr bwMode="auto">
            <a:xfrm>
              <a:off x="1646" y="417"/>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1</a:t>
              </a:r>
            </a:p>
          </p:txBody>
        </p:sp>
        <p:sp>
          <p:nvSpPr>
            <p:cNvPr id="245787" name="Text Box 27"/>
            <p:cNvSpPr txBox="1">
              <a:spLocks noChangeArrowheads="1"/>
            </p:cNvSpPr>
            <p:nvPr/>
          </p:nvSpPr>
          <p:spPr bwMode="auto">
            <a:xfrm>
              <a:off x="926" y="1617"/>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2</a:t>
              </a:r>
            </a:p>
          </p:txBody>
        </p:sp>
        <p:sp>
          <p:nvSpPr>
            <p:cNvPr id="245788" name="Text Box 28"/>
            <p:cNvSpPr txBox="1">
              <a:spLocks noChangeArrowheads="1"/>
            </p:cNvSpPr>
            <p:nvPr/>
          </p:nvSpPr>
          <p:spPr bwMode="auto">
            <a:xfrm>
              <a:off x="2078" y="1617"/>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3</a:t>
              </a:r>
            </a:p>
          </p:txBody>
        </p:sp>
        <p:sp>
          <p:nvSpPr>
            <p:cNvPr id="245789" name="Text Box 29"/>
            <p:cNvSpPr txBox="1">
              <a:spLocks noChangeArrowheads="1"/>
            </p:cNvSpPr>
            <p:nvPr/>
          </p:nvSpPr>
          <p:spPr bwMode="auto">
            <a:xfrm>
              <a:off x="1118" y="177"/>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790" name="Text Box 30"/>
            <p:cNvSpPr txBox="1">
              <a:spLocks noChangeArrowheads="1"/>
            </p:cNvSpPr>
            <p:nvPr/>
          </p:nvSpPr>
          <p:spPr bwMode="auto">
            <a:xfrm>
              <a:off x="686" y="1761"/>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791" name="Text Box 31"/>
            <p:cNvSpPr txBox="1">
              <a:spLocks noChangeArrowheads="1"/>
            </p:cNvSpPr>
            <p:nvPr/>
          </p:nvSpPr>
          <p:spPr bwMode="auto">
            <a:xfrm>
              <a:off x="2702" y="1425"/>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792" name="Text Box 32"/>
            <p:cNvSpPr txBox="1">
              <a:spLocks noChangeArrowheads="1"/>
            </p:cNvSpPr>
            <p:nvPr/>
          </p:nvSpPr>
          <p:spPr bwMode="auto">
            <a:xfrm>
              <a:off x="1742" y="177"/>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793" name="Text Box 33"/>
            <p:cNvSpPr txBox="1">
              <a:spLocks noChangeArrowheads="1"/>
            </p:cNvSpPr>
            <p:nvPr/>
          </p:nvSpPr>
          <p:spPr bwMode="auto">
            <a:xfrm>
              <a:off x="350" y="1377"/>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794" name="Text Box 34"/>
            <p:cNvSpPr txBox="1">
              <a:spLocks noChangeArrowheads="1"/>
            </p:cNvSpPr>
            <p:nvPr/>
          </p:nvSpPr>
          <p:spPr bwMode="auto">
            <a:xfrm>
              <a:off x="2270" y="1761"/>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795" name="Text Box 35"/>
            <p:cNvSpPr txBox="1">
              <a:spLocks noChangeArrowheads="1"/>
            </p:cNvSpPr>
            <p:nvPr/>
          </p:nvSpPr>
          <p:spPr bwMode="auto">
            <a:xfrm>
              <a:off x="494" y="705"/>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12</a:t>
              </a:r>
              <a:r>
                <a:rPr lang="en-US" altLang="zh-CN" sz="2000" baseline="-25000">
                  <a:solidFill>
                    <a:srgbClr val="FF0000"/>
                  </a:solidFill>
                  <a:sym typeface="Symbol" pitchFamily="18" charset="2"/>
                </a:rPr>
                <a:t></a:t>
              </a:r>
              <a:endParaRPr lang="en-US" altLang="zh-CN" sz="2000" i="1">
                <a:solidFill>
                  <a:srgbClr val="FF0000"/>
                </a:solidFill>
              </a:endParaRPr>
            </a:p>
          </p:txBody>
        </p:sp>
        <p:sp>
          <p:nvSpPr>
            <p:cNvPr id="245796" name="Text Box 36"/>
            <p:cNvSpPr txBox="1">
              <a:spLocks noChangeArrowheads="1"/>
            </p:cNvSpPr>
            <p:nvPr/>
          </p:nvSpPr>
          <p:spPr bwMode="auto">
            <a:xfrm>
              <a:off x="1406" y="1857"/>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23</a:t>
              </a:r>
              <a:r>
                <a:rPr lang="en-US" altLang="zh-CN" sz="2000" baseline="-25000">
                  <a:solidFill>
                    <a:srgbClr val="FF0000"/>
                  </a:solidFill>
                  <a:sym typeface="Symbol" pitchFamily="18" charset="2"/>
                </a:rPr>
                <a:t></a:t>
              </a:r>
              <a:endParaRPr lang="en-US" altLang="zh-CN" sz="2000" i="1">
                <a:solidFill>
                  <a:srgbClr val="FF0000"/>
                </a:solidFill>
              </a:endParaRPr>
            </a:p>
          </p:txBody>
        </p:sp>
        <p:sp>
          <p:nvSpPr>
            <p:cNvPr id="245797" name="Text Box 37"/>
            <p:cNvSpPr txBox="1">
              <a:spLocks noChangeArrowheads="1"/>
            </p:cNvSpPr>
            <p:nvPr/>
          </p:nvSpPr>
          <p:spPr bwMode="auto">
            <a:xfrm>
              <a:off x="2174" y="657"/>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31</a:t>
              </a:r>
              <a:r>
                <a:rPr lang="en-US" altLang="zh-CN" sz="2000" baseline="-25000">
                  <a:solidFill>
                    <a:srgbClr val="FF0000"/>
                  </a:solidFill>
                  <a:sym typeface="Symbol" pitchFamily="18" charset="2"/>
                </a:rPr>
                <a:t></a:t>
              </a:r>
              <a:endParaRPr lang="en-US" altLang="zh-CN" sz="2000" i="1">
                <a:solidFill>
                  <a:srgbClr val="FF0000"/>
                </a:solidFill>
              </a:endParaRPr>
            </a:p>
          </p:txBody>
        </p:sp>
      </p:grpSp>
      <p:sp>
        <p:nvSpPr>
          <p:cNvPr id="245799" name="Text Box 39"/>
          <p:cNvSpPr txBox="1">
            <a:spLocks noChangeArrowheads="1"/>
          </p:cNvSpPr>
          <p:nvPr/>
        </p:nvSpPr>
        <p:spPr bwMode="auto">
          <a:xfrm>
            <a:off x="6280150" y="3157538"/>
            <a:ext cx="1501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dirty="0">
                <a:solidFill>
                  <a:srgbClr val="3333FF"/>
                </a:solidFill>
                <a:sym typeface="Wingdings 3" pitchFamily="18" charset="2"/>
              </a:rPr>
              <a:t>Y</a:t>
            </a:r>
            <a:r>
              <a:rPr lang="zh-CN" altLang="en-US" sz="2000" dirty="0">
                <a:solidFill>
                  <a:srgbClr val="3333FF"/>
                </a:solidFill>
                <a:sym typeface="Wingdings 3" pitchFamily="18" charset="2"/>
              </a:rPr>
              <a:t>型</a:t>
            </a:r>
            <a:r>
              <a:rPr lang="zh-CN" altLang="en-US" sz="2000" dirty="0">
                <a:solidFill>
                  <a:srgbClr val="3333FF"/>
                </a:solidFill>
              </a:rPr>
              <a:t>网络</a:t>
            </a:r>
          </a:p>
        </p:txBody>
      </p:sp>
      <p:grpSp>
        <p:nvGrpSpPr>
          <p:cNvPr id="245871" name="Group 111"/>
          <p:cNvGrpSpPr>
            <a:grpSpLocks/>
          </p:cNvGrpSpPr>
          <p:nvPr/>
        </p:nvGrpSpPr>
        <p:grpSpPr bwMode="auto">
          <a:xfrm>
            <a:off x="4987925" y="169863"/>
            <a:ext cx="3962400" cy="2835275"/>
            <a:chOff x="3142" y="203"/>
            <a:chExt cx="2496" cy="1786"/>
          </a:xfrm>
        </p:grpSpPr>
        <p:sp>
          <p:nvSpPr>
            <p:cNvPr id="245801" name="Line 41"/>
            <p:cNvSpPr>
              <a:spLocks noChangeShapeType="1"/>
            </p:cNvSpPr>
            <p:nvPr/>
          </p:nvSpPr>
          <p:spPr bwMode="auto">
            <a:xfrm>
              <a:off x="4342" y="299"/>
              <a:ext cx="0" cy="864"/>
            </a:xfrm>
            <a:prstGeom prst="line">
              <a:avLst/>
            </a:prstGeom>
            <a:noFill/>
            <a:ln w="190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02" name="Line 42"/>
            <p:cNvSpPr>
              <a:spLocks noChangeShapeType="1"/>
            </p:cNvSpPr>
            <p:nvPr/>
          </p:nvSpPr>
          <p:spPr bwMode="auto">
            <a:xfrm flipH="1">
              <a:off x="3526" y="1163"/>
              <a:ext cx="816" cy="6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03" name="Line 43"/>
            <p:cNvSpPr>
              <a:spLocks noChangeShapeType="1"/>
            </p:cNvSpPr>
            <p:nvPr/>
          </p:nvSpPr>
          <p:spPr bwMode="auto">
            <a:xfrm>
              <a:off x="4342" y="1163"/>
              <a:ext cx="864" cy="57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04" name="Rectangle 44"/>
            <p:cNvSpPr>
              <a:spLocks noChangeArrowheads="1"/>
            </p:cNvSpPr>
            <p:nvPr/>
          </p:nvSpPr>
          <p:spPr bwMode="auto">
            <a:xfrm rot="3373426">
              <a:off x="3946" y="1295"/>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05" name="Rectangle 45"/>
            <p:cNvSpPr>
              <a:spLocks noChangeArrowheads="1"/>
            </p:cNvSpPr>
            <p:nvPr/>
          </p:nvSpPr>
          <p:spPr bwMode="auto">
            <a:xfrm rot="-3340663">
              <a:off x="4642" y="1259"/>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06" name="Rectangle 46"/>
            <p:cNvSpPr>
              <a:spLocks noChangeArrowheads="1"/>
            </p:cNvSpPr>
            <p:nvPr/>
          </p:nvSpPr>
          <p:spPr bwMode="auto">
            <a:xfrm>
              <a:off x="4282" y="683"/>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07" name="Text Box 47"/>
            <p:cNvSpPr txBox="1">
              <a:spLocks noChangeArrowheads="1"/>
            </p:cNvSpPr>
            <p:nvPr/>
          </p:nvSpPr>
          <p:spPr bwMode="auto">
            <a:xfrm>
              <a:off x="4390" y="683"/>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baseline="-25000"/>
                <a:t>1</a:t>
              </a:r>
              <a:endParaRPr lang="en-US" altLang="zh-CN" sz="2000" i="1"/>
            </a:p>
          </p:txBody>
        </p:sp>
        <p:sp>
          <p:nvSpPr>
            <p:cNvPr id="245808" name="Text Box 48"/>
            <p:cNvSpPr txBox="1">
              <a:spLocks noChangeArrowheads="1"/>
            </p:cNvSpPr>
            <p:nvPr/>
          </p:nvSpPr>
          <p:spPr bwMode="auto">
            <a:xfrm>
              <a:off x="3733" y="1141"/>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2</a:t>
              </a:r>
              <a:endParaRPr lang="en-US" altLang="zh-CN" sz="2000" i="1" dirty="0"/>
            </a:p>
          </p:txBody>
        </p:sp>
        <p:sp>
          <p:nvSpPr>
            <p:cNvPr id="245809" name="Text Box 49"/>
            <p:cNvSpPr txBox="1">
              <a:spLocks noChangeArrowheads="1"/>
            </p:cNvSpPr>
            <p:nvPr/>
          </p:nvSpPr>
          <p:spPr bwMode="auto">
            <a:xfrm>
              <a:off x="4678" y="1115"/>
              <a:ext cx="3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3</a:t>
              </a:r>
              <a:endParaRPr lang="en-US" altLang="zh-CN" sz="2000" i="1" dirty="0"/>
            </a:p>
          </p:txBody>
        </p:sp>
        <p:sp>
          <p:nvSpPr>
            <p:cNvPr id="245810" name="Text Box 50"/>
            <p:cNvSpPr txBox="1">
              <a:spLocks noChangeArrowheads="1"/>
            </p:cNvSpPr>
            <p:nvPr/>
          </p:nvSpPr>
          <p:spPr bwMode="auto">
            <a:xfrm>
              <a:off x="3910" y="203"/>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1Y</a:t>
              </a:r>
              <a:endParaRPr lang="en-US" altLang="zh-CN" sz="2000"/>
            </a:p>
          </p:txBody>
        </p:sp>
        <p:sp>
          <p:nvSpPr>
            <p:cNvPr id="245811" name="Text Box 51"/>
            <p:cNvSpPr txBox="1">
              <a:spLocks noChangeArrowheads="1"/>
            </p:cNvSpPr>
            <p:nvPr/>
          </p:nvSpPr>
          <p:spPr bwMode="auto">
            <a:xfrm>
              <a:off x="3334" y="1259"/>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2Y</a:t>
              </a:r>
              <a:endParaRPr lang="en-US" altLang="zh-CN" sz="2000" i="1"/>
            </a:p>
          </p:txBody>
        </p:sp>
        <p:sp>
          <p:nvSpPr>
            <p:cNvPr id="245812" name="Text Box 52"/>
            <p:cNvSpPr txBox="1">
              <a:spLocks noChangeArrowheads="1"/>
            </p:cNvSpPr>
            <p:nvPr/>
          </p:nvSpPr>
          <p:spPr bwMode="auto">
            <a:xfrm>
              <a:off x="5110" y="1307"/>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3Y</a:t>
              </a:r>
              <a:endParaRPr lang="en-US" altLang="zh-CN" sz="2000"/>
            </a:p>
          </p:txBody>
        </p:sp>
        <p:sp>
          <p:nvSpPr>
            <p:cNvPr id="245813" name="Line 53"/>
            <p:cNvSpPr>
              <a:spLocks noChangeShapeType="1"/>
            </p:cNvSpPr>
            <p:nvPr/>
          </p:nvSpPr>
          <p:spPr bwMode="auto">
            <a:xfrm>
              <a:off x="4246" y="299"/>
              <a:ext cx="0"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14" name="Line 54"/>
            <p:cNvSpPr>
              <a:spLocks noChangeShapeType="1"/>
            </p:cNvSpPr>
            <p:nvPr/>
          </p:nvSpPr>
          <p:spPr bwMode="auto">
            <a:xfrm rot="-7751596">
              <a:off x="3597" y="1428"/>
              <a:ext cx="1"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15" name="Line 55"/>
            <p:cNvSpPr>
              <a:spLocks noChangeShapeType="1"/>
            </p:cNvSpPr>
            <p:nvPr/>
          </p:nvSpPr>
          <p:spPr bwMode="auto">
            <a:xfrm rot="-14240785">
              <a:off x="5085" y="1380"/>
              <a:ext cx="1"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16" name="Oval 56"/>
            <p:cNvSpPr>
              <a:spLocks noChangeArrowheads="1"/>
            </p:cNvSpPr>
            <p:nvPr/>
          </p:nvSpPr>
          <p:spPr bwMode="auto">
            <a:xfrm>
              <a:off x="3622" y="1671"/>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17" name="Oval 57"/>
            <p:cNvSpPr>
              <a:spLocks noChangeArrowheads="1"/>
            </p:cNvSpPr>
            <p:nvPr/>
          </p:nvSpPr>
          <p:spPr bwMode="auto">
            <a:xfrm>
              <a:off x="4306" y="347"/>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18" name="Oval 58"/>
            <p:cNvSpPr>
              <a:spLocks noChangeArrowheads="1"/>
            </p:cNvSpPr>
            <p:nvPr/>
          </p:nvSpPr>
          <p:spPr bwMode="auto">
            <a:xfrm>
              <a:off x="5014" y="1595"/>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19" name="Text Box 59"/>
            <p:cNvSpPr txBox="1">
              <a:spLocks noChangeArrowheads="1"/>
            </p:cNvSpPr>
            <p:nvPr/>
          </p:nvSpPr>
          <p:spPr bwMode="auto">
            <a:xfrm>
              <a:off x="4390" y="251"/>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1</a:t>
              </a:r>
            </a:p>
          </p:txBody>
        </p:sp>
        <p:sp>
          <p:nvSpPr>
            <p:cNvPr id="245820" name="Text Box 60"/>
            <p:cNvSpPr txBox="1">
              <a:spLocks noChangeArrowheads="1"/>
            </p:cNvSpPr>
            <p:nvPr/>
          </p:nvSpPr>
          <p:spPr bwMode="auto">
            <a:xfrm>
              <a:off x="3718" y="1595"/>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2</a:t>
              </a:r>
            </a:p>
          </p:txBody>
        </p:sp>
        <p:sp>
          <p:nvSpPr>
            <p:cNvPr id="245821" name="Text Box 61"/>
            <p:cNvSpPr txBox="1">
              <a:spLocks noChangeArrowheads="1"/>
            </p:cNvSpPr>
            <p:nvPr/>
          </p:nvSpPr>
          <p:spPr bwMode="auto">
            <a:xfrm>
              <a:off x="4822" y="1595"/>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3</a:t>
              </a:r>
            </a:p>
          </p:txBody>
        </p:sp>
        <p:sp>
          <p:nvSpPr>
            <p:cNvPr id="245822" name="Text Box 62"/>
            <p:cNvSpPr txBox="1">
              <a:spLocks noChangeArrowheads="1"/>
            </p:cNvSpPr>
            <p:nvPr/>
          </p:nvSpPr>
          <p:spPr bwMode="auto">
            <a:xfrm>
              <a:off x="3766" y="29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823" name="Text Box 63"/>
            <p:cNvSpPr txBox="1">
              <a:spLocks noChangeArrowheads="1"/>
            </p:cNvSpPr>
            <p:nvPr/>
          </p:nvSpPr>
          <p:spPr bwMode="auto">
            <a:xfrm>
              <a:off x="3574" y="173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824" name="Text Box 64"/>
            <p:cNvSpPr txBox="1">
              <a:spLocks noChangeArrowheads="1"/>
            </p:cNvSpPr>
            <p:nvPr/>
          </p:nvSpPr>
          <p:spPr bwMode="auto">
            <a:xfrm>
              <a:off x="5398" y="1403"/>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825" name="Text Box 65"/>
            <p:cNvSpPr txBox="1">
              <a:spLocks noChangeArrowheads="1"/>
            </p:cNvSpPr>
            <p:nvPr/>
          </p:nvSpPr>
          <p:spPr bwMode="auto">
            <a:xfrm>
              <a:off x="3142" y="1403"/>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826" name="Text Box 66"/>
            <p:cNvSpPr txBox="1">
              <a:spLocks noChangeArrowheads="1"/>
            </p:cNvSpPr>
            <p:nvPr/>
          </p:nvSpPr>
          <p:spPr bwMode="auto">
            <a:xfrm>
              <a:off x="4966" y="1691"/>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827" name="Text Box 67"/>
            <p:cNvSpPr txBox="1">
              <a:spLocks noChangeArrowheads="1"/>
            </p:cNvSpPr>
            <p:nvPr/>
          </p:nvSpPr>
          <p:spPr bwMode="auto">
            <a:xfrm>
              <a:off x="4534" y="29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5828" name="Text Box 68"/>
            <p:cNvSpPr txBox="1">
              <a:spLocks noChangeArrowheads="1"/>
            </p:cNvSpPr>
            <p:nvPr/>
          </p:nvSpPr>
          <p:spPr bwMode="auto">
            <a:xfrm>
              <a:off x="3286" y="779"/>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12Y</a:t>
              </a:r>
              <a:endParaRPr lang="en-US" altLang="zh-CN" sz="2000" i="1">
                <a:solidFill>
                  <a:srgbClr val="FF0000"/>
                </a:solidFill>
              </a:endParaRPr>
            </a:p>
          </p:txBody>
        </p:sp>
        <p:sp>
          <p:nvSpPr>
            <p:cNvPr id="245829" name="Text Box 69"/>
            <p:cNvSpPr txBox="1">
              <a:spLocks noChangeArrowheads="1"/>
            </p:cNvSpPr>
            <p:nvPr/>
          </p:nvSpPr>
          <p:spPr bwMode="auto">
            <a:xfrm>
              <a:off x="4198" y="1739"/>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23Y</a:t>
              </a:r>
              <a:endParaRPr lang="en-US" altLang="zh-CN" sz="2000" i="1">
                <a:solidFill>
                  <a:srgbClr val="FF0000"/>
                </a:solidFill>
              </a:endParaRPr>
            </a:p>
          </p:txBody>
        </p:sp>
        <p:sp>
          <p:nvSpPr>
            <p:cNvPr id="245830" name="Text Box 70"/>
            <p:cNvSpPr txBox="1">
              <a:spLocks noChangeArrowheads="1"/>
            </p:cNvSpPr>
            <p:nvPr/>
          </p:nvSpPr>
          <p:spPr bwMode="auto">
            <a:xfrm>
              <a:off x="4918" y="827"/>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31Y</a:t>
              </a:r>
              <a:endParaRPr lang="en-US" altLang="zh-CN" sz="2000" i="1">
                <a:solidFill>
                  <a:srgbClr val="FF0000"/>
                </a:solidFill>
              </a:endParaRPr>
            </a:p>
          </p:txBody>
        </p:sp>
      </p:grpSp>
      <p:grpSp>
        <p:nvGrpSpPr>
          <p:cNvPr id="245869" name="Group 109"/>
          <p:cNvGrpSpPr>
            <a:grpSpLocks/>
          </p:cNvGrpSpPr>
          <p:nvPr/>
        </p:nvGrpSpPr>
        <p:grpSpPr bwMode="auto">
          <a:xfrm>
            <a:off x="1538288" y="3892551"/>
            <a:ext cx="2468562" cy="2619376"/>
            <a:chOff x="1035" y="2656"/>
            <a:chExt cx="1555" cy="1650"/>
          </a:xfrm>
        </p:grpSpPr>
        <p:grpSp>
          <p:nvGrpSpPr>
            <p:cNvPr id="245843" name="Group 83"/>
            <p:cNvGrpSpPr>
              <a:grpSpLocks/>
            </p:cNvGrpSpPr>
            <p:nvPr/>
          </p:nvGrpSpPr>
          <p:grpSpPr bwMode="auto">
            <a:xfrm>
              <a:off x="1035" y="2931"/>
              <a:ext cx="1419" cy="1375"/>
              <a:chOff x="1035" y="2793"/>
              <a:chExt cx="1419" cy="1375"/>
            </a:xfrm>
          </p:grpSpPr>
          <p:sp>
            <p:nvSpPr>
              <p:cNvPr id="245844" name="Line 84"/>
              <p:cNvSpPr>
                <a:spLocks noChangeShapeType="1"/>
              </p:cNvSpPr>
              <p:nvPr/>
            </p:nvSpPr>
            <p:spPr bwMode="auto">
              <a:xfrm>
                <a:off x="1121" y="2838"/>
                <a:ext cx="12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5" name="Line 85"/>
              <p:cNvSpPr>
                <a:spLocks noChangeShapeType="1"/>
              </p:cNvSpPr>
              <p:nvPr/>
            </p:nvSpPr>
            <p:spPr bwMode="auto">
              <a:xfrm>
                <a:off x="1111" y="3649"/>
                <a:ext cx="128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6" name="Rectangle 86"/>
              <p:cNvSpPr>
                <a:spLocks noChangeArrowheads="1"/>
              </p:cNvSpPr>
              <p:nvPr/>
            </p:nvSpPr>
            <p:spPr bwMode="auto">
              <a:xfrm rot="-5400000">
                <a:off x="1722" y="2731"/>
                <a:ext cx="112" cy="23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7" name="Line 87"/>
              <p:cNvSpPr>
                <a:spLocks noChangeShapeType="1"/>
              </p:cNvSpPr>
              <p:nvPr/>
            </p:nvSpPr>
            <p:spPr bwMode="auto">
              <a:xfrm>
                <a:off x="1519" y="2838"/>
                <a:ext cx="0" cy="811"/>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8" name="Rectangle 88"/>
              <p:cNvSpPr>
                <a:spLocks noChangeArrowheads="1"/>
              </p:cNvSpPr>
              <p:nvPr/>
            </p:nvSpPr>
            <p:spPr bwMode="auto">
              <a:xfrm>
                <a:off x="1470" y="3108"/>
                <a:ext cx="98" cy="271"/>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9" name="Line 89"/>
              <p:cNvSpPr>
                <a:spLocks noChangeShapeType="1"/>
              </p:cNvSpPr>
              <p:nvPr/>
            </p:nvSpPr>
            <p:spPr bwMode="auto">
              <a:xfrm>
                <a:off x="2043" y="2838"/>
                <a:ext cx="0" cy="811"/>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50" name="Rectangle 90"/>
              <p:cNvSpPr>
                <a:spLocks noChangeArrowheads="1"/>
              </p:cNvSpPr>
              <p:nvPr/>
            </p:nvSpPr>
            <p:spPr bwMode="auto">
              <a:xfrm>
                <a:off x="1994" y="3108"/>
                <a:ext cx="98" cy="271"/>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51" name="Text Box 91"/>
              <p:cNvSpPr txBox="1">
                <a:spLocks noChangeArrowheads="1"/>
              </p:cNvSpPr>
              <p:nvPr/>
            </p:nvSpPr>
            <p:spPr bwMode="auto">
              <a:xfrm>
                <a:off x="1546" y="3918"/>
                <a:ext cx="405" cy="2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dirty="0">
                    <a:solidFill>
                      <a:schemeClr val="accent2"/>
                    </a:solidFill>
                    <a:sym typeface="Symbol" pitchFamily="18" charset="2"/>
                  </a:rPr>
                  <a:t> </a:t>
                </a:r>
                <a:r>
                  <a:rPr lang="zh-CN" altLang="en-US" sz="2000" dirty="0">
                    <a:solidFill>
                      <a:schemeClr val="accent2"/>
                    </a:solidFill>
                  </a:rPr>
                  <a:t>型</a:t>
                </a:r>
              </a:p>
            </p:txBody>
          </p:sp>
          <p:sp>
            <p:nvSpPr>
              <p:cNvPr id="245852" name="Oval 92"/>
              <p:cNvSpPr>
                <a:spLocks noChangeArrowheads="1"/>
              </p:cNvSpPr>
              <p:nvPr/>
            </p:nvSpPr>
            <p:spPr bwMode="auto">
              <a:xfrm>
                <a:off x="2386" y="362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53" name="Oval 93"/>
              <p:cNvSpPr>
                <a:spLocks noChangeArrowheads="1"/>
              </p:cNvSpPr>
              <p:nvPr/>
            </p:nvSpPr>
            <p:spPr bwMode="auto">
              <a:xfrm>
                <a:off x="2386" y="2800"/>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54" name="Oval 94"/>
              <p:cNvSpPr>
                <a:spLocks noChangeArrowheads="1"/>
              </p:cNvSpPr>
              <p:nvPr/>
            </p:nvSpPr>
            <p:spPr bwMode="auto">
              <a:xfrm>
                <a:off x="1035" y="3613"/>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55" name="Oval 95"/>
              <p:cNvSpPr>
                <a:spLocks noChangeArrowheads="1"/>
              </p:cNvSpPr>
              <p:nvPr/>
            </p:nvSpPr>
            <p:spPr bwMode="auto">
              <a:xfrm>
                <a:off x="1051" y="2807"/>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45856" name="Text Box 96"/>
            <p:cNvSpPr txBox="1">
              <a:spLocks noChangeArrowheads="1"/>
            </p:cNvSpPr>
            <p:nvPr/>
          </p:nvSpPr>
          <p:spPr bwMode="auto">
            <a:xfrm>
              <a:off x="1280" y="2733"/>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1</a:t>
              </a:r>
            </a:p>
          </p:txBody>
        </p:sp>
        <p:sp>
          <p:nvSpPr>
            <p:cNvPr id="245857" name="Text Box 97"/>
            <p:cNvSpPr txBox="1">
              <a:spLocks noChangeArrowheads="1"/>
            </p:cNvSpPr>
            <p:nvPr/>
          </p:nvSpPr>
          <p:spPr bwMode="auto">
            <a:xfrm>
              <a:off x="1682" y="3801"/>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2</a:t>
              </a:r>
            </a:p>
          </p:txBody>
        </p:sp>
        <p:sp>
          <p:nvSpPr>
            <p:cNvPr id="245858" name="Text Box 98"/>
            <p:cNvSpPr txBox="1">
              <a:spLocks noChangeArrowheads="1"/>
            </p:cNvSpPr>
            <p:nvPr/>
          </p:nvSpPr>
          <p:spPr bwMode="auto">
            <a:xfrm>
              <a:off x="2030" y="2715"/>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3</a:t>
              </a:r>
            </a:p>
          </p:txBody>
        </p:sp>
        <p:sp>
          <p:nvSpPr>
            <p:cNvPr id="245859" name="Text Box 99"/>
            <p:cNvSpPr txBox="1">
              <a:spLocks noChangeArrowheads="1"/>
            </p:cNvSpPr>
            <p:nvPr/>
          </p:nvSpPr>
          <p:spPr bwMode="auto">
            <a:xfrm>
              <a:off x="1130" y="3227"/>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baseline="-25000"/>
                <a:t>12</a:t>
              </a:r>
              <a:endParaRPr lang="en-US" altLang="zh-CN" sz="2000" i="1"/>
            </a:p>
          </p:txBody>
        </p:sp>
        <p:sp>
          <p:nvSpPr>
            <p:cNvPr id="245860" name="Text Box 100"/>
            <p:cNvSpPr txBox="1">
              <a:spLocks noChangeArrowheads="1"/>
            </p:cNvSpPr>
            <p:nvPr/>
          </p:nvSpPr>
          <p:spPr bwMode="auto">
            <a:xfrm>
              <a:off x="1604" y="2656"/>
              <a:ext cx="45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baseline="-25000"/>
                <a:t>31</a:t>
              </a:r>
              <a:endParaRPr lang="en-US" altLang="zh-CN" sz="2000" i="1"/>
            </a:p>
          </p:txBody>
        </p:sp>
        <p:sp>
          <p:nvSpPr>
            <p:cNvPr id="245861" name="Text Box 101"/>
            <p:cNvSpPr txBox="1">
              <a:spLocks noChangeArrowheads="1"/>
            </p:cNvSpPr>
            <p:nvPr/>
          </p:nvSpPr>
          <p:spPr bwMode="auto">
            <a:xfrm>
              <a:off x="2090" y="3233"/>
              <a:ext cx="5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baseline="-25000"/>
                <a:t>23</a:t>
              </a:r>
              <a:endParaRPr lang="en-US" altLang="zh-CN" sz="2000" i="1"/>
            </a:p>
          </p:txBody>
        </p:sp>
      </p:grpSp>
      <p:grpSp>
        <p:nvGrpSpPr>
          <p:cNvPr id="245868" name="Group 108"/>
          <p:cNvGrpSpPr>
            <a:grpSpLocks/>
          </p:cNvGrpSpPr>
          <p:nvPr/>
        </p:nvGrpSpPr>
        <p:grpSpPr bwMode="auto">
          <a:xfrm>
            <a:off x="5330825" y="3916363"/>
            <a:ext cx="3000375" cy="2587625"/>
            <a:chOff x="3424" y="2671"/>
            <a:chExt cx="1890" cy="1630"/>
          </a:xfrm>
        </p:grpSpPr>
        <p:grpSp>
          <p:nvGrpSpPr>
            <p:cNvPr id="245831" name="Group 71"/>
            <p:cNvGrpSpPr>
              <a:grpSpLocks/>
            </p:cNvGrpSpPr>
            <p:nvPr/>
          </p:nvGrpSpPr>
          <p:grpSpPr bwMode="auto">
            <a:xfrm>
              <a:off x="3637" y="2931"/>
              <a:ext cx="1477" cy="1370"/>
              <a:chOff x="3637" y="2793"/>
              <a:chExt cx="1477" cy="1370"/>
            </a:xfrm>
          </p:grpSpPr>
          <p:sp>
            <p:nvSpPr>
              <p:cNvPr id="245832" name="Line 72"/>
              <p:cNvSpPr>
                <a:spLocks noChangeShapeType="1"/>
              </p:cNvSpPr>
              <p:nvPr/>
            </p:nvSpPr>
            <p:spPr bwMode="auto">
              <a:xfrm>
                <a:off x="3703" y="2840"/>
                <a:ext cx="134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3" name="Line 73"/>
              <p:cNvSpPr>
                <a:spLocks noChangeShapeType="1"/>
              </p:cNvSpPr>
              <p:nvPr/>
            </p:nvSpPr>
            <p:spPr bwMode="auto">
              <a:xfrm>
                <a:off x="3703" y="3512"/>
                <a:ext cx="134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4" name="Line 74"/>
              <p:cNvSpPr>
                <a:spLocks noChangeShapeType="1"/>
              </p:cNvSpPr>
              <p:nvPr/>
            </p:nvSpPr>
            <p:spPr bwMode="auto">
              <a:xfrm>
                <a:off x="4376" y="2840"/>
                <a:ext cx="0" cy="672"/>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5" name="Rectangle 75"/>
              <p:cNvSpPr>
                <a:spLocks noChangeArrowheads="1"/>
              </p:cNvSpPr>
              <p:nvPr/>
            </p:nvSpPr>
            <p:spPr bwMode="auto">
              <a:xfrm>
                <a:off x="4322" y="3092"/>
                <a:ext cx="107" cy="224"/>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36" name="Rectangle 76"/>
              <p:cNvSpPr>
                <a:spLocks noChangeArrowheads="1"/>
              </p:cNvSpPr>
              <p:nvPr/>
            </p:nvSpPr>
            <p:spPr bwMode="auto">
              <a:xfrm rot="-5400000">
                <a:off x="4617" y="2712"/>
                <a:ext cx="94" cy="25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37" name="Rectangle 77"/>
              <p:cNvSpPr>
                <a:spLocks noChangeArrowheads="1"/>
              </p:cNvSpPr>
              <p:nvPr/>
            </p:nvSpPr>
            <p:spPr bwMode="auto">
              <a:xfrm rot="-5400000">
                <a:off x="4062" y="2721"/>
                <a:ext cx="94" cy="25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38" name="Text Box 78"/>
              <p:cNvSpPr txBox="1">
                <a:spLocks noChangeArrowheads="1"/>
              </p:cNvSpPr>
              <p:nvPr/>
            </p:nvSpPr>
            <p:spPr bwMode="auto">
              <a:xfrm>
                <a:off x="4096" y="3913"/>
                <a:ext cx="486" cy="2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2000" dirty="0">
                    <a:solidFill>
                      <a:schemeClr val="accent2"/>
                    </a:solidFill>
                  </a:rPr>
                  <a:t>T </a:t>
                </a:r>
                <a:r>
                  <a:rPr lang="zh-CN" altLang="en-US" sz="2000" dirty="0">
                    <a:solidFill>
                      <a:schemeClr val="accent2"/>
                    </a:solidFill>
                  </a:rPr>
                  <a:t>型</a:t>
                </a:r>
              </a:p>
            </p:txBody>
          </p:sp>
          <p:sp>
            <p:nvSpPr>
              <p:cNvPr id="245839" name="Oval 79"/>
              <p:cNvSpPr>
                <a:spLocks noChangeArrowheads="1"/>
              </p:cNvSpPr>
              <p:nvPr/>
            </p:nvSpPr>
            <p:spPr bwMode="auto">
              <a:xfrm>
                <a:off x="3637" y="2814"/>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0" name="Oval 80"/>
              <p:cNvSpPr>
                <a:spLocks noChangeArrowheads="1"/>
              </p:cNvSpPr>
              <p:nvPr/>
            </p:nvSpPr>
            <p:spPr bwMode="auto">
              <a:xfrm>
                <a:off x="5040" y="2807"/>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1" name="Oval 81"/>
              <p:cNvSpPr>
                <a:spLocks noChangeArrowheads="1"/>
              </p:cNvSpPr>
              <p:nvPr/>
            </p:nvSpPr>
            <p:spPr bwMode="auto">
              <a:xfrm>
                <a:off x="5046" y="3479"/>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5842" name="Oval 82"/>
              <p:cNvSpPr>
                <a:spLocks noChangeArrowheads="1"/>
              </p:cNvSpPr>
              <p:nvPr/>
            </p:nvSpPr>
            <p:spPr bwMode="auto">
              <a:xfrm>
                <a:off x="3642" y="3479"/>
                <a:ext cx="68" cy="6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45862" name="Text Box 102"/>
            <p:cNvSpPr txBox="1">
              <a:spLocks noChangeArrowheads="1"/>
            </p:cNvSpPr>
            <p:nvPr/>
          </p:nvSpPr>
          <p:spPr bwMode="auto">
            <a:xfrm>
              <a:off x="3424" y="2813"/>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1</a:t>
              </a:r>
            </a:p>
          </p:txBody>
        </p:sp>
        <p:sp>
          <p:nvSpPr>
            <p:cNvPr id="245863" name="Text Box 103"/>
            <p:cNvSpPr txBox="1">
              <a:spLocks noChangeArrowheads="1"/>
            </p:cNvSpPr>
            <p:nvPr/>
          </p:nvSpPr>
          <p:spPr bwMode="auto">
            <a:xfrm>
              <a:off x="4288" y="3653"/>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2</a:t>
              </a:r>
            </a:p>
          </p:txBody>
        </p:sp>
        <p:sp>
          <p:nvSpPr>
            <p:cNvPr id="245864" name="Text Box 104"/>
            <p:cNvSpPr txBox="1">
              <a:spLocks noChangeArrowheads="1"/>
            </p:cNvSpPr>
            <p:nvPr/>
          </p:nvSpPr>
          <p:spPr bwMode="auto">
            <a:xfrm>
              <a:off x="5122" y="2789"/>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3</a:t>
              </a:r>
            </a:p>
          </p:txBody>
        </p:sp>
        <p:sp>
          <p:nvSpPr>
            <p:cNvPr id="245865" name="Text Box 105"/>
            <p:cNvSpPr txBox="1">
              <a:spLocks noChangeArrowheads="1"/>
            </p:cNvSpPr>
            <p:nvPr/>
          </p:nvSpPr>
          <p:spPr bwMode="auto">
            <a:xfrm>
              <a:off x="3976" y="2688"/>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1</a:t>
              </a:r>
              <a:endParaRPr lang="en-US" altLang="zh-CN" sz="2000" i="1" dirty="0"/>
            </a:p>
          </p:txBody>
        </p:sp>
        <p:sp>
          <p:nvSpPr>
            <p:cNvPr id="245866" name="Text Box 106"/>
            <p:cNvSpPr txBox="1">
              <a:spLocks noChangeArrowheads="1"/>
            </p:cNvSpPr>
            <p:nvPr/>
          </p:nvSpPr>
          <p:spPr bwMode="auto">
            <a:xfrm>
              <a:off x="4518" y="2671"/>
              <a:ext cx="3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3</a:t>
              </a:r>
              <a:endParaRPr lang="en-US" altLang="zh-CN" sz="2000" i="1" dirty="0"/>
            </a:p>
          </p:txBody>
        </p:sp>
        <p:sp>
          <p:nvSpPr>
            <p:cNvPr id="245867" name="Text Box 107"/>
            <p:cNvSpPr txBox="1">
              <a:spLocks noChangeArrowheads="1"/>
            </p:cNvSpPr>
            <p:nvPr/>
          </p:nvSpPr>
          <p:spPr bwMode="auto">
            <a:xfrm>
              <a:off x="4423" y="3197"/>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2</a:t>
              </a:r>
              <a:endParaRPr lang="en-US" altLang="zh-CN" sz="2000" i="1"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5799"/>
                                        </p:tgtEl>
                                        <p:attrNameLst>
                                          <p:attrName>style.visibility</p:attrName>
                                        </p:attrNameLst>
                                      </p:cBhvr>
                                      <p:to>
                                        <p:strVal val="visible"/>
                                      </p:to>
                                    </p:set>
                                    <p:animEffect transition="in" filter="box(in)">
                                      <p:cBhvr>
                                        <p:cTn id="7" dur="500"/>
                                        <p:tgtEl>
                                          <p:spTgt spid="245799"/>
                                        </p:tgtEl>
                                      </p:cBhvr>
                                    </p:animEffect>
                                  </p:childTnLst>
                                </p:cTn>
                              </p:par>
                              <p:par>
                                <p:cTn id="8" presetID="4" presetClass="entr" presetSubtype="16" fill="hold" nodeType="withEffect">
                                  <p:stCondLst>
                                    <p:cond delay="0"/>
                                  </p:stCondLst>
                                  <p:childTnLst>
                                    <p:set>
                                      <p:cBhvr>
                                        <p:cTn id="9" dur="1" fill="hold">
                                          <p:stCondLst>
                                            <p:cond delay="0"/>
                                          </p:stCondLst>
                                        </p:cTn>
                                        <p:tgtEl>
                                          <p:spTgt spid="245871"/>
                                        </p:tgtEl>
                                        <p:attrNameLst>
                                          <p:attrName>style.visibility</p:attrName>
                                        </p:attrNameLst>
                                      </p:cBhvr>
                                      <p:to>
                                        <p:strVal val="visible"/>
                                      </p:to>
                                    </p:set>
                                    <p:animEffect transition="in" filter="box(in)">
                                      <p:cBhvr>
                                        <p:cTn id="10" dur="500"/>
                                        <p:tgtEl>
                                          <p:spTgt spid="245871"/>
                                        </p:tgtEl>
                                      </p:cBhvr>
                                    </p:animEffect>
                                  </p:childTnLst>
                                </p:cTn>
                              </p:par>
                              <p:par>
                                <p:cTn id="11" presetID="4" presetClass="entr" presetSubtype="16" fill="hold" nodeType="withEffect">
                                  <p:stCondLst>
                                    <p:cond delay="0"/>
                                  </p:stCondLst>
                                  <p:childTnLst>
                                    <p:set>
                                      <p:cBhvr>
                                        <p:cTn id="12" dur="1" fill="hold">
                                          <p:stCondLst>
                                            <p:cond delay="0"/>
                                          </p:stCondLst>
                                        </p:cTn>
                                        <p:tgtEl>
                                          <p:spTgt spid="245868"/>
                                        </p:tgtEl>
                                        <p:attrNameLst>
                                          <p:attrName>style.visibility</p:attrName>
                                        </p:attrNameLst>
                                      </p:cBhvr>
                                      <p:to>
                                        <p:strVal val="visible"/>
                                      </p:to>
                                    </p:set>
                                    <p:animEffect transition="in" filter="box(in)">
                                      <p:cBhvr>
                                        <p:cTn id="13" dur="500"/>
                                        <p:tgtEl>
                                          <p:spTgt spid="245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6786" name="Group 2"/>
          <p:cNvGrpSpPr>
            <a:grpSpLocks/>
          </p:cNvGrpSpPr>
          <p:nvPr/>
        </p:nvGrpSpPr>
        <p:grpSpPr bwMode="auto">
          <a:xfrm>
            <a:off x="381000" y="1085850"/>
            <a:ext cx="4114800" cy="3063875"/>
            <a:chOff x="336" y="2208"/>
            <a:chExt cx="2592" cy="1930"/>
          </a:xfrm>
        </p:grpSpPr>
        <p:sp>
          <p:nvSpPr>
            <p:cNvPr id="246787" name="Line 3"/>
            <p:cNvSpPr>
              <a:spLocks noChangeShapeType="1"/>
            </p:cNvSpPr>
            <p:nvPr/>
          </p:nvSpPr>
          <p:spPr bwMode="auto">
            <a:xfrm>
              <a:off x="1056" y="3589"/>
              <a:ext cx="1176" cy="0"/>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88" name="Line 4"/>
            <p:cNvSpPr>
              <a:spLocks noChangeShapeType="1"/>
            </p:cNvSpPr>
            <p:nvPr/>
          </p:nvSpPr>
          <p:spPr bwMode="auto">
            <a:xfrm flipH="1" flipV="1">
              <a:off x="1617" y="2702"/>
              <a:ext cx="615" cy="887"/>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46789" name="AutoShape 5"/>
            <p:cNvCxnSpPr>
              <a:cxnSpLocks noChangeShapeType="1"/>
              <a:stCxn id="246788" idx="1"/>
              <a:endCxn id="246787" idx="0"/>
            </p:cNvCxnSpPr>
            <p:nvPr/>
          </p:nvCxnSpPr>
          <p:spPr bwMode="auto">
            <a:xfrm flipH="1">
              <a:off x="1056" y="2697"/>
              <a:ext cx="562" cy="883"/>
            </a:xfrm>
            <a:prstGeom prst="straightConnector1">
              <a:avLst/>
            </a:prstGeom>
            <a:noFill/>
            <a:ln w="1905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6790" name="Line 6"/>
            <p:cNvSpPr>
              <a:spLocks noChangeShapeType="1"/>
            </p:cNvSpPr>
            <p:nvPr/>
          </p:nvSpPr>
          <p:spPr bwMode="auto">
            <a:xfrm>
              <a:off x="1488" y="2352"/>
              <a:ext cx="0"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46791" name="AutoShape 7"/>
            <p:cNvCxnSpPr>
              <a:cxnSpLocks noChangeShapeType="1"/>
            </p:cNvCxnSpPr>
            <p:nvPr/>
          </p:nvCxnSpPr>
          <p:spPr bwMode="auto">
            <a:xfrm flipH="1">
              <a:off x="1056" y="2702"/>
              <a:ext cx="561" cy="887"/>
            </a:xfrm>
            <a:prstGeom prst="straightConnector1">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6792" name="Rectangle 8"/>
            <p:cNvSpPr>
              <a:spLocks noChangeArrowheads="1"/>
            </p:cNvSpPr>
            <p:nvPr/>
          </p:nvSpPr>
          <p:spPr bwMode="auto">
            <a:xfrm rot="-5400000">
              <a:off x="1570" y="3446"/>
              <a:ext cx="123" cy="288"/>
            </a:xfrm>
            <a:prstGeom prst="rect">
              <a:avLst/>
            </a:prstGeom>
            <a:solidFill>
              <a:schemeClr val="accent1"/>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6793" name="Rectangle 9"/>
            <p:cNvSpPr>
              <a:spLocks noChangeArrowheads="1"/>
            </p:cNvSpPr>
            <p:nvPr/>
          </p:nvSpPr>
          <p:spPr bwMode="auto">
            <a:xfrm rot="-2268645">
              <a:off x="1872" y="2998"/>
              <a:ext cx="120" cy="29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6794" name="Rectangle 10"/>
            <p:cNvSpPr>
              <a:spLocks noChangeArrowheads="1"/>
            </p:cNvSpPr>
            <p:nvPr/>
          </p:nvSpPr>
          <p:spPr bwMode="auto">
            <a:xfrm rot="2115987">
              <a:off x="1284" y="2998"/>
              <a:ext cx="120" cy="29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6795" name="Text Box 11"/>
            <p:cNvSpPr txBox="1">
              <a:spLocks noChangeArrowheads="1"/>
            </p:cNvSpPr>
            <p:nvPr/>
          </p:nvSpPr>
          <p:spPr bwMode="auto">
            <a:xfrm>
              <a:off x="974" y="2913"/>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12</a:t>
              </a:r>
              <a:endParaRPr lang="en-US" altLang="zh-CN" sz="2000" i="1" dirty="0"/>
            </a:p>
          </p:txBody>
        </p:sp>
        <p:sp>
          <p:nvSpPr>
            <p:cNvPr id="246796" name="Text Box 12"/>
            <p:cNvSpPr txBox="1">
              <a:spLocks noChangeArrowheads="1"/>
            </p:cNvSpPr>
            <p:nvPr/>
          </p:nvSpPr>
          <p:spPr bwMode="auto">
            <a:xfrm>
              <a:off x="1970" y="2917"/>
              <a:ext cx="45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31</a:t>
              </a:r>
              <a:endParaRPr lang="en-US" altLang="zh-CN" sz="2000" i="1" dirty="0"/>
            </a:p>
          </p:txBody>
        </p:sp>
        <p:sp>
          <p:nvSpPr>
            <p:cNvPr id="246797" name="Text Box 13"/>
            <p:cNvSpPr txBox="1">
              <a:spLocks noChangeArrowheads="1"/>
            </p:cNvSpPr>
            <p:nvPr/>
          </p:nvSpPr>
          <p:spPr bwMode="auto">
            <a:xfrm>
              <a:off x="1392" y="3638"/>
              <a:ext cx="5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baseline="-25000"/>
                <a:t>23</a:t>
              </a:r>
              <a:endParaRPr lang="en-US" altLang="zh-CN" sz="2000" i="1"/>
            </a:p>
          </p:txBody>
        </p:sp>
        <p:sp>
          <p:nvSpPr>
            <p:cNvPr id="246798" name="Text Box 14"/>
            <p:cNvSpPr txBox="1">
              <a:spLocks noChangeArrowheads="1"/>
            </p:cNvSpPr>
            <p:nvPr/>
          </p:nvSpPr>
          <p:spPr bwMode="auto">
            <a:xfrm>
              <a:off x="2400" y="3360"/>
              <a:ext cx="4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3 </a:t>
              </a:r>
              <a:r>
                <a:rPr lang="en-US" altLang="zh-CN" sz="2000" baseline="-25000">
                  <a:sym typeface="Symbol" pitchFamily="18" charset="2"/>
                </a:rPr>
                <a:t></a:t>
              </a:r>
              <a:endParaRPr lang="en-US" altLang="zh-CN" sz="2000" baseline="30000">
                <a:sym typeface="Symbol" pitchFamily="18" charset="2"/>
              </a:endParaRPr>
            </a:p>
          </p:txBody>
        </p:sp>
        <p:sp>
          <p:nvSpPr>
            <p:cNvPr id="246799" name="Text Box 15"/>
            <p:cNvSpPr txBox="1">
              <a:spLocks noChangeArrowheads="1"/>
            </p:cNvSpPr>
            <p:nvPr/>
          </p:nvSpPr>
          <p:spPr bwMode="auto">
            <a:xfrm>
              <a:off x="528" y="331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2 </a:t>
              </a:r>
              <a:r>
                <a:rPr lang="en-US" altLang="zh-CN" sz="2000" baseline="-25000">
                  <a:sym typeface="Symbol" pitchFamily="18" charset="2"/>
                </a:rPr>
                <a:t></a:t>
              </a:r>
              <a:endParaRPr lang="en-US" altLang="zh-CN" sz="2000" baseline="30000">
                <a:sym typeface="Symbol" pitchFamily="18" charset="2"/>
              </a:endParaRPr>
            </a:p>
          </p:txBody>
        </p:sp>
        <p:sp>
          <p:nvSpPr>
            <p:cNvPr id="246800" name="Text Box 16"/>
            <p:cNvSpPr txBox="1">
              <a:spLocks noChangeArrowheads="1"/>
            </p:cNvSpPr>
            <p:nvPr/>
          </p:nvSpPr>
          <p:spPr bwMode="auto">
            <a:xfrm>
              <a:off x="1152" y="2352"/>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1</a:t>
              </a:r>
              <a:r>
                <a:rPr lang="en-US" altLang="zh-CN" sz="2000" baseline="-25000">
                  <a:sym typeface="Symbol" pitchFamily="18" charset="2"/>
                </a:rPr>
                <a:t></a:t>
              </a:r>
              <a:endParaRPr lang="en-US" altLang="zh-CN" sz="2000" i="1"/>
            </a:p>
          </p:txBody>
        </p:sp>
        <p:sp>
          <p:nvSpPr>
            <p:cNvPr id="246801" name="Line 17"/>
            <p:cNvSpPr>
              <a:spLocks noChangeShapeType="1"/>
            </p:cNvSpPr>
            <p:nvPr/>
          </p:nvSpPr>
          <p:spPr bwMode="auto">
            <a:xfrm>
              <a:off x="1584" y="2308"/>
              <a:ext cx="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2" name="Line 18"/>
            <p:cNvSpPr>
              <a:spLocks noChangeShapeType="1"/>
            </p:cNvSpPr>
            <p:nvPr/>
          </p:nvSpPr>
          <p:spPr bwMode="auto">
            <a:xfrm>
              <a:off x="1632" y="2406"/>
              <a:ext cx="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3" name="Line 19"/>
            <p:cNvSpPr>
              <a:spLocks noChangeShapeType="1"/>
            </p:cNvSpPr>
            <p:nvPr/>
          </p:nvSpPr>
          <p:spPr bwMode="auto">
            <a:xfrm flipV="1">
              <a:off x="1612" y="2308"/>
              <a:ext cx="0" cy="39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4" name="Freeform 20"/>
            <p:cNvSpPr>
              <a:spLocks/>
            </p:cNvSpPr>
            <p:nvPr/>
          </p:nvSpPr>
          <p:spPr bwMode="auto">
            <a:xfrm>
              <a:off x="660" y="3589"/>
              <a:ext cx="396" cy="251"/>
            </a:xfrm>
            <a:custGeom>
              <a:avLst/>
              <a:gdLst>
                <a:gd name="T0" fmla="*/ 396 w 396"/>
                <a:gd name="T1" fmla="*/ 0 h 251"/>
                <a:gd name="T2" fmla="*/ 0 w 396"/>
                <a:gd name="T3" fmla="*/ 251 h 251"/>
              </a:gdLst>
              <a:ahLst/>
              <a:cxnLst>
                <a:cxn ang="0">
                  <a:pos x="T0" y="T1"/>
                </a:cxn>
                <a:cxn ang="0">
                  <a:pos x="T2" y="T3"/>
                </a:cxn>
              </a:cxnLst>
              <a:rect l="0" t="0" r="r" b="b"/>
              <a:pathLst>
                <a:path w="396" h="251">
                  <a:moveTo>
                    <a:pt x="396" y="0"/>
                  </a:moveTo>
                  <a:lnTo>
                    <a:pt x="0" y="251"/>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5" name="Freeform 21"/>
            <p:cNvSpPr>
              <a:spLocks/>
            </p:cNvSpPr>
            <p:nvPr/>
          </p:nvSpPr>
          <p:spPr bwMode="auto">
            <a:xfrm>
              <a:off x="2208" y="3589"/>
              <a:ext cx="336" cy="245"/>
            </a:xfrm>
            <a:custGeom>
              <a:avLst/>
              <a:gdLst>
                <a:gd name="T0" fmla="*/ 0 w 336"/>
                <a:gd name="T1" fmla="*/ 0 h 245"/>
                <a:gd name="T2" fmla="*/ 336 w 336"/>
                <a:gd name="T3" fmla="*/ 245 h 245"/>
              </a:gdLst>
              <a:ahLst/>
              <a:cxnLst>
                <a:cxn ang="0">
                  <a:pos x="T0" y="T1"/>
                </a:cxn>
                <a:cxn ang="0">
                  <a:pos x="T2" y="T3"/>
                </a:cxn>
              </a:cxnLst>
              <a:rect l="0" t="0" r="r" b="b"/>
              <a:pathLst>
                <a:path w="336" h="245">
                  <a:moveTo>
                    <a:pt x="0" y="0"/>
                  </a:moveTo>
                  <a:lnTo>
                    <a:pt x="336" y="245"/>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6" name="Freeform 22"/>
            <p:cNvSpPr>
              <a:spLocks/>
            </p:cNvSpPr>
            <p:nvPr/>
          </p:nvSpPr>
          <p:spPr bwMode="auto">
            <a:xfrm>
              <a:off x="624" y="3552"/>
              <a:ext cx="303" cy="169"/>
            </a:xfrm>
            <a:custGeom>
              <a:avLst/>
              <a:gdLst>
                <a:gd name="T0" fmla="*/ 0 w 303"/>
                <a:gd name="T1" fmla="*/ 169 h 169"/>
                <a:gd name="T2" fmla="*/ 303 w 303"/>
                <a:gd name="T3" fmla="*/ 0 h 169"/>
              </a:gdLst>
              <a:ahLst/>
              <a:cxnLst>
                <a:cxn ang="0">
                  <a:pos x="T0" y="T1"/>
                </a:cxn>
                <a:cxn ang="0">
                  <a:pos x="T2" y="T3"/>
                </a:cxn>
              </a:cxnLst>
              <a:rect l="0" t="0" r="r" b="b"/>
              <a:pathLst>
                <a:path w="303" h="169">
                  <a:moveTo>
                    <a:pt x="0" y="169"/>
                  </a:moveTo>
                  <a:lnTo>
                    <a:pt x="303" y="0"/>
                  </a:lnTo>
                </a:path>
              </a:pathLst>
            </a:custGeom>
            <a:noFill/>
            <a:ln w="19050" cmpd="sng">
              <a:solidFill>
                <a:schemeClr val="tx1"/>
              </a:solidFill>
              <a:round/>
              <a:headE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7" name="Freeform 23"/>
            <p:cNvSpPr>
              <a:spLocks/>
            </p:cNvSpPr>
            <p:nvPr/>
          </p:nvSpPr>
          <p:spPr bwMode="auto">
            <a:xfrm>
              <a:off x="2332" y="3555"/>
              <a:ext cx="296" cy="195"/>
            </a:xfrm>
            <a:custGeom>
              <a:avLst/>
              <a:gdLst>
                <a:gd name="T0" fmla="*/ 296 w 296"/>
                <a:gd name="T1" fmla="*/ 195 h 195"/>
                <a:gd name="T2" fmla="*/ 0 w 296"/>
                <a:gd name="T3" fmla="*/ 0 h 195"/>
              </a:gdLst>
              <a:ahLst/>
              <a:cxnLst>
                <a:cxn ang="0">
                  <a:pos x="T0" y="T1"/>
                </a:cxn>
                <a:cxn ang="0">
                  <a:pos x="T2" y="T3"/>
                </a:cxn>
              </a:cxnLst>
              <a:rect l="0" t="0" r="r" b="b"/>
              <a:pathLst>
                <a:path w="296" h="195">
                  <a:moveTo>
                    <a:pt x="296" y="195"/>
                  </a:moveTo>
                  <a:lnTo>
                    <a:pt x="0" y="0"/>
                  </a:lnTo>
                </a:path>
              </a:pathLst>
            </a:custGeom>
            <a:noFill/>
            <a:ln w="19050" cmpd="sng">
              <a:solidFill>
                <a:schemeClr val="tx1"/>
              </a:solidFill>
              <a:round/>
              <a:headE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8" name="Text Box 24"/>
            <p:cNvSpPr txBox="1">
              <a:spLocks noChangeArrowheads="1"/>
            </p:cNvSpPr>
            <p:nvPr/>
          </p:nvSpPr>
          <p:spPr bwMode="auto">
            <a:xfrm>
              <a:off x="1632" y="244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1</a:t>
              </a:r>
            </a:p>
          </p:txBody>
        </p:sp>
        <p:sp>
          <p:nvSpPr>
            <p:cNvPr id="246809" name="Text Box 25"/>
            <p:cNvSpPr txBox="1">
              <a:spLocks noChangeArrowheads="1"/>
            </p:cNvSpPr>
            <p:nvPr/>
          </p:nvSpPr>
          <p:spPr bwMode="auto">
            <a:xfrm>
              <a:off x="912" y="364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2</a:t>
              </a:r>
            </a:p>
          </p:txBody>
        </p:sp>
        <p:sp>
          <p:nvSpPr>
            <p:cNvPr id="246810" name="Text Box 26"/>
            <p:cNvSpPr txBox="1">
              <a:spLocks noChangeArrowheads="1"/>
            </p:cNvSpPr>
            <p:nvPr/>
          </p:nvSpPr>
          <p:spPr bwMode="auto">
            <a:xfrm>
              <a:off x="2064" y="36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3</a:t>
              </a:r>
            </a:p>
          </p:txBody>
        </p:sp>
        <p:sp>
          <p:nvSpPr>
            <p:cNvPr id="246811" name="Text Box 27"/>
            <p:cNvSpPr txBox="1">
              <a:spLocks noChangeArrowheads="1"/>
            </p:cNvSpPr>
            <p:nvPr/>
          </p:nvSpPr>
          <p:spPr bwMode="auto">
            <a:xfrm>
              <a:off x="1104" y="220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12" name="Text Box 28"/>
            <p:cNvSpPr txBox="1">
              <a:spLocks noChangeArrowheads="1"/>
            </p:cNvSpPr>
            <p:nvPr/>
          </p:nvSpPr>
          <p:spPr bwMode="auto">
            <a:xfrm>
              <a:off x="672" y="379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13" name="Text Box 29"/>
            <p:cNvSpPr txBox="1">
              <a:spLocks noChangeArrowheads="1"/>
            </p:cNvSpPr>
            <p:nvPr/>
          </p:nvSpPr>
          <p:spPr bwMode="auto">
            <a:xfrm>
              <a:off x="2688" y="345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14" name="Text Box 30"/>
            <p:cNvSpPr txBox="1">
              <a:spLocks noChangeArrowheads="1"/>
            </p:cNvSpPr>
            <p:nvPr/>
          </p:nvSpPr>
          <p:spPr bwMode="auto">
            <a:xfrm>
              <a:off x="1728" y="220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15" name="Text Box 31"/>
            <p:cNvSpPr txBox="1">
              <a:spLocks noChangeArrowheads="1"/>
            </p:cNvSpPr>
            <p:nvPr/>
          </p:nvSpPr>
          <p:spPr bwMode="auto">
            <a:xfrm>
              <a:off x="336" y="340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16" name="Text Box 32"/>
            <p:cNvSpPr txBox="1">
              <a:spLocks noChangeArrowheads="1"/>
            </p:cNvSpPr>
            <p:nvPr/>
          </p:nvSpPr>
          <p:spPr bwMode="auto">
            <a:xfrm>
              <a:off x="2256" y="379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17" name="Text Box 33"/>
            <p:cNvSpPr txBox="1">
              <a:spLocks noChangeArrowheads="1"/>
            </p:cNvSpPr>
            <p:nvPr/>
          </p:nvSpPr>
          <p:spPr bwMode="auto">
            <a:xfrm>
              <a:off x="480" y="273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12</a:t>
              </a:r>
              <a:r>
                <a:rPr lang="en-US" altLang="zh-CN" sz="2000" baseline="-25000">
                  <a:solidFill>
                    <a:srgbClr val="FF0000"/>
                  </a:solidFill>
                  <a:sym typeface="Symbol" pitchFamily="18" charset="2"/>
                </a:rPr>
                <a:t></a:t>
              </a:r>
              <a:endParaRPr lang="en-US" altLang="zh-CN" sz="2000" i="1">
                <a:solidFill>
                  <a:srgbClr val="FF0000"/>
                </a:solidFill>
              </a:endParaRPr>
            </a:p>
          </p:txBody>
        </p:sp>
        <p:sp>
          <p:nvSpPr>
            <p:cNvPr id="246818" name="Text Box 34"/>
            <p:cNvSpPr txBox="1">
              <a:spLocks noChangeArrowheads="1"/>
            </p:cNvSpPr>
            <p:nvPr/>
          </p:nvSpPr>
          <p:spPr bwMode="auto">
            <a:xfrm>
              <a:off x="1392" y="388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23</a:t>
              </a:r>
              <a:r>
                <a:rPr lang="en-US" altLang="zh-CN" sz="2000" baseline="-25000">
                  <a:solidFill>
                    <a:srgbClr val="FF0000"/>
                  </a:solidFill>
                  <a:sym typeface="Symbol" pitchFamily="18" charset="2"/>
                </a:rPr>
                <a:t></a:t>
              </a:r>
              <a:endParaRPr lang="en-US" altLang="zh-CN" sz="2000" i="1">
                <a:solidFill>
                  <a:srgbClr val="FF0000"/>
                </a:solidFill>
              </a:endParaRPr>
            </a:p>
          </p:txBody>
        </p:sp>
        <p:sp>
          <p:nvSpPr>
            <p:cNvPr id="246819" name="Text Box 35"/>
            <p:cNvSpPr txBox="1">
              <a:spLocks noChangeArrowheads="1"/>
            </p:cNvSpPr>
            <p:nvPr/>
          </p:nvSpPr>
          <p:spPr bwMode="auto">
            <a:xfrm>
              <a:off x="2160" y="268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31</a:t>
              </a:r>
              <a:r>
                <a:rPr lang="en-US" altLang="zh-CN" sz="2000" baseline="-25000">
                  <a:solidFill>
                    <a:srgbClr val="FF0000"/>
                  </a:solidFill>
                  <a:sym typeface="Symbol" pitchFamily="18" charset="2"/>
                </a:rPr>
                <a:t></a:t>
              </a:r>
              <a:endParaRPr lang="en-US" altLang="zh-CN" sz="2000" i="1">
                <a:solidFill>
                  <a:srgbClr val="FF0000"/>
                </a:solidFill>
              </a:endParaRPr>
            </a:p>
          </p:txBody>
        </p:sp>
      </p:grpSp>
      <p:grpSp>
        <p:nvGrpSpPr>
          <p:cNvPr id="246820" name="Group 36"/>
          <p:cNvGrpSpPr>
            <a:grpSpLocks/>
          </p:cNvGrpSpPr>
          <p:nvPr/>
        </p:nvGrpSpPr>
        <p:grpSpPr bwMode="auto">
          <a:xfrm>
            <a:off x="4724400" y="1123950"/>
            <a:ext cx="3962400" cy="2835275"/>
            <a:chOff x="3168" y="2160"/>
            <a:chExt cx="2496" cy="1786"/>
          </a:xfrm>
        </p:grpSpPr>
        <p:sp>
          <p:nvSpPr>
            <p:cNvPr id="246821" name="Line 37"/>
            <p:cNvSpPr>
              <a:spLocks noChangeShapeType="1"/>
            </p:cNvSpPr>
            <p:nvPr/>
          </p:nvSpPr>
          <p:spPr bwMode="auto">
            <a:xfrm>
              <a:off x="4368" y="2256"/>
              <a:ext cx="0" cy="864"/>
            </a:xfrm>
            <a:prstGeom prst="line">
              <a:avLst/>
            </a:prstGeom>
            <a:noFill/>
            <a:ln w="190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22" name="Line 38"/>
            <p:cNvSpPr>
              <a:spLocks noChangeShapeType="1"/>
            </p:cNvSpPr>
            <p:nvPr/>
          </p:nvSpPr>
          <p:spPr bwMode="auto">
            <a:xfrm flipH="1">
              <a:off x="3552" y="3120"/>
              <a:ext cx="816" cy="6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23" name="Line 39"/>
            <p:cNvSpPr>
              <a:spLocks noChangeShapeType="1"/>
            </p:cNvSpPr>
            <p:nvPr/>
          </p:nvSpPr>
          <p:spPr bwMode="auto">
            <a:xfrm>
              <a:off x="4368" y="3120"/>
              <a:ext cx="864" cy="57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24" name="Rectangle 40"/>
            <p:cNvSpPr>
              <a:spLocks noChangeArrowheads="1"/>
            </p:cNvSpPr>
            <p:nvPr/>
          </p:nvSpPr>
          <p:spPr bwMode="auto">
            <a:xfrm rot="3373426">
              <a:off x="3972" y="3252"/>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6825" name="Rectangle 41"/>
            <p:cNvSpPr>
              <a:spLocks noChangeArrowheads="1"/>
            </p:cNvSpPr>
            <p:nvPr/>
          </p:nvSpPr>
          <p:spPr bwMode="auto">
            <a:xfrm rot="-3340663">
              <a:off x="4668" y="3216"/>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6826" name="Rectangle 42"/>
            <p:cNvSpPr>
              <a:spLocks noChangeArrowheads="1"/>
            </p:cNvSpPr>
            <p:nvPr/>
          </p:nvSpPr>
          <p:spPr bwMode="auto">
            <a:xfrm>
              <a:off x="4308" y="2640"/>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6827" name="Text Box 43"/>
            <p:cNvSpPr txBox="1">
              <a:spLocks noChangeArrowheads="1"/>
            </p:cNvSpPr>
            <p:nvPr/>
          </p:nvSpPr>
          <p:spPr bwMode="auto">
            <a:xfrm>
              <a:off x="4416" y="2640"/>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baseline="-25000"/>
                <a:t>1</a:t>
              </a:r>
              <a:endParaRPr lang="en-US" altLang="zh-CN" sz="2000" i="1"/>
            </a:p>
          </p:txBody>
        </p:sp>
        <p:sp>
          <p:nvSpPr>
            <p:cNvPr id="246828" name="Text Box 44"/>
            <p:cNvSpPr txBox="1">
              <a:spLocks noChangeArrowheads="1"/>
            </p:cNvSpPr>
            <p:nvPr/>
          </p:nvSpPr>
          <p:spPr bwMode="auto">
            <a:xfrm>
              <a:off x="3753" y="3105"/>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2</a:t>
              </a:r>
              <a:endParaRPr lang="en-US" altLang="zh-CN" sz="2000" i="1" dirty="0"/>
            </a:p>
          </p:txBody>
        </p:sp>
        <p:sp>
          <p:nvSpPr>
            <p:cNvPr id="246829" name="Text Box 45"/>
            <p:cNvSpPr txBox="1">
              <a:spLocks noChangeArrowheads="1"/>
            </p:cNvSpPr>
            <p:nvPr/>
          </p:nvSpPr>
          <p:spPr bwMode="auto">
            <a:xfrm>
              <a:off x="4725" y="3091"/>
              <a:ext cx="3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3</a:t>
              </a:r>
              <a:endParaRPr lang="en-US" altLang="zh-CN" sz="2000" i="1" dirty="0"/>
            </a:p>
          </p:txBody>
        </p:sp>
        <p:sp>
          <p:nvSpPr>
            <p:cNvPr id="246830" name="Text Box 46"/>
            <p:cNvSpPr txBox="1">
              <a:spLocks noChangeArrowheads="1"/>
            </p:cNvSpPr>
            <p:nvPr/>
          </p:nvSpPr>
          <p:spPr bwMode="auto">
            <a:xfrm>
              <a:off x="3936" y="216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1Y</a:t>
              </a:r>
              <a:endParaRPr lang="en-US" altLang="zh-CN" sz="2000"/>
            </a:p>
          </p:txBody>
        </p:sp>
        <p:sp>
          <p:nvSpPr>
            <p:cNvPr id="246831" name="Text Box 47"/>
            <p:cNvSpPr txBox="1">
              <a:spLocks noChangeArrowheads="1"/>
            </p:cNvSpPr>
            <p:nvPr/>
          </p:nvSpPr>
          <p:spPr bwMode="auto">
            <a:xfrm>
              <a:off x="3360" y="321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2Y</a:t>
              </a:r>
              <a:endParaRPr lang="en-US" altLang="zh-CN" sz="2000" i="1"/>
            </a:p>
          </p:txBody>
        </p:sp>
        <p:sp>
          <p:nvSpPr>
            <p:cNvPr id="246832" name="Text Box 48"/>
            <p:cNvSpPr txBox="1">
              <a:spLocks noChangeArrowheads="1"/>
            </p:cNvSpPr>
            <p:nvPr/>
          </p:nvSpPr>
          <p:spPr bwMode="auto">
            <a:xfrm>
              <a:off x="5136" y="326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3Y</a:t>
              </a:r>
              <a:endParaRPr lang="en-US" altLang="zh-CN" sz="2000"/>
            </a:p>
          </p:txBody>
        </p:sp>
        <p:sp>
          <p:nvSpPr>
            <p:cNvPr id="246833" name="Line 49"/>
            <p:cNvSpPr>
              <a:spLocks noChangeShapeType="1"/>
            </p:cNvSpPr>
            <p:nvPr/>
          </p:nvSpPr>
          <p:spPr bwMode="auto">
            <a:xfrm>
              <a:off x="4272" y="2256"/>
              <a:ext cx="0"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34" name="Line 50"/>
            <p:cNvSpPr>
              <a:spLocks noChangeShapeType="1"/>
            </p:cNvSpPr>
            <p:nvPr/>
          </p:nvSpPr>
          <p:spPr bwMode="auto">
            <a:xfrm rot="-7751596">
              <a:off x="3623" y="3385"/>
              <a:ext cx="1"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35" name="Line 51"/>
            <p:cNvSpPr>
              <a:spLocks noChangeShapeType="1"/>
            </p:cNvSpPr>
            <p:nvPr/>
          </p:nvSpPr>
          <p:spPr bwMode="auto">
            <a:xfrm rot="-14240785">
              <a:off x="5111" y="3337"/>
              <a:ext cx="1"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36" name="Oval 52"/>
            <p:cNvSpPr>
              <a:spLocks noChangeArrowheads="1"/>
            </p:cNvSpPr>
            <p:nvPr/>
          </p:nvSpPr>
          <p:spPr bwMode="auto">
            <a:xfrm>
              <a:off x="3648" y="3628"/>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37" name="Oval 53"/>
            <p:cNvSpPr>
              <a:spLocks noChangeArrowheads="1"/>
            </p:cNvSpPr>
            <p:nvPr/>
          </p:nvSpPr>
          <p:spPr bwMode="auto">
            <a:xfrm>
              <a:off x="4335" y="2304"/>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38" name="Oval 54"/>
            <p:cNvSpPr>
              <a:spLocks noChangeArrowheads="1"/>
            </p:cNvSpPr>
            <p:nvPr/>
          </p:nvSpPr>
          <p:spPr bwMode="auto">
            <a:xfrm>
              <a:off x="5040" y="3552"/>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39" name="Text Box 55"/>
            <p:cNvSpPr txBox="1">
              <a:spLocks noChangeArrowheads="1"/>
            </p:cNvSpPr>
            <p:nvPr/>
          </p:nvSpPr>
          <p:spPr bwMode="auto">
            <a:xfrm>
              <a:off x="4416" y="220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1</a:t>
              </a:r>
            </a:p>
          </p:txBody>
        </p:sp>
        <p:sp>
          <p:nvSpPr>
            <p:cNvPr id="246840" name="Text Box 56"/>
            <p:cNvSpPr txBox="1">
              <a:spLocks noChangeArrowheads="1"/>
            </p:cNvSpPr>
            <p:nvPr/>
          </p:nvSpPr>
          <p:spPr bwMode="auto">
            <a:xfrm>
              <a:off x="3744" y="355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2</a:t>
              </a:r>
            </a:p>
          </p:txBody>
        </p:sp>
        <p:sp>
          <p:nvSpPr>
            <p:cNvPr id="246841" name="Text Box 57"/>
            <p:cNvSpPr txBox="1">
              <a:spLocks noChangeArrowheads="1"/>
            </p:cNvSpPr>
            <p:nvPr/>
          </p:nvSpPr>
          <p:spPr bwMode="auto">
            <a:xfrm>
              <a:off x="4848" y="3552"/>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3</a:t>
              </a:r>
            </a:p>
          </p:txBody>
        </p:sp>
        <p:sp>
          <p:nvSpPr>
            <p:cNvPr id="246842" name="Text Box 58"/>
            <p:cNvSpPr txBox="1">
              <a:spLocks noChangeArrowheads="1"/>
            </p:cNvSpPr>
            <p:nvPr/>
          </p:nvSpPr>
          <p:spPr bwMode="auto">
            <a:xfrm>
              <a:off x="3792" y="225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43" name="Text Box 59"/>
            <p:cNvSpPr txBox="1">
              <a:spLocks noChangeArrowheads="1"/>
            </p:cNvSpPr>
            <p:nvPr/>
          </p:nvSpPr>
          <p:spPr bwMode="auto">
            <a:xfrm>
              <a:off x="3600" y="369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44" name="Text Box 60"/>
            <p:cNvSpPr txBox="1">
              <a:spLocks noChangeArrowheads="1"/>
            </p:cNvSpPr>
            <p:nvPr/>
          </p:nvSpPr>
          <p:spPr bwMode="auto">
            <a:xfrm>
              <a:off x="5424" y="336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45" name="Text Box 61"/>
            <p:cNvSpPr txBox="1">
              <a:spLocks noChangeArrowheads="1"/>
            </p:cNvSpPr>
            <p:nvPr/>
          </p:nvSpPr>
          <p:spPr bwMode="auto">
            <a:xfrm>
              <a:off x="3168" y="336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46" name="Text Box 62"/>
            <p:cNvSpPr txBox="1">
              <a:spLocks noChangeArrowheads="1"/>
            </p:cNvSpPr>
            <p:nvPr/>
          </p:nvSpPr>
          <p:spPr bwMode="auto">
            <a:xfrm>
              <a:off x="4992" y="36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47" name="Text Box 63"/>
            <p:cNvSpPr txBox="1">
              <a:spLocks noChangeArrowheads="1"/>
            </p:cNvSpPr>
            <p:nvPr/>
          </p:nvSpPr>
          <p:spPr bwMode="auto">
            <a:xfrm>
              <a:off x="4560" y="225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6848" name="Text Box 64"/>
            <p:cNvSpPr txBox="1">
              <a:spLocks noChangeArrowheads="1"/>
            </p:cNvSpPr>
            <p:nvPr/>
          </p:nvSpPr>
          <p:spPr bwMode="auto">
            <a:xfrm>
              <a:off x="3312" y="273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12Y</a:t>
              </a:r>
              <a:endParaRPr lang="en-US" altLang="zh-CN" sz="2000" i="1">
                <a:solidFill>
                  <a:srgbClr val="FF0000"/>
                </a:solidFill>
              </a:endParaRPr>
            </a:p>
          </p:txBody>
        </p:sp>
        <p:sp>
          <p:nvSpPr>
            <p:cNvPr id="246849" name="Text Box 65"/>
            <p:cNvSpPr txBox="1">
              <a:spLocks noChangeArrowheads="1"/>
            </p:cNvSpPr>
            <p:nvPr/>
          </p:nvSpPr>
          <p:spPr bwMode="auto">
            <a:xfrm>
              <a:off x="4224" y="369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23Y</a:t>
              </a:r>
              <a:endParaRPr lang="en-US" altLang="zh-CN" sz="2000" i="1">
                <a:solidFill>
                  <a:srgbClr val="FF0000"/>
                </a:solidFill>
              </a:endParaRPr>
            </a:p>
          </p:txBody>
        </p:sp>
        <p:sp>
          <p:nvSpPr>
            <p:cNvPr id="246850" name="Text Box 66"/>
            <p:cNvSpPr txBox="1">
              <a:spLocks noChangeArrowheads="1"/>
            </p:cNvSpPr>
            <p:nvPr/>
          </p:nvSpPr>
          <p:spPr bwMode="auto">
            <a:xfrm>
              <a:off x="4944" y="2784"/>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31Y</a:t>
              </a:r>
              <a:endParaRPr lang="en-US" altLang="zh-CN" sz="2000" i="1">
                <a:solidFill>
                  <a:srgbClr val="FF0000"/>
                </a:solidFill>
              </a:endParaRPr>
            </a:p>
          </p:txBody>
        </p:sp>
      </p:grpSp>
      <p:sp>
        <p:nvSpPr>
          <p:cNvPr id="246851" name="Text Box 67"/>
          <p:cNvSpPr txBox="1">
            <a:spLocks noChangeArrowheads="1"/>
          </p:cNvSpPr>
          <p:nvPr/>
        </p:nvSpPr>
        <p:spPr bwMode="auto">
          <a:xfrm>
            <a:off x="784225" y="484188"/>
            <a:ext cx="2703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3333FF"/>
                </a:solidFill>
                <a:sym typeface="Wingdings 3" pitchFamily="18" charset="2"/>
              </a:rPr>
              <a:t>Y</a:t>
            </a:r>
            <a:r>
              <a:rPr lang="en-US" altLang="zh-CN" sz="2000">
                <a:solidFill>
                  <a:srgbClr val="3333FF"/>
                </a:solidFill>
                <a:latin typeface="宋体" charset="-122"/>
                <a:sym typeface="Wingdings 3" pitchFamily="18" charset="2"/>
              </a:rPr>
              <a:t>-</a:t>
            </a:r>
            <a:r>
              <a:rPr lang="en-US" altLang="zh-CN" sz="2000">
                <a:solidFill>
                  <a:srgbClr val="3333FF"/>
                </a:solidFill>
                <a:sym typeface="Symbol" pitchFamily="18" charset="2"/>
              </a:rPr>
              <a:t></a:t>
            </a:r>
            <a:r>
              <a:rPr lang="zh-CN" altLang="en-US" sz="2000">
                <a:solidFill>
                  <a:srgbClr val="3333FF"/>
                </a:solidFill>
              </a:rPr>
              <a:t>变换的等效条件</a:t>
            </a:r>
          </a:p>
        </p:txBody>
      </p:sp>
      <p:grpSp>
        <p:nvGrpSpPr>
          <p:cNvPr id="246857" name="Group 73"/>
          <p:cNvGrpSpPr>
            <a:grpSpLocks/>
          </p:cNvGrpSpPr>
          <p:nvPr/>
        </p:nvGrpSpPr>
        <p:grpSpPr bwMode="auto">
          <a:xfrm>
            <a:off x="831850" y="4543425"/>
            <a:ext cx="6191250" cy="2100263"/>
            <a:chOff x="524" y="2862"/>
            <a:chExt cx="3900" cy="1323"/>
          </a:xfrm>
        </p:grpSpPr>
        <p:sp>
          <p:nvSpPr>
            <p:cNvPr id="246853" name="Text Box 69"/>
            <p:cNvSpPr txBox="1">
              <a:spLocks noChangeArrowheads="1"/>
            </p:cNvSpPr>
            <p:nvPr/>
          </p:nvSpPr>
          <p:spPr bwMode="auto">
            <a:xfrm>
              <a:off x="2118" y="2862"/>
              <a:ext cx="960"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3333FF"/>
                  </a:solidFill>
                </a:rPr>
                <a:t>i</a:t>
              </a:r>
              <a:r>
                <a:rPr lang="en-US" altLang="zh-CN" baseline="-25000">
                  <a:solidFill>
                    <a:srgbClr val="3333FF"/>
                  </a:solidFill>
                </a:rPr>
                <a:t>1</a:t>
              </a:r>
              <a:r>
                <a:rPr lang="en-US" altLang="zh-CN" baseline="-25000">
                  <a:solidFill>
                    <a:srgbClr val="3333FF"/>
                  </a:solidFill>
                  <a:sym typeface="Symbol" pitchFamily="18" charset="2"/>
                </a:rPr>
                <a:t> </a:t>
              </a:r>
              <a:r>
                <a:rPr lang="en-US" altLang="zh-CN" i="1">
                  <a:solidFill>
                    <a:srgbClr val="3333FF"/>
                  </a:solidFill>
                </a:rPr>
                <a:t>= i</a:t>
              </a:r>
              <a:r>
                <a:rPr lang="en-US" altLang="zh-CN" baseline="-25000">
                  <a:solidFill>
                    <a:srgbClr val="3333FF"/>
                  </a:solidFill>
                </a:rPr>
                <a:t>1Y</a:t>
              </a:r>
              <a:r>
                <a:rPr lang="en-US" altLang="zh-CN" i="1" baseline="-25000">
                  <a:solidFill>
                    <a:srgbClr val="3333FF"/>
                  </a:solidFill>
                </a:rPr>
                <a:t> </a:t>
              </a:r>
            </a:p>
            <a:p>
              <a:pPr algn="l">
                <a:spcBef>
                  <a:spcPct val="50000"/>
                </a:spcBef>
              </a:pPr>
              <a:r>
                <a:rPr lang="en-US" altLang="zh-CN" i="1">
                  <a:solidFill>
                    <a:srgbClr val="3333FF"/>
                  </a:solidFill>
                </a:rPr>
                <a:t>i</a:t>
              </a:r>
              <a:r>
                <a:rPr lang="en-US" altLang="zh-CN" baseline="-25000">
                  <a:solidFill>
                    <a:srgbClr val="3333FF"/>
                  </a:solidFill>
                </a:rPr>
                <a:t>2 </a:t>
              </a:r>
              <a:r>
                <a:rPr lang="en-US" altLang="zh-CN" baseline="-25000">
                  <a:solidFill>
                    <a:srgbClr val="3333FF"/>
                  </a:solidFill>
                  <a:sym typeface="Symbol" pitchFamily="18" charset="2"/>
                </a:rPr>
                <a:t></a:t>
              </a:r>
              <a:r>
                <a:rPr lang="en-US" altLang="zh-CN" i="1">
                  <a:solidFill>
                    <a:srgbClr val="3333FF"/>
                  </a:solidFill>
                </a:rPr>
                <a:t>= i</a:t>
              </a:r>
              <a:r>
                <a:rPr lang="en-US" altLang="zh-CN" baseline="-25000">
                  <a:solidFill>
                    <a:srgbClr val="3333FF"/>
                  </a:solidFill>
                </a:rPr>
                <a:t>2Y</a:t>
              </a:r>
              <a:endParaRPr lang="en-US" altLang="zh-CN">
                <a:solidFill>
                  <a:srgbClr val="3333FF"/>
                </a:solidFill>
              </a:endParaRPr>
            </a:p>
            <a:p>
              <a:pPr algn="l">
                <a:spcBef>
                  <a:spcPct val="50000"/>
                </a:spcBef>
              </a:pPr>
              <a:r>
                <a:rPr lang="en-US" altLang="zh-CN" i="1">
                  <a:solidFill>
                    <a:srgbClr val="3333FF"/>
                  </a:solidFill>
                </a:rPr>
                <a:t>i</a:t>
              </a:r>
              <a:r>
                <a:rPr lang="en-US" altLang="zh-CN" baseline="-25000">
                  <a:solidFill>
                    <a:srgbClr val="3333FF"/>
                  </a:solidFill>
                </a:rPr>
                <a:t>3 </a:t>
              </a:r>
              <a:r>
                <a:rPr lang="en-US" altLang="zh-CN" baseline="-25000">
                  <a:solidFill>
                    <a:srgbClr val="3333FF"/>
                  </a:solidFill>
                  <a:sym typeface="Symbol" pitchFamily="18" charset="2"/>
                </a:rPr>
                <a:t> </a:t>
              </a:r>
              <a:r>
                <a:rPr lang="en-US" altLang="zh-CN" i="1">
                  <a:solidFill>
                    <a:srgbClr val="3333FF"/>
                  </a:solidFill>
                </a:rPr>
                <a:t>= i</a:t>
              </a:r>
              <a:r>
                <a:rPr lang="en-US" altLang="zh-CN" baseline="-25000">
                  <a:solidFill>
                    <a:srgbClr val="3333FF"/>
                  </a:solidFill>
                </a:rPr>
                <a:t>3Y</a:t>
              </a:r>
              <a:r>
                <a:rPr lang="en-US" altLang="zh-CN" i="1">
                  <a:solidFill>
                    <a:srgbClr val="3333FF"/>
                  </a:solidFill>
                </a:rPr>
                <a:t>  </a:t>
              </a:r>
            </a:p>
            <a:p>
              <a:pPr algn="l">
                <a:spcBef>
                  <a:spcPct val="50000"/>
                </a:spcBef>
              </a:pPr>
              <a:r>
                <a:rPr lang="en-US" altLang="zh-CN" i="1">
                  <a:solidFill>
                    <a:srgbClr val="3333FF"/>
                  </a:solidFill>
                </a:rPr>
                <a:t>                    </a:t>
              </a:r>
              <a:endParaRPr lang="en-US" altLang="zh-CN" i="1" baseline="-25000">
                <a:solidFill>
                  <a:srgbClr val="3333FF"/>
                </a:solidFill>
              </a:endParaRPr>
            </a:p>
          </p:txBody>
        </p:sp>
        <p:sp>
          <p:nvSpPr>
            <p:cNvPr id="246854" name="Text Box 70"/>
            <p:cNvSpPr txBox="1">
              <a:spLocks noChangeArrowheads="1"/>
            </p:cNvSpPr>
            <p:nvPr/>
          </p:nvSpPr>
          <p:spPr bwMode="auto">
            <a:xfrm>
              <a:off x="3475" y="2868"/>
              <a:ext cx="949" cy="97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i="1">
                  <a:solidFill>
                    <a:srgbClr val="3333FF"/>
                  </a:solidFill>
                </a:rPr>
                <a:t>v</a:t>
              </a:r>
              <a:r>
                <a:rPr lang="en-US" altLang="zh-CN" baseline="-25000">
                  <a:solidFill>
                    <a:srgbClr val="3333FF"/>
                  </a:solidFill>
                </a:rPr>
                <a:t>12</a:t>
              </a:r>
              <a:r>
                <a:rPr lang="en-US" altLang="zh-CN" baseline="-25000">
                  <a:solidFill>
                    <a:srgbClr val="3333FF"/>
                  </a:solidFill>
                  <a:sym typeface="Symbol" pitchFamily="18" charset="2"/>
                </a:rPr>
                <a:t> </a:t>
              </a:r>
              <a:r>
                <a:rPr lang="en-US" altLang="zh-CN" i="1">
                  <a:solidFill>
                    <a:srgbClr val="3333FF"/>
                  </a:solidFill>
                </a:rPr>
                <a:t>= v</a:t>
              </a:r>
              <a:r>
                <a:rPr lang="en-US" altLang="zh-CN" baseline="-25000">
                  <a:solidFill>
                    <a:srgbClr val="3333FF"/>
                  </a:solidFill>
                </a:rPr>
                <a:t>12Y</a:t>
              </a:r>
              <a:r>
                <a:rPr lang="en-US" altLang="zh-CN" i="1" baseline="-25000">
                  <a:solidFill>
                    <a:srgbClr val="3333FF"/>
                  </a:solidFill>
                </a:rPr>
                <a:t> </a:t>
              </a:r>
            </a:p>
            <a:p>
              <a:pPr>
                <a:spcBef>
                  <a:spcPct val="50000"/>
                </a:spcBef>
              </a:pPr>
              <a:r>
                <a:rPr lang="en-US" altLang="zh-CN" i="1">
                  <a:solidFill>
                    <a:srgbClr val="3333FF"/>
                  </a:solidFill>
                </a:rPr>
                <a:t>v</a:t>
              </a:r>
              <a:r>
                <a:rPr lang="en-US" altLang="zh-CN" baseline="-25000">
                  <a:solidFill>
                    <a:srgbClr val="3333FF"/>
                  </a:solidFill>
                </a:rPr>
                <a:t>23</a:t>
              </a:r>
              <a:r>
                <a:rPr lang="en-US" altLang="zh-CN" baseline="-25000">
                  <a:solidFill>
                    <a:srgbClr val="3333FF"/>
                  </a:solidFill>
                  <a:sym typeface="Symbol" pitchFamily="18" charset="2"/>
                </a:rPr>
                <a:t> </a:t>
              </a:r>
              <a:r>
                <a:rPr lang="en-US" altLang="zh-CN" i="1">
                  <a:solidFill>
                    <a:srgbClr val="3333FF"/>
                  </a:solidFill>
                </a:rPr>
                <a:t>= v</a:t>
              </a:r>
              <a:r>
                <a:rPr lang="en-US" altLang="zh-CN" baseline="-25000">
                  <a:solidFill>
                    <a:srgbClr val="3333FF"/>
                  </a:solidFill>
                </a:rPr>
                <a:t>23Y</a:t>
              </a:r>
              <a:endParaRPr lang="en-US" altLang="zh-CN" i="1" baseline="-25000">
                <a:solidFill>
                  <a:srgbClr val="3333FF"/>
                </a:solidFill>
              </a:endParaRPr>
            </a:p>
            <a:p>
              <a:pPr>
                <a:spcBef>
                  <a:spcPct val="50000"/>
                </a:spcBef>
              </a:pPr>
              <a:r>
                <a:rPr lang="en-US" altLang="zh-CN" i="1">
                  <a:solidFill>
                    <a:srgbClr val="3333FF"/>
                  </a:solidFill>
                </a:rPr>
                <a:t> v</a:t>
              </a:r>
              <a:r>
                <a:rPr lang="en-US" altLang="zh-CN" baseline="-25000">
                  <a:solidFill>
                    <a:srgbClr val="3333FF"/>
                  </a:solidFill>
                </a:rPr>
                <a:t>31</a:t>
              </a:r>
              <a:r>
                <a:rPr lang="en-US" altLang="zh-CN" baseline="-25000">
                  <a:solidFill>
                    <a:srgbClr val="3333FF"/>
                  </a:solidFill>
                  <a:sym typeface="Symbol" pitchFamily="18" charset="2"/>
                </a:rPr>
                <a:t> </a:t>
              </a:r>
              <a:r>
                <a:rPr lang="en-US" altLang="zh-CN" i="1">
                  <a:solidFill>
                    <a:srgbClr val="3333FF"/>
                  </a:solidFill>
                </a:rPr>
                <a:t>= v</a:t>
              </a:r>
              <a:r>
                <a:rPr lang="en-US" altLang="zh-CN" baseline="-25000">
                  <a:solidFill>
                    <a:srgbClr val="3333FF"/>
                  </a:solidFill>
                </a:rPr>
                <a:t>31Y</a:t>
              </a:r>
            </a:p>
          </p:txBody>
        </p:sp>
        <p:sp>
          <p:nvSpPr>
            <p:cNvPr id="246855" name="Text Box 71"/>
            <p:cNvSpPr txBox="1">
              <a:spLocks noChangeArrowheads="1"/>
            </p:cNvSpPr>
            <p:nvPr/>
          </p:nvSpPr>
          <p:spPr bwMode="auto">
            <a:xfrm>
              <a:off x="524" y="2906"/>
              <a:ext cx="1274" cy="28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a:solidFill>
                    <a:srgbClr val="FF0000"/>
                  </a:solidFill>
                </a:rPr>
                <a:t>等效的条件：</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46786"/>
                                        </p:tgtEl>
                                        <p:attrNameLst>
                                          <p:attrName>style.visibility</p:attrName>
                                        </p:attrNameLst>
                                      </p:cBhvr>
                                      <p:to>
                                        <p:strVal val="visible"/>
                                      </p:to>
                                    </p:set>
                                    <p:animEffect transition="in" filter="box(out)">
                                      <p:cBhvr>
                                        <p:cTn id="7" dur="500"/>
                                        <p:tgtEl>
                                          <p:spTgt spid="246786"/>
                                        </p:tgtEl>
                                      </p:cBhvr>
                                    </p:animEffect>
                                  </p:childTnLst>
                                </p:cTn>
                              </p:par>
                            </p:childTnLst>
                          </p:cTn>
                        </p:par>
                        <p:par>
                          <p:cTn id="8" fill="hold" nodeType="afterGroup">
                            <p:stCondLst>
                              <p:cond delay="500"/>
                            </p:stCondLst>
                            <p:childTnLst>
                              <p:par>
                                <p:cTn id="9" presetID="4" presetClass="entr" presetSubtype="32" fill="hold" nodeType="afterEffect">
                                  <p:stCondLst>
                                    <p:cond delay="0"/>
                                  </p:stCondLst>
                                  <p:childTnLst>
                                    <p:set>
                                      <p:cBhvr>
                                        <p:cTn id="10" dur="1" fill="hold">
                                          <p:stCondLst>
                                            <p:cond delay="0"/>
                                          </p:stCondLst>
                                        </p:cTn>
                                        <p:tgtEl>
                                          <p:spTgt spid="246820"/>
                                        </p:tgtEl>
                                        <p:attrNameLst>
                                          <p:attrName>style.visibility</p:attrName>
                                        </p:attrNameLst>
                                      </p:cBhvr>
                                      <p:to>
                                        <p:strVal val="visible"/>
                                      </p:to>
                                    </p:set>
                                    <p:animEffect transition="in" filter="box(out)">
                                      <p:cBhvr>
                                        <p:cTn id="11" dur="500"/>
                                        <p:tgtEl>
                                          <p:spTgt spid="2468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nodeType="clickEffect">
                                  <p:stCondLst>
                                    <p:cond delay="0"/>
                                  </p:stCondLst>
                                  <p:childTnLst>
                                    <p:set>
                                      <p:cBhvr>
                                        <p:cTn id="15" dur="1" fill="hold">
                                          <p:stCondLst>
                                            <p:cond delay="0"/>
                                          </p:stCondLst>
                                        </p:cTn>
                                        <p:tgtEl>
                                          <p:spTgt spid="246857"/>
                                        </p:tgtEl>
                                        <p:attrNameLst>
                                          <p:attrName>style.visibility</p:attrName>
                                        </p:attrNameLst>
                                      </p:cBhvr>
                                      <p:to>
                                        <p:strVal val="visible"/>
                                      </p:to>
                                    </p:set>
                                    <p:animEffect transition="in" filter="box(in)">
                                      <p:cBhvr>
                                        <p:cTn id="16" dur="500"/>
                                        <p:tgtEl>
                                          <p:spTgt spid="246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7810" name="Group 2"/>
          <p:cNvGrpSpPr>
            <a:grpSpLocks/>
          </p:cNvGrpSpPr>
          <p:nvPr/>
        </p:nvGrpSpPr>
        <p:grpSpPr bwMode="auto">
          <a:xfrm>
            <a:off x="381000" y="228600"/>
            <a:ext cx="4114800" cy="3063875"/>
            <a:chOff x="336" y="2208"/>
            <a:chExt cx="2592" cy="1930"/>
          </a:xfrm>
        </p:grpSpPr>
        <p:sp>
          <p:nvSpPr>
            <p:cNvPr id="247811" name="Line 3"/>
            <p:cNvSpPr>
              <a:spLocks noChangeShapeType="1"/>
            </p:cNvSpPr>
            <p:nvPr/>
          </p:nvSpPr>
          <p:spPr bwMode="auto">
            <a:xfrm>
              <a:off x="1056" y="3589"/>
              <a:ext cx="1176" cy="0"/>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12" name="Line 4"/>
            <p:cNvSpPr>
              <a:spLocks noChangeShapeType="1"/>
            </p:cNvSpPr>
            <p:nvPr/>
          </p:nvSpPr>
          <p:spPr bwMode="auto">
            <a:xfrm flipH="1" flipV="1">
              <a:off x="1617" y="2702"/>
              <a:ext cx="615" cy="887"/>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47813" name="AutoShape 5"/>
            <p:cNvCxnSpPr>
              <a:cxnSpLocks noChangeShapeType="1"/>
              <a:stCxn id="247812" idx="1"/>
              <a:endCxn id="247811" idx="0"/>
            </p:cNvCxnSpPr>
            <p:nvPr/>
          </p:nvCxnSpPr>
          <p:spPr bwMode="auto">
            <a:xfrm flipH="1">
              <a:off x="1056" y="2697"/>
              <a:ext cx="562" cy="883"/>
            </a:xfrm>
            <a:prstGeom prst="straightConnector1">
              <a:avLst/>
            </a:prstGeom>
            <a:noFill/>
            <a:ln w="19050">
              <a:solidFill>
                <a:schemeClr val="tx1"/>
              </a:solidFill>
              <a:round/>
              <a:headEnd type="oval" w="sm" len="sm"/>
              <a:tail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814" name="Line 6"/>
            <p:cNvSpPr>
              <a:spLocks noChangeShapeType="1"/>
            </p:cNvSpPr>
            <p:nvPr/>
          </p:nvSpPr>
          <p:spPr bwMode="auto">
            <a:xfrm>
              <a:off x="1488" y="2352"/>
              <a:ext cx="0"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47815" name="AutoShape 7"/>
            <p:cNvCxnSpPr>
              <a:cxnSpLocks noChangeShapeType="1"/>
            </p:cNvCxnSpPr>
            <p:nvPr/>
          </p:nvCxnSpPr>
          <p:spPr bwMode="auto">
            <a:xfrm flipH="1">
              <a:off x="1056" y="2702"/>
              <a:ext cx="561" cy="887"/>
            </a:xfrm>
            <a:prstGeom prst="straightConnector1">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816" name="Rectangle 8"/>
            <p:cNvSpPr>
              <a:spLocks noChangeArrowheads="1"/>
            </p:cNvSpPr>
            <p:nvPr/>
          </p:nvSpPr>
          <p:spPr bwMode="auto">
            <a:xfrm rot="-5400000">
              <a:off x="1570" y="3446"/>
              <a:ext cx="123" cy="288"/>
            </a:xfrm>
            <a:prstGeom prst="rect">
              <a:avLst/>
            </a:prstGeom>
            <a:solidFill>
              <a:schemeClr val="accent1"/>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7817" name="Rectangle 9"/>
            <p:cNvSpPr>
              <a:spLocks noChangeArrowheads="1"/>
            </p:cNvSpPr>
            <p:nvPr/>
          </p:nvSpPr>
          <p:spPr bwMode="auto">
            <a:xfrm rot="-2268645">
              <a:off x="1872" y="2998"/>
              <a:ext cx="120" cy="29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7818" name="Rectangle 10"/>
            <p:cNvSpPr>
              <a:spLocks noChangeArrowheads="1"/>
            </p:cNvSpPr>
            <p:nvPr/>
          </p:nvSpPr>
          <p:spPr bwMode="auto">
            <a:xfrm rot="2115987">
              <a:off x="1284" y="2998"/>
              <a:ext cx="120" cy="296"/>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7819" name="Text Box 11"/>
            <p:cNvSpPr txBox="1">
              <a:spLocks noChangeArrowheads="1"/>
            </p:cNvSpPr>
            <p:nvPr/>
          </p:nvSpPr>
          <p:spPr bwMode="auto">
            <a:xfrm>
              <a:off x="965" y="2919"/>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12</a:t>
              </a:r>
              <a:endParaRPr lang="en-US" altLang="zh-CN" sz="2000" i="1" dirty="0"/>
            </a:p>
          </p:txBody>
        </p:sp>
        <p:sp>
          <p:nvSpPr>
            <p:cNvPr id="247820" name="Text Box 12"/>
            <p:cNvSpPr txBox="1">
              <a:spLocks noChangeArrowheads="1"/>
            </p:cNvSpPr>
            <p:nvPr/>
          </p:nvSpPr>
          <p:spPr bwMode="auto">
            <a:xfrm>
              <a:off x="1978" y="2927"/>
              <a:ext cx="45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31</a:t>
              </a:r>
              <a:endParaRPr lang="en-US" altLang="zh-CN" sz="2000" i="1" dirty="0"/>
            </a:p>
          </p:txBody>
        </p:sp>
        <p:sp>
          <p:nvSpPr>
            <p:cNvPr id="247821" name="Text Box 13"/>
            <p:cNvSpPr txBox="1">
              <a:spLocks noChangeArrowheads="1"/>
            </p:cNvSpPr>
            <p:nvPr/>
          </p:nvSpPr>
          <p:spPr bwMode="auto">
            <a:xfrm>
              <a:off x="1486" y="3617"/>
              <a:ext cx="5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23</a:t>
              </a:r>
              <a:endParaRPr lang="en-US" altLang="zh-CN" sz="2000" i="1" dirty="0"/>
            </a:p>
          </p:txBody>
        </p:sp>
        <p:sp>
          <p:nvSpPr>
            <p:cNvPr id="247822" name="Text Box 14"/>
            <p:cNvSpPr txBox="1">
              <a:spLocks noChangeArrowheads="1"/>
            </p:cNvSpPr>
            <p:nvPr/>
          </p:nvSpPr>
          <p:spPr bwMode="auto">
            <a:xfrm>
              <a:off x="2400" y="3360"/>
              <a:ext cx="4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3 </a:t>
              </a:r>
              <a:r>
                <a:rPr lang="en-US" altLang="zh-CN" sz="2000" baseline="-25000">
                  <a:sym typeface="Symbol" pitchFamily="18" charset="2"/>
                </a:rPr>
                <a:t></a:t>
              </a:r>
              <a:endParaRPr lang="en-US" altLang="zh-CN" sz="2000" baseline="30000">
                <a:sym typeface="Symbol" pitchFamily="18" charset="2"/>
              </a:endParaRPr>
            </a:p>
          </p:txBody>
        </p:sp>
        <p:sp>
          <p:nvSpPr>
            <p:cNvPr id="247823" name="Text Box 15"/>
            <p:cNvSpPr txBox="1">
              <a:spLocks noChangeArrowheads="1"/>
            </p:cNvSpPr>
            <p:nvPr/>
          </p:nvSpPr>
          <p:spPr bwMode="auto">
            <a:xfrm>
              <a:off x="528" y="331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2 </a:t>
              </a:r>
              <a:r>
                <a:rPr lang="en-US" altLang="zh-CN" sz="2000" baseline="-25000">
                  <a:sym typeface="Symbol" pitchFamily="18" charset="2"/>
                </a:rPr>
                <a:t></a:t>
              </a:r>
              <a:endParaRPr lang="en-US" altLang="zh-CN" sz="2000" baseline="30000">
                <a:sym typeface="Symbol" pitchFamily="18" charset="2"/>
              </a:endParaRPr>
            </a:p>
          </p:txBody>
        </p:sp>
        <p:sp>
          <p:nvSpPr>
            <p:cNvPr id="247824" name="Text Box 16"/>
            <p:cNvSpPr txBox="1">
              <a:spLocks noChangeArrowheads="1"/>
            </p:cNvSpPr>
            <p:nvPr/>
          </p:nvSpPr>
          <p:spPr bwMode="auto">
            <a:xfrm>
              <a:off x="1152" y="2352"/>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1</a:t>
              </a:r>
              <a:r>
                <a:rPr lang="en-US" altLang="zh-CN" sz="2000" baseline="-25000">
                  <a:sym typeface="Symbol" pitchFamily="18" charset="2"/>
                </a:rPr>
                <a:t></a:t>
              </a:r>
              <a:endParaRPr lang="en-US" altLang="zh-CN" sz="2000" i="1"/>
            </a:p>
          </p:txBody>
        </p:sp>
        <p:sp>
          <p:nvSpPr>
            <p:cNvPr id="247825" name="Line 17"/>
            <p:cNvSpPr>
              <a:spLocks noChangeShapeType="1"/>
            </p:cNvSpPr>
            <p:nvPr/>
          </p:nvSpPr>
          <p:spPr bwMode="auto">
            <a:xfrm>
              <a:off x="1584" y="2308"/>
              <a:ext cx="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26" name="Line 18"/>
            <p:cNvSpPr>
              <a:spLocks noChangeShapeType="1"/>
            </p:cNvSpPr>
            <p:nvPr/>
          </p:nvSpPr>
          <p:spPr bwMode="auto">
            <a:xfrm>
              <a:off x="1632" y="2406"/>
              <a:ext cx="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27" name="Line 19"/>
            <p:cNvSpPr>
              <a:spLocks noChangeShapeType="1"/>
            </p:cNvSpPr>
            <p:nvPr/>
          </p:nvSpPr>
          <p:spPr bwMode="auto">
            <a:xfrm flipV="1">
              <a:off x="1612" y="2308"/>
              <a:ext cx="0" cy="39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28" name="Freeform 20"/>
            <p:cNvSpPr>
              <a:spLocks/>
            </p:cNvSpPr>
            <p:nvPr/>
          </p:nvSpPr>
          <p:spPr bwMode="auto">
            <a:xfrm>
              <a:off x="660" y="3589"/>
              <a:ext cx="396" cy="251"/>
            </a:xfrm>
            <a:custGeom>
              <a:avLst/>
              <a:gdLst>
                <a:gd name="T0" fmla="*/ 396 w 396"/>
                <a:gd name="T1" fmla="*/ 0 h 251"/>
                <a:gd name="T2" fmla="*/ 0 w 396"/>
                <a:gd name="T3" fmla="*/ 251 h 251"/>
              </a:gdLst>
              <a:ahLst/>
              <a:cxnLst>
                <a:cxn ang="0">
                  <a:pos x="T0" y="T1"/>
                </a:cxn>
                <a:cxn ang="0">
                  <a:pos x="T2" y="T3"/>
                </a:cxn>
              </a:cxnLst>
              <a:rect l="0" t="0" r="r" b="b"/>
              <a:pathLst>
                <a:path w="396" h="251">
                  <a:moveTo>
                    <a:pt x="396" y="0"/>
                  </a:moveTo>
                  <a:lnTo>
                    <a:pt x="0" y="251"/>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29" name="Freeform 21"/>
            <p:cNvSpPr>
              <a:spLocks/>
            </p:cNvSpPr>
            <p:nvPr/>
          </p:nvSpPr>
          <p:spPr bwMode="auto">
            <a:xfrm>
              <a:off x="2208" y="3589"/>
              <a:ext cx="336" cy="245"/>
            </a:xfrm>
            <a:custGeom>
              <a:avLst/>
              <a:gdLst>
                <a:gd name="T0" fmla="*/ 0 w 336"/>
                <a:gd name="T1" fmla="*/ 0 h 245"/>
                <a:gd name="T2" fmla="*/ 336 w 336"/>
                <a:gd name="T3" fmla="*/ 245 h 245"/>
              </a:gdLst>
              <a:ahLst/>
              <a:cxnLst>
                <a:cxn ang="0">
                  <a:pos x="T0" y="T1"/>
                </a:cxn>
                <a:cxn ang="0">
                  <a:pos x="T2" y="T3"/>
                </a:cxn>
              </a:cxnLst>
              <a:rect l="0" t="0" r="r" b="b"/>
              <a:pathLst>
                <a:path w="336" h="245">
                  <a:moveTo>
                    <a:pt x="0" y="0"/>
                  </a:moveTo>
                  <a:lnTo>
                    <a:pt x="336" y="245"/>
                  </a:lnTo>
                </a:path>
              </a:pathLst>
            </a:custGeom>
            <a:noFill/>
            <a:ln w="19050" cmpd="sng">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30" name="Freeform 22"/>
            <p:cNvSpPr>
              <a:spLocks/>
            </p:cNvSpPr>
            <p:nvPr/>
          </p:nvSpPr>
          <p:spPr bwMode="auto">
            <a:xfrm>
              <a:off x="624" y="3552"/>
              <a:ext cx="303" cy="169"/>
            </a:xfrm>
            <a:custGeom>
              <a:avLst/>
              <a:gdLst>
                <a:gd name="T0" fmla="*/ 0 w 303"/>
                <a:gd name="T1" fmla="*/ 169 h 169"/>
                <a:gd name="T2" fmla="*/ 303 w 303"/>
                <a:gd name="T3" fmla="*/ 0 h 169"/>
              </a:gdLst>
              <a:ahLst/>
              <a:cxnLst>
                <a:cxn ang="0">
                  <a:pos x="T0" y="T1"/>
                </a:cxn>
                <a:cxn ang="0">
                  <a:pos x="T2" y="T3"/>
                </a:cxn>
              </a:cxnLst>
              <a:rect l="0" t="0" r="r" b="b"/>
              <a:pathLst>
                <a:path w="303" h="169">
                  <a:moveTo>
                    <a:pt x="0" y="169"/>
                  </a:moveTo>
                  <a:lnTo>
                    <a:pt x="303" y="0"/>
                  </a:lnTo>
                </a:path>
              </a:pathLst>
            </a:custGeom>
            <a:noFill/>
            <a:ln w="19050" cmpd="sng">
              <a:solidFill>
                <a:schemeClr val="tx1"/>
              </a:solidFill>
              <a:round/>
              <a:headE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31" name="Freeform 23"/>
            <p:cNvSpPr>
              <a:spLocks/>
            </p:cNvSpPr>
            <p:nvPr/>
          </p:nvSpPr>
          <p:spPr bwMode="auto">
            <a:xfrm>
              <a:off x="2332" y="3555"/>
              <a:ext cx="296" cy="195"/>
            </a:xfrm>
            <a:custGeom>
              <a:avLst/>
              <a:gdLst>
                <a:gd name="T0" fmla="*/ 296 w 296"/>
                <a:gd name="T1" fmla="*/ 195 h 195"/>
                <a:gd name="T2" fmla="*/ 0 w 296"/>
                <a:gd name="T3" fmla="*/ 0 h 195"/>
              </a:gdLst>
              <a:ahLst/>
              <a:cxnLst>
                <a:cxn ang="0">
                  <a:pos x="T0" y="T1"/>
                </a:cxn>
                <a:cxn ang="0">
                  <a:pos x="T2" y="T3"/>
                </a:cxn>
              </a:cxnLst>
              <a:rect l="0" t="0" r="r" b="b"/>
              <a:pathLst>
                <a:path w="296" h="195">
                  <a:moveTo>
                    <a:pt x="296" y="195"/>
                  </a:moveTo>
                  <a:lnTo>
                    <a:pt x="0" y="0"/>
                  </a:lnTo>
                </a:path>
              </a:pathLst>
            </a:custGeom>
            <a:noFill/>
            <a:ln w="19050" cmpd="sng">
              <a:solidFill>
                <a:schemeClr val="tx1"/>
              </a:solidFill>
              <a:round/>
              <a:headEn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32" name="Text Box 24"/>
            <p:cNvSpPr txBox="1">
              <a:spLocks noChangeArrowheads="1"/>
            </p:cNvSpPr>
            <p:nvPr/>
          </p:nvSpPr>
          <p:spPr bwMode="auto">
            <a:xfrm>
              <a:off x="1632" y="244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1</a:t>
              </a:r>
            </a:p>
          </p:txBody>
        </p:sp>
        <p:sp>
          <p:nvSpPr>
            <p:cNvPr id="247833" name="Text Box 25"/>
            <p:cNvSpPr txBox="1">
              <a:spLocks noChangeArrowheads="1"/>
            </p:cNvSpPr>
            <p:nvPr/>
          </p:nvSpPr>
          <p:spPr bwMode="auto">
            <a:xfrm>
              <a:off x="912" y="364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2</a:t>
              </a:r>
            </a:p>
          </p:txBody>
        </p:sp>
        <p:sp>
          <p:nvSpPr>
            <p:cNvPr id="247834" name="Text Box 26"/>
            <p:cNvSpPr txBox="1">
              <a:spLocks noChangeArrowheads="1"/>
            </p:cNvSpPr>
            <p:nvPr/>
          </p:nvSpPr>
          <p:spPr bwMode="auto">
            <a:xfrm>
              <a:off x="2064" y="36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3</a:t>
              </a:r>
            </a:p>
          </p:txBody>
        </p:sp>
        <p:sp>
          <p:nvSpPr>
            <p:cNvPr id="247835" name="Text Box 27"/>
            <p:cNvSpPr txBox="1">
              <a:spLocks noChangeArrowheads="1"/>
            </p:cNvSpPr>
            <p:nvPr/>
          </p:nvSpPr>
          <p:spPr bwMode="auto">
            <a:xfrm>
              <a:off x="1104" y="220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36" name="Text Box 28"/>
            <p:cNvSpPr txBox="1">
              <a:spLocks noChangeArrowheads="1"/>
            </p:cNvSpPr>
            <p:nvPr/>
          </p:nvSpPr>
          <p:spPr bwMode="auto">
            <a:xfrm>
              <a:off x="672" y="379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37" name="Text Box 29"/>
            <p:cNvSpPr txBox="1">
              <a:spLocks noChangeArrowheads="1"/>
            </p:cNvSpPr>
            <p:nvPr/>
          </p:nvSpPr>
          <p:spPr bwMode="auto">
            <a:xfrm>
              <a:off x="2688" y="345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38" name="Text Box 30"/>
            <p:cNvSpPr txBox="1">
              <a:spLocks noChangeArrowheads="1"/>
            </p:cNvSpPr>
            <p:nvPr/>
          </p:nvSpPr>
          <p:spPr bwMode="auto">
            <a:xfrm>
              <a:off x="1728" y="220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39" name="Text Box 31"/>
            <p:cNvSpPr txBox="1">
              <a:spLocks noChangeArrowheads="1"/>
            </p:cNvSpPr>
            <p:nvPr/>
          </p:nvSpPr>
          <p:spPr bwMode="auto">
            <a:xfrm>
              <a:off x="336" y="340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40" name="Text Box 32"/>
            <p:cNvSpPr txBox="1">
              <a:spLocks noChangeArrowheads="1"/>
            </p:cNvSpPr>
            <p:nvPr/>
          </p:nvSpPr>
          <p:spPr bwMode="auto">
            <a:xfrm>
              <a:off x="2256" y="379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41" name="Text Box 33"/>
            <p:cNvSpPr txBox="1">
              <a:spLocks noChangeArrowheads="1"/>
            </p:cNvSpPr>
            <p:nvPr/>
          </p:nvSpPr>
          <p:spPr bwMode="auto">
            <a:xfrm>
              <a:off x="480" y="273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12</a:t>
              </a:r>
              <a:r>
                <a:rPr lang="en-US" altLang="zh-CN" sz="2000" baseline="-25000">
                  <a:solidFill>
                    <a:srgbClr val="FF0000"/>
                  </a:solidFill>
                  <a:sym typeface="Symbol" pitchFamily="18" charset="2"/>
                </a:rPr>
                <a:t></a:t>
              </a:r>
              <a:endParaRPr lang="en-US" altLang="zh-CN" sz="2000" i="1">
                <a:solidFill>
                  <a:srgbClr val="FF0000"/>
                </a:solidFill>
              </a:endParaRPr>
            </a:p>
          </p:txBody>
        </p:sp>
        <p:sp>
          <p:nvSpPr>
            <p:cNvPr id="247842" name="Text Box 34"/>
            <p:cNvSpPr txBox="1">
              <a:spLocks noChangeArrowheads="1"/>
            </p:cNvSpPr>
            <p:nvPr/>
          </p:nvSpPr>
          <p:spPr bwMode="auto">
            <a:xfrm>
              <a:off x="1392" y="388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23</a:t>
              </a:r>
              <a:r>
                <a:rPr lang="en-US" altLang="zh-CN" sz="2000" baseline="-25000">
                  <a:solidFill>
                    <a:srgbClr val="FF0000"/>
                  </a:solidFill>
                  <a:sym typeface="Symbol" pitchFamily="18" charset="2"/>
                </a:rPr>
                <a:t></a:t>
              </a:r>
              <a:endParaRPr lang="en-US" altLang="zh-CN" sz="2000" i="1">
                <a:solidFill>
                  <a:srgbClr val="FF0000"/>
                </a:solidFill>
              </a:endParaRPr>
            </a:p>
          </p:txBody>
        </p:sp>
        <p:sp>
          <p:nvSpPr>
            <p:cNvPr id="247843" name="Text Box 35"/>
            <p:cNvSpPr txBox="1">
              <a:spLocks noChangeArrowheads="1"/>
            </p:cNvSpPr>
            <p:nvPr/>
          </p:nvSpPr>
          <p:spPr bwMode="auto">
            <a:xfrm>
              <a:off x="2160" y="2688"/>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31</a:t>
              </a:r>
              <a:r>
                <a:rPr lang="en-US" altLang="zh-CN" sz="2000" baseline="-25000">
                  <a:solidFill>
                    <a:srgbClr val="FF0000"/>
                  </a:solidFill>
                  <a:sym typeface="Symbol" pitchFamily="18" charset="2"/>
                </a:rPr>
                <a:t></a:t>
              </a:r>
              <a:endParaRPr lang="en-US" altLang="zh-CN" sz="2000" i="1">
                <a:solidFill>
                  <a:srgbClr val="FF0000"/>
                </a:solidFill>
              </a:endParaRPr>
            </a:p>
          </p:txBody>
        </p:sp>
      </p:grpSp>
      <p:grpSp>
        <p:nvGrpSpPr>
          <p:cNvPr id="247844" name="Group 36"/>
          <p:cNvGrpSpPr>
            <a:grpSpLocks/>
          </p:cNvGrpSpPr>
          <p:nvPr/>
        </p:nvGrpSpPr>
        <p:grpSpPr bwMode="auto">
          <a:xfrm>
            <a:off x="4724400" y="381000"/>
            <a:ext cx="3962400" cy="2835275"/>
            <a:chOff x="3168" y="2160"/>
            <a:chExt cx="2496" cy="1786"/>
          </a:xfrm>
        </p:grpSpPr>
        <p:sp>
          <p:nvSpPr>
            <p:cNvPr id="247845" name="Line 37"/>
            <p:cNvSpPr>
              <a:spLocks noChangeShapeType="1"/>
            </p:cNvSpPr>
            <p:nvPr/>
          </p:nvSpPr>
          <p:spPr bwMode="auto">
            <a:xfrm>
              <a:off x="4368" y="2256"/>
              <a:ext cx="0" cy="864"/>
            </a:xfrm>
            <a:prstGeom prst="line">
              <a:avLst/>
            </a:prstGeom>
            <a:noFill/>
            <a:ln w="1905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46" name="Line 38"/>
            <p:cNvSpPr>
              <a:spLocks noChangeShapeType="1"/>
            </p:cNvSpPr>
            <p:nvPr/>
          </p:nvSpPr>
          <p:spPr bwMode="auto">
            <a:xfrm flipH="1">
              <a:off x="3552" y="3120"/>
              <a:ext cx="816" cy="6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47" name="Line 39"/>
            <p:cNvSpPr>
              <a:spLocks noChangeShapeType="1"/>
            </p:cNvSpPr>
            <p:nvPr/>
          </p:nvSpPr>
          <p:spPr bwMode="auto">
            <a:xfrm>
              <a:off x="4368" y="3120"/>
              <a:ext cx="864" cy="57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48" name="Rectangle 40"/>
            <p:cNvSpPr>
              <a:spLocks noChangeArrowheads="1"/>
            </p:cNvSpPr>
            <p:nvPr/>
          </p:nvSpPr>
          <p:spPr bwMode="auto">
            <a:xfrm rot="3373426">
              <a:off x="3972" y="3252"/>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7849" name="Rectangle 41"/>
            <p:cNvSpPr>
              <a:spLocks noChangeArrowheads="1"/>
            </p:cNvSpPr>
            <p:nvPr/>
          </p:nvSpPr>
          <p:spPr bwMode="auto">
            <a:xfrm rot="-3340663">
              <a:off x="4668" y="3216"/>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7850" name="Rectangle 42"/>
            <p:cNvSpPr>
              <a:spLocks noChangeArrowheads="1"/>
            </p:cNvSpPr>
            <p:nvPr/>
          </p:nvSpPr>
          <p:spPr bwMode="auto">
            <a:xfrm>
              <a:off x="4308" y="2640"/>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7851" name="Text Box 43"/>
            <p:cNvSpPr txBox="1">
              <a:spLocks noChangeArrowheads="1"/>
            </p:cNvSpPr>
            <p:nvPr/>
          </p:nvSpPr>
          <p:spPr bwMode="auto">
            <a:xfrm>
              <a:off x="4416" y="2640"/>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baseline="-25000"/>
                <a:t>1</a:t>
              </a:r>
              <a:endParaRPr lang="en-US" altLang="zh-CN" sz="2000" i="1"/>
            </a:p>
          </p:txBody>
        </p:sp>
        <p:sp>
          <p:nvSpPr>
            <p:cNvPr id="247852" name="Text Box 44"/>
            <p:cNvSpPr txBox="1">
              <a:spLocks noChangeArrowheads="1"/>
            </p:cNvSpPr>
            <p:nvPr/>
          </p:nvSpPr>
          <p:spPr bwMode="auto">
            <a:xfrm>
              <a:off x="3753" y="3092"/>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dirty="0"/>
                <a:t>R</a:t>
              </a:r>
              <a:r>
                <a:rPr lang="en-US" altLang="zh-CN" sz="2000" baseline="-25000" dirty="0"/>
                <a:t>2</a:t>
              </a:r>
              <a:endParaRPr lang="en-US" altLang="zh-CN" sz="2000" i="1" dirty="0"/>
            </a:p>
          </p:txBody>
        </p:sp>
        <p:sp>
          <p:nvSpPr>
            <p:cNvPr id="247853" name="Text Box 45"/>
            <p:cNvSpPr txBox="1">
              <a:spLocks noChangeArrowheads="1"/>
            </p:cNvSpPr>
            <p:nvPr/>
          </p:nvSpPr>
          <p:spPr bwMode="auto">
            <a:xfrm>
              <a:off x="4704" y="3072"/>
              <a:ext cx="3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R</a:t>
              </a:r>
              <a:r>
                <a:rPr lang="en-US" altLang="zh-CN" sz="2000" baseline="-25000"/>
                <a:t>3</a:t>
              </a:r>
              <a:endParaRPr lang="en-US" altLang="zh-CN" sz="2000" i="1"/>
            </a:p>
          </p:txBody>
        </p:sp>
        <p:sp>
          <p:nvSpPr>
            <p:cNvPr id="247854" name="Text Box 46"/>
            <p:cNvSpPr txBox="1">
              <a:spLocks noChangeArrowheads="1"/>
            </p:cNvSpPr>
            <p:nvPr/>
          </p:nvSpPr>
          <p:spPr bwMode="auto">
            <a:xfrm>
              <a:off x="3936" y="2160"/>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1Y</a:t>
              </a:r>
              <a:endParaRPr lang="en-US" altLang="zh-CN" sz="2000"/>
            </a:p>
          </p:txBody>
        </p:sp>
        <p:sp>
          <p:nvSpPr>
            <p:cNvPr id="247855" name="Text Box 47"/>
            <p:cNvSpPr txBox="1">
              <a:spLocks noChangeArrowheads="1"/>
            </p:cNvSpPr>
            <p:nvPr/>
          </p:nvSpPr>
          <p:spPr bwMode="auto">
            <a:xfrm>
              <a:off x="3360" y="3216"/>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2Y</a:t>
              </a:r>
              <a:endParaRPr lang="en-US" altLang="zh-CN" sz="2000" i="1"/>
            </a:p>
          </p:txBody>
        </p:sp>
        <p:sp>
          <p:nvSpPr>
            <p:cNvPr id="247856" name="Text Box 48"/>
            <p:cNvSpPr txBox="1">
              <a:spLocks noChangeArrowheads="1"/>
            </p:cNvSpPr>
            <p:nvPr/>
          </p:nvSpPr>
          <p:spPr bwMode="auto">
            <a:xfrm>
              <a:off x="5136" y="326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t>i</a:t>
              </a:r>
              <a:r>
                <a:rPr lang="en-US" altLang="zh-CN" sz="2000" baseline="-25000"/>
                <a:t>3Y</a:t>
              </a:r>
              <a:endParaRPr lang="en-US" altLang="zh-CN" sz="2000"/>
            </a:p>
          </p:txBody>
        </p:sp>
        <p:sp>
          <p:nvSpPr>
            <p:cNvPr id="247857" name="Line 49"/>
            <p:cNvSpPr>
              <a:spLocks noChangeShapeType="1"/>
            </p:cNvSpPr>
            <p:nvPr/>
          </p:nvSpPr>
          <p:spPr bwMode="auto">
            <a:xfrm>
              <a:off x="4272" y="2256"/>
              <a:ext cx="0"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58" name="Line 50"/>
            <p:cNvSpPr>
              <a:spLocks noChangeShapeType="1"/>
            </p:cNvSpPr>
            <p:nvPr/>
          </p:nvSpPr>
          <p:spPr bwMode="auto">
            <a:xfrm rot="-7751596">
              <a:off x="3623" y="3385"/>
              <a:ext cx="1"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59" name="Line 51"/>
            <p:cNvSpPr>
              <a:spLocks noChangeShapeType="1"/>
            </p:cNvSpPr>
            <p:nvPr/>
          </p:nvSpPr>
          <p:spPr bwMode="auto">
            <a:xfrm rot="-14240785">
              <a:off x="5111" y="3337"/>
              <a:ext cx="1" cy="33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60" name="Oval 52"/>
            <p:cNvSpPr>
              <a:spLocks noChangeArrowheads="1"/>
            </p:cNvSpPr>
            <p:nvPr/>
          </p:nvSpPr>
          <p:spPr bwMode="auto">
            <a:xfrm>
              <a:off x="3648" y="3628"/>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61" name="Oval 53"/>
            <p:cNvSpPr>
              <a:spLocks noChangeArrowheads="1"/>
            </p:cNvSpPr>
            <p:nvPr/>
          </p:nvSpPr>
          <p:spPr bwMode="auto">
            <a:xfrm>
              <a:off x="4335" y="2304"/>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62" name="Oval 54"/>
            <p:cNvSpPr>
              <a:spLocks noChangeArrowheads="1"/>
            </p:cNvSpPr>
            <p:nvPr/>
          </p:nvSpPr>
          <p:spPr bwMode="auto">
            <a:xfrm>
              <a:off x="5040" y="3552"/>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63" name="Text Box 55"/>
            <p:cNvSpPr txBox="1">
              <a:spLocks noChangeArrowheads="1"/>
            </p:cNvSpPr>
            <p:nvPr/>
          </p:nvSpPr>
          <p:spPr bwMode="auto">
            <a:xfrm>
              <a:off x="4416" y="220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1</a:t>
              </a:r>
            </a:p>
          </p:txBody>
        </p:sp>
        <p:sp>
          <p:nvSpPr>
            <p:cNvPr id="247864" name="Text Box 56"/>
            <p:cNvSpPr txBox="1">
              <a:spLocks noChangeArrowheads="1"/>
            </p:cNvSpPr>
            <p:nvPr/>
          </p:nvSpPr>
          <p:spPr bwMode="auto">
            <a:xfrm>
              <a:off x="3744" y="355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2</a:t>
              </a:r>
            </a:p>
          </p:txBody>
        </p:sp>
        <p:sp>
          <p:nvSpPr>
            <p:cNvPr id="247865" name="Text Box 57"/>
            <p:cNvSpPr txBox="1">
              <a:spLocks noChangeArrowheads="1"/>
            </p:cNvSpPr>
            <p:nvPr/>
          </p:nvSpPr>
          <p:spPr bwMode="auto">
            <a:xfrm>
              <a:off x="4848" y="3552"/>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0"/>
                <a:t>3</a:t>
              </a:r>
            </a:p>
          </p:txBody>
        </p:sp>
        <p:sp>
          <p:nvSpPr>
            <p:cNvPr id="247866" name="Text Box 58"/>
            <p:cNvSpPr txBox="1">
              <a:spLocks noChangeArrowheads="1"/>
            </p:cNvSpPr>
            <p:nvPr/>
          </p:nvSpPr>
          <p:spPr bwMode="auto">
            <a:xfrm>
              <a:off x="3792" y="225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67" name="Text Box 59"/>
            <p:cNvSpPr txBox="1">
              <a:spLocks noChangeArrowheads="1"/>
            </p:cNvSpPr>
            <p:nvPr/>
          </p:nvSpPr>
          <p:spPr bwMode="auto">
            <a:xfrm>
              <a:off x="3600" y="369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68" name="Text Box 60"/>
            <p:cNvSpPr txBox="1">
              <a:spLocks noChangeArrowheads="1"/>
            </p:cNvSpPr>
            <p:nvPr/>
          </p:nvSpPr>
          <p:spPr bwMode="auto">
            <a:xfrm>
              <a:off x="5424" y="336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69" name="Text Box 61"/>
            <p:cNvSpPr txBox="1">
              <a:spLocks noChangeArrowheads="1"/>
            </p:cNvSpPr>
            <p:nvPr/>
          </p:nvSpPr>
          <p:spPr bwMode="auto">
            <a:xfrm>
              <a:off x="3168" y="336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70" name="Text Box 62"/>
            <p:cNvSpPr txBox="1">
              <a:spLocks noChangeArrowheads="1"/>
            </p:cNvSpPr>
            <p:nvPr/>
          </p:nvSpPr>
          <p:spPr bwMode="auto">
            <a:xfrm>
              <a:off x="4992" y="36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71" name="Text Box 63"/>
            <p:cNvSpPr txBox="1">
              <a:spLocks noChangeArrowheads="1"/>
            </p:cNvSpPr>
            <p:nvPr/>
          </p:nvSpPr>
          <p:spPr bwMode="auto">
            <a:xfrm>
              <a:off x="4560" y="225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a:t>
              </a:r>
              <a:endParaRPr lang="en-US" altLang="zh-CN" sz="2000" b="0"/>
            </a:p>
          </p:txBody>
        </p:sp>
        <p:sp>
          <p:nvSpPr>
            <p:cNvPr id="247872" name="Text Box 64"/>
            <p:cNvSpPr txBox="1">
              <a:spLocks noChangeArrowheads="1"/>
            </p:cNvSpPr>
            <p:nvPr/>
          </p:nvSpPr>
          <p:spPr bwMode="auto">
            <a:xfrm>
              <a:off x="3312" y="273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12Y</a:t>
              </a:r>
              <a:endParaRPr lang="en-US" altLang="zh-CN" sz="2000" i="1">
                <a:solidFill>
                  <a:srgbClr val="FF0000"/>
                </a:solidFill>
              </a:endParaRPr>
            </a:p>
          </p:txBody>
        </p:sp>
        <p:sp>
          <p:nvSpPr>
            <p:cNvPr id="247873" name="Text Box 65"/>
            <p:cNvSpPr txBox="1">
              <a:spLocks noChangeArrowheads="1"/>
            </p:cNvSpPr>
            <p:nvPr/>
          </p:nvSpPr>
          <p:spPr bwMode="auto">
            <a:xfrm>
              <a:off x="4224" y="369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23Y</a:t>
              </a:r>
              <a:endParaRPr lang="en-US" altLang="zh-CN" sz="2000" i="1">
                <a:solidFill>
                  <a:srgbClr val="FF0000"/>
                </a:solidFill>
              </a:endParaRPr>
            </a:p>
          </p:txBody>
        </p:sp>
        <p:sp>
          <p:nvSpPr>
            <p:cNvPr id="247874" name="Text Box 66"/>
            <p:cNvSpPr txBox="1">
              <a:spLocks noChangeArrowheads="1"/>
            </p:cNvSpPr>
            <p:nvPr/>
          </p:nvSpPr>
          <p:spPr bwMode="auto">
            <a:xfrm>
              <a:off x="4944" y="2784"/>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i="1">
                  <a:solidFill>
                    <a:srgbClr val="FF0000"/>
                  </a:solidFill>
                </a:rPr>
                <a:t>v</a:t>
              </a:r>
              <a:r>
                <a:rPr lang="en-US" altLang="zh-CN" sz="2000" baseline="-25000">
                  <a:solidFill>
                    <a:srgbClr val="FF0000"/>
                  </a:solidFill>
                </a:rPr>
                <a:t>31Y</a:t>
              </a:r>
              <a:endParaRPr lang="en-US" altLang="zh-CN" sz="2000" i="1">
                <a:solidFill>
                  <a:srgbClr val="FF0000"/>
                </a:solidFill>
              </a:endParaRPr>
            </a:p>
          </p:txBody>
        </p:sp>
      </p:grpSp>
      <p:grpSp>
        <p:nvGrpSpPr>
          <p:cNvPr id="247875" name="Group 67"/>
          <p:cNvGrpSpPr>
            <a:grpSpLocks/>
          </p:cNvGrpSpPr>
          <p:nvPr/>
        </p:nvGrpSpPr>
        <p:grpSpPr bwMode="auto">
          <a:xfrm>
            <a:off x="533400" y="3676650"/>
            <a:ext cx="4038600" cy="2552700"/>
            <a:chOff x="336" y="2304"/>
            <a:chExt cx="2544" cy="1608"/>
          </a:xfrm>
        </p:grpSpPr>
        <p:sp>
          <p:nvSpPr>
            <p:cNvPr id="247876" name="Text Box 68"/>
            <p:cNvSpPr txBox="1">
              <a:spLocks noChangeArrowheads="1"/>
            </p:cNvSpPr>
            <p:nvPr/>
          </p:nvSpPr>
          <p:spPr bwMode="auto">
            <a:xfrm>
              <a:off x="336" y="2304"/>
              <a:ext cx="21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ym typeface="Symbol" pitchFamily="18" charset="2"/>
                </a:rPr>
                <a:t></a:t>
              </a:r>
              <a:r>
                <a:rPr lang="zh-CN" altLang="en-US"/>
                <a:t>接</a:t>
              </a:r>
              <a:r>
                <a:rPr lang="en-US" altLang="zh-CN"/>
                <a:t>: </a:t>
              </a:r>
              <a:r>
                <a:rPr lang="zh-CN" altLang="en-US"/>
                <a:t>用电压表示电流</a:t>
              </a:r>
            </a:p>
          </p:txBody>
        </p:sp>
        <p:sp>
          <p:nvSpPr>
            <p:cNvPr id="247877" name="Rectangle 69"/>
            <p:cNvSpPr>
              <a:spLocks noChangeArrowheads="1"/>
            </p:cNvSpPr>
            <p:nvPr/>
          </p:nvSpPr>
          <p:spPr bwMode="auto">
            <a:xfrm>
              <a:off x="384" y="3360"/>
              <a:ext cx="2096"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70000"/>
                </a:lnSpc>
                <a:spcBef>
                  <a:spcPct val="50000"/>
                </a:spcBef>
              </a:pPr>
              <a:r>
                <a:rPr lang="en-US" altLang="zh-CN" i="1"/>
                <a:t>i</a:t>
              </a:r>
              <a:r>
                <a:rPr lang="en-US" altLang="zh-CN" baseline="-25000"/>
                <a:t>3</a:t>
              </a:r>
              <a:r>
                <a:rPr lang="en-US" altLang="zh-CN" baseline="-25000">
                  <a:sym typeface="Symbol" pitchFamily="18" charset="2"/>
                </a:rPr>
                <a:t></a:t>
              </a:r>
              <a:r>
                <a:rPr lang="en-US" altLang="zh-CN" baseline="-25000"/>
                <a:t> </a:t>
              </a:r>
              <a:r>
                <a:rPr lang="en-US" altLang="zh-CN" i="1"/>
                <a:t>=v</a:t>
              </a:r>
              <a:r>
                <a:rPr lang="en-US" altLang="zh-CN" baseline="-25000"/>
                <a:t>31</a:t>
              </a:r>
              <a:r>
                <a:rPr lang="en-US" altLang="zh-CN" baseline="-25000">
                  <a:sym typeface="Symbol" pitchFamily="18" charset="2"/>
                </a:rPr>
                <a:t></a:t>
              </a:r>
              <a:r>
                <a:rPr lang="en-US" altLang="zh-CN" baseline="-25000"/>
                <a:t>  </a:t>
              </a:r>
              <a:r>
                <a:rPr lang="en-US" altLang="zh-CN" i="1"/>
                <a:t>/R</a:t>
              </a:r>
              <a:r>
                <a:rPr lang="en-US" altLang="zh-CN" baseline="-25000"/>
                <a:t>31 </a:t>
              </a:r>
              <a:r>
                <a:rPr lang="en-US" altLang="zh-CN" i="1"/>
                <a:t>– v</a:t>
              </a:r>
              <a:r>
                <a:rPr lang="en-US" altLang="zh-CN" baseline="-25000"/>
                <a:t>23</a:t>
              </a:r>
              <a:r>
                <a:rPr lang="en-US" altLang="zh-CN" baseline="-25000">
                  <a:sym typeface="Symbol" pitchFamily="18" charset="2"/>
                </a:rPr>
                <a:t></a:t>
              </a:r>
              <a:r>
                <a:rPr lang="en-US" altLang="zh-CN" baseline="-25000"/>
                <a:t>  </a:t>
              </a:r>
              <a:r>
                <a:rPr lang="en-US" altLang="zh-CN" i="1"/>
                <a:t>/R</a:t>
              </a:r>
              <a:r>
                <a:rPr lang="en-US" altLang="zh-CN" baseline="-25000"/>
                <a:t>23</a:t>
              </a:r>
            </a:p>
          </p:txBody>
        </p:sp>
        <p:sp>
          <p:nvSpPr>
            <p:cNvPr id="247878" name="Rectangle 70"/>
            <p:cNvSpPr>
              <a:spLocks noChangeArrowheads="1"/>
            </p:cNvSpPr>
            <p:nvPr/>
          </p:nvSpPr>
          <p:spPr bwMode="auto">
            <a:xfrm>
              <a:off x="384" y="2978"/>
              <a:ext cx="195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t>i</a:t>
              </a:r>
              <a:r>
                <a:rPr lang="en-US" altLang="zh-CN" baseline="-25000"/>
                <a:t>2</a:t>
              </a:r>
              <a:r>
                <a:rPr lang="en-US" altLang="zh-CN" baseline="-25000">
                  <a:sym typeface="Symbol" pitchFamily="18" charset="2"/>
                </a:rPr>
                <a:t></a:t>
              </a:r>
              <a:r>
                <a:rPr lang="en-US" altLang="zh-CN" baseline="-25000"/>
                <a:t> </a:t>
              </a:r>
              <a:r>
                <a:rPr lang="en-US" altLang="zh-CN" i="1"/>
                <a:t>=v</a:t>
              </a:r>
              <a:r>
                <a:rPr lang="en-US" altLang="zh-CN" baseline="-25000"/>
                <a:t>23</a:t>
              </a:r>
              <a:r>
                <a:rPr lang="en-US" altLang="zh-CN" baseline="-25000">
                  <a:sym typeface="Symbol" pitchFamily="18" charset="2"/>
                </a:rPr>
                <a:t></a:t>
              </a:r>
              <a:r>
                <a:rPr lang="en-US" altLang="zh-CN" baseline="-25000"/>
                <a:t>  </a:t>
              </a:r>
              <a:r>
                <a:rPr lang="en-US" altLang="zh-CN" i="1"/>
                <a:t>/R</a:t>
              </a:r>
              <a:r>
                <a:rPr lang="en-US" altLang="zh-CN" baseline="-25000"/>
                <a:t>23 </a:t>
              </a:r>
              <a:r>
                <a:rPr lang="en-US" altLang="zh-CN" i="1"/>
                <a:t>– v</a:t>
              </a:r>
              <a:r>
                <a:rPr lang="en-US" altLang="zh-CN" baseline="-25000"/>
                <a:t>12</a:t>
              </a:r>
              <a:r>
                <a:rPr lang="en-US" altLang="zh-CN" baseline="-25000">
                  <a:sym typeface="Symbol" pitchFamily="18" charset="2"/>
                </a:rPr>
                <a:t></a:t>
              </a:r>
              <a:r>
                <a:rPr lang="en-US" altLang="zh-CN" baseline="-25000"/>
                <a:t>  </a:t>
              </a:r>
              <a:r>
                <a:rPr lang="en-US" altLang="zh-CN" i="1"/>
                <a:t>/R</a:t>
              </a:r>
              <a:r>
                <a:rPr lang="en-US" altLang="zh-CN" baseline="-25000"/>
                <a:t>12</a:t>
              </a:r>
            </a:p>
          </p:txBody>
        </p:sp>
        <p:sp>
          <p:nvSpPr>
            <p:cNvPr id="247879" name="Text Box 71"/>
            <p:cNvSpPr txBox="1">
              <a:spLocks noChangeArrowheads="1"/>
            </p:cNvSpPr>
            <p:nvPr/>
          </p:nvSpPr>
          <p:spPr bwMode="auto">
            <a:xfrm>
              <a:off x="384" y="2640"/>
              <a:ext cx="21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r>
                <a:rPr lang="en-US" altLang="zh-CN" baseline="-25000"/>
                <a:t>1</a:t>
              </a:r>
              <a:r>
                <a:rPr lang="en-US" altLang="zh-CN" baseline="-25000">
                  <a:sym typeface="Symbol" pitchFamily="18" charset="2"/>
                </a:rPr>
                <a:t></a:t>
              </a:r>
              <a:r>
                <a:rPr lang="en-US" altLang="zh-CN" i="1"/>
                <a:t> =v</a:t>
              </a:r>
              <a:r>
                <a:rPr lang="en-US" altLang="zh-CN" baseline="-25000"/>
                <a:t>12</a:t>
              </a:r>
              <a:r>
                <a:rPr lang="en-US" altLang="zh-CN" baseline="-25000">
                  <a:sym typeface="Symbol" pitchFamily="18" charset="2"/>
                </a:rPr>
                <a:t> </a:t>
              </a:r>
              <a:r>
                <a:rPr lang="en-US" altLang="zh-CN" i="1"/>
                <a:t>/R</a:t>
              </a:r>
              <a:r>
                <a:rPr lang="en-US" altLang="zh-CN" baseline="-25000"/>
                <a:t>12 </a:t>
              </a:r>
              <a:r>
                <a:rPr lang="en-US" altLang="zh-CN" i="1"/>
                <a:t>– v</a:t>
              </a:r>
              <a:r>
                <a:rPr lang="en-US" altLang="zh-CN" baseline="-25000"/>
                <a:t>31</a:t>
              </a:r>
              <a:r>
                <a:rPr lang="en-US" altLang="zh-CN" baseline="-25000">
                  <a:sym typeface="Symbol" pitchFamily="18" charset="2"/>
                </a:rPr>
                <a:t> </a:t>
              </a:r>
              <a:r>
                <a:rPr lang="en-US" altLang="zh-CN" i="1"/>
                <a:t>/R</a:t>
              </a:r>
              <a:r>
                <a:rPr lang="en-US" altLang="zh-CN" baseline="-25000"/>
                <a:t>31</a:t>
              </a:r>
            </a:p>
          </p:txBody>
        </p:sp>
        <p:sp>
          <p:nvSpPr>
            <p:cNvPr id="247880" name="AutoShape 72"/>
            <p:cNvSpPr>
              <a:spLocks/>
            </p:cNvSpPr>
            <p:nvPr/>
          </p:nvSpPr>
          <p:spPr bwMode="auto">
            <a:xfrm>
              <a:off x="2352" y="2688"/>
              <a:ext cx="144" cy="1224"/>
            </a:xfrm>
            <a:prstGeom prst="rightBrace">
              <a:avLst>
                <a:gd name="adj1" fmla="val 7083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50000"/>
                </a:spcBef>
              </a:pPr>
              <a:endParaRPr lang="zh-CN" altLang="zh-CN"/>
            </a:p>
          </p:txBody>
        </p:sp>
        <p:sp>
          <p:nvSpPr>
            <p:cNvPr id="247881" name="Text Box 73"/>
            <p:cNvSpPr txBox="1">
              <a:spLocks noChangeArrowheads="1"/>
            </p:cNvSpPr>
            <p:nvPr/>
          </p:nvSpPr>
          <p:spPr bwMode="auto">
            <a:xfrm>
              <a:off x="2496" y="297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rPr>
                <a:t>(1)</a:t>
              </a:r>
              <a:endParaRPr lang="en-US" altLang="zh-CN"/>
            </a:p>
          </p:txBody>
        </p:sp>
        <p:sp>
          <p:nvSpPr>
            <p:cNvPr id="247882" name="Rectangle 74"/>
            <p:cNvSpPr>
              <a:spLocks noChangeArrowheads="1"/>
            </p:cNvSpPr>
            <p:nvPr/>
          </p:nvSpPr>
          <p:spPr bwMode="auto">
            <a:xfrm>
              <a:off x="421" y="3624"/>
              <a:ext cx="13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i="1"/>
                <a:t>i</a:t>
              </a:r>
              <a:r>
                <a:rPr lang="en-US" altLang="zh-CN" baseline="-25000"/>
                <a:t>1 </a:t>
              </a:r>
              <a:r>
                <a:rPr lang="en-US" altLang="zh-CN" baseline="-25000">
                  <a:sym typeface="Symbol" pitchFamily="18" charset="2"/>
                </a:rPr>
                <a:t></a:t>
              </a:r>
              <a:r>
                <a:rPr lang="en-US" altLang="zh-CN" baseline="-25000"/>
                <a:t> </a:t>
              </a:r>
              <a:r>
                <a:rPr lang="en-US" altLang="zh-CN" i="1"/>
                <a:t>+i</a:t>
              </a:r>
              <a:r>
                <a:rPr lang="en-US" altLang="zh-CN" baseline="-25000"/>
                <a:t>2 </a:t>
              </a:r>
              <a:r>
                <a:rPr lang="en-US" altLang="zh-CN" baseline="-25000">
                  <a:sym typeface="Symbol" pitchFamily="18" charset="2"/>
                </a:rPr>
                <a:t></a:t>
              </a:r>
              <a:r>
                <a:rPr lang="en-US" altLang="zh-CN" baseline="-25000"/>
                <a:t> </a:t>
              </a:r>
              <a:r>
                <a:rPr lang="en-US" altLang="zh-CN" i="1"/>
                <a:t>+i</a:t>
              </a:r>
              <a:r>
                <a:rPr lang="en-US" altLang="zh-CN" baseline="-25000"/>
                <a:t>3 </a:t>
              </a:r>
              <a:r>
                <a:rPr lang="en-US" altLang="zh-CN" baseline="-25000">
                  <a:sym typeface="Symbol" pitchFamily="18" charset="2"/>
                </a:rPr>
                <a:t></a:t>
              </a:r>
              <a:r>
                <a:rPr lang="en-US" altLang="zh-CN" baseline="-25000"/>
                <a:t> </a:t>
              </a:r>
              <a:r>
                <a:rPr lang="en-US" altLang="zh-CN" i="1"/>
                <a:t>= </a:t>
              </a:r>
              <a:r>
                <a:rPr lang="en-US" altLang="zh-CN"/>
                <a:t>0</a:t>
              </a:r>
            </a:p>
          </p:txBody>
        </p:sp>
      </p:grpSp>
      <p:grpSp>
        <p:nvGrpSpPr>
          <p:cNvPr id="247883" name="Group 75"/>
          <p:cNvGrpSpPr>
            <a:grpSpLocks/>
          </p:cNvGrpSpPr>
          <p:nvPr/>
        </p:nvGrpSpPr>
        <p:grpSpPr bwMode="auto">
          <a:xfrm>
            <a:off x="4937125" y="3695700"/>
            <a:ext cx="3844925" cy="2557463"/>
            <a:chOff x="2954" y="2256"/>
            <a:chExt cx="2422" cy="1611"/>
          </a:xfrm>
        </p:grpSpPr>
        <p:sp>
          <p:nvSpPr>
            <p:cNvPr id="247884" name="Text Box 76"/>
            <p:cNvSpPr txBox="1">
              <a:spLocks noChangeArrowheads="1"/>
            </p:cNvSpPr>
            <p:nvPr/>
          </p:nvSpPr>
          <p:spPr bwMode="auto">
            <a:xfrm>
              <a:off x="2954" y="2256"/>
              <a:ext cx="19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t>Y</a:t>
              </a:r>
              <a:r>
                <a:rPr lang="zh-CN" altLang="en-US"/>
                <a:t>接</a:t>
              </a:r>
              <a:r>
                <a:rPr lang="en-US" altLang="zh-CN"/>
                <a:t>: </a:t>
              </a:r>
              <a:r>
                <a:rPr lang="zh-CN" altLang="en-US"/>
                <a:t>用电流表示电压</a:t>
              </a:r>
            </a:p>
          </p:txBody>
        </p:sp>
        <p:sp>
          <p:nvSpPr>
            <p:cNvPr id="247885" name="Text Box 77"/>
            <p:cNvSpPr txBox="1">
              <a:spLocks noChangeArrowheads="1"/>
            </p:cNvSpPr>
            <p:nvPr/>
          </p:nvSpPr>
          <p:spPr bwMode="auto">
            <a:xfrm>
              <a:off x="3312" y="2592"/>
              <a:ext cx="1632"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70000"/>
                </a:lnSpc>
                <a:spcBef>
                  <a:spcPct val="50000"/>
                </a:spcBef>
              </a:pPr>
              <a:r>
                <a:rPr lang="en-US" altLang="zh-CN" i="1"/>
                <a:t>v</a:t>
              </a:r>
              <a:r>
                <a:rPr lang="en-US" altLang="zh-CN" baseline="-25000"/>
                <a:t>12Y</a:t>
              </a:r>
              <a:r>
                <a:rPr lang="en-US" altLang="zh-CN" i="1"/>
                <a:t>=R</a:t>
              </a:r>
              <a:r>
                <a:rPr lang="en-US" altLang="zh-CN" baseline="-25000"/>
                <a:t>1</a:t>
              </a:r>
              <a:r>
                <a:rPr lang="en-US" altLang="zh-CN" i="1"/>
                <a:t>i</a:t>
              </a:r>
              <a:r>
                <a:rPr lang="en-US" altLang="zh-CN" baseline="-25000"/>
                <a:t>1Y</a:t>
              </a:r>
              <a:r>
                <a:rPr lang="en-US" altLang="zh-CN" i="1"/>
                <a:t>–R</a:t>
              </a:r>
              <a:r>
                <a:rPr lang="en-US" altLang="zh-CN" baseline="-25000"/>
                <a:t>2</a:t>
              </a:r>
              <a:r>
                <a:rPr lang="en-US" altLang="zh-CN" i="1"/>
                <a:t>i</a:t>
              </a:r>
              <a:r>
                <a:rPr lang="en-US" altLang="zh-CN" baseline="-25000"/>
                <a:t>2Y</a:t>
              </a:r>
              <a:r>
                <a:rPr lang="en-US" altLang="zh-CN"/>
                <a:t>     </a:t>
              </a:r>
            </a:p>
          </p:txBody>
        </p:sp>
        <p:sp>
          <p:nvSpPr>
            <p:cNvPr id="247886" name="Rectangle 78"/>
            <p:cNvSpPr>
              <a:spLocks noChangeArrowheads="1"/>
            </p:cNvSpPr>
            <p:nvPr/>
          </p:nvSpPr>
          <p:spPr bwMode="auto">
            <a:xfrm>
              <a:off x="3312" y="3579"/>
              <a:ext cx="12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t>i</a:t>
              </a:r>
              <a:r>
                <a:rPr lang="en-US" altLang="zh-CN" baseline="-25000"/>
                <a:t>1Y</a:t>
              </a:r>
              <a:r>
                <a:rPr lang="en-US" altLang="zh-CN" i="1"/>
                <a:t>+i</a:t>
              </a:r>
              <a:r>
                <a:rPr lang="en-US" altLang="zh-CN" baseline="-25000"/>
                <a:t>2Y</a:t>
              </a:r>
              <a:r>
                <a:rPr lang="en-US" altLang="zh-CN" i="1"/>
                <a:t>+i</a:t>
              </a:r>
              <a:r>
                <a:rPr lang="en-US" altLang="zh-CN" baseline="-25000"/>
                <a:t>3Y </a:t>
              </a:r>
              <a:r>
                <a:rPr lang="en-US" altLang="zh-CN" i="1"/>
                <a:t>= </a:t>
              </a:r>
              <a:r>
                <a:rPr lang="en-US" altLang="zh-CN"/>
                <a:t>0</a:t>
              </a:r>
            </a:p>
          </p:txBody>
        </p:sp>
        <p:sp>
          <p:nvSpPr>
            <p:cNvPr id="247887" name="Rectangle 79"/>
            <p:cNvSpPr>
              <a:spLocks noChangeArrowheads="1"/>
            </p:cNvSpPr>
            <p:nvPr/>
          </p:nvSpPr>
          <p:spPr bwMode="auto">
            <a:xfrm>
              <a:off x="3318" y="2906"/>
              <a:ext cx="155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t>v</a:t>
              </a:r>
              <a:r>
                <a:rPr lang="en-US" altLang="zh-CN" baseline="-25000"/>
                <a:t>23Y</a:t>
              </a:r>
              <a:r>
                <a:rPr lang="en-US" altLang="zh-CN" i="1"/>
                <a:t>=R</a:t>
              </a:r>
              <a:r>
                <a:rPr lang="en-US" altLang="zh-CN" baseline="-25000"/>
                <a:t>2</a:t>
              </a:r>
              <a:r>
                <a:rPr lang="en-US" altLang="zh-CN" i="1"/>
                <a:t>i</a:t>
              </a:r>
              <a:r>
                <a:rPr lang="en-US" altLang="zh-CN" baseline="-25000"/>
                <a:t>2Y </a:t>
              </a:r>
              <a:r>
                <a:rPr lang="en-US" altLang="zh-CN" i="1"/>
                <a:t>– R</a:t>
              </a:r>
              <a:r>
                <a:rPr lang="en-US" altLang="zh-CN" baseline="-25000"/>
                <a:t>3</a:t>
              </a:r>
              <a:r>
                <a:rPr lang="en-US" altLang="zh-CN" i="1"/>
                <a:t>i</a:t>
              </a:r>
              <a:r>
                <a:rPr lang="en-US" altLang="zh-CN" baseline="-25000"/>
                <a:t>3Y</a:t>
              </a:r>
              <a:r>
                <a:rPr lang="en-US" altLang="zh-CN"/>
                <a:t> </a:t>
              </a:r>
            </a:p>
          </p:txBody>
        </p:sp>
        <p:sp>
          <p:nvSpPr>
            <p:cNvPr id="247888" name="AutoShape 80"/>
            <p:cNvSpPr>
              <a:spLocks/>
            </p:cNvSpPr>
            <p:nvPr/>
          </p:nvSpPr>
          <p:spPr bwMode="auto">
            <a:xfrm>
              <a:off x="4752" y="2688"/>
              <a:ext cx="288" cy="1179"/>
            </a:xfrm>
            <a:prstGeom prst="rightBrace">
              <a:avLst>
                <a:gd name="adj1" fmla="val 34115"/>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889" name="Text Box 81"/>
            <p:cNvSpPr txBox="1">
              <a:spLocks noChangeArrowheads="1"/>
            </p:cNvSpPr>
            <p:nvPr/>
          </p:nvSpPr>
          <p:spPr bwMode="auto">
            <a:xfrm>
              <a:off x="4944" y="2978"/>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rPr>
                <a:t>(2)</a:t>
              </a:r>
              <a:endParaRPr lang="en-US" altLang="zh-CN"/>
            </a:p>
          </p:txBody>
        </p:sp>
        <p:sp>
          <p:nvSpPr>
            <p:cNvPr id="247890" name="Rectangle 82"/>
            <p:cNvSpPr>
              <a:spLocks noChangeArrowheads="1"/>
            </p:cNvSpPr>
            <p:nvPr/>
          </p:nvSpPr>
          <p:spPr bwMode="auto">
            <a:xfrm>
              <a:off x="3318" y="3291"/>
              <a:ext cx="15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t>v</a:t>
              </a:r>
              <a:r>
                <a:rPr lang="en-US" altLang="zh-CN" baseline="-25000"/>
                <a:t>31Y</a:t>
              </a:r>
              <a:r>
                <a:rPr lang="en-US" altLang="zh-CN" i="1"/>
                <a:t>=</a:t>
              </a:r>
              <a:r>
                <a:rPr lang="en-US" altLang="zh-CN" baseline="-25000"/>
                <a:t> </a:t>
              </a:r>
              <a:r>
                <a:rPr lang="en-US" altLang="zh-CN" i="1"/>
                <a:t>R</a:t>
              </a:r>
              <a:r>
                <a:rPr lang="en-US" altLang="zh-CN" baseline="-25000"/>
                <a:t>3</a:t>
              </a:r>
              <a:r>
                <a:rPr lang="en-US" altLang="zh-CN" i="1"/>
                <a:t>i</a:t>
              </a:r>
              <a:r>
                <a:rPr lang="en-US" altLang="zh-CN" baseline="-25000"/>
                <a:t>3Y </a:t>
              </a:r>
              <a:r>
                <a:rPr lang="en-US" altLang="zh-CN" i="1"/>
                <a:t>–R</a:t>
              </a:r>
              <a:r>
                <a:rPr lang="en-US" altLang="zh-CN" baseline="-25000"/>
                <a:t>1</a:t>
              </a:r>
              <a:r>
                <a:rPr lang="en-US" altLang="zh-CN" i="1"/>
                <a:t>i</a:t>
              </a:r>
              <a:r>
                <a:rPr lang="en-US" altLang="zh-CN" baseline="-25000"/>
                <a:t>1Y</a:t>
              </a:r>
              <a:r>
                <a:rPr lang="en-US" altLang="zh-CN"/>
                <a:t>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7875"/>
                                        </p:tgtEl>
                                        <p:attrNameLst>
                                          <p:attrName>style.visibility</p:attrName>
                                        </p:attrNameLst>
                                      </p:cBhvr>
                                      <p:to>
                                        <p:strVal val="visible"/>
                                      </p:to>
                                    </p:set>
                                    <p:animEffect transition="in" filter="wipe(left)">
                                      <p:cBhvr>
                                        <p:cTn id="7" dur="500"/>
                                        <p:tgtEl>
                                          <p:spTgt spid="2478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7883"/>
                                        </p:tgtEl>
                                        <p:attrNameLst>
                                          <p:attrName>style.visibility</p:attrName>
                                        </p:attrNameLst>
                                      </p:cBhvr>
                                      <p:to>
                                        <p:strVal val="visible"/>
                                      </p:to>
                                    </p:set>
                                    <p:animEffect transition="in" filter="wipe(left)">
                                      <p:cBhvr>
                                        <p:cTn id="12" dur="500"/>
                                        <p:tgtEl>
                                          <p:spTgt spid="247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8834" name="Group 2"/>
          <p:cNvGrpSpPr>
            <a:grpSpLocks/>
          </p:cNvGrpSpPr>
          <p:nvPr/>
        </p:nvGrpSpPr>
        <p:grpSpPr bwMode="auto">
          <a:xfrm>
            <a:off x="1693863" y="719138"/>
            <a:ext cx="5014912" cy="996950"/>
            <a:chOff x="1067" y="453"/>
            <a:chExt cx="3159" cy="628"/>
          </a:xfrm>
        </p:grpSpPr>
        <p:grpSp>
          <p:nvGrpSpPr>
            <p:cNvPr id="248835" name="Group 3"/>
            <p:cNvGrpSpPr>
              <a:grpSpLocks/>
            </p:cNvGrpSpPr>
            <p:nvPr/>
          </p:nvGrpSpPr>
          <p:grpSpPr bwMode="auto">
            <a:xfrm>
              <a:off x="1067" y="453"/>
              <a:ext cx="1600" cy="511"/>
              <a:chOff x="704" y="554"/>
              <a:chExt cx="1600" cy="511"/>
            </a:xfrm>
          </p:grpSpPr>
          <p:sp>
            <p:nvSpPr>
              <p:cNvPr id="248836" name="Rectangle 4"/>
              <p:cNvSpPr>
                <a:spLocks noChangeArrowheads="1"/>
              </p:cNvSpPr>
              <p:nvPr/>
            </p:nvSpPr>
            <p:spPr bwMode="auto">
              <a:xfrm>
                <a:off x="1184" y="554"/>
                <a:ext cx="224" cy="27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37" name="Rectangle 5"/>
              <p:cNvSpPr>
                <a:spLocks noChangeArrowheads="1"/>
              </p:cNvSpPr>
              <p:nvPr/>
            </p:nvSpPr>
            <p:spPr bwMode="auto">
              <a:xfrm>
                <a:off x="704" y="824"/>
                <a:ext cx="1600" cy="241"/>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48838" name="Rectangle 6"/>
            <p:cNvSpPr>
              <a:spLocks noChangeArrowheads="1"/>
            </p:cNvSpPr>
            <p:nvPr/>
          </p:nvSpPr>
          <p:spPr bwMode="auto">
            <a:xfrm>
              <a:off x="3874" y="745"/>
              <a:ext cx="352" cy="336"/>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48839" name="Text Box 7"/>
          <p:cNvSpPr txBox="1">
            <a:spLocks noChangeArrowheads="1"/>
          </p:cNvSpPr>
          <p:nvPr/>
        </p:nvSpPr>
        <p:spPr bwMode="auto">
          <a:xfrm>
            <a:off x="474663" y="203200"/>
            <a:ext cx="218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a:t>由式</a:t>
            </a:r>
            <a:r>
              <a:rPr lang="en-US" altLang="zh-CN" sz="2000">
                <a:solidFill>
                  <a:srgbClr val="FF0000"/>
                </a:solidFill>
              </a:rPr>
              <a:t>(2)</a:t>
            </a:r>
            <a:r>
              <a:rPr lang="zh-CN" altLang="en-US" sz="2000"/>
              <a:t>解得</a:t>
            </a:r>
          </a:p>
        </p:txBody>
      </p:sp>
      <p:grpSp>
        <p:nvGrpSpPr>
          <p:cNvPr id="248840" name="Group 8"/>
          <p:cNvGrpSpPr>
            <a:grpSpLocks/>
          </p:cNvGrpSpPr>
          <p:nvPr/>
        </p:nvGrpSpPr>
        <p:grpSpPr bwMode="auto">
          <a:xfrm>
            <a:off x="4991100" y="1195388"/>
            <a:ext cx="3962400" cy="1490662"/>
            <a:chOff x="3120" y="672"/>
            <a:chExt cx="2496" cy="939"/>
          </a:xfrm>
        </p:grpSpPr>
        <p:sp>
          <p:nvSpPr>
            <p:cNvPr id="248841" name="Rectangle 9"/>
            <p:cNvSpPr>
              <a:spLocks noChangeArrowheads="1"/>
            </p:cNvSpPr>
            <p:nvPr/>
          </p:nvSpPr>
          <p:spPr bwMode="auto">
            <a:xfrm>
              <a:off x="3120" y="1392"/>
              <a:ext cx="2096"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70000"/>
                </a:lnSpc>
                <a:spcBef>
                  <a:spcPct val="50000"/>
                </a:spcBef>
              </a:pPr>
              <a:r>
                <a:rPr lang="en-US" altLang="zh-CN" i="1"/>
                <a:t>i</a:t>
              </a:r>
              <a:r>
                <a:rPr lang="en-US" altLang="zh-CN" baseline="-25000"/>
                <a:t>3</a:t>
              </a:r>
              <a:r>
                <a:rPr lang="en-US" altLang="zh-CN" baseline="-25000">
                  <a:sym typeface="Symbol" pitchFamily="18" charset="2"/>
                </a:rPr>
                <a:t></a:t>
              </a:r>
              <a:r>
                <a:rPr lang="en-US" altLang="zh-CN" baseline="-25000"/>
                <a:t> </a:t>
              </a:r>
              <a:r>
                <a:rPr lang="en-US" altLang="zh-CN" i="1"/>
                <a:t>=v</a:t>
              </a:r>
              <a:r>
                <a:rPr lang="en-US" altLang="zh-CN" baseline="-25000"/>
                <a:t>31</a:t>
              </a:r>
              <a:r>
                <a:rPr lang="en-US" altLang="zh-CN" baseline="-25000">
                  <a:sym typeface="Symbol" pitchFamily="18" charset="2"/>
                </a:rPr>
                <a:t></a:t>
              </a:r>
              <a:r>
                <a:rPr lang="en-US" altLang="zh-CN" baseline="-25000"/>
                <a:t>  </a:t>
              </a:r>
              <a:r>
                <a:rPr lang="en-US" altLang="zh-CN" i="1"/>
                <a:t>/R</a:t>
              </a:r>
              <a:r>
                <a:rPr lang="en-US" altLang="zh-CN" baseline="-25000"/>
                <a:t>31 </a:t>
              </a:r>
              <a:r>
                <a:rPr lang="en-US" altLang="zh-CN" i="1"/>
                <a:t>– v</a:t>
              </a:r>
              <a:r>
                <a:rPr lang="en-US" altLang="zh-CN" baseline="-25000"/>
                <a:t>23</a:t>
              </a:r>
              <a:r>
                <a:rPr lang="en-US" altLang="zh-CN" baseline="-25000">
                  <a:sym typeface="Symbol" pitchFamily="18" charset="2"/>
                </a:rPr>
                <a:t></a:t>
              </a:r>
              <a:r>
                <a:rPr lang="en-US" altLang="zh-CN" baseline="-25000"/>
                <a:t>  </a:t>
              </a:r>
              <a:r>
                <a:rPr lang="en-US" altLang="zh-CN" i="1"/>
                <a:t>/R</a:t>
              </a:r>
              <a:r>
                <a:rPr lang="en-US" altLang="zh-CN" baseline="-25000"/>
                <a:t>23</a:t>
              </a:r>
            </a:p>
          </p:txBody>
        </p:sp>
        <p:sp>
          <p:nvSpPr>
            <p:cNvPr id="248842" name="Rectangle 10"/>
            <p:cNvSpPr>
              <a:spLocks noChangeArrowheads="1"/>
            </p:cNvSpPr>
            <p:nvPr/>
          </p:nvSpPr>
          <p:spPr bwMode="auto">
            <a:xfrm>
              <a:off x="3120" y="1010"/>
              <a:ext cx="195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t>i</a:t>
              </a:r>
              <a:r>
                <a:rPr lang="en-US" altLang="zh-CN" baseline="-25000"/>
                <a:t>2</a:t>
              </a:r>
              <a:r>
                <a:rPr lang="en-US" altLang="zh-CN" baseline="-25000">
                  <a:sym typeface="Symbol" pitchFamily="18" charset="2"/>
                </a:rPr>
                <a:t></a:t>
              </a:r>
              <a:r>
                <a:rPr lang="en-US" altLang="zh-CN" baseline="-25000"/>
                <a:t> </a:t>
              </a:r>
              <a:r>
                <a:rPr lang="en-US" altLang="zh-CN" i="1"/>
                <a:t>=v</a:t>
              </a:r>
              <a:r>
                <a:rPr lang="en-US" altLang="zh-CN" baseline="-25000"/>
                <a:t>23</a:t>
              </a:r>
              <a:r>
                <a:rPr lang="en-US" altLang="zh-CN" baseline="-25000">
                  <a:sym typeface="Symbol" pitchFamily="18" charset="2"/>
                </a:rPr>
                <a:t></a:t>
              </a:r>
              <a:r>
                <a:rPr lang="en-US" altLang="zh-CN" baseline="-25000"/>
                <a:t>  </a:t>
              </a:r>
              <a:r>
                <a:rPr lang="en-US" altLang="zh-CN" i="1"/>
                <a:t>/R</a:t>
              </a:r>
              <a:r>
                <a:rPr lang="en-US" altLang="zh-CN" baseline="-25000"/>
                <a:t>23 </a:t>
              </a:r>
              <a:r>
                <a:rPr lang="en-US" altLang="zh-CN" i="1"/>
                <a:t>– v</a:t>
              </a:r>
              <a:r>
                <a:rPr lang="en-US" altLang="zh-CN" baseline="-25000"/>
                <a:t>12</a:t>
              </a:r>
              <a:r>
                <a:rPr lang="en-US" altLang="zh-CN" baseline="-25000">
                  <a:sym typeface="Symbol" pitchFamily="18" charset="2"/>
                </a:rPr>
                <a:t></a:t>
              </a:r>
              <a:r>
                <a:rPr lang="en-US" altLang="zh-CN" baseline="-25000"/>
                <a:t>  </a:t>
              </a:r>
              <a:r>
                <a:rPr lang="en-US" altLang="zh-CN" i="1"/>
                <a:t>/R</a:t>
              </a:r>
              <a:r>
                <a:rPr lang="en-US" altLang="zh-CN" baseline="-25000"/>
                <a:t>12</a:t>
              </a:r>
            </a:p>
          </p:txBody>
        </p:sp>
        <p:sp>
          <p:nvSpPr>
            <p:cNvPr id="248843" name="Text Box 11"/>
            <p:cNvSpPr txBox="1">
              <a:spLocks noChangeArrowheads="1"/>
            </p:cNvSpPr>
            <p:nvPr/>
          </p:nvSpPr>
          <p:spPr bwMode="auto">
            <a:xfrm>
              <a:off x="3120" y="672"/>
              <a:ext cx="21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t>i</a:t>
              </a:r>
              <a:r>
                <a:rPr lang="en-US" altLang="zh-CN" baseline="-25000"/>
                <a:t>1</a:t>
              </a:r>
              <a:r>
                <a:rPr lang="en-US" altLang="zh-CN" baseline="-25000">
                  <a:sym typeface="Symbol" pitchFamily="18" charset="2"/>
                </a:rPr>
                <a:t></a:t>
              </a:r>
              <a:r>
                <a:rPr lang="en-US" altLang="zh-CN" i="1"/>
                <a:t> =v</a:t>
              </a:r>
              <a:r>
                <a:rPr lang="en-US" altLang="zh-CN" baseline="-25000"/>
                <a:t>12</a:t>
              </a:r>
              <a:r>
                <a:rPr lang="en-US" altLang="zh-CN" baseline="-25000">
                  <a:sym typeface="Symbol" pitchFamily="18" charset="2"/>
                </a:rPr>
                <a:t> </a:t>
              </a:r>
              <a:r>
                <a:rPr lang="en-US" altLang="zh-CN" i="1"/>
                <a:t>/R</a:t>
              </a:r>
              <a:r>
                <a:rPr lang="en-US" altLang="zh-CN" baseline="-25000"/>
                <a:t>12 </a:t>
              </a:r>
              <a:r>
                <a:rPr lang="en-US" altLang="zh-CN" i="1"/>
                <a:t>– v</a:t>
              </a:r>
              <a:r>
                <a:rPr lang="en-US" altLang="zh-CN" baseline="-25000"/>
                <a:t>31</a:t>
              </a:r>
              <a:r>
                <a:rPr lang="en-US" altLang="zh-CN" baseline="-25000">
                  <a:sym typeface="Symbol" pitchFamily="18" charset="2"/>
                </a:rPr>
                <a:t> </a:t>
              </a:r>
              <a:r>
                <a:rPr lang="en-US" altLang="zh-CN" i="1"/>
                <a:t>/R</a:t>
              </a:r>
              <a:r>
                <a:rPr lang="en-US" altLang="zh-CN" baseline="-25000"/>
                <a:t>31</a:t>
              </a:r>
            </a:p>
          </p:txBody>
        </p:sp>
        <p:sp>
          <p:nvSpPr>
            <p:cNvPr id="248844" name="AutoShape 12"/>
            <p:cNvSpPr>
              <a:spLocks/>
            </p:cNvSpPr>
            <p:nvPr/>
          </p:nvSpPr>
          <p:spPr bwMode="auto">
            <a:xfrm>
              <a:off x="5088" y="720"/>
              <a:ext cx="144" cy="816"/>
            </a:xfrm>
            <a:prstGeom prst="rightBrace">
              <a:avLst>
                <a:gd name="adj1" fmla="val 47222"/>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50000"/>
                </a:spcBef>
              </a:pPr>
              <a:endParaRPr lang="zh-CN" altLang="zh-CN"/>
            </a:p>
          </p:txBody>
        </p:sp>
        <p:sp>
          <p:nvSpPr>
            <p:cNvPr id="248845" name="Text Box 13"/>
            <p:cNvSpPr txBox="1">
              <a:spLocks noChangeArrowheads="1"/>
            </p:cNvSpPr>
            <p:nvPr/>
          </p:nvSpPr>
          <p:spPr bwMode="auto">
            <a:xfrm>
              <a:off x="5232" y="100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rPr>
                <a:t>(1)</a:t>
              </a:r>
              <a:endParaRPr lang="en-US" altLang="zh-CN"/>
            </a:p>
          </p:txBody>
        </p:sp>
      </p:grpSp>
      <p:grpSp>
        <p:nvGrpSpPr>
          <p:cNvPr id="248846" name="Group 14"/>
          <p:cNvGrpSpPr>
            <a:grpSpLocks/>
          </p:cNvGrpSpPr>
          <p:nvPr/>
        </p:nvGrpSpPr>
        <p:grpSpPr bwMode="auto">
          <a:xfrm>
            <a:off x="1193800" y="790575"/>
            <a:ext cx="3848100" cy="2305050"/>
            <a:chOff x="408" y="578"/>
            <a:chExt cx="2424" cy="1452"/>
          </a:xfrm>
        </p:grpSpPr>
        <p:graphicFrame>
          <p:nvGraphicFramePr>
            <p:cNvPr id="248847" name="Object 15"/>
            <p:cNvGraphicFramePr>
              <a:graphicFrameLocks noChangeAspect="1"/>
            </p:cNvGraphicFramePr>
            <p:nvPr/>
          </p:nvGraphicFramePr>
          <p:xfrm>
            <a:off x="408" y="578"/>
            <a:ext cx="1776" cy="463"/>
          </p:xfrm>
          <a:graphic>
            <a:graphicData uri="http://schemas.openxmlformats.org/presentationml/2006/ole">
              <mc:AlternateContent xmlns:mc="http://schemas.openxmlformats.org/markup-compatibility/2006">
                <mc:Choice xmlns:v="urn:schemas-microsoft-com:vml" Requires="v">
                  <p:oleObj spid="_x0000_s249676" name="Equation" r:id="rId3" imgW="1409400" imgH="368280" progId="Equation.DSMT4">
                    <p:embed/>
                  </p:oleObj>
                </mc:Choice>
                <mc:Fallback>
                  <p:oleObj name="Equation" r:id="rId3" imgW="1409400" imgH="368280"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 y="578"/>
                          <a:ext cx="1776" cy="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48" name="Object 16"/>
            <p:cNvGraphicFramePr>
              <a:graphicFrameLocks noChangeAspect="1"/>
            </p:cNvGraphicFramePr>
            <p:nvPr/>
          </p:nvGraphicFramePr>
          <p:xfrm>
            <a:off x="448" y="1041"/>
            <a:ext cx="1697" cy="458"/>
          </p:xfrm>
          <a:graphic>
            <a:graphicData uri="http://schemas.openxmlformats.org/presentationml/2006/ole">
              <mc:AlternateContent xmlns:mc="http://schemas.openxmlformats.org/markup-compatibility/2006">
                <mc:Choice xmlns:v="urn:schemas-microsoft-com:vml" Requires="v">
                  <p:oleObj spid="_x0000_s249677" name="Equation" r:id="rId5" imgW="1358640" imgH="368280" progId="Equation.DSMT4">
                    <p:embed/>
                  </p:oleObj>
                </mc:Choice>
                <mc:Fallback>
                  <p:oleObj name="Equation" r:id="rId5" imgW="1358640" imgH="368280" progId="Equation.DSMT4">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 y="1041"/>
                          <a:ext cx="1697" cy="4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49" name="Object 17"/>
            <p:cNvGraphicFramePr>
              <a:graphicFrameLocks noChangeAspect="1"/>
            </p:cNvGraphicFramePr>
            <p:nvPr/>
          </p:nvGraphicFramePr>
          <p:xfrm>
            <a:off x="440" y="1568"/>
            <a:ext cx="1712" cy="462"/>
          </p:xfrm>
          <a:graphic>
            <a:graphicData uri="http://schemas.openxmlformats.org/presentationml/2006/ole">
              <mc:AlternateContent xmlns:mc="http://schemas.openxmlformats.org/markup-compatibility/2006">
                <mc:Choice xmlns:v="urn:schemas-microsoft-com:vml" Requires="v">
                  <p:oleObj spid="_x0000_s249678" name="Equation" r:id="rId7" imgW="1358640" imgH="368280" progId="Equation.DSMT4">
                    <p:embed/>
                  </p:oleObj>
                </mc:Choice>
                <mc:Fallback>
                  <p:oleObj name="Equation" r:id="rId7" imgW="1358640" imgH="368280" progId="Equation.DSMT4">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 y="1568"/>
                          <a:ext cx="1712" cy="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50" name="AutoShape 18"/>
            <p:cNvSpPr>
              <a:spLocks/>
            </p:cNvSpPr>
            <p:nvPr/>
          </p:nvSpPr>
          <p:spPr bwMode="auto">
            <a:xfrm>
              <a:off x="2304" y="672"/>
              <a:ext cx="144" cy="1248"/>
            </a:xfrm>
            <a:prstGeom prst="rightBrace">
              <a:avLst>
                <a:gd name="adj1" fmla="val 72222"/>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1" name="Text Box 19"/>
            <p:cNvSpPr txBox="1">
              <a:spLocks noChangeArrowheads="1"/>
            </p:cNvSpPr>
            <p:nvPr/>
          </p:nvSpPr>
          <p:spPr bwMode="auto">
            <a:xfrm>
              <a:off x="2448" y="1152"/>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a:solidFill>
                    <a:srgbClr val="FF0000"/>
                  </a:solidFill>
                </a:rPr>
                <a:t>(3)</a:t>
              </a:r>
              <a:endParaRPr lang="en-US" altLang="zh-CN" sz="2000"/>
            </a:p>
          </p:txBody>
        </p:sp>
      </p:grpSp>
      <p:sp>
        <p:nvSpPr>
          <p:cNvPr id="248852" name="Text Box 20"/>
          <p:cNvSpPr txBox="1">
            <a:spLocks noChangeArrowheads="1"/>
          </p:cNvSpPr>
          <p:nvPr/>
        </p:nvSpPr>
        <p:spPr bwMode="auto">
          <a:xfrm>
            <a:off x="593725" y="3352800"/>
            <a:ext cx="7715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a:t>根据等效条件，比较式</a:t>
            </a:r>
            <a:r>
              <a:rPr lang="en-US" altLang="zh-CN" sz="2000">
                <a:solidFill>
                  <a:srgbClr val="FF0000"/>
                </a:solidFill>
              </a:rPr>
              <a:t>(3)</a:t>
            </a:r>
            <a:r>
              <a:rPr lang="zh-CN" altLang="en-US" sz="2000"/>
              <a:t>与式</a:t>
            </a:r>
            <a:r>
              <a:rPr lang="en-US" altLang="zh-CN" sz="2000">
                <a:solidFill>
                  <a:srgbClr val="FF0000"/>
                </a:solidFill>
              </a:rPr>
              <a:t>(1)</a:t>
            </a:r>
            <a:r>
              <a:rPr lang="zh-CN" altLang="en-US" sz="2000"/>
              <a:t>中对应项的系数</a:t>
            </a:r>
          </a:p>
        </p:txBody>
      </p:sp>
      <p:grpSp>
        <p:nvGrpSpPr>
          <p:cNvPr id="248853" name="Group 21"/>
          <p:cNvGrpSpPr>
            <a:grpSpLocks/>
          </p:cNvGrpSpPr>
          <p:nvPr/>
        </p:nvGrpSpPr>
        <p:grpSpPr bwMode="auto">
          <a:xfrm>
            <a:off x="1322388" y="4056063"/>
            <a:ext cx="5829300" cy="2562225"/>
            <a:chOff x="808" y="2507"/>
            <a:chExt cx="3664" cy="1548"/>
          </a:xfrm>
        </p:grpSpPr>
        <p:graphicFrame>
          <p:nvGraphicFramePr>
            <p:cNvPr id="248854" name="Object 22"/>
            <p:cNvGraphicFramePr>
              <a:graphicFrameLocks noChangeAspect="1"/>
            </p:cNvGraphicFramePr>
            <p:nvPr>
              <p:extLst>
                <p:ext uri="{D42A27DB-BD31-4B8C-83A1-F6EECF244321}">
                  <p14:modId xmlns:p14="http://schemas.microsoft.com/office/powerpoint/2010/main" val="3640940817"/>
                </p:ext>
              </p:extLst>
            </p:nvPr>
          </p:nvGraphicFramePr>
          <p:xfrm>
            <a:off x="2676" y="2507"/>
            <a:ext cx="1796" cy="1548"/>
          </p:xfrm>
          <a:graphic>
            <a:graphicData uri="http://schemas.openxmlformats.org/presentationml/2006/ole">
              <mc:AlternateContent xmlns:mc="http://schemas.openxmlformats.org/markup-compatibility/2006">
                <mc:Choice xmlns:v="urn:schemas-microsoft-com:vml" Requires="v">
                  <p:oleObj spid="_x0000_s249679" name="Equation" r:id="rId9" imgW="1384200" imgH="1193760" progId="Equation.DSMT4">
                    <p:embed/>
                  </p:oleObj>
                </mc:Choice>
                <mc:Fallback>
                  <p:oleObj name="Equation" r:id="rId9" imgW="1384200" imgH="1193760" progId="Equation.DSMT4">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76" y="2507"/>
                          <a:ext cx="1796" cy="1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55" name="Text Box 23"/>
            <p:cNvSpPr txBox="1">
              <a:spLocks noChangeArrowheads="1"/>
            </p:cNvSpPr>
            <p:nvPr/>
          </p:nvSpPr>
          <p:spPr bwMode="auto">
            <a:xfrm>
              <a:off x="808" y="2530"/>
              <a:ext cx="1290" cy="24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spcBef>
                  <a:spcPct val="50000"/>
                </a:spcBef>
              </a:pPr>
              <a:r>
                <a:rPr lang="zh-CN" altLang="en-US" sz="2000">
                  <a:solidFill>
                    <a:schemeClr val="accent2"/>
                  </a:solidFill>
                </a:rPr>
                <a:t>得</a:t>
              </a:r>
              <a:r>
                <a:rPr lang="en-US" altLang="zh-CN" sz="2000">
                  <a:solidFill>
                    <a:schemeClr val="accent2"/>
                  </a:solidFill>
                </a:rPr>
                <a:t>Y</a:t>
              </a:r>
              <a:r>
                <a:rPr lang="en-US" altLang="zh-CN" sz="2000">
                  <a:solidFill>
                    <a:schemeClr val="accent2"/>
                  </a:solidFill>
                  <a:sym typeface="Symbol" pitchFamily="18" charset="2"/>
                </a:rPr>
                <a:t></a:t>
              </a:r>
              <a:r>
                <a:rPr lang="zh-CN" altLang="en-US" sz="2000">
                  <a:solidFill>
                    <a:schemeClr val="accent2"/>
                  </a:solidFill>
                  <a:sym typeface="Symbol" pitchFamily="18" charset="2"/>
                </a:rPr>
                <a:t>电阻关系</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8846"/>
                                        </p:tgtEl>
                                        <p:attrNameLst>
                                          <p:attrName>style.visibility</p:attrName>
                                        </p:attrNameLst>
                                      </p:cBhvr>
                                      <p:to>
                                        <p:strVal val="visible"/>
                                      </p:to>
                                    </p:set>
                                    <p:animEffect transition="in" filter="wipe(left)">
                                      <p:cBhvr>
                                        <p:cTn id="7" dur="500"/>
                                        <p:tgtEl>
                                          <p:spTgt spid="2488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8840"/>
                                        </p:tgtEl>
                                        <p:attrNameLst>
                                          <p:attrName>style.visibility</p:attrName>
                                        </p:attrNameLst>
                                      </p:cBhvr>
                                      <p:to>
                                        <p:strVal val="visible"/>
                                      </p:to>
                                    </p:set>
                                    <p:animEffect transition="in" filter="wipe(left)">
                                      <p:cBhvr>
                                        <p:cTn id="12" dur="500"/>
                                        <p:tgtEl>
                                          <p:spTgt spid="2488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8852">
                                            <p:txEl>
                                              <p:pRg st="0" end="0"/>
                                            </p:txEl>
                                          </p:spTgt>
                                        </p:tgtEl>
                                        <p:attrNameLst>
                                          <p:attrName>style.visibility</p:attrName>
                                        </p:attrNameLst>
                                      </p:cBhvr>
                                      <p:to>
                                        <p:strVal val="visible"/>
                                      </p:to>
                                    </p:set>
                                    <p:animEffect transition="in" filter="wipe(left)">
                                      <p:cBhvr>
                                        <p:cTn id="17" dur="500"/>
                                        <p:tgtEl>
                                          <p:spTgt spid="24885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8834"/>
                                        </p:tgtEl>
                                        <p:attrNameLst>
                                          <p:attrName>style.visibility</p:attrName>
                                        </p:attrNameLst>
                                      </p:cBhvr>
                                      <p:to>
                                        <p:strVal val="visible"/>
                                      </p:to>
                                    </p:set>
                                    <p:animEffect transition="in" filter="wipe(left)">
                                      <p:cBhvr>
                                        <p:cTn id="22" dur="500"/>
                                        <p:tgtEl>
                                          <p:spTgt spid="2488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48853"/>
                                        </p:tgtEl>
                                        <p:attrNameLst>
                                          <p:attrName>style.visibility</p:attrName>
                                        </p:attrNameLst>
                                      </p:cBhvr>
                                      <p:to>
                                        <p:strVal val="visible"/>
                                      </p:to>
                                    </p:set>
                                    <p:animEffect transition="in" filter="wipe(left)">
                                      <p:cBhvr>
                                        <p:cTn id="27" dur="500"/>
                                        <p:tgtEl>
                                          <p:spTgt spid="248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52"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9858" name="Group 2"/>
          <p:cNvGrpSpPr>
            <a:grpSpLocks/>
          </p:cNvGrpSpPr>
          <p:nvPr/>
        </p:nvGrpSpPr>
        <p:grpSpPr bwMode="auto">
          <a:xfrm>
            <a:off x="744538" y="0"/>
            <a:ext cx="2928937" cy="2863850"/>
            <a:chOff x="360" y="106"/>
            <a:chExt cx="1845" cy="1804"/>
          </a:xfrm>
        </p:grpSpPr>
        <p:graphicFrame>
          <p:nvGraphicFramePr>
            <p:cNvPr id="249859" name="Object 3"/>
            <p:cNvGraphicFramePr>
              <a:graphicFrameLocks noChangeAspect="1"/>
            </p:cNvGraphicFramePr>
            <p:nvPr/>
          </p:nvGraphicFramePr>
          <p:xfrm>
            <a:off x="410" y="362"/>
            <a:ext cx="1795" cy="1548"/>
          </p:xfrm>
          <a:graphic>
            <a:graphicData uri="http://schemas.openxmlformats.org/presentationml/2006/ole">
              <mc:AlternateContent xmlns:mc="http://schemas.openxmlformats.org/markup-compatibility/2006">
                <mc:Choice xmlns:v="urn:schemas-microsoft-com:vml" Requires="v">
                  <p:oleObj spid="_x0000_s250507" name="Equation" r:id="rId3" imgW="1384200" imgH="1193760" progId="Equation.DSMT4">
                    <p:embed/>
                  </p:oleObj>
                </mc:Choice>
                <mc:Fallback>
                  <p:oleObj name="Equation" r:id="rId3" imgW="1384200" imgH="119376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 y="362"/>
                          <a:ext cx="1795" cy="1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9860" name="Text Box 4"/>
            <p:cNvSpPr txBox="1">
              <a:spLocks noChangeArrowheads="1"/>
            </p:cNvSpPr>
            <p:nvPr/>
          </p:nvSpPr>
          <p:spPr bwMode="auto">
            <a:xfrm>
              <a:off x="480" y="106"/>
              <a:ext cx="10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endParaRPr lang="zh-CN" altLang="zh-CN"/>
            </a:p>
          </p:txBody>
        </p:sp>
        <p:sp>
          <p:nvSpPr>
            <p:cNvPr id="249861" name="AutoShape 5"/>
            <p:cNvSpPr>
              <a:spLocks/>
            </p:cNvSpPr>
            <p:nvPr/>
          </p:nvSpPr>
          <p:spPr bwMode="auto">
            <a:xfrm>
              <a:off x="360" y="480"/>
              <a:ext cx="58" cy="1248"/>
            </a:xfrm>
            <a:prstGeom prst="leftBracket">
              <a:avLst>
                <a:gd name="adj" fmla="val 179310"/>
              </a:avLst>
            </a:prstGeom>
            <a:noFill/>
            <a:ln w="2540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9862" name="Group 6"/>
          <p:cNvGrpSpPr>
            <a:grpSpLocks/>
          </p:cNvGrpSpPr>
          <p:nvPr/>
        </p:nvGrpSpPr>
        <p:grpSpPr bwMode="auto">
          <a:xfrm>
            <a:off x="4922838" y="398464"/>
            <a:ext cx="2493962" cy="2055813"/>
            <a:chOff x="3971" y="1488"/>
            <a:chExt cx="1248" cy="1295"/>
          </a:xfrm>
        </p:grpSpPr>
        <p:sp>
          <p:nvSpPr>
            <p:cNvPr id="249863" name="Line 7"/>
            <p:cNvSpPr>
              <a:spLocks noChangeShapeType="1"/>
            </p:cNvSpPr>
            <p:nvPr/>
          </p:nvSpPr>
          <p:spPr bwMode="auto">
            <a:xfrm flipH="1">
              <a:off x="3971" y="1488"/>
              <a:ext cx="661" cy="104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4" name="Line 8"/>
            <p:cNvSpPr>
              <a:spLocks noChangeShapeType="1"/>
            </p:cNvSpPr>
            <p:nvPr/>
          </p:nvSpPr>
          <p:spPr bwMode="auto">
            <a:xfrm>
              <a:off x="3971" y="2535"/>
              <a:ext cx="12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5" name="Line 9"/>
            <p:cNvSpPr>
              <a:spLocks noChangeShapeType="1"/>
            </p:cNvSpPr>
            <p:nvPr/>
          </p:nvSpPr>
          <p:spPr bwMode="auto">
            <a:xfrm>
              <a:off x="4632" y="1488"/>
              <a:ext cx="587" cy="104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6" name="Line 10"/>
            <p:cNvSpPr>
              <a:spLocks noChangeShapeType="1"/>
            </p:cNvSpPr>
            <p:nvPr/>
          </p:nvSpPr>
          <p:spPr bwMode="auto">
            <a:xfrm>
              <a:off x="4632" y="1488"/>
              <a:ext cx="0" cy="6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7" name="Line 11"/>
            <p:cNvSpPr>
              <a:spLocks noChangeShapeType="1"/>
            </p:cNvSpPr>
            <p:nvPr/>
          </p:nvSpPr>
          <p:spPr bwMode="auto">
            <a:xfrm flipH="1">
              <a:off x="3971" y="2161"/>
              <a:ext cx="661" cy="3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8" name="Line 12"/>
            <p:cNvSpPr>
              <a:spLocks noChangeShapeType="1"/>
            </p:cNvSpPr>
            <p:nvPr/>
          </p:nvSpPr>
          <p:spPr bwMode="auto">
            <a:xfrm>
              <a:off x="4632" y="2161"/>
              <a:ext cx="587" cy="3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9" name="Text Box 13"/>
            <p:cNvSpPr txBox="1">
              <a:spLocks noChangeArrowheads="1"/>
            </p:cNvSpPr>
            <p:nvPr/>
          </p:nvSpPr>
          <p:spPr bwMode="auto">
            <a:xfrm>
              <a:off x="4923" y="1788"/>
              <a:ext cx="2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00CC66"/>
                  </a:solidFill>
                </a:rPr>
                <a:t>R</a:t>
              </a:r>
              <a:r>
                <a:rPr lang="en-US" altLang="zh-CN" baseline="-25000">
                  <a:solidFill>
                    <a:srgbClr val="00CC66"/>
                  </a:solidFill>
                </a:rPr>
                <a:t>31</a:t>
              </a:r>
            </a:p>
          </p:txBody>
        </p:sp>
        <p:sp>
          <p:nvSpPr>
            <p:cNvPr id="249870" name="Text Box 14"/>
            <p:cNvSpPr txBox="1">
              <a:spLocks noChangeArrowheads="1"/>
            </p:cNvSpPr>
            <p:nvPr/>
          </p:nvSpPr>
          <p:spPr bwMode="auto">
            <a:xfrm>
              <a:off x="4456" y="2495"/>
              <a:ext cx="2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dirty="0">
                  <a:solidFill>
                    <a:srgbClr val="00CC66"/>
                  </a:solidFill>
                </a:rPr>
                <a:t>R</a:t>
              </a:r>
              <a:r>
                <a:rPr lang="en-US" altLang="zh-CN" baseline="-25000" dirty="0">
                  <a:solidFill>
                    <a:srgbClr val="00CC66"/>
                  </a:solidFill>
                </a:rPr>
                <a:t>23</a:t>
              </a:r>
            </a:p>
          </p:txBody>
        </p:sp>
        <p:sp>
          <p:nvSpPr>
            <p:cNvPr id="249871" name="Text Box 15"/>
            <p:cNvSpPr txBox="1">
              <a:spLocks noChangeArrowheads="1"/>
            </p:cNvSpPr>
            <p:nvPr/>
          </p:nvSpPr>
          <p:spPr bwMode="auto">
            <a:xfrm>
              <a:off x="4015" y="1749"/>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dirty="0">
                  <a:solidFill>
                    <a:srgbClr val="00CC66"/>
                  </a:solidFill>
                </a:rPr>
                <a:t>R</a:t>
              </a:r>
              <a:r>
                <a:rPr lang="en-US" altLang="zh-CN" baseline="-25000" dirty="0">
                  <a:solidFill>
                    <a:srgbClr val="00CC66"/>
                  </a:solidFill>
                </a:rPr>
                <a:t>12</a:t>
              </a:r>
            </a:p>
          </p:txBody>
        </p:sp>
        <p:sp>
          <p:nvSpPr>
            <p:cNvPr id="249872" name="Text Box 16"/>
            <p:cNvSpPr txBox="1">
              <a:spLocks noChangeArrowheads="1"/>
            </p:cNvSpPr>
            <p:nvPr/>
          </p:nvSpPr>
          <p:spPr bwMode="auto">
            <a:xfrm>
              <a:off x="4754" y="2037"/>
              <a:ext cx="2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FF0000"/>
                  </a:solidFill>
                </a:rPr>
                <a:t>R</a:t>
              </a:r>
              <a:r>
                <a:rPr lang="en-US" altLang="zh-CN" baseline="-25000">
                  <a:solidFill>
                    <a:srgbClr val="00CC66"/>
                  </a:solidFill>
                </a:rPr>
                <a:t>3</a:t>
              </a:r>
            </a:p>
          </p:txBody>
        </p:sp>
        <p:sp>
          <p:nvSpPr>
            <p:cNvPr id="249873" name="Text Box 17"/>
            <p:cNvSpPr txBox="1">
              <a:spLocks noChangeArrowheads="1"/>
            </p:cNvSpPr>
            <p:nvPr/>
          </p:nvSpPr>
          <p:spPr bwMode="auto">
            <a:xfrm>
              <a:off x="4339" y="2220"/>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rPr>
                <a:t>R</a:t>
              </a:r>
              <a:r>
                <a:rPr lang="en-US" altLang="zh-CN" baseline="-25000">
                  <a:solidFill>
                    <a:srgbClr val="00CC66"/>
                  </a:solidFill>
                </a:rPr>
                <a:t>2</a:t>
              </a:r>
            </a:p>
          </p:txBody>
        </p:sp>
        <p:sp>
          <p:nvSpPr>
            <p:cNvPr id="249874" name="Text Box 18"/>
            <p:cNvSpPr txBox="1">
              <a:spLocks noChangeArrowheads="1"/>
            </p:cNvSpPr>
            <p:nvPr/>
          </p:nvSpPr>
          <p:spPr bwMode="auto">
            <a:xfrm>
              <a:off x="4418" y="1784"/>
              <a:ext cx="2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dirty="0">
                  <a:solidFill>
                    <a:srgbClr val="FF0000"/>
                  </a:solidFill>
                </a:rPr>
                <a:t>R</a:t>
              </a:r>
              <a:r>
                <a:rPr lang="en-US" altLang="zh-CN" baseline="-25000" dirty="0">
                  <a:solidFill>
                    <a:srgbClr val="00CC66"/>
                  </a:solidFill>
                </a:rPr>
                <a:t>1</a:t>
              </a:r>
            </a:p>
          </p:txBody>
        </p:sp>
      </p:grpSp>
      <p:graphicFrame>
        <p:nvGraphicFramePr>
          <p:cNvPr id="249875" name="Object 19"/>
          <p:cNvGraphicFramePr>
            <a:graphicFrameLocks noChangeAspect="1"/>
          </p:cNvGraphicFramePr>
          <p:nvPr/>
        </p:nvGraphicFramePr>
        <p:xfrm>
          <a:off x="1457325" y="3752850"/>
          <a:ext cx="2776538" cy="2343150"/>
        </p:xfrm>
        <a:graphic>
          <a:graphicData uri="http://schemas.openxmlformats.org/presentationml/2006/ole">
            <mc:AlternateContent xmlns:mc="http://schemas.openxmlformats.org/markup-compatibility/2006">
              <mc:Choice xmlns:v="urn:schemas-microsoft-com:vml" Requires="v">
                <p:oleObj spid="_x0000_s250508" name="Equation" r:id="rId5" imgW="1130040" imgH="1193760" progId="Equation.DSMT4">
                  <p:embed/>
                </p:oleObj>
              </mc:Choice>
              <mc:Fallback>
                <p:oleObj name="Equation" r:id="rId5" imgW="1130040" imgH="1193760" progId="Equation.DSMT4">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7325" y="3752850"/>
                        <a:ext cx="2776538" cy="234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9876" name="Object 20"/>
          <p:cNvGraphicFramePr>
            <a:graphicFrameLocks noChangeAspect="1"/>
          </p:cNvGraphicFramePr>
          <p:nvPr/>
        </p:nvGraphicFramePr>
        <p:xfrm>
          <a:off x="5199063" y="5084763"/>
          <a:ext cx="2732087" cy="911225"/>
        </p:xfrm>
        <a:graphic>
          <a:graphicData uri="http://schemas.openxmlformats.org/presentationml/2006/ole">
            <mc:AlternateContent xmlns:mc="http://schemas.openxmlformats.org/markup-compatibility/2006">
              <mc:Choice xmlns:v="urn:schemas-microsoft-com:vml" Requires="v">
                <p:oleObj spid="_x0000_s250509" name="Equation" r:id="rId7" imgW="1257120" imgH="419040" progId="Equation.DSMT4">
                  <p:embed/>
                </p:oleObj>
              </mc:Choice>
              <mc:Fallback>
                <p:oleObj name="Equation" r:id="rId7" imgW="1257120" imgH="419040" progId="Equation.DSMT4">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99063" y="5084763"/>
                        <a:ext cx="2732087"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9877" name="Group 21"/>
          <p:cNvGrpSpPr>
            <a:grpSpLocks/>
          </p:cNvGrpSpPr>
          <p:nvPr/>
        </p:nvGrpSpPr>
        <p:grpSpPr bwMode="auto">
          <a:xfrm>
            <a:off x="604838" y="2822575"/>
            <a:ext cx="7340600" cy="2003425"/>
            <a:chOff x="381" y="1778"/>
            <a:chExt cx="4624" cy="1262"/>
          </a:xfrm>
        </p:grpSpPr>
        <p:sp>
          <p:nvSpPr>
            <p:cNvPr id="249878" name="Text Box 22"/>
            <p:cNvSpPr txBox="1">
              <a:spLocks noChangeArrowheads="1"/>
            </p:cNvSpPr>
            <p:nvPr/>
          </p:nvSpPr>
          <p:spPr bwMode="auto">
            <a:xfrm>
              <a:off x="381" y="2003"/>
              <a:ext cx="10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zh-CN" altLang="en-US"/>
                <a:t>用电导表示</a:t>
              </a:r>
            </a:p>
          </p:txBody>
        </p:sp>
        <p:grpSp>
          <p:nvGrpSpPr>
            <p:cNvPr id="249879" name="Group 23"/>
            <p:cNvGrpSpPr>
              <a:grpSpLocks/>
            </p:cNvGrpSpPr>
            <p:nvPr/>
          </p:nvGrpSpPr>
          <p:grpSpPr bwMode="auto">
            <a:xfrm>
              <a:off x="3521" y="1778"/>
              <a:ext cx="1484" cy="1262"/>
              <a:chOff x="3971" y="1488"/>
              <a:chExt cx="1266" cy="1337"/>
            </a:xfrm>
          </p:grpSpPr>
          <p:sp>
            <p:nvSpPr>
              <p:cNvPr id="249880" name="Line 24"/>
              <p:cNvSpPr>
                <a:spLocks noChangeShapeType="1"/>
              </p:cNvSpPr>
              <p:nvPr/>
            </p:nvSpPr>
            <p:spPr bwMode="auto">
              <a:xfrm flipH="1">
                <a:off x="3971" y="1488"/>
                <a:ext cx="661" cy="104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81" name="Line 25"/>
              <p:cNvSpPr>
                <a:spLocks noChangeShapeType="1"/>
              </p:cNvSpPr>
              <p:nvPr/>
            </p:nvSpPr>
            <p:spPr bwMode="auto">
              <a:xfrm>
                <a:off x="3971" y="2535"/>
                <a:ext cx="12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82" name="Line 26"/>
              <p:cNvSpPr>
                <a:spLocks noChangeShapeType="1"/>
              </p:cNvSpPr>
              <p:nvPr/>
            </p:nvSpPr>
            <p:spPr bwMode="auto">
              <a:xfrm>
                <a:off x="4632" y="1488"/>
                <a:ext cx="587" cy="104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83" name="Line 27"/>
              <p:cNvSpPr>
                <a:spLocks noChangeShapeType="1"/>
              </p:cNvSpPr>
              <p:nvPr/>
            </p:nvSpPr>
            <p:spPr bwMode="auto">
              <a:xfrm>
                <a:off x="4632" y="1488"/>
                <a:ext cx="0" cy="6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84" name="Line 28"/>
              <p:cNvSpPr>
                <a:spLocks noChangeShapeType="1"/>
              </p:cNvSpPr>
              <p:nvPr/>
            </p:nvSpPr>
            <p:spPr bwMode="auto">
              <a:xfrm flipH="1">
                <a:off x="3971" y="2161"/>
                <a:ext cx="661" cy="3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85" name="Line 29"/>
              <p:cNvSpPr>
                <a:spLocks noChangeShapeType="1"/>
              </p:cNvSpPr>
              <p:nvPr/>
            </p:nvSpPr>
            <p:spPr bwMode="auto">
              <a:xfrm>
                <a:off x="4632" y="2161"/>
                <a:ext cx="587" cy="3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86" name="Text Box 30"/>
              <p:cNvSpPr txBox="1">
                <a:spLocks noChangeArrowheads="1"/>
              </p:cNvSpPr>
              <p:nvPr/>
            </p:nvSpPr>
            <p:spPr bwMode="auto">
              <a:xfrm>
                <a:off x="4911" y="1788"/>
                <a:ext cx="326"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dirty="0">
                    <a:solidFill>
                      <a:srgbClr val="00CC66"/>
                    </a:solidFill>
                  </a:rPr>
                  <a:t>G</a:t>
                </a:r>
                <a:r>
                  <a:rPr lang="en-US" altLang="zh-CN" baseline="-25000" dirty="0">
                    <a:solidFill>
                      <a:srgbClr val="00CC66"/>
                    </a:solidFill>
                  </a:rPr>
                  <a:t>31</a:t>
                </a:r>
              </a:p>
            </p:txBody>
          </p:sp>
          <p:sp>
            <p:nvSpPr>
              <p:cNvPr id="249887" name="Text Box 31"/>
              <p:cNvSpPr txBox="1">
                <a:spLocks noChangeArrowheads="1"/>
              </p:cNvSpPr>
              <p:nvPr/>
            </p:nvSpPr>
            <p:spPr bwMode="auto">
              <a:xfrm>
                <a:off x="4444" y="2520"/>
                <a:ext cx="327"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00CC66"/>
                    </a:solidFill>
                  </a:rPr>
                  <a:t>G</a:t>
                </a:r>
                <a:r>
                  <a:rPr lang="en-US" altLang="zh-CN" baseline="-25000">
                    <a:solidFill>
                      <a:srgbClr val="00CC66"/>
                    </a:solidFill>
                  </a:rPr>
                  <a:t>23</a:t>
                </a:r>
              </a:p>
            </p:txBody>
          </p:sp>
          <p:sp>
            <p:nvSpPr>
              <p:cNvPr id="249888" name="Text Box 32"/>
              <p:cNvSpPr txBox="1">
                <a:spLocks noChangeArrowheads="1"/>
              </p:cNvSpPr>
              <p:nvPr/>
            </p:nvSpPr>
            <p:spPr bwMode="auto">
              <a:xfrm>
                <a:off x="3971" y="1749"/>
                <a:ext cx="326"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00CC66"/>
                    </a:solidFill>
                  </a:rPr>
                  <a:t>G</a:t>
                </a:r>
                <a:r>
                  <a:rPr lang="en-US" altLang="zh-CN" baseline="-25000">
                    <a:solidFill>
                      <a:srgbClr val="00CC66"/>
                    </a:solidFill>
                  </a:rPr>
                  <a:t>12</a:t>
                </a:r>
              </a:p>
            </p:txBody>
          </p:sp>
          <p:sp>
            <p:nvSpPr>
              <p:cNvPr id="249889" name="Text Box 33"/>
              <p:cNvSpPr txBox="1">
                <a:spLocks noChangeArrowheads="1"/>
              </p:cNvSpPr>
              <p:nvPr/>
            </p:nvSpPr>
            <p:spPr bwMode="auto">
              <a:xfrm>
                <a:off x="4755" y="2037"/>
                <a:ext cx="271"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FF0000"/>
                    </a:solidFill>
                  </a:rPr>
                  <a:t>G</a:t>
                </a:r>
                <a:r>
                  <a:rPr lang="en-US" altLang="zh-CN" baseline="-25000">
                    <a:solidFill>
                      <a:srgbClr val="00CC66"/>
                    </a:solidFill>
                  </a:rPr>
                  <a:t>3</a:t>
                </a:r>
              </a:p>
            </p:txBody>
          </p:sp>
          <p:sp>
            <p:nvSpPr>
              <p:cNvPr id="249890" name="Text Box 34"/>
              <p:cNvSpPr txBox="1">
                <a:spLocks noChangeArrowheads="1"/>
              </p:cNvSpPr>
              <p:nvPr/>
            </p:nvSpPr>
            <p:spPr bwMode="auto">
              <a:xfrm>
                <a:off x="4339" y="2220"/>
                <a:ext cx="300"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rPr>
                  <a:t>G</a:t>
                </a:r>
                <a:r>
                  <a:rPr lang="en-US" altLang="zh-CN" baseline="-25000">
                    <a:solidFill>
                      <a:srgbClr val="00CC66"/>
                    </a:solidFill>
                  </a:rPr>
                  <a:t>2</a:t>
                </a:r>
              </a:p>
            </p:txBody>
          </p:sp>
          <p:sp>
            <p:nvSpPr>
              <p:cNvPr id="249891" name="Text Box 35"/>
              <p:cNvSpPr txBox="1">
                <a:spLocks noChangeArrowheads="1"/>
              </p:cNvSpPr>
              <p:nvPr/>
            </p:nvSpPr>
            <p:spPr bwMode="auto">
              <a:xfrm>
                <a:off x="4380" y="1749"/>
                <a:ext cx="27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FF0000"/>
                    </a:solidFill>
                  </a:rPr>
                  <a:t>G</a:t>
                </a:r>
                <a:r>
                  <a:rPr lang="en-US" altLang="zh-CN" baseline="-25000">
                    <a:solidFill>
                      <a:srgbClr val="00CC66"/>
                    </a:solidFill>
                  </a:rPr>
                  <a:t>1</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9877"/>
                                        </p:tgtEl>
                                        <p:attrNameLst>
                                          <p:attrName>style.visibility</p:attrName>
                                        </p:attrNameLst>
                                      </p:cBhvr>
                                      <p:to>
                                        <p:strVal val="visible"/>
                                      </p:to>
                                    </p:set>
                                    <p:animEffect transition="in" filter="wipe(left)">
                                      <p:cBhvr>
                                        <p:cTn id="7" dur="500"/>
                                        <p:tgtEl>
                                          <p:spTgt spid="2498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9875"/>
                                        </p:tgtEl>
                                        <p:attrNameLst>
                                          <p:attrName>style.visibility</p:attrName>
                                        </p:attrNameLst>
                                      </p:cBhvr>
                                      <p:to>
                                        <p:strVal val="visible"/>
                                      </p:to>
                                    </p:set>
                                    <p:animEffect transition="in" filter="wipe(left)">
                                      <p:cBhvr>
                                        <p:cTn id="12" dur="500"/>
                                        <p:tgtEl>
                                          <p:spTgt spid="2498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9876"/>
                                        </p:tgtEl>
                                        <p:attrNameLst>
                                          <p:attrName>style.visibility</p:attrName>
                                        </p:attrNameLst>
                                      </p:cBhvr>
                                      <p:to>
                                        <p:strVal val="visible"/>
                                      </p:to>
                                    </p:set>
                                    <p:animEffect transition="in" filter="wipe(left)">
                                      <p:cBhvr>
                                        <p:cTn id="17" dur="500"/>
                                        <p:tgtEl>
                                          <p:spTgt spid="249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0882" name="Group 2"/>
          <p:cNvGrpSpPr>
            <a:grpSpLocks/>
          </p:cNvGrpSpPr>
          <p:nvPr/>
        </p:nvGrpSpPr>
        <p:grpSpPr bwMode="auto">
          <a:xfrm>
            <a:off x="919164" y="555625"/>
            <a:ext cx="3943350" cy="2789238"/>
            <a:chOff x="319" y="144"/>
            <a:chExt cx="2484" cy="1757"/>
          </a:xfrm>
        </p:grpSpPr>
        <p:sp>
          <p:nvSpPr>
            <p:cNvPr id="250884" name="Text Box 4"/>
            <p:cNvSpPr txBox="1">
              <a:spLocks noChangeArrowheads="1"/>
            </p:cNvSpPr>
            <p:nvPr/>
          </p:nvSpPr>
          <p:spPr bwMode="auto">
            <a:xfrm>
              <a:off x="319" y="144"/>
              <a:ext cx="24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a:t>同理可得</a:t>
              </a:r>
              <a:r>
                <a:rPr lang="zh-CN" altLang="en-US">
                  <a:solidFill>
                    <a:srgbClr val="FF0000"/>
                  </a:solidFill>
                </a:rPr>
                <a:t>由</a:t>
              </a:r>
              <a:r>
                <a:rPr lang="zh-CN" altLang="en-US">
                  <a:solidFill>
                    <a:srgbClr val="FF0000"/>
                  </a:solidFill>
                  <a:sym typeface="Symbol" pitchFamily="18" charset="2"/>
                </a:rPr>
                <a:t> </a:t>
              </a:r>
              <a:r>
                <a:rPr lang="en-US" altLang="zh-CN">
                  <a:solidFill>
                    <a:srgbClr val="FF0000"/>
                  </a:solidFill>
                </a:rPr>
                <a:t>Y </a:t>
              </a:r>
              <a:r>
                <a:rPr lang="zh-CN" altLang="en-US">
                  <a:sym typeface="Symbol" pitchFamily="18" charset="2"/>
                </a:rPr>
                <a:t>电阻关系</a:t>
              </a:r>
              <a:r>
                <a:rPr lang="en-US" altLang="zh-CN">
                  <a:sym typeface="Symbol" pitchFamily="18" charset="2"/>
                </a:rPr>
                <a:t>:</a:t>
              </a:r>
            </a:p>
          </p:txBody>
        </p:sp>
        <p:sp>
          <p:nvSpPr>
            <p:cNvPr id="250885" name="AutoShape 5"/>
            <p:cNvSpPr>
              <a:spLocks/>
            </p:cNvSpPr>
            <p:nvPr/>
          </p:nvSpPr>
          <p:spPr bwMode="auto">
            <a:xfrm>
              <a:off x="657" y="653"/>
              <a:ext cx="58" cy="1248"/>
            </a:xfrm>
            <a:prstGeom prst="leftBracket">
              <a:avLst>
                <a:gd name="adj" fmla="val 179310"/>
              </a:avLst>
            </a:prstGeom>
            <a:noFill/>
            <a:ln w="2540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0886" name="Group 6"/>
          <p:cNvGrpSpPr>
            <a:grpSpLocks/>
          </p:cNvGrpSpPr>
          <p:nvPr/>
        </p:nvGrpSpPr>
        <p:grpSpPr bwMode="auto">
          <a:xfrm>
            <a:off x="6088063" y="1446213"/>
            <a:ext cx="2076450" cy="2063750"/>
            <a:chOff x="3971" y="1488"/>
            <a:chExt cx="1308" cy="1300"/>
          </a:xfrm>
        </p:grpSpPr>
        <p:sp>
          <p:nvSpPr>
            <p:cNvPr id="250887" name="Line 7"/>
            <p:cNvSpPr>
              <a:spLocks noChangeShapeType="1"/>
            </p:cNvSpPr>
            <p:nvPr/>
          </p:nvSpPr>
          <p:spPr bwMode="auto">
            <a:xfrm flipH="1">
              <a:off x="3971" y="1488"/>
              <a:ext cx="661" cy="104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888" name="Line 8"/>
            <p:cNvSpPr>
              <a:spLocks noChangeShapeType="1"/>
            </p:cNvSpPr>
            <p:nvPr/>
          </p:nvSpPr>
          <p:spPr bwMode="auto">
            <a:xfrm>
              <a:off x="3971" y="2535"/>
              <a:ext cx="12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889" name="Line 9"/>
            <p:cNvSpPr>
              <a:spLocks noChangeShapeType="1"/>
            </p:cNvSpPr>
            <p:nvPr/>
          </p:nvSpPr>
          <p:spPr bwMode="auto">
            <a:xfrm>
              <a:off x="4632" y="1488"/>
              <a:ext cx="587" cy="104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890" name="Line 10"/>
            <p:cNvSpPr>
              <a:spLocks noChangeShapeType="1"/>
            </p:cNvSpPr>
            <p:nvPr/>
          </p:nvSpPr>
          <p:spPr bwMode="auto">
            <a:xfrm>
              <a:off x="4632" y="1488"/>
              <a:ext cx="0" cy="6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891" name="Line 11"/>
            <p:cNvSpPr>
              <a:spLocks noChangeShapeType="1"/>
            </p:cNvSpPr>
            <p:nvPr/>
          </p:nvSpPr>
          <p:spPr bwMode="auto">
            <a:xfrm flipH="1">
              <a:off x="3971" y="2161"/>
              <a:ext cx="661" cy="3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892" name="Line 12"/>
            <p:cNvSpPr>
              <a:spLocks noChangeShapeType="1"/>
            </p:cNvSpPr>
            <p:nvPr/>
          </p:nvSpPr>
          <p:spPr bwMode="auto">
            <a:xfrm>
              <a:off x="4632" y="2161"/>
              <a:ext cx="587" cy="3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893" name="Text Box 13"/>
            <p:cNvSpPr txBox="1">
              <a:spLocks noChangeArrowheads="1"/>
            </p:cNvSpPr>
            <p:nvPr/>
          </p:nvSpPr>
          <p:spPr bwMode="auto">
            <a:xfrm>
              <a:off x="4923" y="1788"/>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00CC66"/>
                  </a:solidFill>
                </a:rPr>
                <a:t>R</a:t>
              </a:r>
              <a:r>
                <a:rPr lang="en-US" altLang="zh-CN" sz="1400">
                  <a:solidFill>
                    <a:srgbClr val="00CC66"/>
                  </a:solidFill>
                </a:rPr>
                <a:t>31</a:t>
              </a:r>
              <a:endParaRPr lang="en-US" altLang="zh-CN" i="1"/>
            </a:p>
          </p:txBody>
        </p:sp>
        <p:sp>
          <p:nvSpPr>
            <p:cNvPr id="250894" name="Text Box 14"/>
            <p:cNvSpPr txBox="1">
              <a:spLocks noChangeArrowheads="1"/>
            </p:cNvSpPr>
            <p:nvPr/>
          </p:nvSpPr>
          <p:spPr bwMode="auto">
            <a:xfrm>
              <a:off x="4444" y="2500"/>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dirty="0">
                  <a:solidFill>
                    <a:srgbClr val="00CC66"/>
                  </a:solidFill>
                </a:rPr>
                <a:t>R</a:t>
              </a:r>
              <a:r>
                <a:rPr lang="en-US" altLang="zh-CN" sz="1400" dirty="0">
                  <a:solidFill>
                    <a:srgbClr val="00CC66"/>
                  </a:solidFill>
                </a:rPr>
                <a:t>23</a:t>
              </a:r>
              <a:endParaRPr lang="en-US" altLang="zh-CN" i="1" dirty="0"/>
            </a:p>
          </p:txBody>
        </p:sp>
        <p:sp>
          <p:nvSpPr>
            <p:cNvPr id="250895" name="Text Box 15"/>
            <p:cNvSpPr txBox="1">
              <a:spLocks noChangeArrowheads="1"/>
            </p:cNvSpPr>
            <p:nvPr/>
          </p:nvSpPr>
          <p:spPr bwMode="auto">
            <a:xfrm>
              <a:off x="3971" y="1749"/>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00CC66"/>
                  </a:solidFill>
                </a:rPr>
                <a:t>R</a:t>
              </a:r>
              <a:r>
                <a:rPr lang="en-US" altLang="zh-CN" sz="1400">
                  <a:solidFill>
                    <a:srgbClr val="00CC66"/>
                  </a:solidFill>
                </a:rPr>
                <a:t>12</a:t>
              </a:r>
              <a:endParaRPr lang="en-US" altLang="zh-CN" i="1"/>
            </a:p>
          </p:txBody>
        </p:sp>
        <p:sp>
          <p:nvSpPr>
            <p:cNvPr id="250896" name="Text Box 16"/>
            <p:cNvSpPr txBox="1">
              <a:spLocks noChangeArrowheads="1"/>
            </p:cNvSpPr>
            <p:nvPr/>
          </p:nvSpPr>
          <p:spPr bwMode="auto">
            <a:xfrm>
              <a:off x="4754" y="2037"/>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FF0000"/>
                  </a:solidFill>
                </a:rPr>
                <a:t>R</a:t>
              </a:r>
              <a:r>
                <a:rPr lang="en-US" altLang="zh-CN" sz="1400">
                  <a:solidFill>
                    <a:srgbClr val="FF0000"/>
                  </a:solidFill>
                </a:rPr>
                <a:t>3</a:t>
              </a:r>
              <a:endParaRPr lang="en-US" altLang="zh-CN" i="1"/>
            </a:p>
          </p:txBody>
        </p:sp>
        <p:sp>
          <p:nvSpPr>
            <p:cNvPr id="250897" name="Text Box 17"/>
            <p:cNvSpPr txBox="1">
              <a:spLocks noChangeArrowheads="1"/>
            </p:cNvSpPr>
            <p:nvPr/>
          </p:nvSpPr>
          <p:spPr bwMode="auto">
            <a:xfrm>
              <a:off x="4339" y="2220"/>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i="1">
                  <a:solidFill>
                    <a:srgbClr val="FF0000"/>
                  </a:solidFill>
                </a:rPr>
                <a:t>R</a:t>
              </a:r>
              <a:r>
                <a:rPr lang="en-US" altLang="zh-CN" sz="1400">
                  <a:solidFill>
                    <a:srgbClr val="FF0000"/>
                  </a:solidFill>
                </a:rPr>
                <a:t>2</a:t>
              </a:r>
              <a:endParaRPr lang="en-US" altLang="zh-CN" i="1"/>
            </a:p>
          </p:txBody>
        </p:sp>
        <p:sp>
          <p:nvSpPr>
            <p:cNvPr id="250898" name="Text Box 18"/>
            <p:cNvSpPr txBox="1">
              <a:spLocks noChangeArrowheads="1"/>
            </p:cNvSpPr>
            <p:nvPr/>
          </p:nvSpPr>
          <p:spPr bwMode="auto">
            <a:xfrm>
              <a:off x="4380" y="1749"/>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lang="en-US" altLang="zh-CN" i="1">
                  <a:solidFill>
                    <a:srgbClr val="FF0000"/>
                  </a:solidFill>
                </a:rPr>
                <a:t>R</a:t>
              </a:r>
              <a:r>
                <a:rPr lang="en-US" altLang="zh-CN" sz="1400">
                  <a:solidFill>
                    <a:srgbClr val="FF0000"/>
                  </a:solidFill>
                </a:rPr>
                <a:t>1</a:t>
              </a:r>
              <a:endParaRPr lang="en-US" altLang="zh-CN" i="1"/>
            </a:p>
          </p:txBody>
        </p:sp>
      </p:grpSp>
      <p:grpSp>
        <p:nvGrpSpPr>
          <p:cNvPr id="250899" name="Group 19"/>
          <p:cNvGrpSpPr>
            <a:grpSpLocks/>
          </p:cNvGrpSpPr>
          <p:nvPr/>
        </p:nvGrpSpPr>
        <p:grpSpPr bwMode="auto">
          <a:xfrm>
            <a:off x="6578600" y="4695825"/>
            <a:ext cx="1295400" cy="1066800"/>
            <a:chOff x="2544" y="1824"/>
            <a:chExt cx="816" cy="672"/>
          </a:xfrm>
        </p:grpSpPr>
        <p:sp>
          <p:nvSpPr>
            <p:cNvPr id="250900" name="Line 20"/>
            <p:cNvSpPr>
              <a:spLocks noChangeShapeType="1"/>
            </p:cNvSpPr>
            <p:nvPr/>
          </p:nvSpPr>
          <p:spPr bwMode="auto">
            <a:xfrm flipH="1">
              <a:off x="2544" y="1824"/>
              <a:ext cx="432"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901" name="Line 21"/>
            <p:cNvSpPr>
              <a:spLocks noChangeShapeType="1"/>
            </p:cNvSpPr>
            <p:nvPr/>
          </p:nvSpPr>
          <p:spPr bwMode="auto">
            <a:xfrm>
              <a:off x="2544" y="2496"/>
              <a:ext cx="8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902" name="Line 22"/>
            <p:cNvSpPr>
              <a:spLocks noChangeShapeType="1"/>
            </p:cNvSpPr>
            <p:nvPr/>
          </p:nvSpPr>
          <p:spPr bwMode="auto">
            <a:xfrm>
              <a:off x="2976" y="1824"/>
              <a:ext cx="384" cy="67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903" name="Line 23"/>
            <p:cNvSpPr>
              <a:spLocks noChangeShapeType="1"/>
            </p:cNvSpPr>
            <p:nvPr/>
          </p:nvSpPr>
          <p:spPr bwMode="auto">
            <a:xfrm>
              <a:off x="2976" y="1824"/>
              <a:ext cx="0"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904" name="Line 24"/>
            <p:cNvSpPr>
              <a:spLocks noChangeShapeType="1"/>
            </p:cNvSpPr>
            <p:nvPr/>
          </p:nvSpPr>
          <p:spPr bwMode="auto">
            <a:xfrm flipH="1">
              <a:off x="2544" y="2256"/>
              <a:ext cx="432"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905" name="Line 25"/>
            <p:cNvSpPr>
              <a:spLocks noChangeShapeType="1"/>
            </p:cNvSpPr>
            <p:nvPr/>
          </p:nvSpPr>
          <p:spPr bwMode="auto">
            <a:xfrm>
              <a:off x="2976" y="2256"/>
              <a:ext cx="384"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906" name="Text Box 26"/>
            <p:cNvSpPr txBox="1">
              <a:spLocks noChangeArrowheads="1"/>
            </p:cNvSpPr>
            <p:nvPr/>
          </p:nvSpPr>
          <p:spPr bwMode="auto">
            <a:xfrm>
              <a:off x="2928" y="2007"/>
              <a:ext cx="1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0000"/>
                  </a:solidFill>
                </a:rPr>
                <a:t>1</a:t>
              </a:r>
              <a:endParaRPr lang="en-US" altLang="zh-CN"/>
            </a:p>
          </p:txBody>
        </p:sp>
        <p:sp>
          <p:nvSpPr>
            <p:cNvPr id="250907" name="Text Box 27"/>
            <p:cNvSpPr txBox="1">
              <a:spLocks noChangeArrowheads="1"/>
            </p:cNvSpPr>
            <p:nvPr/>
          </p:nvSpPr>
          <p:spPr bwMode="auto">
            <a:xfrm>
              <a:off x="3120" y="1920"/>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00CC66"/>
                  </a:solidFill>
                </a:rPr>
                <a:t>3</a:t>
              </a:r>
              <a:endParaRPr lang="en-US" altLang="zh-CN"/>
            </a:p>
          </p:txBody>
        </p:sp>
      </p:grpSp>
      <p:grpSp>
        <p:nvGrpSpPr>
          <p:cNvPr id="250908" name="Group 28"/>
          <p:cNvGrpSpPr>
            <a:grpSpLocks/>
          </p:cNvGrpSpPr>
          <p:nvPr/>
        </p:nvGrpSpPr>
        <p:grpSpPr bwMode="auto">
          <a:xfrm>
            <a:off x="793750" y="4683125"/>
            <a:ext cx="5238750" cy="1552575"/>
            <a:chOff x="470" y="2788"/>
            <a:chExt cx="3300" cy="978"/>
          </a:xfrm>
        </p:grpSpPr>
        <p:sp>
          <p:nvSpPr>
            <p:cNvPr id="250909" name="Text Box 29"/>
            <p:cNvSpPr txBox="1">
              <a:spLocks noChangeArrowheads="1"/>
            </p:cNvSpPr>
            <p:nvPr/>
          </p:nvSpPr>
          <p:spPr bwMode="auto">
            <a:xfrm>
              <a:off x="470" y="2788"/>
              <a:ext cx="3300"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dirty="0"/>
                <a:t>特例：</a:t>
              </a:r>
            </a:p>
            <a:p>
              <a:pPr algn="l">
                <a:spcBef>
                  <a:spcPct val="50000"/>
                </a:spcBef>
              </a:pPr>
              <a:r>
                <a:rPr lang="zh-CN" altLang="en-US" dirty="0"/>
                <a:t>     若三个电阻相等</a:t>
              </a:r>
              <a:r>
                <a:rPr lang="en-US" altLang="zh-CN" dirty="0"/>
                <a:t>(</a:t>
              </a:r>
              <a:r>
                <a:rPr lang="zh-CN" altLang="en-US" dirty="0"/>
                <a:t>对称</a:t>
              </a:r>
              <a:r>
                <a:rPr lang="en-US" altLang="zh-CN" dirty="0"/>
                <a:t>)</a:t>
              </a:r>
              <a:r>
                <a:rPr lang="zh-CN" altLang="en-US" dirty="0"/>
                <a:t>，则有</a:t>
              </a:r>
            </a:p>
          </p:txBody>
        </p:sp>
        <p:graphicFrame>
          <p:nvGraphicFramePr>
            <p:cNvPr id="250910" name="Object 30"/>
            <p:cNvGraphicFramePr>
              <a:graphicFrameLocks noChangeAspect="1"/>
            </p:cNvGraphicFramePr>
            <p:nvPr/>
          </p:nvGraphicFramePr>
          <p:xfrm>
            <a:off x="1652" y="3436"/>
            <a:ext cx="992" cy="330"/>
          </p:xfrm>
          <a:graphic>
            <a:graphicData uri="http://schemas.openxmlformats.org/presentationml/2006/ole">
              <mc:AlternateContent xmlns:mc="http://schemas.openxmlformats.org/markup-compatibility/2006">
                <mc:Choice xmlns:v="urn:schemas-microsoft-com:vml" Requires="v">
                  <p:oleObj spid="_x0000_s251532" name="Equation" r:id="rId3" imgW="647640" imgH="215640" progId="Equation.3">
                    <p:embed/>
                  </p:oleObj>
                </mc:Choice>
                <mc:Fallback>
                  <p:oleObj name="Equation" r:id="rId3" imgW="647640" imgH="215640"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2" y="3436"/>
                          <a:ext cx="99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0911" name="Object 31"/>
          <p:cNvGraphicFramePr>
            <a:graphicFrameLocks noChangeAspect="1"/>
          </p:cNvGraphicFramePr>
          <p:nvPr>
            <p:extLst>
              <p:ext uri="{D42A27DB-BD31-4B8C-83A1-F6EECF244321}">
                <p14:modId xmlns:p14="http://schemas.microsoft.com/office/powerpoint/2010/main" val="2791711679"/>
              </p:ext>
            </p:extLst>
          </p:nvPr>
        </p:nvGraphicFramePr>
        <p:xfrm>
          <a:off x="2159000" y="3830638"/>
          <a:ext cx="2715297" cy="865187"/>
        </p:xfrm>
        <a:graphic>
          <a:graphicData uri="http://schemas.openxmlformats.org/presentationml/2006/ole">
            <mc:AlternateContent xmlns:mc="http://schemas.openxmlformats.org/markup-compatibility/2006">
              <mc:Choice xmlns:v="urn:schemas-microsoft-com:vml" Requires="v">
                <p:oleObj spid="_x0000_s251533" name="Equation" r:id="rId5" imgW="1434960" imgH="457200" progId="Equation.3">
                  <p:embed/>
                </p:oleObj>
              </mc:Choice>
              <mc:Fallback>
                <p:oleObj name="Equation" r:id="rId5" imgW="1434960" imgH="457200" progId="Equation.3">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9000" y="3830638"/>
                        <a:ext cx="2715297" cy="865187"/>
                      </a:xfrm>
                      <a:prstGeom prst="rect">
                        <a:avLst/>
                      </a:prstGeom>
                      <a:noFill/>
                      <a:ln>
                        <a:noFill/>
                      </a:ln>
                      <a:effectLst/>
                      <a:extLst/>
                    </p:spPr>
                  </p:pic>
                </p:oleObj>
              </mc:Fallback>
            </mc:AlternateContent>
          </a:graphicData>
        </a:graphic>
      </p:graphicFrame>
      <p:sp>
        <p:nvSpPr>
          <p:cNvPr id="250912" name="Text Box 32"/>
          <p:cNvSpPr txBox="1">
            <a:spLocks noChangeArrowheads="1"/>
          </p:cNvSpPr>
          <p:nvPr/>
        </p:nvSpPr>
        <p:spPr bwMode="auto">
          <a:xfrm>
            <a:off x="6997700" y="1062038"/>
            <a:ext cx="311150"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t>1</a:t>
            </a:r>
          </a:p>
        </p:txBody>
      </p:sp>
      <p:sp>
        <p:nvSpPr>
          <p:cNvPr id="250913" name="Text Box 33"/>
          <p:cNvSpPr txBox="1">
            <a:spLocks noChangeArrowheads="1"/>
          </p:cNvSpPr>
          <p:nvPr/>
        </p:nvSpPr>
        <p:spPr bwMode="auto">
          <a:xfrm>
            <a:off x="5740400" y="2947988"/>
            <a:ext cx="311150"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t>2</a:t>
            </a:r>
          </a:p>
        </p:txBody>
      </p:sp>
      <p:sp>
        <p:nvSpPr>
          <p:cNvPr id="250914" name="Text Box 34"/>
          <p:cNvSpPr txBox="1">
            <a:spLocks noChangeArrowheads="1"/>
          </p:cNvSpPr>
          <p:nvPr/>
        </p:nvSpPr>
        <p:spPr bwMode="auto">
          <a:xfrm>
            <a:off x="8121650" y="2967038"/>
            <a:ext cx="311150"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t>3</a:t>
            </a:r>
          </a:p>
        </p:txBody>
      </p:sp>
      <p:sp>
        <p:nvSpPr>
          <p:cNvPr id="2" name="Rectangle 456"/>
          <p:cNvSpPr>
            <a:spLocks noChangeArrowheads="1"/>
          </p:cNvSpPr>
          <p:nvPr/>
        </p:nvSpPr>
        <p:spPr bwMode="auto">
          <a:xfrm>
            <a:off x="365126" y="69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223879366"/>
              </p:ext>
            </p:extLst>
          </p:nvPr>
        </p:nvGraphicFramePr>
        <p:xfrm>
          <a:off x="1816100" y="1068383"/>
          <a:ext cx="2314465" cy="2537791"/>
        </p:xfrm>
        <a:graphic>
          <a:graphicData uri="http://schemas.openxmlformats.org/presentationml/2006/ole">
            <mc:AlternateContent xmlns:mc="http://schemas.openxmlformats.org/markup-compatibility/2006">
              <mc:Choice xmlns:v="urn:schemas-microsoft-com:vml" Requires="v">
                <p:oleObj spid="_x0000_s251534" name="Equation" r:id="rId7" imgW="1092200" imgH="1193800" progId="Equation.DSMT4">
                  <p:embed/>
                </p:oleObj>
              </mc:Choice>
              <mc:Fallback>
                <p:oleObj name="Equation" r:id="rId7" imgW="1092200" imgH="1193800" progId="Equation.DSMT4">
                  <p:embed/>
                  <p:pic>
                    <p:nvPicPr>
                      <p:cNvPr id="0" name="Object 4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16100" y="1068383"/>
                        <a:ext cx="2314465" cy="2537791"/>
                      </a:xfrm>
                      <a:prstGeom prst="rect">
                        <a:avLst/>
                      </a:prstGeom>
                      <a:noFill/>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0911"/>
                                        </p:tgtEl>
                                        <p:attrNameLst>
                                          <p:attrName>style.visibility</p:attrName>
                                        </p:attrNameLst>
                                      </p:cBhvr>
                                      <p:to>
                                        <p:strVal val="visible"/>
                                      </p:to>
                                    </p:set>
                                    <p:animEffect transition="in" filter="wipe(left)">
                                      <p:cBhvr>
                                        <p:cTn id="7" dur="500"/>
                                        <p:tgtEl>
                                          <p:spTgt spid="2509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0908"/>
                                        </p:tgtEl>
                                        <p:attrNameLst>
                                          <p:attrName>style.visibility</p:attrName>
                                        </p:attrNameLst>
                                      </p:cBhvr>
                                      <p:to>
                                        <p:strVal val="visible"/>
                                      </p:to>
                                    </p:set>
                                    <p:animEffect transition="in" filter="wipe(left)">
                                      <p:cBhvr>
                                        <p:cTn id="12" dur="500"/>
                                        <p:tgtEl>
                                          <p:spTgt spid="2509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50899"/>
                                        </p:tgtEl>
                                        <p:attrNameLst>
                                          <p:attrName>style.visibility</p:attrName>
                                        </p:attrNameLst>
                                      </p:cBhvr>
                                      <p:to>
                                        <p:strVal val="visible"/>
                                      </p:to>
                                    </p:set>
                                    <p:animEffect transition="in" filter="box(out)">
                                      <p:cBhvr>
                                        <p:cTn id="17" dur="500"/>
                                        <p:tgtEl>
                                          <p:spTgt spid="250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858" name="Rectangle 66"/>
          <p:cNvSpPr>
            <a:spLocks noChangeArrowheads="1"/>
          </p:cNvSpPr>
          <p:nvPr/>
        </p:nvSpPr>
        <p:spPr bwMode="auto">
          <a:xfrm>
            <a:off x="685800" y="577964"/>
            <a:ext cx="7515225" cy="519113"/>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pPr eaLnBrk="0" hangingPunct="0"/>
            <a:r>
              <a:rPr lang="en-US" altLang="zh-CN" sz="2800" dirty="0" smtClean="0">
                <a:solidFill>
                  <a:schemeClr val="tx2"/>
                </a:solidFill>
              </a:rPr>
              <a:t>2.4 </a:t>
            </a:r>
            <a:r>
              <a:rPr lang="zh-CN" altLang="en-US" sz="2800" dirty="0" smtClean="0">
                <a:solidFill>
                  <a:schemeClr val="tx2"/>
                </a:solidFill>
              </a:rPr>
              <a:t>储能元件电路的等效变换</a:t>
            </a:r>
            <a:endParaRPr lang="en-US" altLang="zh-CN" sz="2800" dirty="0">
              <a:solidFill>
                <a:schemeClr val="tx2"/>
              </a:solidFill>
            </a:endParaRPr>
          </a:p>
        </p:txBody>
      </p:sp>
      <p:sp>
        <p:nvSpPr>
          <p:cNvPr id="65" name="Text Box 2"/>
          <p:cNvSpPr txBox="1">
            <a:spLocks noChangeArrowheads="1"/>
          </p:cNvSpPr>
          <p:nvPr/>
        </p:nvSpPr>
        <p:spPr bwMode="auto">
          <a:xfrm>
            <a:off x="685800" y="2052414"/>
            <a:ext cx="2236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dirty="0" smtClean="0">
                <a:solidFill>
                  <a:schemeClr val="accent2"/>
                </a:solidFill>
              </a:rPr>
              <a:t>1</a:t>
            </a:r>
            <a:r>
              <a:rPr lang="zh-CN" altLang="en-US" dirty="0" smtClean="0">
                <a:solidFill>
                  <a:schemeClr val="accent2"/>
                </a:solidFill>
              </a:rPr>
              <a:t>、电容</a:t>
            </a:r>
            <a:r>
              <a:rPr lang="zh-CN" altLang="en-US" dirty="0">
                <a:solidFill>
                  <a:schemeClr val="accent2"/>
                </a:solidFill>
              </a:rPr>
              <a:t>的串联</a:t>
            </a:r>
          </a:p>
        </p:txBody>
      </p:sp>
      <p:graphicFrame>
        <p:nvGraphicFramePr>
          <p:cNvPr id="95" name="Object 90"/>
          <p:cNvGraphicFramePr>
            <a:graphicFrameLocks noChangeAspect="1"/>
          </p:cNvGraphicFramePr>
          <p:nvPr>
            <p:extLst>
              <p:ext uri="{D42A27DB-BD31-4B8C-83A1-F6EECF244321}">
                <p14:modId xmlns:p14="http://schemas.microsoft.com/office/powerpoint/2010/main" val="3435080530"/>
              </p:ext>
            </p:extLst>
          </p:nvPr>
        </p:nvGraphicFramePr>
        <p:xfrm>
          <a:off x="1198562" y="2587213"/>
          <a:ext cx="2327275" cy="862012"/>
        </p:xfrm>
        <a:graphic>
          <a:graphicData uri="http://schemas.openxmlformats.org/presentationml/2006/ole">
            <mc:AlternateContent xmlns:mc="http://schemas.openxmlformats.org/markup-compatibility/2006">
              <mc:Choice xmlns:v="urn:schemas-microsoft-com:vml" Requires="v">
                <p:oleObj spid="_x0000_s401155" name="Equation" r:id="rId3" imgW="1015920" imgH="406080" progId="Equation.DSMT4">
                  <p:embed/>
                </p:oleObj>
              </mc:Choice>
              <mc:Fallback>
                <p:oleObj name="Equation" r:id="rId3" imgW="1015920" imgH="406080" progId="Equation.DSMT4">
                  <p:embed/>
                  <p:pic>
                    <p:nvPicPr>
                      <p:cNvPr id="0" name=""/>
                      <p:cNvPicPr preferRelativeResize="0">
                        <a:picLocks noChangeAspect="1" noChangeArrowheads="1"/>
                      </p:cNvPicPr>
                      <p:nvPr/>
                    </p:nvPicPr>
                    <p:blipFill>
                      <a:blip r:embed="rId4"/>
                      <a:srcRect/>
                      <a:stretch>
                        <a:fillRect/>
                      </a:stretch>
                    </p:blipFill>
                    <p:spPr bwMode="auto">
                      <a:xfrm>
                        <a:off x="1198562" y="2587213"/>
                        <a:ext cx="2327275" cy="8620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 name="Object 92"/>
          <p:cNvGraphicFramePr>
            <a:graphicFrameLocks noChangeAspect="1"/>
          </p:cNvGraphicFramePr>
          <p:nvPr>
            <p:extLst>
              <p:ext uri="{D42A27DB-BD31-4B8C-83A1-F6EECF244321}">
                <p14:modId xmlns:p14="http://schemas.microsoft.com/office/powerpoint/2010/main" val="3226731177"/>
              </p:ext>
            </p:extLst>
          </p:nvPr>
        </p:nvGraphicFramePr>
        <p:xfrm>
          <a:off x="1184530" y="3483948"/>
          <a:ext cx="3887787" cy="952500"/>
        </p:xfrm>
        <a:graphic>
          <a:graphicData uri="http://schemas.openxmlformats.org/presentationml/2006/ole">
            <mc:AlternateContent xmlns:mc="http://schemas.openxmlformats.org/markup-compatibility/2006">
              <mc:Choice xmlns:v="urn:schemas-microsoft-com:vml" Requires="v">
                <p:oleObj spid="_x0000_s401156" name="Equation" r:id="rId5" imgW="1536480" imgH="406080" progId="Equation.DSMT4">
                  <p:embed/>
                </p:oleObj>
              </mc:Choice>
              <mc:Fallback>
                <p:oleObj name="Equation" r:id="rId5" imgW="1536480" imgH="406080" progId="Equation.DSMT4">
                  <p:embed/>
                  <p:pic>
                    <p:nvPicPr>
                      <p:cNvPr id="0" name=""/>
                      <p:cNvPicPr preferRelativeResize="0">
                        <a:picLocks noChangeAspect="1" noChangeArrowheads="1"/>
                      </p:cNvPicPr>
                      <p:nvPr/>
                    </p:nvPicPr>
                    <p:blipFill>
                      <a:blip r:embed="rId6"/>
                      <a:srcRect/>
                      <a:stretch>
                        <a:fillRect/>
                      </a:stretch>
                    </p:blipFill>
                    <p:spPr bwMode="auto">
                      <a:xfrm>
                        <a:off x="1184530" y="3483948"/>
                        <a:ext cx="3887787" cy="952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 name="Object 93"/>
          <p:cNvGraphicFramePr>
            <a:graphicFrameLocks noChangeAspect="1"/>
          </p:cNvGraphicFramePr>
          <p:nvPr>
            <p:extLst>
              <p:ext uri="{D42A27DB-BD31-4B8C-83A1-F6EECF244321}">
                <p14:modId xmlns:p14="http://schemas.microsoft.com/office/powerpoint/2010/main" val="4246515843"/>
              </p:ext>
            </p:extLst>
          </p:nvPr>
        </p:nvGraphicFramePr>
        <p:xfrm>
          <a:off x="1387805" y="4249413"/>
          <a:ext cx="1920875" cy="793750"/>
        </p:xfrm>
        <a:graphic>
          <a:graphicData uri="http://schemas.openxmlformats.org/presentationml/2006/ole">
            <mc:AlternateContent xmlns:mc="http://schemas.openxmlformats.org/markup-compatibility/2006">
              <mc:Choice xmlns:v="urn:schemas-microsoft-com:vml" Requires="v">
                <p:oleObj spid="_x0000_s401157" name="Equation" r:id="rId7" imgW="825480" imgH="368280" progId="Equation.DSMT4">
                  <p:embed/>
                </p:oleObj>
              </mc:Choice>
              <mc:Fallback>
                <p:oleObj name="Equation" r:id="rId7" imgW="825480" imgH="368280" progId="Equation.DSMT4">
                  <p:embed/>
                  <p:pic>
                    <p:nvPicPr>
                      <p:cNvPr id="0" name=""/>
                      <p:cNvPicPr preferRelativeResize="0">
                        <a:picLocks noChangeAspect="1" noChangeArrowheads="1"/>
                      </p:cNvPicPr>
                      <p:nvPr/>
                    </p:nvPicPr>
                    <p:blipFill>
                      <a:blip r:embed="rId8"/>
                      <a:srcRect/>
                      <a:stretch>
                        <a:fillRect/>
                      </a:stretch>
                    </p:blipFill>
                    <p:spPr bwMode="auto">
                      <a:xfrm>
                        <a:off x="1387805" y="4249413"/>
                        <a:ext cx="1920875" cy="7937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0" name="组合 99"/>
          <p:cNvGrpSpPr/>
          <p:nvPr/>
        </p:nvGrpSpPr>
        <p:grpSpPr>
          <a:xfrm>
            <a:off x="5599113" y="1087272"/>
            <a:ext cx="2516284" cy="3081359"/>
            <a:chOff x="5599113" y="1087272"/>
            <a:chExt cx="2516284" cy="3081359"/>
          </a:xfrm>
        </p:grpSpPr>
        <p:grpSp>
          <p:nvGrpSpPr>
            <p:cNvPr id="101" name="Group 64"/>
            <p:cNvGrpSpPr>
              <a:grpSpLocks/>
            </p:cNvGrpSpPr>
            <p:nvPr/>
          </p:nvGrpSpPr>
          <p:grpSpPr bwMode="auto">
            <a:xfrm>
              <a:off x="5599113" y="1087272"/>
              <a:ext cx="2501900" cy="3081359"/>
              <a:chOff x="3391" y="214"/>
              <a:chExt cx="1576" cy="1941"/>
            </a:xfrm>
          </p:grpSpPr>
          <p:sp>
            <p:nvSpPr>
              <p:cNvPr id="110" name="Line 65"/>
              <p:cNvSpPr>
                <a:spLocks noChangeShapeType="1"/>
              </p:cNvSpPr>
              <p:nvPr/>
            </p:nvSpPr>
            <p:spPr bwMode="auto">
              <a:xfrm>
                <a:off x="3651" y="527"/>
                <a:ext cx="726"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1" name="Line 66"/>
              <p:cNvSpPr>
                <a:spLocks noChangeShapeType="1"/>
              </p:cNvSpPr>
              <p:nvPr/>
            </p:nvSpPr>
            <p:spPr bwMode="auto">
              <a:xfrm>
                <a:off x="3651" y="2102"/>
                <a:ext cx="726"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2" name="Line 67"/>
              <p:cNvSpPr>
                <a:spLocks noChangeShapeType="1"/>
              </p:cNvSpPr>
              <p:nvPr/>
            </p:nvSpPr>
            <p:spPr bwMode="auto">
              <a:xfrm>
                <a:off x="4377" y="527"/>
                <a:ext cx="0" cy="196"/>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3" name="Line 68"/>
              <p:cNvSpPr>
                <a:spLocks noChangeShapeType="1"/>
              </p:cNvSpPr>
              <p:nvPr/>
            </p:nvSpPr>
            <p:spPr bwMode="auto">
              <a:xfrm>
                <a:off x="4382" y="845"/>
                <a:ext cx="3" cy="146"/>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4" name="Line 69"/>
              <p:cNvSpPr>
                <a:spLocks noChangeShapeType="1"/>
              </p:cNvSpPr>
              <p:nvPr/>
            </p:nvSpPr>
            <p:spPr bwMode="auto">
              <a:xfrm flipV="1">
                <a:off x="4377" y="1930"/>
                <a:ext cx="0" cy="172"/>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115" name="Group 70"/>
              <p:cNvGrpSpPr>
                <a:grpSpLocks/>
              </p:cNvGrpSpPr>
              <p:nvPr/>
            </p:nvGrpSpPr>
            <p:grpSpPr bwMode="auto">
              <a:xfrm>
                <a:off x="4221" y="739"/>
                <a:ext cx="318" cy="90"/>
                <a:chOff x="4039" y="1057"/>
                <a:chExt cx="318" cy="90"/>
              </a:xfrm>
            </p:grpSpPr>
            <p:sp>
              <p:nvSpPr>
                <p:cNvPr id="134" name="Line 71"/>
                <p:cNvSpPr>
                  <a:spLocks noChangeShapeType="1"/>
                </p:cNvSpPr>
                <p:nvPr/>
              </p:nvSpPr>
              <p:spPr bwMode="auto">
                <a:xfrm>
                  <a:off x="4039" y="105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35" name="Line 72"/>
                <p:cNvSpPr>
                  <a:spLocks noChangeShapeType="1"/>
                </p:cNvSpPr>
                <p:nvPr/>
              </p:nvSpPr>
              <p:spPr bwMode="auto">
                <a:xfrm>
                  <a:off x="4039" y="114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grpSp>
            <p:nvGrpSpPr>
              <p:cNvPr id="116" name="Group 73"/>
              <p:cNvGrpSpPr>
                <a:grpSpLocks/>
              </p:cNvGrpSpPr>
              <p:nvPr/>
            </p:nvGrpSpPr>
            <p:grpSpPr bwMode="auto">
              <a:xfrm>
                <a:off x="4226" y="1824"/>
                <a:ext cx="318" cy="90"/>
                <a:chOff x="4044" y="1552"/>
                <a:chExt cx="318" cy="90"/>
              </a:xfrm>
            </p:grpSpPr>
            <p:sp>
              <p:nvSpPr>
                <p:cNvPr id="132" name="Line 74"/>
                <p:cNvSpPr>
                  <a:spLocks noChangeShapeType="1"/>
                </p:cNvSpPr>
                <p:nvPr/>
              </p:nvSpPr>
              <p:spPr bwMode="auto">
                <a:xfrm>
                  <a:off x="4044" y="1552"/>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33" name="Line 75"/>
                <p:cNvSpPr>
                  <a:spLocks noChangeShapeType="1"/>
                </p:cNvSpPr>
                <p:nvPr/>
              </p:nvSpPr>
              <p:spPr bwMode="auto">
                <a:xfrm>
                  <a:off x="4044" y="1642"/>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117" name="Oval 76" descr="斜纹布"/>
              <p:cNvSpPr>
                <a:spLocks noChangeArrowheads="1"/>
              </p:cNvSpPr>
              <p:nvPr/>
            </p:nvSpPr>
            <p:spPr bwMode="auto">
              <a:xfrm>
                <a:off x="3560" y="482"/>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8" name="Oval 77" descr="斜纹布"/>
              <p:cNvSpPr>
                <a:spLocks noChangeArrowheads="1"/>
              </p:cNvSpPr>
              <p:nvPr/>
            </p:nvSpPr>
            <p:spPr bwMode="auto">
              <a:xfrm>
                <a:off x="3560" y="2056"/>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9" name="Text Box 78" descr="斜纹布"/>
              <p:cNvSpPr txBox="1">
                <a:spLocks noChangeArrowheads="1"/>
              </p:cNvSpPr>
              <p:nvPr/>
            </p:nvSpPr>
            <p:spPr bwMode="auto">
              <a:xfrm>
                <a:off x="4513" y="603"/>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sym typeface="Symbol" pitchFamily="18" charset="2"/>
                  </a:rPr>
                  <a:t>v</a:t>
                </a:r>
                <a:r>
                  <a:rPr kumimoji="1" lang="en-US" altLang="zh-CN" b="0" baseline="-25000" dirty="0" smtClean="0">
                    <a:solidFill>
                      <a:schemeClr val="tx1"/>
                    </a:solidFill>
                    <a:latin typeface="Times New Roman" pitchFamily="18" charset="0"/>
                    <a:sym typeface="Symbol" pitchFamily="18" charset="2"/>
                  </a:rPr>
                  <a:t>1</a:t>
                </a:r>
                <a:endParaRPr kumimoji="1" lang="en-US" altLang="zh-CN" b="0" baseline="-25000" dirty="0">
                  <a:solidFill>
                    <a:schemeClr val="tx1"/>
                  </a:solidFill>
                  <a:latin typeface="Times New Roman" pitchFamily="18" charset="0"/>
                  <a:sym typeface="Symbol" pitchFamily="18" charset="2"/>
                </a:endParaRPr>
              </a:p>
            </p:txBody>
          </p:sp>
          <p:sp>
            <p:nvSpPr>
              <p:cNvPr id="120" name="Text Box 79" descr="斜纹布"/>
              <p:cNvSpPr txBox="1">
                <a:spLocks noChangeArrowheads="1"/>
              </p:cNvSpPr>
              <p:nvPr/>
            </p:nvSpPr>
            <p:spPr bwMode="auto">
              <a:xfrm>
                <a:off x="3391" y="1101"/>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sym typeface="Symbol" pitchFamily="18" charset="2"/>
                  </a:rPr>
                  <a:t>v</a:t>
                </a:r>
                <a:endParaRPr kumimoji="1" lang="en-US" altLang="zh-CN" b="0" baseline="-25000" dirty="0">
                  <a:solidFill>
                    <a:schemeClr val="tx1"/>
                  </a:solidFill>
                  <a:latin typeface="Times New Roman" pitchFamily="18" charset="0"/>
                  <a:sym typeface="Symbol" pitchFamily="18" charset="2"/>
                </a:endParaRPr>
              </a:p>
            </p:txBody>
          </p:sp>
          <p:sp>
            <p:nvSpPr>
              <p:cNvPr id="121" name="Text Box 80" descr="斜纹布"/>
              <p:cNvSpPr txBox="1">
                <a:spLocks noChangeArrowheads="1"/>
              </p:cNvSpPr>
              <p:nvPr/>
            </p:nvSpPr>
            <p:spPr bwMode="auto">
              <a:xfrm>
                <a:off x="3858" y="1728"/>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sym typeface="Symbol" pitchFamily="18" charset="2"/>
                  </a:rPr>
                  <a:t>C</a:t>
                </a:r>
                <a:r>
                  <a:rPr kumimoji="1" lang="en-US" altLang="zh-CN" b="0" i="1" baseline="-25000" dirty="0" smtClean="0">
                    <a:solidFill>
                      <a:schemeClr val="tx1"/>
                    </a:solidFill>
                    <a:latin typeface="Times New Roman" pitchFamily="18" charset="0"/>
                    <a:sym typeface="Symbol" pitchFamily="18" charset="2"/>
                  </a:rPr>
                  <a:t>n</a:t>
                </a:r>
                <a:endParaRPr kumimoji="1" lang="en-US" altLang="zh-CN" b="0" i="1" baseline="-25000" dirty="0">
                  <a:solidFill>
                    <a:schemeClr val="tx1"/>
                  </a:solidFill>
                  <a:latin typeface="Times New Roman" pitchFamily="18" charset="0"/>
                  <a:sym typeface="Symbol" pitchFamily="18" charset="2"/>
                </a:endParaRPr>
              </a:p>
            </p:txBody>
          </p:sp>
          <p:sp>
            <p:nvSpPr>
              <p:cNvPr id="122" name="Text Box 81" descr="斜纹布"/>
              <p:cNvSpPr txBox="1">
                <a:spLocks noChangeArrowheads="1"/>
              </p:cNvSpPr>
              <p:nvPr/>
            </p:nvSpPr>
            <p:spPr bwMode="auto">
              <a:xfrm>
                <a:off x="3848" y="648"/>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a:solidFill>
                      <a:schemeClr val="tx1"/>
                    </a:solidFill>
                    <a:latin typeface="Times New Roman" pitchFamily="18" charset="0"/>
                    <a:sym typeface="Symbol" pitchFamily="18" charset="2"/>
                  </a:rPr>
                  <a:t>C</a:t>
                </a:r>
                <a:r>
                  <a:rPr kumimoji="1" lang="en-US" altLang="zh-CN" b="0" baseline="-25000" dirty="0">
                    <a:solidFill>
                      <a:schemeClr val="tx1"/>
                    </a:solidFill>
                    <a:latin typeface="Times New Roman" pitchFamily="18" charset="0"/>
                    <a:sym typeface="Symbol" pitchFamily="18" charset="2"/>
                  </a:rPr>
                  <a:t>1</a:t>
                </a:r>
              </a:p>
            </p:txBody>
          </p:sp>
          <p:sp>
            <p:nvSpPr>
              <p:cNvPr id="123" name="Text Box 82" descr="斜纹布"/>
              <p:cNvSpPr txBox="1">
                <a:spLocks noChangeArrowheads="1"/>
              </p:cNvSpPr>
              <p:nvPr/>
            </p:nvSpPr>
            <p:spPr bwMode="auto">
              <a:xfrm>
                <a:off x="4513" y="1693"/>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sym typeface="Symbol" pitchFamily="18" charset="2"/>
                  </a:rPr>
                  <a:t>v</a:t>
                </a:r>
                <a:r>
                  <a:rPr kumimoji="1" lang="en-US" altLang="zh-CN" b="0" i="1" baseline="-25000" dirty="0" err="1" smtClean="0">
                    <a:solidFill>
                      <a:schemeClr val="tx1"/>
                    </a:solidFill>
                    <a:latin typeface="Times New Roman" pitchFamily="18" charset="0"/>
                    <a:sym typeface="Symbol" pitchFamily="18" charset="2"/>
                  </a:rPr>
                  <a:t>n</a:t>
                </a:r>
                <a:endParaRPr kumimoji="1" lang="en-US" altLang="zh-CN" b="0" i="1" baseline="-25000" dirty="0">
                  <a:solidFill>
                    <a:schemeClr val="tx1"/>
                  </a:solidFill>
                  <a:latin typeface="Times New Roman" pitchFamily="18" charset="0"/>
                  <a:sym typeface="Symbol" pitchFamily="18" charset="2"/>
                </a:endParaRPr>
              </a:p>
            </p:txBody>
          </p:sp>
          <p:sp>
            <p:nvSpPr>
              <p:cNvPr id="124" name="Line 83"/>
              <p:cNvSpPr>
                <a:spLocks noChangeShapeType="1"/>
              </p:cNvSpPr>
              <p:nvPr/>
            </p:nvSpPr>
            <p:spPr bwMode="auto">
              <a:xfrm>
                <a:off x="3742" y="482"/>
                <a:ext cx="317" cy="0"/>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25" name="Text Box 84" descr="斜纹布"/>
              <p:cNvSpPr txBox="1">
                <a:spLocks noChangeArrowheads="1"/>
              </p:cNvSpPr>
              <p:nvPr/>
            </p:nvSpPr>
            <p:spPr bwMode="auto">
              <a:xfrm>
                <a:off x="4567" y="1531"/>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smtClean="0">
                    <a:solidFill>
                      <a:schemeClr val="tx1"/>
                    </a:solidFill>
                    <a:latin typeface="Times New Roman" pitchFamily="18" charset="0"/>
                    <a:sym typeface="Symbol" pitchFamily="18" charset="2"/>
                  </a:rPr>
                  <a:t>+</a:t>
                </a:r>
                <a:endParaRPr kumimoji="1" lang="en-US" altLang="zh-CN" sz="3200" b="0" dirty="0">
                  <a:solidFill>
                    <a:schemeClr val="tx1"/>
                  </a:solidFill>
                  <a:latin typeface="Times New Roman" pitchFamily="18" charset="0"/>
                  <a:sym typeface="Symbol" pitchFamily="18" charset="2"/>
                </a:endParaRPr>
              </a:p>
            </p:txBody>
          </p:sp>
          <p:sp>
            <p:nvSpPr>
              <p:cNvPr id="126" name="Text Box 85" descr="斜纹布"/>
              <p:cNvSpPr txBox="1">
                <a:spLocks noChangeArrowheads="1"/>
              </p:cNvSpPr>
              <p:nvPr/>
            </p:nvSpPr>
            <p:spPr bwMode="auto">
              <a:xfrm>
                <a:off x="4558" y="401"/>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Times New Roman" pitchFamily="18" charset="0"/>
                    <a:sym typeface="Symbol" pitchFamily="18" charset="2"/>
                  </a:rPr>
                  <a:t>+</a:t>
                </a:r>
              </a:p>
            </p:txBody>
          </p:sp>
          <p:sp>
            <p:nvSpPr>
              <p:cNvPr id="127" name="Text Box 86" descr="斜纹布"/>
              <p:cNvSpPr txBox="1">
                <a:spLocks noChangeArrowheads="1"/>
              </p:cNvSpPr>
              <p:nvPr/>
            </p:nvSpPr>
            <p:spPr bwMode="auto">
              <a:xfrm>
                <a:off x="3515" y="482"/>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Times New Roman" pitchFamily="18" charset="0"/>
                    <a:sym typeface="Symbol" pitchFamily="18" charset="2"/>
                  </a:rPr>
                  <a:t>+</a:t>
                </a:r>
              </a:p>
            </p:txBody>
          </p:sp>
          <p:sp>
            <p:nvSpPr>
              <p:cNvPr id="128" name="Text Box 87" descr="斜纹布"/>
              <p:cNvSpPr txBox="1">
                <a:spLocks noChangeArrowheads="1"/>
              </p:cNvSpPr>
              <p:nvPr/>
            </p:nvSpPr>
            <p:spPr bwMode="auto">
              <a:xfrm>
                <a:off x="4558" y="743"/>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129" name="Text Box 88" descr="斜纹布"/>
              <p:cNvSpPr txBox="1">
                <a:spLocks noChangeArrowheads="1"/>
              </p:cNvSpPr>
              <p:nvPr/>
            </p:nvSpPr>
            <p:spPr bwMode="auto">
              <a:xfrm>
                <a:off x="3536" y="179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130" name="Text Box 89" descr="斜纹布"/>
              <p:cNvSpPr txBox="1">
                <a:spLocks noChangeArrowheads="1"/>
              </p:cNvSpPr>
              <p:nvPr/>
            </p:nvSpPr>
            <p:spPr bwMode="auto">
              <a:xfrm>
                <a:off x="3651" y="214"/>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a:solidFill>
                      <a:schemeClr val="tx1"/>
                    </a:solidFill>
                    <a:latin typeface="Times New Roman" pitchFamily="18" charset="0"/>
                    <a:sym typeface="Symbol" pitchFamily="18" charset="2"/>
                  </a:rPr>
                  <a:t>i</a:t>
                </a:r>
                <a:endParaRPr kumimoji="1" lang="en-US" altLang="zh-CN" b="0" baseline="-25000" dirty="0">
                  <a:solidFill>
                    <a:schemeClr val="tx1"/>
                  </a:solidFill>
                  <a:latin typeface="Times New Roman" pitchFamily="18" charset="0"/>
                  <a:sym typeface="Symbol" pitchFamily="18" charset="2"/>
                </a:endParaRPr>
              </a:p>
            </p:txBody>
          </p:sp>
          <p:sp>
            <p:nvSpPr>
              <p:cNvPr id="131" name="Text Box 80" descr="斜纹布"/>
              <p:cNvSpPr txBox="1">
                <a:spLocks noChangeArrowheads="1"/>
              </p:cNvSpPr>
              <p:nvPr/>
            </p:nvSpPr>
            <p:spPr bwMode="auto">
              <a:xfrm>
                <a:off x="3854" y="113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sym typeface="Symbol" pitchFamily="18" charset="2"/>
                  </a:rPr>
                  <a:t>C</a:t>
                </a:r>
                <a:r>
                  <a:rPr kumimoji="1" lang="en-US" altLang="zh-CN" b="0" i="1" baseline="-25000" dirty="0" err="1" smtClean="0">
                    <a:solidFill>
                      <a:schemeClr val="tx1"/>
                    </a:solidFill>
                    <a:latin typeface="Times New Roman" pitchFamily="18" charset="0"/>
                    <a:sym typeface="Symbol" pitchFamily="18" charset="2"/>
                  </a:rPr>
                  <a:t>k</a:t>
                </a:r>
                <a:endParaRPr kumimoji="1" lang="en-US" altLang="zh-CN" b="0" i="1" baseline="-25000" dirty="0">
                  <a:solidFill>
                    <a:schemeClr val="tx1"/>
                  </a:solidFill>
                  <a:latin typeface="Times New Roman" pitchFamily="18" charset="0"/>
                  <a:sym typeface="Symbol" pitchFamily="18" charset="2"/>
                </a:endParaRPr>
              </a:p>
            </p:txBody>
          </p:sp>
        </p:grpSp>
        <p:sp>
          <p:nvSpPr>
            <p:cNvPr id="102" name="Line 68"/>
            <p:cNvSpPr>
              <a:spLocks noChangeShapeType="1"/>
            </p:cNvSpPr>
            <p:nvPr/>
          </p:nvSpPr>
          <p:spPr bwMode="auto">
            <a:xfrm>
              <a:off x="7164388" y="3361044"/>
              <a:ext cx="1588" cy="252657"/>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3" name="Line 71"/>
            <p:cNvSpPr>
              <a:spLocks noChangeShapeType="1"/>
            </p:cNvSpPr>
            <p:nvPr/>
          </p:nvSpPr>
          <p:spPr bwMode="auto">
            <a:xfrm>
              <a:off x="6919742" y="2720055"/>
              <a:ext cx="504825"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4" name="Line 72"/>
            <p:cNvSpPr>
              <a:spLocks noChangeShapeType="1"/>
            </p:cNvSpPr>
            <p:nvPr/>
          </p:nvSpPr>
          <p:spPr bwMode="auto">
            <a:xfrm>
              <a:off x="6919742" y="2862930"/>
              <a:ext cx="504825"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5" name="Line 68"/>
            <p:cNvSpPr>
              <a:spLocks noChangeShapeType="1"/>
            </p:cNvSpPr>
            <p:nvPr/>
          </p:nvSpPr>
          <p:spPr bwMode="auto">
            <a:xfrm flipH="1">
              <a:off x="7164388" y="2901282"/>
              <a:ext cx="5758" cy="374577"/>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6" name="Line 68"/>
            <p:cNvSpPr>
              <a:spLocks noChangeShapeType="1"/>
            </p:cNvSpPr>
            <p:nvPr/>
          </p:nvSpPr>
          <p:spPr bwMode="auto">
            <a:xfrm>
              <a:off x="7180318" y="2319974"/>
              <a:ext cx="1588" cy="400081"/>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7" name="Text Box 82" descr="斜纹布"/>
            <p:cNvSpPr txBox="1">
              <a:spLocks noChangeArrowheads="1"/>
            </p:cNvSpPr>
            <p:nvPr/>
          </p:nvSpPr>
          <p:spPr bwMode="auto">
            <a:xfrm>
              <a:off x="7394672" y="2492101"/>
              <a:ext cx="720725" cy="46196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sym typeface="Symbol" pitchFamily="18" charset="2"/>
                </a:rPr>
                <a:t>v</a:t>
              </a:r>
              <a:r>
                <a:rPr kumimoji="1" lang="en-US" altLang="zh-CN" b="0" i="1" baseline="-25000" dirty="0" err="1" smtClean="0">
                  <a:solidFill>
                    <a:schemeClr val="tx1"/>
                  </a:solidFill>
                  <a:latin typeface="Times New Roman" pitchFamily="18" charset="0"/>
                  <a:sym typeface="Symbol" pitchFamily="18" charset="2"/>
                </a:rPr>
                <a:t>k</a:t>
              </a:r>
              <a:endParaRPr kumimoji="1" lang="en-US" altLang="zh-CN" b="0" i="1" baseline="-25000" dirty="0">
                <a:solidFill>
                  <a:schemeClr val="tx1"/>
                </a:solidFill>
                <a:latin typeface="Times New Roman" pitchFamily="18" charset="0"/>
                <a:sym typeface="Symbol" pitchFamily="18" charset="2"/>
              </a:endParaRPr>
            </a:p>
          </p:txBody>
        </p:sp>
        <p:sp>
          <p:nvSpPr>
            <p:cNvPr id="108" name="Text Box 84" descr="斜纹布"/>
            <p:cNvSpPr txBox="1">
              <a:spLocks noChangeArrowheads="1"/>
            </p:cNvSpPr>
            <p:nvPr/>
          </p:nvSpPr>
          <p:spPr bwMode="auto">
            <a:xfrm>
              <a:off x="7466110" y="2210604"/>
              <a:ext cx="433388" cy="579443"/>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Times New Roman" pitchFamily="18" charset="0"/>
                  <a:sym typeface="Symbol" pitchFamily="18" charset="2"/>
                </a:rPr>
                <a:t>+</a:t>
              </a:r>
            </a:p>
          </p:txBody>
        </p:sp>
        <p:sp>
          <p:nvSpPr>
            <p:cNvPr id="109" name="Text Box 88" descr="斜纹布"/>
            <p:cNvSpPr txBox="1">
              <a:spLocks noChangeArrowheads="1"/>
            </p:cNvSpPr>
            <p:nvPr/>
          </p:nvSpPr>
          <p:spPr bwMode="auto">
            <a:xfrm>
              <a:off x="7466110" y="2793786"/>
              <a:ext cx="433388" cy="579443"/>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grpSp>
      <p:grpSp>
        <p:nvGrpSpPr>
          <p:cNvPr id="136" name="Group 39"/>
          <p:cNvGrpSpPr>
            <a:grpSpLocks/>
          </p:cNvGrpSpPr>
          <p:nvPr/>
        </p:nvGrpSpPr>
        <p:grpSpPr bwMode="auto">
          <a:xfrm>
            <a:off x="5725368" y="4584701"/>
            <a:ext cx="2233630" cy="2089150"/>
            <a:chOff x="4195" y="2523"/>
            <a:chExt cx="1407" cy="1316"/>
          </a:xfrm>
        </p:grpSpPr>
        <p:sp>
          <p:nvSpPr>
            <p:cNvPr id="137" name="Line 40"/>
            <p:cNvSpPr>
              <a:spLocks noChangeShapeType="1"/>
            </p:cNvSpPr>
            <p:nvPr/>
          </p:nvSpPr>
          <p:spPr bwMode="auto">
            <a:xfrm>
              <a:off x="4376" y="2569"/>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38" name="Line 41"/>
            <p:cNvSpPr>
              <a:spLocks noChangeShapeType="1"/>
            </p:cNvSpPr>
            <p:nvPr/>
          </p:nvSpPr>
          <p:spPr bwMode="auto">
            <a:xfrm>
              <a:off x="4376" y="3793"/>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39" name="Line 42"/>
            <p:cNvSpPr>
              <a:spLocks noChangeShapeType="1"/>
            </p:cNvSpPr>
            <p:nvPr/>
          </p:nvSpPr>
          <p:spPr bwMode="auto">
            <a:xfrm>
              <a:off x="5057" y="2568"/>
              <a:ext cx="0" cy="50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40" name="Line 43"/>
            <p:cNvSpPr>
              <a:spLocks noChangeShapeType="1"/>
            </p:cNvSpPr>
            <p:nvPr/>
          </p:nvSpPr>
          <p:spPr bwMode="auto">
            <a:xfrm flipV="1">
              <a:off x="5057" y="3158"/>
              <a:ext cx="0" cy="635"/>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141" name="Group 44"/>
            <p:cNvGrpSpPr>
              <a:grpSpLocks/>
            </p:cNvGrpSpPr>
            <p:nvPr/>
          </p:nvGrpSpPr>
          <p:grpSpPr bwMode="auto">
            <a:xfrm>
              <a:off x="4901" y="3068"/>
              <a:ext cx="318" cy="90"/>
              <a:chOff x="4039" y="1117"/>
              <a:chExt cx="318" cy="90"/>
            </a:xfrm>
          </p:grpSpPr>
          <p:sp>
            <p:nvSpPr>
              <p:cNvPr id="150" name="Line 45"/>
              <p:cNvSpPr>
                <a:spLocks noChangeShapeType="1"/>
              </p:cNvSpPr>
              <p:nvPr/>
            </p:nvSpPr>
            <p:spPr bwMode="auto">
              <a:xfrm>
                <a:off x="4039" y="111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51" name="Line 46"/>
              <p:cNvSpPr>
                <a:spLocks noChangeShapeType="1"/>
              </p:cNvSpPr>
              <p:nvPr/>
            </p:nvSpPr>
            <p:spPr bwMode="auto">
              <a:xfrm>
                <a:off x="4039" y="120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142" name="Oval 47" descr="斜纹布"/>
            <p:cNvSpPr>
              <a:spLocks noChangeArrowheads="1"/>
            </p:cNvSpPr>
            <p:nvPr/>
          </p:nvSpPr>
          <p:spPr bwMode="auto">
            <a:xfrm>
              <a:off x="4286" y="2523"/>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43" name="Text Box 48" descr="斜纹布"/>
            <p:cNvSpPr txBox="1">
              <a:spLocks noChangeArrowheads="1"/>
            </p:cNvSpPr>
            <p:nvPr/>
          </p:nvSpPr>
          <p:spPr bwMode="auto">
            <a:xfrm>
              <a:off x="5011" y="2614"/>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sym typeface="Symbol" pitchFamily="18" charset="2"/>
                </a:rPr>
                <a:t>i</a:t>
              </a:r>
              <a:endParaRPr kumimoji="1" lang="en-US" altLang="zh-CN" b="0" baseline="-25000">
                <a:solidFill>
                  <a:schemeClr val="tx1"/>
                </a:solidFill>
                <a:latin typeface="Times New Roman" pitchFamily="18" charset="0"/>
                <a:sym typeface="Symbol" pitchFamily="18" charset="2"/>
              </a:endParaRPr>
            </a:p>
          </p:txBody>
        </p:sp>
        <p:sp>
          <p:nvSpPr>
            <p:cNvPr id="144" name="Text Box 49" descr="斜纹布"/>
            <p:cNvSpPr txBox="1">
              <a:spLocks noChangeArrowheads="1"/>
            </p:cNvSpPr>
            <p:nvPr/>
          </p:nvSpPr>
          <p:spPr bwMode="auto">
            <a:xfrm>
              <a:off x="4195" y="2977"/>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sym typeface="Symbol" pitchFamily="18" charset="2"/>
                </a:rPr>
                <a:t>v</a:t>
              </a:r>
              <a:endParaRPr kumimoji="1" lang="en-US" altLang="zh-CN" b="0" baseline="-25000" dirty="0">
                <a:solidFill>
                  <a:schemeClr val="tx1"/>
                </a:solidFill>
                <a:latin typeface="Times New Roman" pitchFamily="18" charset="0"/>
                <a:sym typeface="Symbol" pitchFamily="18" charset="2"/>
              </a:endParaRPr>
            </a:p>
          </p:txBody>
        </p:sp>
        <p:sp>
          <p:nvSpPr>
            <p:cNvPr id="145" name="Text Box 50" descr="斜纹布"/>
            <p:cNvSpPr txBox="1">
              <a:spLocks noChangeArrowheads="1"/>
            </p:cNvSpPr>
            <p:nvPr/>
          </p:nvSpPr>
          <p:spPr bwMode="auto">
            <a:xfrm>
              <a:off x="4286" y="2523"/>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Times New Roman" pitchFamily="18" charset="0"/>
                  <a:sym typeface="Symbol" pitchFamily="18" charset="2"/>
                </a:rPr>
                <a:t>+</a:t>
              </a:r>
            </a:p>
          </p:txBody>
        </p:sp>
        <p:sp>
          <p:nvSpPr>
            <p:cNvPr id="146" name="Text Box 51" descr="斜纹布"/>
            <p:cNvSpPr txBox="1">
              <a:spLocks noChangeArrowheads="1"/>
            </p:cNvSpPr>
            <p:nvPr/>
          </p:nvSpPr>
          <p:spPr bwMode="auto">
            <a:xfrm>
              <a:off x="4286" y="3474"/>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Times New Roman" pitchFamily="18" charset="0"/>
                  <a:sym typeface="Symbol" pitchFamily="18" charset="2"/>
                </a:rPr>
                <a:t>-</a:t>
              </a:r>
            </a:p>
          </p:txBody>
        </p:sp>
        <p:sp>
          <p:nvSpPr>
            <p:cNvPr id="147" name="Line 52"/>
            <p:cNvSpPr>
              <a:spLocks noChangeShapeType="1"/>
            </p:cNvSpPr>
            <p:nvPr/>
          </p:nvSpPr>
          <p:spPr bwMode="auto">
            <a:xfrm>
              <a:off x="5118" y="2705"/>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48" name="Text Box 53" descr="斜纹布"/>
            <p:cNvSpPr txBox="1">
              <a:spLocks noChangeArrowheads="1"/>
            </p:cNvSpPr>
            <p:nvPr/>
          </p:nvSpPr>
          <p:spPr bwMode="auto">
            <a:xfrm>
              <a:off x="5148" y="3012"/>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sym typeface="Symbol" pitchFamily="18" charset="2"/>
                </a:rPr>
                <a:t>C</a:t>
              </a:r>
              <a:endParaRPr kumimoji="1" lang="en-US" altLang="zh-CN" b="0" baseline="-25000" dirty="0">
                <a:solidFill>
                  <a:schemeClr val="tx1"/>
                </a:solidFill>
                <a:latin typeface="Times New Roman" pitchFamily="18" charset="0"/>
                <a:sym typeface="Symbol" pitchFamily="18" charset="2"/>
              </a:endParaRPr>
            </a:p>
          </p:txBody>
        </p:sp>
        <p:sp>
          <p:nvSpPr>
            <p:cNvPr id="149" name="Oval 54" descr="斜纹布"/>
            <p:cNvSpPr>
              <a:spLocks noChangeArrowheads="1"/>
            </p:cNvSpPr>
            <p:nvPr/>
          </p:nvSpPr>
          <p:spPr bwMode="auto">
            <a:xfrm>
              <a:off x="4286" y="3747"/>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grpSp>
        <p:nvGrpSpPr>
          <p:cNvPr id="152" name="Group 57"/>
          <p:cNvGrpSpPr>
            <a:grpSpLocks/>
          </p:cNvGrpSpPr>
          <p:nvPr/>
        </p:nvGrpSpPr>
        <p:grpSpPr bwMode="auto">
          <a:xfrm>
            <a:off x="6473032" y="4129138"/>
            <a:ext cx="1223962" cy="417111"/>
            <a:chOff x="4014" y="1883"/>
            <a:chExt cx="771" cy="528"/>
          </a:xfrm>
        </p:grpSpPr>
        <p:sp>
          <p:nvSpPr>
            <p:cNvPr id="153" name="Line 58"/>
            <p:cNvSpPr>
              <a:spLocks noChangeShapeType="1"/>
            </p:cNvSpPr>
            <p:nvPr/>
          </p:nvSpPr>
          <p:spPr bwMode="auto">
            <a:xfrm>
              <a:off x="4059" y="1957"/>
              <a:ext cx="0" cy="454"/>
            </a:xfrm>
            <a:prstGeom prst="line">
              <a:avLst/>
            </a:prstGeom>
            <a:noFill/>
            <a:ln w="762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54" name="Text Box 59" descr="斜纹布"/>
            <p:cNvSpPr txBox="1">
              <a:spLocks noChangeArrowheads="1"/>
            </p:cNvSpPr>
            <p:nvPr/>
          </p:nvSpPr>
          <p:spPr bwMode="auto">
            <a:xfrm>
              <a:off x="4014" y="1883"/>
              <a:ext cx="771"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p>
              <a:pPr algn="ctr" eaLnBrk="0" hangingPunct="0">
                <a:spcBef>
                  <a:spcPct val="50000"/>
                </a:spcBef>
              </a:pPr>
              <a:r>
                <a:rPr kumimoji="1" lang="zh-CN" altLang="en-US" sz="2400" dirty="0">
                  <a:latin typeface="Times New Roman" pitchFamily="18" charset="0"/>
                  <a:ea typeface="仿宋_GB2312" pitchFamily="49" charset="-122"/>
                  <a:sym typeface="Symbol" pitchFamily="18" charset="2"/>
                </a:rPr>
                <a:t>等效</a:t>
              </a:r>
            </a:p>
          </p:txBody>
        </p:sp>
      </p:grpSp>
      <p:sp>
        <p:nvSpPr>
          <p:cNvPr id="155" name="下箭头 154"/>
          <p:cNvSpPr/>
          <p:nvPr/>
        </p:nvSpPr>
        <p:spPr bwMode="auto">
          <a:xfrm>
            <a:off x="2397305" y="4986014"/>
            <a:ext cx="330020" cy="466316"/>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charset="-122"/>
            </a:endParaRPr>
          </a:p>
        </p:txBody>
      </p:sp>
      <p:graphicFrame>
        <p:nvGraphicFramePr>
          <p:cNvPr id="156" name="对象 155"/>
          <p:cNvGraphicFramePr>
            <a:graphicFrameLocks noChangeAspect="1"/>
          </p:cNvGraphicFramePr>
          <p:nvPr>
            <p:extLst>
              <p:ext uri="{D42A27DB-BD31-4B8C-83A1-F6EECF244321}">
                <p14:modId xmlns:p14="http://schemas.microsoft.com/office/powerpoint/2010/main" val="1286078645"/>
              </p:ext>
            </p:extLst>
          </p:nvPr>
        </p:nvGraphicFramePr>
        <p:xfrm>
          <a:off x="1701422" y="5509480"/>
          <a:ext cx="1494216" cy="868133"/>
        </p:xfrm>
        <a:graphic>
          <a:graphicData uri="http://schemas.openxmlformats.org/presentationml/2006/ole">
            <mc:AlternateContent xmlns:mc="http://schemas.openxmlformats.org/markup-compatibility/2006">
              <mc:Choice xmlns:v="urn:schemas-microsoft-com:vml" Requires="v">
                <p:oleObj spid="_x0000_s401158" name="Equation" r:id="rId9" imgW="647640" imgH="406080" progId="Equation.DSMT4">
                  <p:embed/>
                </p:oleObj>
              </mc:Choice>
              <mc:Fallback>
                <p:oleObj name="Equation" r:id="rId9" imgW="647640" imgH="4060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1422" y="5509480"/>
                        <a:ext cx="1494216" cy="868133"/>
                      </a:xfrm>
                      <a:prstGeom prst="rect">
                        <a:avLst/>
                      </a:prstGeom>
                      <a:solidFill>
                        <a:srgbClr val="92D050"/>
                      </a:solidFill>
                      <a:ln>
                        <a:noFill/>
                      </a:ln>
                    </p:spPr>
                  </p:pic>
                </p:oleObj>
              </mc:Fallback>
            </mc:AlternateContent>
          </a:graphicData>
        </a:graphic>
      </p:graphicFrame>
      <p:sp>
        <p:nvSpPr>
          <p:cNvPr id="157" name="Text Box 2"/>
          <p:cNvSpPr txBox="1">
            <a:spLocks noChangeArrowheads="1"/>
          </p:cNvSpPr>
          <p:nvPr/>
        </p:nvSpPr>
        <p:spPr bwMode="auto">
          <a:xfrm>
            <a:off x="381000" y="1424426"/>
            <a:ext cx="5629276" cy="461665"/>
          </a:xfrm>
          <a:prstGeom prst="rect">
            <a:avLst/>
          </a:prstGeom>
          <a:solidFill>
            <a:schemeClr val="bg1"/>
          </a:solidFill>
          <a:ln>
            <a:noFill/>
          </a:ln>
          <a:effectLst/>
          <a:extLst/>
        </p:spPr>
        <p:txBody>
          <a:bodyPr wrap="square">
            <a:spAutoFit/>
          </a:bodyPr>
          <a:lstStyle/>
          <a:p>
            <a:pPr algn="l">
              <a:spcBef>
                <a:spcPct val="50000"/>
              </a:spcBef>
            </a:pPr>
            <a:r>
              <a:rPr lang="en-US" altLang="zh-CN" dirty="0" smtClean="0">
                <a:solidFill>
                  <a:srgbClr val="A50021"/>
                </a:solidFill>
                <a:latin typeface="+mn-lt"/>
                <a:ea typeface="+mn-ea"/>
              </a:rPr>
              <a:t>2.4.1 </a:t>
            </a:r>
            <a:r>
              <a:rPr lang="zh-CN" altLang="en-US" dirty="0" smtClean="0">
                <a:solidFill>
                  <a:srgbClr val="A50021"/>
                </a:solidFill>
                <a:latin typeface="+mn-lt"/>
                <a:ea typeface="+mn-ea"/>
              </a:rPr>
              <a:t>电容的</a:t>
            </a:r>
            <a:r>
              <a:rPr lang="zh-CN" altLang="en-US" dirty="0">
                <a:solidFill>
                  <a:srgbClr val="A50021"/>
                </a:solidFill>
                <a:latin typeface="+mn-lt"/>
                <a:ea typeface="+mn-ea"/>
              </a:rPr>
              <a:t>串联和</a:t>
            </a:r>
            <a:r>
              <a:rPr lang="zh-CN" altLang="en-US" dirty="0" smtClean="0">
                <a:solidFill>
                  <a:srgbClr val="A50021"/>
                </a:solidFill>
                <a:latin typeface="+mn-lt"/>
                <a:ea typeface="+mn-ea"/>
              </a:rPr>
              <a:t>并联</a:t>
            </a:r>
            <a:r>
              <a:rPr lang="en-US" altLang="zh-CN" dirty="0" smtClean="0">
                <a:solidFill>
                  <a:srgbClr val="A50021"/>
                </a:solidFill>
                <a:latin typeface="+mn-lt"/>
                <a:ea typeface="+mn-ea"/>
              </a:rPr>
              <a:t>      </a:t>
            </a:r>
            <a:endParaRPr lang="en-US" altLang="zh-CN" dirty="0">
              <a:solidFill>
                <a:srgbClr val="A50021"/>
              </a:solidFill>
              <a:latin typeface="+mn-lt"/>
              <a:ea typeface="+mn-ea"/>
            </a:endParaRPr>
          </a:p>
        </p:txBody>
      </p:sp>
    </p:spTree>
    <p:extLst>
      <p:ext uri="{BB962C8B-B14F-4D97-AF65-F5344CB8AC3E}">
        <p14:creationId xmlns:p14="http://schemas.microsoft.com/office/powerpoint/2010/main" val="24359688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barn(inVertical)">
                                      <p:cBhvr>
                                        <p:cTn id="7" dur="500"/>
                                        <p:tgtEl>
                                          <p:spTgt spid="15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barn(inVertical)">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barn(inVertical)">
                                      <p:cBhvr>
                                        <p:cTn id="17" dur="500"/>
                                        <p:tgtEl>
                                          <p:spTgt spid="10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5"/>
                                        </p:tgtEl>
                                        <p:attrNameLst>
                                          <p:attrName>style.visibility</p:attrName>
                                        </p:attrNameLst>
                                      </p:cBhvr>
                                      <p:to>
                                        <p:strVal val="visible"/>
                                      </p:to>
                                    </p:set>
                                    <p:animEffect transition="in" filter="barn(inVertical)">
                                      <p:cBhvr>
                                        <p:cTn id="22" dur="500"/>
                                        <p:tgtEl>
                                          <p:spTgt spid="9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8"/>
                                        </p:tgtEl>
                                        <p:attrNameLst>
                                          <p:attrName>style.visibility</p:attrName>
                                        </p:attrNameLst>
                                      </p:cBhvr>
                                      <p:to>
                                        <p:strVal val="visible"/>
                                      </p:to>
                                    </p:set>
                                    <p:animEffect transition="in" filter="barn(inVertical)">
                                      <p:cBhvr>
                                        <p:cTn id="27" dur="500"/>
                                        <p:tgtEl>
                                          <p:spTgt spid="98"/>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9"/>
                                        </p:tgtEl>
                                        <p:attrNameLst>
                                          <p:attrName>style.visibility</p:attrName>
                                        </p:attrNameLst>
                                      </p:cBhvr>
                                      <p:to>
                                        <p:strVal val="visible"/>
                                      </p:to>
                                    </p:set>
                                    <p:animEffect transition="in" filter="fade">
                                      <p:cBhvr>
                                        <p:cTn id="32" dur="1000"/>
                                        <p:tgtEl>
                                          <p:spTgt spid="99"/>
                                        </p:tgtEl>
                                      </p:cBhvr>
                                    </p:animEffect>
                                    <p:anim calcmode="lin" valueType="num">
                                      <p:cBhvr>
                                        <p:cTn id="33" dur="1000" fill="hold"/>
                                        <p:tgtEl>
                                          <p:spTgt spid="99"/>
                                        </p:tgtEl>
                                        <p:attrNameLst>
                                          <p:attrName>ppt_x</p:attrName>
                                        </p:attrNameLst>
                                      </p:cBhvr>
                                      <p:tavLst>
                                        <p:tav tm="0">
                                          <p:val>
                                            <p:strVal val="#ppt_x"/>
                                          </p:val>
                                        </p:tav>
                                        <p:tav tm="100000">
                                          <p:val>
                                            <p:strVal val="#ppt_x"/>
                                          </p:val>
                                        </p:tav>
                                      </p:tavLst>
                                    </p:anim>
                                    <p:anim calcmode="lin" valueType="num">
                                      <p:cBhvr>
                                        <p:cTn id="34"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152"/>
                                        </p:tgtEl>
                                        <p:attrNameLst>
                                          <p:attrName>style.visibility</p:attrName>
                                        </p:attrNameLst>
                                      </p:cBhvr>
                                      <p:to>
                                        <p:strVal val="visible"/>
                                      </p:to>
                                    </p:set>
                                    <p:animEffect transition="in" filter="barn(inVertical)">
                                      <p:cBhvr>
                                        <p:cTn id="39" dur="500"/>
                                        <p:tgtEl>
                                          <p:spTgt spid="152"/>
                                        </p:tgtEl>
                                      </p:cBhvr>
                                    </p:animEffect>
                                  </p:childTnLst>
                                </p:cTn>
                              </p:par>
                              <p:par>
                                <p:cTn id="40" presetID="16" presetClass="entr" presetSubtype="21" fill="hold" nodeType="withEffect">
                                  <p:stCondLst>
                                    <p:cond delay="0"/>
                                  </p:stCondLst>
                                  <p:childTnLst>
                                    <p:set>
                                      <p:cBhvr>
                                        <p:cTn id="41" dur="1" fill="hold">
                                          <p:stCondLst>
                                            <p:cond delay="0"/>
                                          </p:stCondLst>
                                        </p:cTn>
                                        <p:tgtEl>
                                          <p:spTgt spid="136"/>
                                        </p:tgtEl>
                                        <p:attrNameLst>
                                          <p:attrName>style.visibility</p:attrName>
                                        </p:attrNameLst>
                                      </p:cBhvr>
                                      <p:to>
                                        <p:strVal val="visible"/>
                                      </p:to>
                                    </p:set>
                                    <p:animEffect transition="in" filter="barn(inVertical)">
                                      <p:cBhvr>
                                        <p:cTn id="42" dur="500"/>
                                        <p:tgtEl>
                                          <p:spTgt spid="136"/>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55"/>
                                        </p:tgtEl>
                                        <p:attrNameLst>
                                          <p:attrName>style.visibility</p:attrName>
                                        </p:attrNameLst>
                                      </p:cBhvr>
                                      <p:to>
                                        <p:strVal val="visible"/>
                                      </p:to>
                                    </p:set>
                                    <p:animEffect transition="in" filter="fade">
                                      <p:cBhvr>
                                        <p:cTn id="47" dur="1000"/>
                                        <p:tgtEl>
                                          <p:spTgt spid="155"/>
                                        </p:tgtEl>
                                      </p:cBhvr>
                                    </p:animEffect>
                                    <p:anim calcmode="lin" valueType="num">
                                      <p:cBhvr>
                                        <p:cTn id="48" dur="1000" fill="hold"/>
                                        <p:tgtEl>
                                          <p:spTgt spid="155"/>
                                        </p:tgtEl>
                                        <p:attrNameLst>
                                          <p:attrName>ppt_x</p:attrName>
                                        </p:attrNameLst>
                                      </p:cBhvr>
                                      <p:tavLst>
                                        <p:tav tm="0">
                                          <p:val>
                                            <p:strVal val="#ppt_x"/>
                                          </p:val>
                                        </p:tav>
                                        <p:tav tm="100000">
                                          <p:val>
                                            <p:strVal val="#ppt_x"/>
                                          </p:val>
                                        </p:tav>
                                      </p:tavLst>
                                    </p:anim>
                                    <p:anim calcmode="lin" valueType="num">
                                      <p:cBhvr>
                                        <p:cTn id="49" dur="1000" fill="hold"/>
                                        <p:tgtEl>
                                          <p:spTgt spid="15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56"/>
                                        </p:tgtEl>
                                        <p:attrNameLst>
                                          <p:attrName>style.visibility</p:attrName>
                                        </p:attrNameLst>
                                      </p:cBhvr>
                                      <p:to>
                                        <p:strVal val="visible"/>
                                      </p:to>
                                    </p:set>
                                    <p:animEffect transition="in" filter="fade">
                                      <p:cBhvr>
                                        <p:cTn id="52" dur="1000"/>
                                        <p:tgtEl>
                                          <p:spTgt spid="156"/>
                                        </p:tgtEl>
                                      </p:cBhvr>
                                    </p:animEffect>
                                    <p:anim calcmode="lin" valueType="num">
                                      <p:cBhvr>
                                        <p:cTn id="53" dur="1000" fill="hold"/>
                                        <p:tgtEl>
                                          <p:spTgt spid="156"/>
                                        </p:tgtEl>
                                        <p:attrNameLst>
                                          <p:attrName>ppt_x</p:attrName>
                                        </p:attrNameLst>
                                      </p:cBhvr>
                                      <p:tavLst>
                                        <p:tav tm="0">
                                          <p:val>
                                            <p:strVal val="#ppt_x"/>
                                          </p:val>
                                        </p:tav>
                                        <p:tav tm="100000">
                                          <p:val>
                                            <p:strVal val="#ppt_x"/>
                                          </p:val>
                                        </p:tav>
                                      </p:tavLst>
                                    </p:anim>
                                    <p:anim calcmode="lin" valueType="num">
                                      <p:cBhvr>
                                        <p:cTn id="54" dur="1000" fill="hold"/>
                                        <p:tgtEl>
                                          <p:spTgt spid="1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155" grpId="0" animBg="1"/>
      <p:bldP spid="15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extLst/>
          </p:nvPr>
        </p:nvGraphicFramePr>
        <p:xfrm>
          <a:off x="972388" y="1585490"/>
          <a:ext cx="2452688" cy="906463"/>
        </p:xfrm>
        <a:graphic>
          <a:graphicData uri="http://schemas.openxmlformats.org/presentationml/2006/ole">
            <mc:AlternateContent xmlns:mc="http://schemas.openxmlformats.org/markup-compatibility/2006">
              <mc:Choice xmlns:v="urn:schemas-microsoft-com:vml" Requires="v">
                <p:oleObj spid="_x0000_s447520" name="Equation" r:id="rId3" imgW="1015920" imgH="406080" progId="Equation.DSMT4">
                  <p:embed/>
                </p:oleObj>
              </mc:Choice>
              <mc:Fallback>
                <p:oleObj name="Equation" r:id="rId3" imgW="1015920" imgH="406080" progId="Equation.DSMT4">
                  <p:embed/>
                  <p:pic>
                    <p:nvPicPr>
                      <p:cNvPr id="0" name=""/>
                      <p:cNvPicPr>
                        <a:picLocks noChangeAspect="1" noChangeArrowheads="1"/>
                      </p:cNvPicPr>
                      <p:nvPr/>
                    </p:nvPicPr>
                    <p:blipFill>
                      <a:blip r:embed="rId4"/>
                      <a:srcRect/>
                      <a:stretch>
                        <a:fillRect/>
                      </a:stretch>
                    </p:blipFill>
                    <p:spPr bwMode="auto">
                      <a:xfrm>
                        <a:off x="972388" y="1585490"/>
                        <a:ext cx="2452688" cy="9064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10"/>
          <p:cNvGraphicFramePr>
            <a:graphicFrameLocks noChangeAspect="1"/>
          </p:cNvGraphicFramePr>
          <p:nvPr>
            <p:extLst/>
          </p:nvPr>
        </p:nvGraphicFramePr>
        <p:xfrm>
          <a:off x="1032654" y="2646511"/>
          <a:ext cx="2357438" cy="879475"/>
        </p:xfrm>
        <a:graphic>
          <a:graphicData uri="http://schemas.openxmlformats.org/presentationml/2006/ole">
            <mc:AlternateContent xmlns:mc="http://schemas.openxmlformats.org/markup-compatibility/2006">
              <mc:Choice xmlns:v="urn:schemas-microsoft-com:vml" Requires="v">
                <p:oleObj spid="_x0000_s447521" name="Equation" r:id="rId5" imgW="914400" imgH="368280" progId="Equation.DSMT4">
                  <p:embed/>
                </p:oleObj>
              </mc:Choice>
              <mc:Fallback>
                <p:oleObj name="Equation" r:id="rId5" imgW="914400" imgH="368280" progId="Equation.DSMT4">
                  <p:embed/>
                  <p:pic>
                    <p:nvPicPr>
                      <p:cNvPr id="0" name=""/>
                      <p:cNvPicPr>
                        <a:picLocks noChangeAspect="1" noChangeArrowheads="1"/>
                      </p:cNvPicPr>
                      <p:nvPr/>
                    </p:nvPicPr>
                    <p:blipFill>
                      <a:blip r:embed="rId6"/>
                      <a:srcRect/>
                      <a:stretch>
                        <a:fillRect/>
                      </a:stretch>
                    </p:blipFill>
                    <p:spPr bwMode="auto">
                      <a:xfrm>
                        <a:off x="1032654" y="2646511"/>
                        <a:ext cx="2357438" cy="8794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11"/>
          <p:cNvGraphicFramePr>
            <a:graphicFrameLocks noChangeAspect="1"/>
          </p:cNvGraphicFramePr>
          <p:nvPr>
            <p:extLst/>
          </p:nvPr>
        </p:nvGraphicFramePr>
        <p:xfrm>
          <a:off x="1513771" y="5233868"/>
          <a:ext cx="1322387" cy="889000"/>
        </p:xfrm>
        <a:graphic>
          <a:graphicData uri="http://schemas.openxmlformats.org/presentationml/2006/ole">
            <mc:AlternateContent xmlns:mc="http://schemas.openxmlformats.org/markup-compatibility/2006">
              <mc:Choice xmlns:v="urn:schemas-microsoft-com:vml" Requires="v">
                <p:oleObj spid="_x0000_s447522" name="Equation" r:id="rId7" imgW="558720" imgH="406080" progId="Equation.DSMT4">
                  <p:embed/>
                </p:oleObj>
              </mc:Choice>
              <mc:Fallback>
                <p:oleObj name="Equation" r:id="rId7" imgW="558720" imgH="406080" progId="Equation.DSMT4">
                  <p:embed/>
                  <p:pic>
                    <p:nvPicPr>
                      <p:cNvPr id="0" name=""/>
                      <p:cNvPicPr>
                        <a:picLocks noChangeAspect="1" noChangeArrowheads="1"/>
                      </p:cNvPicPr>
                      <p:nvPr/>
                    </p:nvPicPr>
                    <p:blipFill>
                      <a:blip r:embed="rId8"/>
                      <a:srcRect/>
                      <a:stretch>
                        <a:fillRect/>
                      </a:stretch>
                    </p:blipFill>
                    <p:spPr bwMode="auto">
                      <a:xfrm>
                        <a:off x="1513771" y="5233868"/>
                        <a:ext cx="1322387" cy="889000"/>
                      </a:xfrm>
                      <a:prstGeom prst="rect">
                        <a:avLst/>
                      </a:prstGeom>
                      <a:solidFill>
                        <a:srgbClr val="92D050"/>
                      </a:solidFill>
                      <a:ln>
                        <a:noFill/>
                      </a:ln>
                      <a:effectLst/>
                      <a:extLst/>
                    </p:spPr>
                  </p:pic>
                </p:oleObj>
              </mc:Fallback>
            </mc:AlternateContent>
          </a:graphicData>
        </a:graphic>
      </p:graphicFrame>
      <p:grpSp>
        <p:nvGrpSpPr>
          <p:cNvPr id="7" name="Group 13"/>
          <p:cNvGrpSpPr>
            <a:grpSpLocks/>
          </p:cNvGrpSpPr>
          <p:nvPr/>
        </p:nvGrpSpPr>
        <p:grpSpPr bwMode="auto">
          <a:xfrm>
            <a:off x="7015925" y="1019131"/>
            <a:ext cx="2133601" cy="2532063"/>
            <a:chOff x="4059" y="1881"/>
            <a:chExt cx="1344" cy="1595"/>
          </a:xfrm>
        </p:grpSpPr>
        <p:sp>
          <p:nvSpPr>
            <p:cNvPr id="8" name="Line 14"/>
            <p:cNvSpPr>
              <a:spLocks noChangeShapeType="1"/>
            </p:cNvSpPr>
            <p:nvPr/>
          </p:nvSpPr>
          <p:spPr bwMode="auto">
            <a:xfrm>
              <a:off x="4240" y="2206"/>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 name="Line 15"/>
            <p:cNvSpPr>
              <a:spLocks noChangeShapeType="1"/>
            </p:cNvSpPr>
            <p:nvPr/>
          </p:nvSpPr>
          <p:spPr bwMode="auto">
            <a:xfrm>
              <a:off x="4240" y="3430"/>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 name="Line 16"/>
            <p:cNvSpPr>
              <a:spLocks noChangeShapeType="1"/>
            </p:cNvSpPr>
            <p:nvPr/>
          </p:nvSpPr>
          <p:spPr bwMode="auto">
            <a:xfrm>
              <a:off x="4921" y="2205"/>
              <a:ext cx="0" cy="50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 name="Line 17"/>
            <p:cNvSpPr>
              <a:spLocks noChangeShapeType="1"/>
            </p:cNvSpPr>
            <p:nvPr/>
          </p:nvSpPr>
          <p:spPr bwMode="auto">
            <a:xfrm flipV="1">
              <a:off x="4921" y="2795"/>
              <a:ext cx="0" cy="635"/>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12" name="Group 18"/>
            <p:cNvGrpSpPr>
              <a:grpSpLocks/>
            </p:cNvGrpSpPr>
            <p:nvPr/>
          </p:nvGrpSpPr>
          <p:grpSpPr bwMode="auto">
            <a:xfrm>
              <a:off x="4765" y="2705"/>
              <a:ext cx="318" cy="90"/>
              <a:chOff x="4039" y="1117"/>
              <a:chExt cx="318" cy="90"/>
            </a:xfrm>
          </p:grpSpPr>
          <p:sp>
            <p:nvSpPr>
              <p:cNvPr id="21" name="Line 19"/>
              <p:cNvSpPr>
                <a:spLocks noChangeShapeType="1"/>
              </p:cNvSpPr>
              <p:nvPr/>
            </p:nvSpPr>
            <p:spPr bwMode="auto">
              <a:xfrm>
                <a:off x="4039" y="111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p:nvSpPr>
            <p:spPr bwMode="auto">
              <a:xfrm>
                <a:off x="4039" y="120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13" name="Oval 21" descr="斜纹布"/>
            <p:cNvSpPr>
              <a:spLocks noChangeArrowheads="1"/>
            </p:cNvSpPr>
            <p:nvPr/>
          </p:nvSpPr>
          <p:spPr bwMode="auto">
            <a:xfrm>
              <a:off x="4150" y="2160"/>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4" name="Text Box 22" descr="斜纹布"/>
            <p:cNvSpPr txBox="1">
              <a:spLocks noChangeArrowheads="1"/>
            </p:cNvSpPr>
            <p:nvPr/>
          </p:nvSpPr>
          <p:spPr bwMode="auto">
            <a:xfrm>
              <a:off x="4196" y="1881"/>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a:solidFill>
                    <a:schemeClr val="tx1"/>
                  </a:solidFill>
                  <a:latin typeface="Times New Roman" pitchFamily="18" charset="0"/>
                  <a:ea typeface="仿宋_GB2312" pitchFamily="49" charset="-122"/>
                  <a:sym typeface="Symbol" pitchFamily="18" charset="2"/>
                </a:rPr>
                <a:t>i</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15" name="Text Box 23" descr="斜纹布"/>
            <p:cNvSpPr txBox="1">
              <a:spLocks noChangeArrowheads="1"/>
            </p:cNvSpPr>
            <p:nvPr/>
          </p:nvSpPr>
          <p:spPr bwMode="auto">
            <a:xfrm>
              <a:off x="4059" y="2614"/>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16" name="Text Box 24" descr="斜纹布"/>
            <p:cNvSpPr txBox="1">
              <a:spLocks noChangeArrowheads="1"/>
            </p:cNvSpPr>
            <p:nvPr/>
          </p:nvSpPr>
          <p:spPr bwMode="auto">
            <a:xfrm>
              <a:off x="4104" y="216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17" name="Text Box 25" descr="斜纹布"/>
            <p:cNvSpPr txBox="1">
              <a:spLocks noChangeArrowheads="1"/>
            </p:cNvSpPr>
            <p:nvPr/>
          </p:nvSpPr>
          <p:spPr bwMode="auto">
            <a:xfrm>
              <a:off x="4150" y="3111"/>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19" name="Text Box 27" descr="斜纹布"/>
            <p:cNvSpPr txBox="1">
              <a:spLocks noChangeArrowheads="1"/>
            </p:cNvSpPr>
            <p:nvPr/>
          </p:nvSpPr>
          <p:spPr bwMode="auto">
            <a:xfrm>
              <a:off x="4949" y="2731"/>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eaLnBrk="0" hangingPunct="0">
                <a:spcBef>
                  <a:spcPct val="50000"/>
                </a:spcBef>
              </a:pPr>
              <a:r>
                <a:rPr lang="en-US" altLang="zh-CN" b="0" i="1" dirty="0" smtClean="0">
                  <a:sym typeface="Symbol" pitchFamily="18" charset="2"/>
                </a:rPr>
                <a:t>C</a:t>
              </a:r>
              <a:endParaRPr lang="en-US" altLang="zh-CN" b="0" baseline="-25000" dirty="0">
                <a:sym typeface="Symbol" pitchFamily="18" charset="2"/>
              </a:endParaRPr>
            </a:p>
          </p:txBody>
        </p:sp>
        <p:sp>
          <p:nvSpPr>
            <p:cNvPr id="20" name="Oval 28" descr="斜纹布"/>
            <p:cNvSpPr>
              <a:spLocks noChangeArrowheads="1"/>
            </p:cNvSpPr>
            <p:nvPr/>
          </p:nvSpPr>
          <p:spPr bwMode="auto">
            <a:xfrm>
              <a:off x="4150" y="3385"/>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graphicFrame>
        <p:nvGraphicFramePr>
          <p:cNvPr id="18" name="对象 17"/>
          <p:cNvGraphicFramePr>
            <a:graphicFrameLocks noChangeAspect="1"/>
          </p:cNvGraphicFramePr>
          <p:nvPr>
            <p:extLst/>
          </p:nvPr>
        </p:nvGraphicFramePr>
        <p:xfrm>
          <a:off x="1454240" y="4124385"/>
          <a:ext cx="1441450" cy="444500"/>
        </p:xfrm>
        <a:graphic>
          <a:graphicData uri="http://schemas.openxmlformats.org/presentationml/2006/ole">
            <mc:AlternateContent xmlns:mc="http://schemas.openxmlformats.org/markup-compatibility/2006">
              <mc:Choice xmlns:v="urn:schemas-microsoft-com:vml" Requires="v">
                <p:oleObj spid="_x0000_s447523" name="Equation" r:id="rId9" imgW="609480" imgH="203040" progId="Equation.DSMT4">
                  <p:embed/>
                </p:oleObj>
              </mc:Choice>
              <mc:Fallback>
                <p:oleObj name="Equation" r:id="rId9" imgW="609480" imgH="203040" progId="Equation.DSMT4">
                  <p:embed/>
                  <p:pic>
                    <p:nvPicPr>
                      <p:cNvPr id="0" name=""/>
                      <p:cNvPicPr>
                        <a:picLocks noChangeAspect="1" noChangeArrowheads="1"/>
                      </p:cNvPicPr>
                      <p:nvPr/>
                    </p:nvPicPr>
                    <p:blipFill>
                      <a:blip r:embed="rId10"/>
                      <a:srcRect/>
                      <a:stretch>
                        <a:fillRect/>
                      </a:stretch>
                    </p:blipFill>
                    <p:spPr bwMode="auto">
                      <a:xfrm>
                        <a:off x="1454240" y="4124385"/>
                        <a:ext cx="1441450" cy="444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 name="下箭头 85"/>
          <p:cNvSpPr/>
          <p:nvPr/>
        </p:nvSpPr>
        <p:spPr bwMode="auto">
          <a:xfrm>
            <a:off x="2009955" y="3574257"/>
            <a:ext cx="330020" cy="466316"/>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charset="-122"/>
            </a:endParaRPr>
          </a:p>
        </p:txBody>
      </p:sp>
      <p:sp>
        <p:nvSpPr>
          <p:cNvPr id="89" name="下箭头 88"/>
          <p:cNvSpPr/>
          <p:nvPr/>
        </p:nvSpPr>
        <p:spPr bwMode="auto">
          <a:xfrm>
            <a:off x="2009955" y="4655726"/>
            <a:ext cx="330020" cy="466316"/>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charset="-122"/>
            </a:endParaRPr>
          </a:p>
        </p:txBody>
      </p:sp>
      <p:graphicFrame>
        <p:nvGraphicFramePr>
          <p:cNvPr id="90" name="对象 89"/>
          <p:cNvGraphicFramePr>
            <a:graphicFrameLocks noChangeAspect="1"/>
          </p:cNvGraphicFramePr>
          <p:nvPr>
            <p:extLst/>
          </p:nvPr>
        </p:nvGraphicFramePr>
        <p:xfrm>
          <a:off x="4535978" y="4553819"/>
          <a:ext cx="3963478" cy="1791509"/>
        </p:xfrm>
        <a:graphic>
          <a:graphicData uri="http://schemas.openxmlformats.org/presentationml/2006/ole">
            <mc:AlternateContent xmlns:mc="http://schemas.openxmlformats.org/markup-compatibility/2006">
              <mc:Choice xmlns:v="urn:schemas-microsoft-com:vml" Requires="v">
                <p:oleObj spid="_x0000_s447524" name="Equation" r:id="rId11" imgW="1714320" imgH="838080" progId="Equation.DSMT4">
                  <p:embed/>
                </p:oleObj>
              </mc:Choice>
              <mc:Fallback>
                <p:oleObj name="Equation" r:id="rId11" imgW="1714320" imgH="838080" progId="Equation.DSMT4">
                  <p:embed/>
                  <p:pic>
                    <p:nvPicPr>
                      <p:cNvPr id="0" name=""/>
                      <p:cNvPicPr>
                        <a:picLocks noChangeAspect="1" noChangeArrowheads="1"/>
                      </p:cNvPicPr>
                      <p:nvPr/>
                    </p:nvPicPr>
                    <p:blipFill>
                      <a:blip r:embed="rId12"/>
                      <a:srcRect/>
                      <a:stretch>
                        <a:fillRect/>
                      </a:stretch>
                    </p:blipFill>
                    <p:spPr bwMode="auto">
                      <a:xfrm>
                        <a:off x="4535978" y="4553819"/>
                        <a:ext cx="3963478" cy="1791509"/>
                      </a:xfrm>
                      <a:prstGeom prst="rect">
                        <a:avLst/>
                      </a:prstGeom>
                      <a:noFill/>
                      <a:ln>
                        <a:noFill/>
                      </a:ln>
                      <a:effectLst/>
                    </p:spPr>
                  </p:pic>
                </p:oleObj>
              </mc:Fallback>
            </mc:AlternateContent>
          </a:graphicData>
        </a:graphic>
      </p:graphicFrame>
      <p:sp>
        <p:nvSpPr>
          <p:cNvPr id="92" name="Text Box 24"/>
          <p:cNvSpPr txBox="1">
            <a:spLocks noChangeArrowheads="1"/>
          </p:cNvSpPr>
          <p:nvPr/>
        </p:nvSpPr>
        <p:spPr bwMode="auto">
          <a:xfrm>
            <a:off x="508000" y="582613"/>
            <a:ext cx="381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l">
              <a:spcBef>
                <a:spcPct val="50000"/>
              </a:spcBef>
              <a:buFont typeface="Wingdings" pitchFamily="2" charset="2"/>
              <a:buChar char="l"/>
            </a:pPr>
            <a:r>
              <a:rPr lang="zh-CN" altLang="en-US" dirty="0">
                <a:solidFill>
                  <a:srgbClr val="0000CC"/>
                </a:solidFill>
              </a:rPr>
              <a:t>串联电容的分压</a:t>
            </a:r>
          </a:p>
        </p:txBody>
      </p:sp>
      <p:grpSp>
        <p:nvGrpSpPr>
          <p:cNvPr id="3" name="组合 2"/>
          <p:cNvGrpSpPr/>
          <p:nvPr/>
        </p:nvGrpSpPr>
        <p:grpSpPr>
          <a:xfrm>
            <a:off x="3757206" y="665019"/>
            <a:ext cx="2516284" cy="3165035"/>
            <a:chOff x="4175616" y="959214"/>
            <a:chExt cx="2516284" cy="3165035"/>
          </a:xfrm>
        </p:grpSpPr>
        <p:grpSp>
          <p:nvGrpSpPr>
            <p:cNvPr id="50" name="Group 64"/>
            <p:cNvGrpSpPr>
              <a:grpSpLocks/>
            </p:cNvGrpSpPr>
            <p:nvPr/>
          </p:nvGrpSpPr>
          <p:grpSpPr bwMode="auto">
            <a:xfrm>
              <a:off x="4175616" y="959214"/>
              <a:ext cx="2501900" cy="3081359"/>
              <a:chOff x="3391" y="214"/>
              <a:chExt cx="1576" cy="1941"/>
            </a:xfrm>
          </p:grpSpPr>
          <p:sp>
            <p:nvSpPr>
              <p:cNvPr id="52" name="Line 65"/>
              <p:cNvSpPr>
                <a:spLocks noChangeShapeType="1"/>
              </p:cNvSpPr>
              <p:nvPr/>
            </p:nvSpPr>
            <p:spPr bwMode="auto">
              <a:xfrm>
                <a:off x="3651" y="527"/>
                <a:ext cx="726"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3" name="Line 66"/>
              <p:cNvSpPr>
                <a:spLocks noChangeShapeType="1"/>
              </p:cNvSpPr>
              <p:nvPr/>
            </p:nvSpPr>
            <p:spPr bwMode="auto">
              <a:xfrm>
                <a:off x="3651" y="2102"/>
                <a:ext cx="726"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4" name="Line 67"/>
              <p:cNvSpPr>
                <a:spLocks noChangeShapeType="1"/>
              </p:cNvSpPr>
              <p:nvPr/>
            </p:nvSpPr>
            <p:spPr bwMode="auto">
              <a:xfrm>
                <a:off x="4377" y="527"/>
                <a:ext cx="0" cy="196"/>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5" name="Line 68"/>
              <p:cNvSpPr>
                <a:spLocks noChangeShapeType="1"/>
              </p:cNvSpPr>
              <p:nvPr/>
            </p:nvSpPr>
            <p:spPr bwMode="auto">
              <a:xfrm flipH="1">
                <a:off x="4380" y="836"/>
                <a:ext cx="2" cy="155"/>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6" name="Line 69"/>
              <p:cNvSpPr>
                <a:spLocks noChangeShapeType="1"/>
              </p:cNvSpPr>
              <p:nvPr/>
            </p:nvSpPr>
            <p:spPr bwMode="auto">
              <a:xfrm flipV="1">
                <a:off x="4377" y="1930"/>
                <a:ext cx="0" cy="172"/>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57" name="Group 70"/>
              <p:cNvGrpSpPr>
                <a:grpSpLocks/>
              </p:cNvGrpSpPr>
              <p:nvPr/>
            </p:nvGrpSpPr>
            <p:grpSpPr bwMode="auto">
              <a:xfrm>
                <a:off x="4216" y="739"/>
                <a:ext cx="318" cy="90"/>
                <a:chOff x="4034" y="1057"/>
                <a:chExt cx="318" cy="90"/>
              </a:xfrm>
            </p:grpSpPr>
            <p:sp>
              <p:nvSpPr>
                <p:cNvPr id="76" name="Line 71"/>
                <p:cNvSpPr>
                  <a:spLocks noChangeShapeType="1"/>
                </p:cNvSpPr>
                <p:nvPr/>
              </p:nvSpPr>
              <p:spPr bwMode="auto">
                <a:xfrm>
                  <a:off x="4034" y="105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7" name="Line 72"/>
                <p:cNvSpPr>
                  <a:spLocks noChangeShapeType="1"/>
                </p:cNvSpPr>
                <p:nvPr/>
              </p:nvSpPr>
              <p:spPr bwMode="auto">
                <a:xfrm>
                  <a:off x="4034" y="114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grpSp>
            <p:nvGrpSpPr>
              <p:cNvPr id="58" name="Group 73"/>
              <p:cNvGrpSpPr>
                <a:grpSpLocks/>
              </p:cNvGrpSpPr>
              <p:nvPr/>
            </p:nvGrpSpPr>
            <p:grpSpPr bwMode="auto">
              <a:xfrm>
                <a:off x="4226" y="1824"/>
                <a:ext cx="318" cy="90"/>
                <a:chOff x="4044" y="1552"/>
                <a:chExt cx="318" cy="90"/>
              </a:xfrm>
            </p:grpSpPr>
            <p:sp>
              <p:nvSpPr>
                <p:cNvPr id="74" name="Line 74"/>
                <p:cNvSpPr>
                  <a:spLocks noChangeShapeType="1"/>
                </p:cNvSpPr>
                <p:nvPr/>
              </p:nvSpPr>
              <p:spPr bwMode="auto">
                <a:xfrm>
                  <a:off x="4044" y="1552"/>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5" name="Line 75"/>
                <p:cNvSpPr>
                  <a:spLocks noChangeShapeType="1"/>
                </p:cNvSpPr>
                <p:nvPr/>
              </p:nvSpPr>
              <p:spPr bwMode="auto">
                <a:xfrm>
                  <a:off x="4044" y="1642"/>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59" name="Oval 76" descr="斜纹布"/>
              <p:cNvSpPr>
                <a:spLocks noChangeArrowheads="1"/>
              </p:cNvSpPr>
              <p:nvPr/>
            </p:nvSpPr>
            <p:spPr bwMode="auto">
              <a:xfrm>
                <a:off x="3560" y="482"/>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0" name="Oval 77" descr="斜纹布"/>
              <p:cNvSpPr>
                <a:spLocks noChangeArrowheads="1"/>
              </p:cNvSpPr>
              <p:nvPr/>
            </p:nvSpPr>
            <p:spPr bwMode="auto">
              <a:xfrm>
                <a:off x="3560" y="2056"/>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1" name="Text Box 78" descr="斜纹布"/>
              <p:cNvSpPr txBox="1">
                <a:spLocks noChangeArrowheads="1"/>
              </p:cNvSpPr>
              <p:nvPr/>
            </p:nvSpPr>
            <p:spPr bwMode="auto">
              <a:xfrm>
                <a:off x="4513" y="603"/>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sym typeface="Symbol" pitchFamily="18" charset="2"/>
                  </a:rPr>
                  <a:t>v</a:t>
                </a:r>
                <a:r>
                  <a:rPr kumimoji="1" lang="en-US" altLang="zh-CN" b="0" baseline="-25000" dirty="0" smtClean="0">
                    <a:solidFill>
                      <a:schemeClr val="tx1"/>
                    </a:solidFill>
                    <a:latin typeface="Times New Roman" pitchFamily="18" charset="0"/>
                    <a:sym typeface="Symbol" pitchFamily="18" charset="2"/>
                  </a:rPr>
                  <a:t>1</a:t>
                </a:r>
                <a:endParaRPr kumimoji="1" lang="en-US" altLang="zh-CN" b="0" baseline="-25000" dirty="0">
                  <a:solidFill>
                    <a:schemeClr val="tx1"/>
                  </a:solidFill>
                  <a:latin typeface="Times New Roman" pitchFamily="18" charset="0"/>
                  <a:sym typeface="Symbol" pitchFamily="18" charset="2"/>
                </a:endParaRPr>
              </a:p>
            </p:txBody>
          </p:sp>
          <p:sp>
            <p:nvSpPr>
              <p:cNvPr id="62" name="Text Box 79" descr="斜纹布"/>
              <p:cNvSpPr txBox="1">
                <a:spLocks noChangeArrowheads="1"/>
              </p:cNvSpPr>
              <p:nvPr/>
            </p:nvSpPr>
            <p:spPr bwMode="auto">
              <a:xfrm>
                <a:off x="3391" y="1101"/>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sym typeface="Symbol" pitchFamily="18" charset="2"/>
                  </a:rPr>
                  <a:t>v</a:t>
                </a:r>
                <a:endParaRPr kumimoji="1" lang="en-US" altLang="zh-CN" b="0" baseline="-25000" dirty="0">
                  <a:solidFill>
                    <a:schemeClr val="tx1"/>
                  </a:solidFill>
                  <a:latin typeface="Times New Roman" pitchFamily="18" charset="0"/>
                  <a:sym typeface="Symbol" pitchFamily="18" charset="2"/>
                </a:endParaRPr>
              </a:p>
            </p:txBody>
          </p:sp>
          <p:sp>
            <p:nvSpPr>
              <p:cNvPr id="63" name="Text Box 80" descr="斜纹布"/>
              <p:cNvSpPr txBox="1">
                <a:spLocks noChangeArrowheads="1"/>
              </p:cNvSpPr>
              <p:nvPr/>
            </p:nvSpPr>
            <p:spPr bwMode="auto">
              <a:xfrm>
                <a:off x="3858" y="1698"/>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sym typeface="Symbol" pitchFamily="18" charset="2"/>
                  </a:rPr>
                  <a:t>C</a:t>
                </a:r>
                <a:r>
                  <a:rPr kumimoji="1" lang="en-US" altLang="zh-CN" b="0" i="1" baseline="-25000" dirty="0" smtClean="0">
                    <a:solidFill>
                      <a:schemeClr val="tx1"/>
                    </a:solidFill>
                    <a:latin typeface="Times New Roman" pitchFamily="18" charset="0"/>
                    <a:sym typeface="Symbol" pitchFamily="18" charset="2"/>
                  </a:rPr>
                  <a:t>n</a:t>
                </a:r>
                <a:endParaRPr kumimoji="1" lang="en-US" altLang="zh-CN" b="0" i="1" baseline="-25000" dirty="0">
                  <a:solidFill>
                    <a:schemeClr val="tx1"/>
                  </a:solidFill>
                  <a:latin typeface="Times New Roman" pitchFamily="18" charset="0"/>
                  <a:sym typeface="Symbol" pitchFamily="18" charset="2"/>
                </a:endParaRPr>
              </a:p>
            </p:txBody>
          </p:sp>
          <p:sp>
            <p:nvSpPr>
              <p:cNvPr id="64" name="Text Box 81" descr="斜纹布"/>
              <p:cNvSpPr txBox="1">
                <a:spLocks noChangeArrowheads="1"/>
              </p:cNvSpPr>
              <p:nvPr/>
            </p:nvSpPr>
            <p:spPr bwMode="auto">
              <a:xfrm>
                <a:off x="3833" y="663"/>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sym typeface="Symbol" pitchFamily="18" charset="2"/>
                  </a:rPr>
                  <a:t>C</a:t>
                </a:r>
                <a:r>
                  <a:rPr kumimoji="1" lang="en-US" altLang="zh-CN" b="0" baseline="-25000">
                    <a:solidFill>
                      <a:schemeClr val="tx1"/>
                    </a:solidFill>
                    <a:latin typeface="Times New Roman" pitchFamily="18" charset="0"/>
                    <a:sym typeface="Symbol" pitchFamily="18" charset="2"/>
                  </a:rPr>
                  <a:t>1</a:t>
                </a:r>
              </a:p>
            </p:txBody>
          </p:sp>
          <p:sp>
            <p:nvSpPr>
              <p:cNvPr id="65" name="Text Box 82" descr="斜纹布"/>
              <p:cNvSpPr txBox="1">
                <a:spLocks noChangeArrowheads="1"/>
              </p:cNvSpPr>
              <p:nvPr/>
            </p:nvSpPr>
            <p:spPr bwMode="auto">
              <a:xfrm>
                <a:off x="4513" y="1693"/>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sym typeface="Symbol" pitchFamily="18" charset="2"/>
                  </a:rPr>
                  <a:t>v</a:t>
                </a:r>
                <a:r>
                  <a:rPr kumimoji="1" lang="en-US" altLang="zh-CN" b="0" i="1" baseline="-25000" dirty="0" err="1" smtClean="0">
                    <a:solidFill>
                      <a:schemeClr val="tx1"/>
                    </a:solidFill>
                    <a:latin typeface="Times New Roman" pitchFamily="18" charset="0"/>
                    <a:sym typeface="Symbol" pitchFamily="18" charset="2"/>
                  </a:rPr>
                  <a:t>n</a:t>
                </a:r>
                <a:endParaRPr kumimoji="1" lang="en-US" altLang="zh-CN" b="0" i="1" baseline="-25000" dirty="0">
                  <a:solidFill>
                    <a:schemeClr val="tx1"/>
                  </a:solidFill>
                  <a:latin typeface="Times New Roman" pitchFamily="18" charset="0"/>
                  <a:sym typeface="Symbol" pitchFamily="18" charset="2"/>
                </a:endParaRPr>
              </a:p>
            </p:txBody>
          </p:sp>
          <p:sp>
            <p:nvSpPr>
              <p:cNvPr id="66" name="Line 83"/>
              <p:cNvSpPr>
                <a:spLocks noChangeShapeType="1"/>
              </p:cNvSpPr>
              <p:nvPr/>
            </p:nvSpPr>
            <p:spPr bwMode="auto">
              <a:xfrm>
                <a:off x="3742" y="482"/>
                <a:ext cx="317" cy="0"/>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7" name="Text Box 84" descr="斜纹布"/>
              <p:cNvSpPr txBox="1">
                <a:spLocks noChangeArrowheads="1"/>
              </p:cNvSpPr>
              <p:nvPr/>
            </p:nvSpPr>
            <p:spPr bwMode="auto">
              <a:xfrm>
                <a:off x="4567" y="1531"/>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smtClean="0">
                    <a:solidFill>
                      <a:schemeClr val="tx1"/>
                    </a:solidFill>
                    <a:latin typeface="Times New Roman" pitchFamily="18" charset="0"/>
                    <a:sym typeface="Symbol" pitchFamily="18" charset="2"/>
                  </a:rPr>
                  <a:t>+</a:t>
                </a:r>
                <a:endParaRPr kumimoji="1" lang="en-US" altLang="zh-CN" sz="3200" b="0" dirty="0">
                  <a:solidFill>
                    <a:schemeClr val="tx1"/>
                  </a:solidFill>
                  <a:latin typeface="Times New Roman" pitchFamily="18" charset="0"/>
                  <a:sym typeface="Symbol" pitchFamily="18" charset="2"/>
                </a:endParaRPr>
              </a:p>
            </p:txBody>
          </p:sp>
          <p:sp>
            <p:nvSpPr>
              <p:cNvPr id="68" name="Text Box 85" descr="斜纹布"/>
              <p:cNvSpPr txBox="1">
                <a:spLocks noChangeArrowheads="1"/>
              </p:cNvSpPr>
              <p:nvPr/>
            </p:nvSpPr>
            <p:spPr bwMode="auto">
              <a:xfrm>
                <a:off x="4558" y="401"/>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Times New Roman" pitchFamily="18" charset="0"/>
                    <a:sym typeface="Symbol" pitchFamily="18" charset="2"/>
                  </a:rPr>
                  <a:t>+</a:t>
                </a:r>
              </a:p>
            </p:txBody>
          </p:sp>
          <p:sp>
            <p:nvSpPr>
              <p:cNvPr id="69" name="Text Box 86" descr="斜纹布"/>
              <p:cNvSpPr txBox="1">
                <a:spLocks noChangeArrowheads="1"/>
              </p:cNvSpPr>
              <p:nvPr/>
            </p:nvSpPr>
            <p:spPr bwMode="auto">
              <a:xfrm>
                <a:off x="3515" y="482"/>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Times New Roman" pitchFamily="18" charset="0"/>
                    <a:sym typeface="Symbol" pitchFamily="18" charset="2"/>
                  </a:rPr>
                  <a:t>+</a:t>
                </a:r>
              </a:p>
            </p:txBody>
          </p:sp>
          <p:sp>
            <p:nvSpPr>
              <p:cNvPr id="70" name="Text Box 87" descr="斜纹布"/>
              <p:cNvSpPr txBox="1">
                <a:spLocks noChangeArrowheads="1"/>
              </p:cNvSpPr>
              <p:nvPr/>
            </p:nvSpPr>
            <p:spPr bwMode="auto">
              <a:xfrm>
                <a:off x="4558" y="743"/>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71" name="Text Box 88" descr="斜纹布"/>
              <p:cNvSpPr txBox="1">
                <a:spLocks noChangeArrowheads="1"/>
              </p:cNvSpPr>
              <p:nvPr/>
            </p:nvSpPr>
            <p:spPr bwMode="auto">
              <a:xfrm>
                <a:off x="3536" y="179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72" name="Text Box 89" descr="斜纹布"/>
              <p:cNvSpPr txBox="1">
                <a:spLocks noChangeArrowheads="1"/>
              </p:cNvSpPr>
              <p:nvPr/>
            </p:nvSpPr>
            <p:spPr bwMode="auto">
              <a:xfrm>
                <a:off x="3651" y="214"/>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a:solidFill>
                      <a:schemeClr val="tx1"/>
                    </a:solidFill>
                    <a:latin typeface="Times New Roman" pitchFamily="18" charset="0"/>
                    <a:sym typeface="Symbol" pitchFamily="18" charset="2"/>
                  </a:rPr>
                  <a:t>i</a:t>
                </a:r>
                <a:endParaRPr kumimoji="1" lang="en-US" altLang="zh-CN" b="0" baseline="-25000" dirty="0">
                  <a:solidFill>
                    <a:schemeClr val="tx1"/>
                  </a:solidFill>
                  <a:latin typeface="Times New Roman" pitchFamily="18" charset="0"/>
                  <a:sym typeface="Symbol" pitchFamily="18" charset="2"/>
                </a:endParaRPr>
              </a:p>
            </p:txBody>
          </p:sp>
          <p:sp>
            <p:nvSpPr>
              <p:cNvPr id="73" name="Text Box 80" descr="斜纹布"/>
              <p:cNvSpPr txBox="1">
                <a:spLocks noChangeArrowheads="1"/>
              </p:cNvSpPr>
              <p:nvPr/>
            </p:nvSpPr>
            <p:spPr bwMode="auto">
              <a:xfrm>
                <a:off x="3854" y="118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sym typeface="Symbol" pitchFamily="18" charset="2"/>
                  </a:rPr>
                  <a:t>C</a:t>
                </a:r>
                <a:r>
                  <a:rPr kumimoji="1" lang="en-US" altLang="zh-CN" b="0" i="1" baseline="-25000" dirty="0" err="1" smtClean="0">
                    <a:solidFill>
                      <a:schemeClr val="tx1"/>
                    </a:solidFill>
                    <a:latin typeface="Times New Roman" pitchFamily="18" charset="0"/>
                    <a:sym typeface="Symbol" pitchFamily="18" charset="2"/>
                  </a:rPr>
                  <a:t>k</a:t>
                </a:r>
                <a:endParaRPr kumimoji="1" lang="en-US" altLang="zh-CN" b="0" i="1" baseline="-25000" dirty="0">
                  <a:solidFill>
                    <a:schemeClr val="tx1"/>
                  </a:solidFill>
                  <a:latin typeface="Times New Roman" pitchFamily="18" charset="0"/>
                  <a:sym typeface="Symbol" pitchFamily="18" charset="2"/>
                </a:endParaRPr>
              </a:p>
            </p:txBody>
          </p:sp>
        </p:grpSp>
        <p:sp>
          <p:nvSpPr>
            <p:cNvPr id="78" name="Line 68"/>
            <p:cNvSpPr>
              <a:spLocks noChangeShapeType="1"/>
            </p:cNvSpPr>
            <p:nvPr/>
          </p:nvSpPr>
          <p:spPr bwMode="auto">
            <a:xfrm>
              <a:off x="5740891" y="3232986"/>
              <a:ext cx="1588" cy="252657"/>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9" name="Line 71"/>
            <p:cNvSpPr>
              <a:spLocks noChangeShapeType="1"/>
            </p:cNvSpPr>
            <p:nvPr/>
          </p:nvSpPr>
          <p:spPr bwMode="auto">
            <a:xfrm>
              <a:off x="5496245" y="2591997"/>
              <a:ext cx="504825"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0" name="Line 72"/>
            <p:cNvSpPr>
              <a:spLocks noChangeShapeType="1"/>
            </p:cNvSpPr>
            <p:nvPr/>
          </p:nvSpPr>
          <p:spPr bwMode="auto">
            <a:xfrm>
              <a:off x="5496245" y="2734872"/>
              <a:ext cx="504825"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1" name="Line 68"/>
            <p:cNvSpPr>
              <a:spLocks noChangeShapeType="1"/>
            </p:cNvSpPr>
            <p:nvPr/>
          </p:nvSpPr>
          <p:spPr bwMode="auto">
            <a:xfrm flipH="1">
              <a:off x="5740891" y="2760272"/>
              <a:ext cx="0" cy="387529"/>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2" name="Line 68"/>
            <p:cNvSpPr>
              <a:spLocks noChangeShapeType="1"/>
            </p:cNvSpPr>
            <p:nvPr/>
          </p:nvSpPr>
          <p:spPr bwMode="auto">
            <a:xfrm>
              <a:off x="5748657" y="2191916"/>
              <a:ext cx="172" cy="400081"/>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3" name="Text Box 82" descr="斜纹布"/>
            <p:cNvSpPr txBox="1">
              <a:spLocks noChangeArrowheads="1"/>
            </p:cNvSpPr>
            <p:nvPr/>
          </p:nvSpPr>
          <p:spPr bwMode="auto">
            <a:xfrm>
              <a:off x="5971175" y="2364043"/>
              <a:ext cx="720725" cy="46196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sym typeface="Symbol" pitchFamily="18" charset="2"/>
                </a:rPr>
                <a:t>v</a:t>
              </a:r>
              <a:r>
                <a:rPr kumimoji="1" lang="en-US" altLang="zh-CN" b="0" i="1" baseline="-25000" dirty="0" err="1" smtClean="0">
                  <a:solidFill>
                    <a:schemeClr val="tx1"/>
                  </a:solidFill>
                  <a:latin typeface="Times New Roman" pitchFamily="18" charset="0"/>
                  <a:sym typeface="Symbol" pitchFamily="18" charset="2"/>
                </a:rPr>
                <a:t>k</a:t>
              </a:r>
              <a:endParaRPr kumimoji="1" lang="en-US" altLang="zh-CN" b="0" i="1" baseline="-25000" dirty="0">
                <a:solidFill>
                  <a:schemeClr val="tx1"/>
                </a:solidFill>
                <a:latin typeface="Times New Roman" pitchFamily="18" charset="0"/>
                <a:sym typeface="Symbol" pitchFamily="18" charset="2"/>
              </a:endParaRPr>
            </a:p>
          </p:txBody>
        </p:sp>
        <p:sp>
          <p:nvSpPr>
            <p:cNvPr id="84" name="Text Box 84" descr="斜纹布"/>
            <p:cNvSpPr txBox="1">
              <a:spLocks noChangeArrowheads="1"/>
            </p:cNvSpPr>
            <p:nvPr/>
          </p:nvSpPr>
          <p:spPr bwMode="auto">
            <a:xfrm>
              <a:off x="6042613" y="2082546"/>
              <a:ext cx="433388" cy="579443"/>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Times New Roman" pitchFamily="18" charset="0"/>
                  <a:sym typeface="Symbol" pitchFamily="18" charset="2"/>
                </a:rPr>
                <a:t>+</a:t>
              </a:r>
            </a:p>
          </p:txBody>
        </p:sp>
        <p:sp>
          <p:nvSpPr>
            <p:cNvPr id="85" name="Text Box 88" descr="斜纹布"/>
            <p:cNvSpPr txBox="1">
              <a:spLocks noChangeArrowheads="1"/>
            </p:cNvSpPr>
            <p:nvPr/>
          </p:nvSpPr>
          <p:spPr bwMode="auto">
            <a:xfrm>
              <a:off x="6042613" y="2665728"/>
              <a:ext cx="433388" cy="579443"/>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87" name="Text Box 88" descr="斜纹布"/>
            <p:cNvSpPr txBox="1">
              <a:spLocks noChangeArrowheads="1"/>
            </p:cNvSpPr>
            <p:nvPr/>
          </p:nvSpPr>
          <p:spPr bwMode="auto">
            <a:xfrm>
              <a:off x="6060853" y="3544806"/>
              <a:ext cx="433388" cy="579443"/>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rgbClr val="00FFFF"/>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grpSp>
      <p:grpSp>
        <p:nvGrpSpPr>
          <p:cNvPr id="88" name="Group 57"/>
          <p:cNvGrpSpPr>
            <a:grpSpLocks/>
          </p:cNvGrpSpPr>
          <p:nvPr/>
        </p:nvGrpSpPr>
        <p:grpSpPr bwMode="auto">
          <a:xfrm>
            <a:off x="6018544" y="2339373"/>
            <a:ext cx="1223962" cy="468499"/>
            <a:chOff x="3828" y="1974"/>
            <a:chExt cx="771" cy="534"/>
          </a:xfrm>
        </p:grpSpPr>
        <p:sp>
          <p:nvSpPr>
            <p:cNvPr id="91" name="Line 58"/>
            <p:cNvSpPr>
              <a:spLocks noChangeShapeType="1"/>
            </p:cNvSpPr>
            <p:nvPr/>
          </p:nvSpPr>
          <p:spPr bwMode="auto">
            <a:xfrm flipV="1">
              <a:off x="4103" y="1974"/>
              <a:ext cx="273" cy="5"/>
            </a:xfrm>
            <a:prstGeom prst="line">
              <a:avLst/>
            </a:prstGeom>
            <a:noFill/>
            <a:ln w="762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3" name="Text Box 59" descr="斜纹布"/>
            <p:cNvSpPr txBox="1">
              <a:spLocks noChangeArrowheads="1"/>
            </p:cNvSpPr>
            <p:nvPr/>
          </p:nvSpPr>
          <p:spPr bwMode="auto">
            <a:xfrm>
              <a:off x="3828" y="2220"/>
              <a:ext cx="771"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p>
              <a:pPr algn="ctr" eaLnBrk="0" hangingPunct="0">
                <a:spcBef>
                  <a:spcPct val="50000"/>
                </a:spcBef>
              </a:pPr>
              <a:r>
                <a:rPr kumimoji="1" lang="zh-CN" altLang="en-US" sz="2400" dirty="0">
                  <a:latin typeface="Times New Roman" pitchFamily="18" charset="0"/>
                  <a:ea typeface="仿宋_GB2312" pitchFamily="49" charset="-122"/>
                  <a:sym typeface="Symbol" pitchFamily="18" charset="2"/>
                </a:rPr>
                <a:t>等效</a:t>
              </a:r>
            </a:p>
          </p:txBody>
        </p:sp>
      </p:grpSp>
    </p:spTree>
    <p:extLst>
      <p:ext uri="{BB962C8B-B14F-4D97-AF65-F5344CB8AC3E}">
        <p14:creationId xmlns:p14="http://schemas.microsoft.com/office/powerpoint/2010/main" val="154384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barn(inVertical)">
                                      <p:cBhvr>
                                        <p:cTn id="17" dur="500"/>
                                        <p:tgtEl>
                                          <p:spTgt spid="88"/>
                                        </p:tgtEl>
                                      </p:cBhvr>
                                    </p:animEffect>
                                  </p:childTnLst>
                                </p:cTn>
                              </p:par>
                            </p:childTnLst>
                          </p:cTn>
                        </p:par>
                        <p:par>
                          <p:cTn id="18" fill="hold">
                            <p:stCondLst>
                              <p:cond delay="500"/>
                            </p:stCondLst>
                            <p:childTnLst>
                              <p:par>
                                <p:cTn id="19" presetID="16" presetClass="entr" presetSubtype="21"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inVertical)">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barn(inVertical)">
                                      <p:cBhvr>
                                        <p:cTn id="31" dur="500"/>
                                        <p:tgtEl>
                                          <p:spTgt spid="86"/>
                                        </p:tgtEl>
                                      </p:cBhvr>
                                    </p:animEffect>
                                  </p:childTnLst>
                                </p:cTn>
                              </p:par>
                              <p:par>
                                <p:cTn id="32" presetID="16" presetClass="entr" presetSubtype="21"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arn(inVertical)">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89"/>
                                        </p:tgtEl>
                                        <p:attrNameLst>
                                          <p:attrName>style.visibility</p:attrName>
                                        </p:attrNameLst>
                                      </p:cBhvr>
                                      <p:to>
                                        <p:strVal val="visible"/>
                                      </p:to>
                                    </p:set>
                                    <p:animEffect transition="in" filter="barn(inVertical)">
                                      <p:cBhvr>
                                        <p:cTn id="39" dur="500"/>
                                        <p:tgtEl>
                                          <p:spTgt spid="89"/>
                                        </p:tgtEl>
                                      </p:cBhvr>
                                    </p:animEffect>
                                  </p:childTnLst>
                                </p:cTn>
                              </p:par>
                              <p:par>
                                <p:cTn id="40" presetID="16" presetClass="entr" presetSubtype="21" fill="hold"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arn(inVertic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90"/>
                                        </p:tgtEl>
                                        <p:attrNameLst>
                                          <p:attrName>style.visibility</p:attrName>
                                        </p:attrNameLst>
                                      </p:cBhvr>
                                      <p:to>
                                        <p:strVal val="visible"/>
                                      </p:to>
                                    </p:set>
                                    <p:animEffect transition="in" filter="barn(inVertical)">
                                      <p:cBhvr>
                                        <p:cTn id="4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685800" y="504825"/>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smtClean="0">
                <a:solidFill>
                  <a:schemeClr val="accent2"/>
                </a:solidFill>
              </a:rPr>
              <a:t>2</a:t>
            </a:r>
            <a:r>
              <a:rPr lang="zh-CN" altLang="en-US" dirty="0" smtClean="0">
                <a:solidFill>
                  <a:schemeClr val="accent2"/>
                </a:solidFill>
              </a:rPr>
              <a:t>、电容的并联</a:t>
            </a:r>
            <a:endParaRPr lang="zh-CN" altLang="en-US" dirty="0">
              <a:solidFill>
                <a:schemeClr val="accent2"/>
              </a:solidFill>
            </a:endParaRPr>
          </a:p>
        </p:txBody>
      </p:sp>
      <p:graphicFrame>
        <p:nvGraphicFramePr>
          <p:cNvPr id="3" name="Object 34"/>
          <p:cNvGraphicFramePr>
            <a:graphicFrameLocks noChangeAspect="1"/>
          </p:cNvGraphicFramePr>
          <p:nvPr>
            <p:extLst/>
          </p:nvPr>
        </p:nvGraphicFramePr>
        <p:xfrm>
          <a:off x="1982908" y="1857376"/>
          <a:ext cx="1412875" cy="869950"/>
        </p:xfrm>
        <a:graphic>
          <a:graphicData uri="http://schemas.openxmlformats.org/presentationml/2006/ole">
            <mc:AlternateContent xmlns:mc="http://schemas.openxmlformats.org/markup-compatibility/2006">
              <mc:Choice xmlns:v="urn:schemas-microsoft-com:vml" Requires="v">
                <p:oleObj spid="_x0000_s448532" name="Equation" r:id="rId3" imgW="596880" imgH="368280" progId="Equation.DSMT4">
                  <p:embed/>
                </p:oleObj>
              </mc:Choice>
              <mc:Fallback>
                <p:oleObj name="Equation" r:id="rId3" imgW="596880" imgH="368280" progId="Equation.DSMT4">
                  <p:embed/>
                  <p:pic>
                    <p:nvPicPr>
                      <p:cNvPr id="0" name=""/>
                      <p:cNvPicPr>
                        <a:picLocks noChangeAspect="1" noChangeArrowheads="1"/>
                      </p:cNvPicPr>
                      <p:nvPr/>
                    </p:nvPicPr>
                    <p:blipFill>
                      <a:blip r:embed="rId4"/>
                      <a:srcRect/>
                      <a:stretch>
                        <a:fillRect/>
                      </a:stretch>
                    </p:blipFill>
                    <p:spPr bwMode="auto">
                      <a:xfrm>
                        <a:off x="1982908" y="1857376"/>
                        <a:ext cx="1412875"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36"/>
          <p:cNvGraphicFramePr>
            <a:graphicFrameLocks noChangeAspect="1"/>
          </p:cNvGraphicFramePr>
          <p:nvPr>
            <p:extLst/>
          </p:nvPr>
        </p:nvGraphicFramePr>
        <p:xfrm>
          <a:off x="853536" y="3235326"/>
          <a:ext cx="3760788" cy="914400"/>
        </p:xfrm>
        <a:graphic>
          <a:graphicData uri="http://schemas.openxmlformats.org/presentationml/2006/ole">
            <mc:AlternateContent xmlns:mc="http://schemas.openxmlformats.org/markup-compatibility/2006">
              <mc:Choice xmlns:v="urn:schemas-microsoft-com:vml" Requires="v">
                <p:oleObj spid="_x0000_s448533" name="Equation" r:id="rId5" imgW="1511280" imgH="368280" progId="Equation.DSMT4">
                  <p:embed/>
                </p:oleObj>
              </mc:Choice>
              <mc:Fallback>
                <p:oleObj name="Equation" r:id="rId5" imgW="1511280" imgH="368280" progId="Equation.DSMT4">
                  <p:embed/>
                  <p:pic>
                    <p:nvPicPr>
                      <p:cNvPr id="0" name=""/>
                      <p:cNvPicPr>
                        <a:picLocks noChangeAspect="1" noChangeArrowheads="1"/>
                      </p:cNvPicPr>
                      <p:nvPr/>
                    </p:nvPicPr>
                    <p:blipFill>
                      <a:blip r:embed="rId6"/>
                      <a:srcRect/>
                      <a:stretch>
                        <a:fillRect/>
                      </a:stretch>
                    </p:blipFill>
                    <p:spPr bwMode="auto">
                      <a:xfrm>
                        <a:off x="853536" y="3235326"/>
                        <a:ext cx="376078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38"/>
          <p:cNvGraphicFramePr>
            <a:graphicFrameLocks noChangeAspect="1"/>
          </p:cNvGraphicFramePr>
          <p:nvPr>
            <p:extLst/>
          </p:nvPr>
        </p:nvGraphicFramePr>
        <p:xfrm>
          <a:off x="2133061" y="5013326"/>
          <a:ext cx="1610803" cy="576528"/>
        </p:xfrm>
        <a:graphic>
          <a:graphicData uri="http://schemas.openxmlformats.org/presentationml/2006/ole">
            <mc:AlternateContent xmlns:mc="http://schemas.openxmlformats.org/markup-compatibility/2006">
              <mc:Choice xmlns:v="urn:schemas-microsoft-com:vml" Requires="v">
                <p:oleObj spid="_x0000_s448534" name="Equation" r:id="rId7" imgW="672840" imgH="241200" progId="Equation.DSMT4">
                  <p:embed/>
                </p:oleObj>
              </mc:Choice>
              <mc:Fallback>
                <p:oleObj name="Equation" r:id="rId7" imgW="672840" imgH="241200" progId="Equation.DSMT4">
                  <p:embed/>
                  <p:pic>
                    <p:nvPicPr>
                      <p:cNvPr id="0" name=""/>
                      <p:cNvPicPr>
                        <a:picLocks noChangeAspect="1" noChangeArrowheads="1"/>
                      </p:cNvPicPr>
                      <p:nvPr/>
                    </p:nvPicPr>
                    <p:blipFill>
                      <a:blip r:embed="rId8"/>
                      <a:srcRect/>
                      <a:stretch>
                        <a:fillRect/>
                      </a:stretch>
                    </p:blipFill>
                    <p:spPr bwMode="auto">
                      <a:xfrm>
                        <a:off x="2133061" y="5013326"/>
                        <a:ext cx="1610803" cy="576528"/>
                      </a:xfrm>
                      <a:prstGeom prst="rect">
                        <a:avLst/>
                      </a:prstGeom>
                      <a:solidFill>
                        <a:srgbClr val="92D050"/>
                      </a:solidFill>
                      <a:ln>
                        <a:noFill/>
                      </a:ln>
                      <a:effectLst/>
                    </p:spPr>
                  </p:pic>
                </p:oleObj>
              </mc:Fallback>
            </mc:AlternateContent>
          </a:graphicData>
        </a:graphic>
      </p:graphicFrame>
      <p:grpSp>
        <p:nvGrpSpPr>
          <p:cNvPr id="8" name="Group 41"/>
          <p:cNvGrpSpPr>
            <a:grpSpLocks/>
          </p:cNvGrpSpPr>
          <p:nvPr/>
        </p:nvGrpSpPr>
        <p:grpSpPr bwMode="auto">
          <a:xfrm>
            <a:off x="6300789" y="4005263"/>
            <a:ext cx="2182813" cy="2089150"/>
            <a:chOff x="4059" y="2160"/>
            <a:chExt cx="1375" cy="1316"/>
          </a:xfrm>
        </p:grpSpPr>
        <p:sp>
          <p:nvSpPr>
            <p:cNvPr id="9" name="Line 42"/>
            <p:cNvSpPr>
              <a:spLocks noChangeShapeType="1"/>
            </p:cNvSpPr>
            <p:nvPr/>
          </p:nvSpPr>
          <p:spPr bwMode="auto">
            <a:xfrm>
              <a:off x="4240" y="2206"/>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 name="Line 43"/>
            <p:cNvSpPr>
              <a:spLocks noChangeShapeType="1"/>
            </p:cNvSpPr>
            <p:nvPr/>
          </p:nvSpPr>
          <p:spPr bwMode="auto">
            <a:xfrm>
              <a:off x="4240" y="3430"/>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 name="Line 44"/>
            <p:cNvSpPr>
              <a:spLocks noChangeShapeType="1"/>
            </p:cNvSpPr>
            <p:nvPr/>
          </p:nvSpPr>
          <p:spPr bwMode="auto">
            <a:xfrm>
              <a:off x="4921" y="2205"/>
              <a:ext cx="0" cy="50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2" name="Line 45"/>
            <p:cNvSpPr>
              <a:spLocks noChangeShapeType="1"/>
            </p:cNvSpPr>
            <p:nvPr/>
          </p:nvSpPr>
          <p:spPr bwMode="auto">
            <a:xfrm flipV="1">
              <a:off x="4921" y="2795"/>
              <a:ext cx="0" cy="635"/>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13" name="Group 46"/>
            <p:cNvGrpSpPr>
              <a:grpSpLocks/>
            </p:cNvGrpSpPr>
            <p:nvPr/>
          </p:nvGrpSpPr>
          <p:grpSpPr bwMode="auto">
            <a:xfrm>
              <a:off x="4765" y="2705"/>
              <a:ext cx="318" cy="90"/>
              <a:chOff x="4039" y="1117"/>
              <a:chExt cx="318" cy="90"/>
            </a:xfrm>
          </p:grpSpPr>
          <p:sp>
            <p:nvSpPr>
              <p:cNvPr id="22" name="Line 47"/>
              <p:cNvSpPr>
                <a:spLocks noChangeShapeType="1"/>
              </p:cNvSpPr>
              <p:nvPr/>
            </p:nvSpPr>
            <p:spPr bwMode="auto">
              <a:xfrm>
                <a:off x="4039" y="111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23" name="Line 48"/>
              <p:cNvSpPr>
                <a:spLocks noChangeShapeType="1"/>
              </p:cNvSpPr>
              <p:nvPr/>
            </p:nvSpPr>
            <p:spPr bwMode="auto">
              <a:xfrm>
                <a:off x="4039" y="120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14" name="Oval 49" descr="斜纹布"/>
            <p:cNvSpPr>
              <a:spLocks noChangeArrowheads="1"/>
            </p:cNvSpPr>
            <p:nvPr/>
          </p:nvSpPr>
          <p:spPr bwMode="auto">
            <a:xfrm>
              <a:off x="4150" y="2160"/>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5" name="Text Box 50" descr="斜纹布"/>
            <p:cNvSpPr txBox="1">
              <a:spLocks noChangeArrowheads="1"/>
            </p:cNvSpPr>
            <p:nvPr/>
          </p:nvSpPr>
          <p:spPr bwMode="auto">
            <a:xfrm>
              <a:off x="4875" y="2251"/>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16" name="Text Box 51" descr="斜纹布"/>
            <p:cNvSpPr txBox="1">
              <a:spLocks noChangeArrowheads="1"/>
            </p:cNvSpPr>
            <p:nvPr/>
          </p:nvSpPr>
          <p:spPr bwMode="auto">
            <a:xfrm>
              <a:off x="4059" y="2614"/>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17" name="Text Box 52" descr="斜纹布"/>
            <p:cNvSpPr txBox="1">
              <a:spLocks noChangeArrowheads="1"/>
            </p:cNvSpPr>
            <p:nvPr/>
          </p:nvSpPr>
          <p:spPr bwMode="auto">
            <a:xfrm>
              <a:off x="4104" y="216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18" name="Text Box 53" descr="斜纹布"/>
            <p:cNvSpPr txBox="1">
              <a:spLocks noChangeArrowheads="1"/>
            </p:cNvSpPr>
            <p:nvPr/>
          </p:nvSpPr>
          <p:spPr bwMode="auto">
            <a:xfrm>
              <a:off x="4150" y="3111"/>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19" name="Line 54"/>
            <p:cNvSpPr>
              <a:spLocks noChangeShapeType="1"/>
            </p:cNvSpPr>
            <p:nvPr/>
          </p:nvSpPr>
          <p:spPr bwMode="auto">
            <a:xfrm>
              <a:off x="4992" y="2342"/>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20" name="Text Box 55" descr="斜纹布"/>
            <p:cNvSpPr txBox="1">
              <a:spLocks noChangeArrowheads="1"/>
            </p:cNvSpPr>
            <p:nvPr/>
          </p:nvSpPr>
          <p:spPr bwMode="auto">
            <a:xfrm>
              <a:off x="4980" y="2711"/>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a:solidFill>
                    <a:schemeClr val="tx1"/>
                  </a:solidFill>
                  <a:latin typeface="Times New Roman" pitchFamily="18" charset="0"/>
                  <a:ea typeface="仿宋_GB2312" pitchFamily="49" charset="-122"/>
                  <a:sym typeface="Symbol" pitchFamily="18" charset="2"/>
                </a:rPr>
                <a:t>C</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21" name="Oval 56" descr="斜纹布"/>
            <p:cNvSpPr>
              <a:spLocks noChangeArrowheads="1"/>
            </p:cNvSpPr>
            <p:nvPr/>
          </p:nvSpPr>
          <p:spPr bwMode="auto">
            <a:xfrm>
              <a:off x="4150" y="3385"/>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grpSp>
        <p:nvGrpSpPr>
          <p:cNvPr id="24" name="Group 57"/>
          <p:cNvGrpSpPr>
            <a:grpSpLocks/>
          </p:cNvGrpSpPr>
          <p:nvPr/>
        </p:nvGrpSpPr>
        <p:grpSpPr bwMode="auto">
          <a:xfrm>
            <a:off x="6921664" y="3068638"/>
            <a:ext cx="1223962" cy="720725"/>
            <a:chOff x="4014" y="1933"/>
            <a:chExt cx="771" cy="454"/>
          </a:xfrm>
        </p:grpSpPr>
        <p:sp>
          <p:nvSpPr>
            <p:cNvPr id="25" name="Line 58"/>
            <p:cNvSpPr>
              <a:spLocks noChangeShapeType="1"/>
            </p:cNvSpPr>
            <p:nvPr/>
          </p:nvSpPr>
          <p:spPr bwMode="auto">
            <a:xfrm>
              <a:off x="4059" y="1933"/>
              <a:ext cx="0" cy="454"/>
            </a:xfrm>
            <a:prstGeom prst="line">
              <a:avLst/>
            </a:prstGeom>
            <a:noFill/>
            <a:ln w="762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26" name="Text Box 59" descr="斜纹布"/>
            <p:cNvSpPr txBox="1">
              <a:spLocks noChangeArrowheads="1"/>
            </p:cNvSpPr>
            <p:nvPr/>
          </p:nvSpPr>
          <p:spPr bwMode="auto">
            <a:xfrm>
              <a:off x="4014" y="1979"/>
              <a:ext cx="771"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p>
              <a:pPr algn="ctr" eaLnBrk="0" hangingPunct="0">
                <a:spcBef>
                  <a:spcPct val="50000"/>
                </a:spcBef>
              </a:pPr>
              <a:r>
                <a:rPr kumimoji="1" lang="zh-CN" altLang="en-US" sz="2400">
                  <a:latin typeface="Times New Roman" pitchFamily="18" charset="0"/>
                  <a:ea typeface="仿宋_GB2312" pitchFamily="49" charset="-122"/>
                  <a:sym typeface="Symbol" pitchFamily="18" charset="2"/>
                </a:rPr>
                <a:t>等效</a:t>
              </a:r>
            </a:p>
          </p:txBody>
        </p:sp>
      </p:grpSp>
      <p:grpSp>
        <p:nvGrpSpPr>
          <p:cNvPr id="28" name="Group 8"/>
          <p:cNvGrpSpPr>
            <a:grpSpLocks/>
          </p:cNvGrpSpPr>
          <p:nvPr/>
        </p:nvGrpSpPr>
        <p:grpSpPr bwMode="auto">
          <a:xfrm>
            <a:off x="5509125" y="333375"/>
            <a:ext cx="3489385" cy="2520950"/>
            <a:chOff x="1474" y="527"/>
            <a:chExt cx="2198" cy="1588"/>
          </a:xfrm>
        </p:grpSpPr>
        <p:sp>
          <p:nvSpPr>
            <p:cNvPr id="29" name="Line 9"/>
            <p:cNvSpPr>
              <a:spLocks noChangeShapeType="1"/>
            </p:cNvSpPr>
            <p:nvPr/>
          </p:nvSpPr>
          <p:spPr bwMode="auto">
            <a:xfrm flipV="1">
              <a:off x="1655" y="844"/>
              <a:ext cx="772" cy="1"/>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0" name="Line 10"/>
            <p:cNvSpPr>
              <a:spLocks noChangeShapeType="1"/>
            </p:cNvSpPr>
            <p:nvPr/>
          </p:nvSpPr>
          <p:spPr bwMode="auto">
            <a:xfrm>
              <a:off x="1655" y="2069"/>
              <a:ext cx="806" cy="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1" name="Line 11"/>
            <p:cNvSpPr>
              <a:spLocks noChangeShapeType="1"/>
            </p:cNvSpPr>
            <p:nvPr/>
          </p:nvSpPr>
          <p:spPr bwMode="auto">
            <a:xfrm>
              <a:off x="3243" y="844"/>
              <a:ext cx="0" cy="50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2" name="Line 12"/>
            <p:cNvSpPr>
              <a:spLocks noChangeShapeType="1"/>
            </p:cNvSpPr>
            <p:nvPr/>
          </p:nvSpPr>
          <p:spPr bwMode="auto">
            <a:xfrm>
              <a:off x="2109" y="845"/>
              <a:ext cx="0" cy="499"/>
            </a:xfrm>
            <a:prstGeom prst="line">
              <a:avLst/>
            </a:prstGeom>
            <a:noFill/>
            <a:ln w="28575" cap="sq">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3" name="Line 13"/>
            <p:cNvSpPr>
              <a:spLocks noChangeShapeType="1"/>
            </p:cNvSpPr>
            <p:nvPr/>
          </p:nvSpPr>
          <p:spPr bwMode="auto">
            <a:xfrm flipV="1">
              <a:off x="3243" y="1434"/>
              <a:ext cx="0" cy="635"/>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34" name="Group 14"/>
            <p:cNvGrpSpPr>
              <a:grpSpLocks/>
            </p:cNvGrpSpPr>
            <p:nvPr/>
          </p:nvGrpSpPr>
          <p:grpSpPr bwMode="auto">
            <a:xfrm>
              <a:off x="3082" y="1344"/>
              <a:ext cx="318" cy="90"/>
              <a:chOff x="4624" y="1117"/>
              <a:chExt cx="318" cy="90"/>
            </a:xfrm>
          </p:grpSpPr>
          <p:sp>
            <p:nvSpPr>
              <p:cNvPr id="52" name="Line 15"/>
              <p:cNvSpPr>
                <a:spLocks noChangeShapeType="1"/>
              </p:cNvSpPr>
              <p:nvPr/>
            </p:nvSpPr>
            <p:spPr bwMode="auto">
              <a:xfrm>
                <a:off x="4624" y="111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3" name="Line 16"/>
              <p:cNvSpPr>
                <a:spLocks noChangeShapeType="1"/>
              </p:cNvSpPr>
              <p:nvPr/>
            </p:nvSpPr>
            <p:spPr bwMode="auto">
              <a:xfrm>
                <a:off x="4624" y="120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grpSp>
          <p:nvGrpSpPr>
            <p:cNvPr id="35" name="Group 17"/>
            <p:cNvGrpSpPr>
              <a:grpSpLocks/>
            </p:cNvGrpSpPr>
            <p:nvPr/>
          </p:nvGrpSpPr>
          <p:grpSpPr bwMode="auto">
            <a:xfrm>
              <a:off x="1957" y="1344"/>
              <a:ext cx="318" cy="90"/>
              <a:chOff x="4044" y="1117"/>
              <a:chExt cx="318" cy="90"/>
            </a:xfrm>
          </p:grpSpPr>
          <p:sp>
            <p:nvSpPr>
              <p:cNvPr id="50" name="Line 18"/>
              <p:cNvSpPr>
                <a:spLocks noChangeShapeType="1"/>
              </p:cNvSpPr>
              <p:nvPr/>
            </p:nvSpPr>
            <p:spPr bwMode="auto">
              <a:xfrm>
                <a:off x="4044" y="111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1" name="Line 19"/>
              <p:cNvSpPr>
                <a:spLocks noChangeShapeType="1"/>
              </p:cNvSpPr>
              <p:nvPr/>
            </p:nvSpPr>
            <p:spPr bwMode="auto">
              <a:xfrm>
                <a:off x="4044" y="120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36" name="Oval 20" descr="斜纹布"/>
            <p:cNvSpPr>
              <a:spLocks noChangeArrowheads="1"/>
            </p:cNvSpPr>
            <p:nvPr/>
          </p:nvSpPr>
          <p:spPr bwMode="auto">
            <a:xfrm>
              <a:off x="1565" y="799"/>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7" name="Oval 21" descr="斜纹布"/>
            <p:cNvSpPr>
              <a:spLocks noChangeArrowheads="1"/>
            </p:cNvSpPr>
            <p:nvPr/>
          </p:nvSpPr>
          <p:spPr bwMode="auto">
            <a:xfrm>
              <a:off x="1565" y="2024"/>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8" name="Line 22"/>
            <p:cNvSpPr>
              <a:spLocks noChangeShapeType="1"/>
            </p:cNvSpPr>
            <p:nvPr/>
          </p:nvSpPr>
          <p:spPr bwMode="auto">
            <a:xfrm>
              <a:off x="2109" y="1434"/>
              <a:ext cx="0" cy="635"/>
            </a:xfrm>
            <a:prstGeom prst="line">
              <a:avLst/>
            </a:prstGeom>
            <a:noFill/>
            <a:ln w="28575" cap="sq">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9" name="Text Box 23" descr="斜纹布"/>
            <p:cNvSpPr txBox="1">
              <a:spLocks noChangeArrowheads="1"/>
            </p:cNvSpPr>
            <p:nvPr/>
          </p:nvSpPr>
          <p:spPr bwMode="auto">
            <a:xfrm>
              <a:off x="3198" y="93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i</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40" name="Text Box 24" descr="斜纹布"/>
            <p:cNvSpPr txBox="1">
              <a:spLocks noChangeArrowheads="1"/>
            </p:cNvSpPr>
            <p:nvPr/>
          </p:nvSpPr>
          <p:spPr bwMode="auto">
            <a:xfrm>
              <a:off x="2064" y="935"/>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r>
                <a:rPr kumimoji="1" lang="en-US" altLang="zh-CN" b="0" baseline="-25000">
                  <a:solidFill>
                    <a:schemeClr val="tx1"/>
                  </a:solidFill>
                  <a:latin typeface="Times New Roman" pitchFamily="18" charset="0"/>
                  <a:ea typeface="仿宋_GB2312" pitchFamily="49" charset="-122"/>
                  <a:sym typeface="Symbol" pitchFamily="18" charset="2"/>
                </a:rPr>
                <a:t>1</a:t>
              </a:r>
            </a:p>
          </p:txBody>
        </p:sp>
        <p:sp>
          <p:nvSpPr>
            <p:cNvPr id="41" name="Text Box 25" descr="斜纹布"/>
            <p:cNvSpPr txBox="1">
              <a:spLocks noChangeArrowheads="1"/>
            </p:cNvSpPr>
            <p:nvPr/>
          </p:nvSpPr>
          <p:spPr bwMode="auto">
            <a:xfrm>
              <a:off x="1474" y="1253"/>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42" name="Text Box 26" descr="斜纹布"/>
            <p:cNvSpPr txBox="1">
              <a:spLocks noChangeArrowheads="1"/>
            </p:cNvSpPr>
            <p:nvPr/>
          </p:nvSpPr>
          <p:spPr bwMode="auto">
            <a:xfrm>
              <a:off x="1519" y="799"/>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3" name="Text Box 27" descr="斜纹布"/>
            <p:cNvSpPr txBox="1">
              <a:spLocks noChangeArrowheads="1"/>
            </p:cNvSpPr>
            <p:nvPr/>
          </p:nvSpPr>
          <p:spPr bwMode="auto">
            <a:xfrm>
              <a:off x="1565" y="175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4" name="Line 28"/>
            <p:cNvSpPr>
              <a:spLocks noChangeShapeType="1"/>
            </p:cNvSpPr>
            <p:nvPr/>
          </p:nvSpPr>
          <p:spPr bwMode="auto">
            <a:xfrm>
              <a:off x="2154" y="981"/>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5" name="Line 29"/>
            <p:cNvSpPr>
              <a:spLocks noChangeShapeType="1"/>
            </p:cNvSpPr>
            <p:nvPr/>
          </p:nvSpPr>
          <p:spPr bwMode="auto">
            <a:xfrm>
              <a:off x="3289" y="981"/>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6" name="Text Box 30" descr="斜纹布"/>
            <p:cNvSpPr txBox="1">
              <a:spLocks noChangeArrowheads="1"/>
            </p:cNvSpPr>
            <p:nvPr/>
          </p:nvSpPr>
          <p:spPr bwMode="auto">
            <a:xfrm>
              <a:off x="2064" y="1434"/>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C</a:t>
              </a:r>
              <a:r>
                <a:rPr kumimoji="1" lang="en-US" altLang="zh-CN" b="0" baseline="-25000">
                  <a:solidFill>
                    <a:schemeClr val="tx1"/>
                  </a:solidFill>
                  <a:latin typeface="Times New Roman" pitchFamily="18" charset="0"/>
                  <a:ea typeface="仿宋_GB2312" pitchFamily="49" charset="-122"/>
                  <a:sym typeface="Symbol" pitchFamily="18" charset="2"/>
                </a:rPr>
                <a:t>1</a:t>
              </a:r>
            </a:p>
          </p:txBody>
        </p:sp>
        <p:sp>
          <p:nvSpPr>
            <p:cNvPr id="47" name="Text Box 31" descr="斜纹布"/>
            <p:cNvSpPr txBox="1">
              <a:spLocks noChangeArrowheads="1"/>
            </p:cNvSpPr>
            <p:nvPr/>
          </p:nvSpPr>
          <p:spPr bwMode="auto">
            <a:xfrm>
              <a:off x="2608" y="1434"/>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C</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48" name="Text Box 32" descr="斜纹布"/>
            <p:cNvSpPr txBox="1">
              <a:spLocks noChangeArrowheads="1"/>
            </p:cNvSpPr>
            <p:nvPr/>
          </p:nvSpPr>
          <p:spPr bwMode="auto">
            <a:xfrm>
              <a:off x="1701" y="527"/>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49" name="Line 33"/>
            <p:cNvSpPr>
              <a:spLocks noChangeShapeType="1"/>
            </p:cNvSpPr>
            <p:nvPr/>
          </p:nvSpPr>
          <p:spPr bwMode="auto">
            <a:xfrm>
              <a:off x="1791" y="890"/>
              <a:ext cx="182" cy="0"/>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0" name="Line 9"/>
            <p:cNvSpPr>
              <a:spLocks noChangeShapeType="1"/>
            </p:cNvSpPr>
            <p:nvPr/>
          </p:nvSpPr>
          <p:spPr bwMode="auto">
            <a:xfrm flipV="1">
              <a:off x="2902" y="842"/>
              <a:ext cx="318"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1" name="Line 9"/>
            <p:cNvSpPr>
              <a:spLocks noChangeShapeType="1"/>
            </p:cNvSpPr>
            <p:nvPr/>
          </p:nvSpPr>
          <p:spPr bwMode="auto">
            <a:xfrm flipV="1">
              <a:off x="2427" y="842"/>
              <a:ext cx="475" cy="3"/>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2" name="Line 9"/>
            <p:cNvSpPr>
              <a:spLocks noChangeShapeType="1"/>
            </p:cNvSpPr>
            <p:nvPr/>
          </p:nvSpPr>
          <p:spPr bwMode="auto">
            <a:xfrm flipV="1">
              <a:off x="2925" y="2070"/>
              <a:ext cx="318"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3" name="Line 9"/>
            <p:cNvSpPr>
              <a:spLocks noChangeShapeType="1"/>
            </p:cNvSpPr>
            <p:nvPr/>
          </p:nvSpPr>
          <p:spPr bwMode="auto">
            <a:xfrm flipV="1">
              <a:off x="2461" y="2070"/>
              <a:ext cx="475" cy="3"/>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4" name="Text Box 31" descr="斜纹布"/>
            <p:cNvSpPr txBox="1">
              <a:spLocks noChangeArrowheads="1"/>
            </p:cNvSpPr>
            <p:nvPr/>
          </p:nvSpPr>
          <p:spPr bwMode="auto">
            <a:xfrm>
              <a:off x="3218" y="1431"/>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C</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grpSp>
      <p:sp>
        <p:nvSpPr>
          <p:cNvPr id="54" name="Line 11"/>
          <p:cNvSpPr>
            <a:spLocks noChangeShapeType="1"/>
          </p:cNvSpPr>
          <p:nvPr/>
        </p:nvSpPr>
        <p:spPr bwMode="auto">
          <a:xfrm>
            <a:off x="7460618" y="833745"/>
            <a:ext cx="0" cy="79375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5" name="Line 13"/>
          <p:cNvSpPr>
            <a:spLocks noChangeShapeType="1"/>
          </p:cNvSpPr>
          <p:nvPr/>
        </p:nvSpPr>
        <p:spPr bwMode="auto">
          <a:xfrm flipV="1">
            <a:off x="7460618" y="1770370"/>
            <a:ext cx="0" cy="100806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6" name="Line 15"/>
          <p:cNvSpPr>
            <a:spLocks noChangeShapeType="1"/>
          </p:cNvSpPr>
          <p:nvPr/>
        </p:nvSpPr>
        <p:spPr bwMode="auto">
          <a:xfrm>
            <a:off x="7213183" y="1627495"/>
            <a:ext cx="504834"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7" name="Line 16"/>
          <p:cNvSpPr>
            <a:spLocks noChangeShapeType="1"/>
          </p:cNvSpPr>
          <p:nvPr/>
        </p:nvSpPr>
        <p:spPr bwMode="auto">
          <a:xfrm>
            <a:off x="7213183" y="1770370"/>
            <a:ext cx="504834"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8" name="Text Box 23" descr="斜纹布"/>
          <p:cNvSpPr txBox="1">
            <a:spLocks noChangeArrowheads="1"/>
          </p:cNvSpPr>
          <p:nvPr/>
        </p:nvSpPr>
        <p:spPr bwMode="auto">
          <a:xfrm>
            <a:off x="7389180" y="978207"/>
            <a:ext cx="720737" cy="4616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i</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59" name="Line 29"/>
          <p:cNvSpPr>
            <a:spLocks noChangeShapeType="1"/>
          </p:cNvSpPr>
          <p:nvPr/>
        </p:nvSpPr>
        <p:spPr bwMode="auto">
          <a:xfrm>
            <a:off x="7533645" y="1051232"/>
            <a:ext cx="0" cy="358775"/>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63127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arn(inVertical)">
                                      <p:cBhvr>
                                        <p:cTn id="10" dur="500"/>
                                        <p:tgtEl>
                                          <p:spTgt spid="24"/>
                                        </p:tgtEl>
                                      </p:cBhvr>
                                    </p:animEffect>
                                  </p:childTnLst>
                                </p:cTn>
                              </p:par>
                              <p:par>
                                <p:cTn id="11" presetID="16" presetClass="entr" presetSubtype="21"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barn(inVertical)">
                                      <p:cBhvr>
                                        <p:cTn id="13" dur="500"/>
                                        <p:tgtEl>
                                          <p:spTgt spid="28"/>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barn(inVertical)">
                                      <p:cBhvr>
                                        <p:cTn id="16" dur="500"/>
                                        <p:tgtEl>
                                          <p:spTgt spid="54"/>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barn(inVertical)">
                                      <p:cBhvr>
                                        <p:cTn id="19" dur="500"/>
                                        <p:tgtEl>
                                          <p:spTgt spid="55"/>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barn(inVertical)">
                                      <p:cBhvr>
                                        <p:cTn id="22" dur="500"/>
                                        <p:tgtEl>
                                          <p:spTgt spid="56"/>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barn(inVertical)">
                                      <p:cBhvr>
                                        <p:cTn id="25" dur="500"/>
                                        <p:tgtEl>
                                          <p:spTgt spid="57"/>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barn(inVertical)">
                                      <p:cBhvr>
                                        <p:cTn id="28" dur="500"/>
                                        <p:tgtEl>
                                          <p:spTgt spid="58"/>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barn(inVertical)">
                                      <p:cBhvr>
                                        <p:cTn id="31" dur="500"/>
                                        <p:tgtEl>
                                          <p:spTgt spid="59"/>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arn(inVertical)">
                                      <p:cBhvr>
                                        <p:cTn id="36" dur="500"/>
                                        <p:tgtEl>
                                          <p:spTgt spid="3"/>
                                        </p:tgtEl>
                                      </p:cBhvr>
                                    </p:animEffect>
                                  </p:childTnLst>
                                </p:cTn>
                              </p:par>
                              <p:par>
                                <p:cTn id="37" presetID="16" presetClass="entr" presetSubtype="21"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barn(inVertical)">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anim calcmode="lin" valueType="num">
                                      <p:cBhvr>
                                        <p:cTn id="45" dur="1000" fill="hold"/>
                                        <p:tgtEl>
                                          <p:spTgt spid="7"/>
                                        </p:tgtEl>
                                        <p:attrNameLst>
                                          <p:attrName>ppt_x</p:attrName>
                                        </p:attrNameLst>
                                      </p:cBhvr>
                                      <p:tavLst>
                                        <p:tav tm="0">
                                          <p:val>
                                            <p:strVal val="#ppt_x"/>
                                          </p:val>
                                        </p:tav>
                                        <p:tav tm="100000">
                                          <p:val>
                                            <p:strVal val="#ppt_x"/>
                                          </p:val>
                                        </p:tav>
                                      </p:tavLst>
                                    </p:anim>
                                    <p:anim calcmode="lin" valueType="num">
                                      <p:cBhvr>
                                        <p:cTn id="4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animBg="1"/>
      <p:bldP spid="58" grpId="0"/>
      <p:bldP spid="5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ct 36"/>
          <p:cNvGraphicFramePr>
            <a:graphicFrameLocks noChangeAspect="1"/>
          </p:cNvGraphicFramePr>
          <p:nvPr>
            <p:extLst/>
          </p:nvPr>
        </p:nvGraphicFramePr>
        <p:xfrm>
          <a:off x="1273175" y="2601913"/>
          <a:ext cx="1230313" cy="912812"/>
        </p:xfrm>
        <a:graphic>
          <a:graphicData uri="http://schemas.openxmlformats.org/presentationml/2006/ole">
            <mc:AlternateContent xmlns:mc="http://schemas.openxmlformats.org/markup-compatibility/2006">
              <mc:Choice xmlns:v="urn:schemas-microsoft-com:vml" Requires="v">
                <p:oleObj spid="_x0000_s449556" name="Equation" r:id="rId3" imgW="495000" imgH="368280" progId="Equation.DSMT4">
                  <p:embed/>
                </p:oleObj>
              </mc:Choice>
              <mc:Fallback>
                <p:oleObj name="Equation" r:id="rId3" imgW="495000" imgH="368280" progId="Equation.DSMT4">
                  <p:embed/>
                  <p:pic>
                    <p:nvPicPr>
                      <p:cNvPr id="0" name=""/>
                      <p:cNvPicPr>
                        <a:picLocks noChangeAspect="1" noChangeArrowheads="1"/>
                      </p:cNvPicPr>
                      <p:nvPr/>
                    </p:nvPicPr>
                    <p:blipFill>
                      <a:blip r:embed="rId4"/>
                      <a:srcRect/>
                      <a:stretch>
                        <a:fillRect/>
                      </a:stretch>
                    </p:blipFill>
                    <p:spPr bwMode="auto">
                      <a:xfrm>
                        <a:off x="1273175" y="2601913"/>
                        <a:ext cx="1230313"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39"/>
          <p:cNvGraphicFramePr>
            <a:graphicFrameLocks noChangeAspect="1"/>
          </p:cNvGraphicFramePr>
          <p:nvPr>
            <p:extLst/>
          </p:nvPr>
        </p:nvGraphicFramePr>
        <p:xfrm>
          <a:off x="1308370" y="4351458"/>
          <a:ext cx="1177925" cy="852487"/>
        </p:xfrm>
        <a:graphic>
          <a:graphicData uri="http://schemas.openxmlformats.org/presentationml/2006/ole">
            <mc:AlternateContent xmlns:mc="http://schemas.openxmlformats.org/markup-compatibility/2006">
              <mc:Choice xmlns:v="urn:schemas-microsoft-com:vml" Requires="v">
                <p:oleObj spid="_x0000_s449557" name="Equation" r:id="rId5" imgW="507960" imgH="368280" progId="Equation.DSMT4">
                  <p:embed/>
                </p:oleObj>
              </mc:Choice>
              <mc:Fallback>
                <p:oleObj name="Equation" r:id="rId5" imgW="507960" imgH="368280" progId="Equation.DSMT4">
                  <p:embed/>
                  <p:pic>
                    <p:nvPicPr>
                      <p:cNvPr id="0" name=""/>
                      <p:cNvPicPr>
                        <a:picLocks noChangeAspect="1" noChangeArrowheads="1"/>
                      </p:cNvPicPr>
                      <p:nvPr/>
                    </p:nvPicPr>
                    <p:blipFill>
                      <a:blip r:embed="rId6"/>
                      <a:srcRect/>
                      <a:stretch>
                        <a:fillRect/>
                      </a:stretch>
                    </p:blipFill>
                    <p:spPr bwMode="auto">
                      <a:xfrm>
                        <a:off x="1308370" y="4351458"/>
                        <a:ext cx="1177925" cy="852487"/>
                      </a:xfrm>
                      <a:prstGeom prst="rect">
                        <a:avLst/>
                      </a:prstGeom>
                      <a:solidFill>
                        <a:srgbClr val="92D050"/>
                      </a:solidFill>
                      <a:ln>
                        <a:noFill/>
                      </a:ln>
                      <a:effectLst/>
                      <a:extLst/>
                    </p:spPr>
                  </p:pic>
                </p:oleObj>
              </mc:Fallback>
            </mc:AlternateContent>
          </a:graphicData>
        </a:graphic>
      </p:graphicFrame>
      <p:grpSp>
        <p:nvGrpSpPr>
          <p:cNvPr id="33" name="Group 41"/>
          <p:cNvGrpSpPr>
            <a:grpSpLocks/>
          </p:cNvGrpSpPr>
          <p:nvPr/>
        </p:nvGrpSpPr>
        <p:grpSpPr bwMode="auto">
          <a:xfrm>
            <a:off x="6227765" y="3644900"/>
            <a:ext cx="2125663" cy="2089150"/>
            <a:chOff x="4059" y="2160"/>
            <a:chExt cx="1339" cy="1316"/>
          </a:xfrm>
        </p:grpSpPr>
        <p:sp>
          <p:nvSpPr>
            <p:cNvPr id="34" name="Line 42"/>
            <p:cNvSpPr>
              <a:spLocks noChangeShapeType="1"/>
            </p:cNvSpPr>
            <p:nvPr/>
          </p:nvSpPr>
          <p:spPr bwMode="auto">
            <a:xfrm>
              <a:off x="4240" y="2206"/>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5" name="Line 43"/>
            <p:cNvSpPr>
              <a:spLocks noChangeShapeType="1"/>
            </p:cNvSpPr>
            <p:nvPr/>
          </p:nvSpPr>
          <p:spPr bwMode="auto">
            <a:xfrm>
              <a:off x="4240" y="3430"/>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6" name="Line 44"/>
            <p:cNvSpPr>
              <a:spLocks noChangeShapeType="1"/>
            </p:cNvSpPr>
            <p:nvPr/>
          </p:nvSpPr>
          <p:spPr bwMode="auto">
            <a:xfrm>
              <a:off x="4921" y="2205"/>
              <a:ext cx="0" cy="50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7" name="Line 45"/>
            <p:cNvSpPr>
              <a:spLocks noChangeShapeType="1"/>
            </p:cNvSpPr>
            <p:nvPr/>
          </p:nvSpPr>
          <p:spPr bwMode="auto">
            <a:xfrm flipV="1">
              <a:off x="4921" y="2795"/>
              <a:ext cx="0" cy="635"/>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38" name="Group 46"/>
            <p:cNvGrpSpPr>
              <a:grpSpLocks/>
            </p:cNvGrpSpPr>
            <p:nvPr/>
          </p:nvGrpSpPr>
          <p:grpSpPr bwMode="auto">
            <a:xfrm>
              <a:off x="4770" y="2705"/>
              <a:ext cx="318" cy="90"/>
              <a:chOff x="4044" y="1117"/>
              <a:chExt cx="318" cy="90"/>
            </a:xfrm>
          </p:grpSpPr>
          <p:sp>
            <p:nvSpPr>
              <p:cNvPr id="47" name="Line 47"/>
              <p:cNvSpPr>
                <a:spLocks noChangeShapeType="1"/>
              </p:cNvSpPr>
              <p:nvPr/>
            </p:nvSpPr>
            <p:spPr bwMode="auto">
              <a:xfrm>
                <a:off x="4044" y="111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8" name="Line 48"/>
              <p:cNvSpPr>
                <a:spLocks noChangeShapeType="1"/>
              </p:cNvSpPr>
              <p:nvPr/>
            </p:nvSpPr>
            <p:spPr bwMode="auto">
              <a:xfrm>
                <a:off x="4044" y="120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39" name="Oval 49" descr="斜纹布"/>
            <p:cNvSpPr>
              <a:spLocks noChangeArrowheads="1"/>
            </p:cNvSpPr>
            <p:nvPr/>
          </p:nvSpPr>
          <p:spPr bwMode="auto">
            <a:xfrm>
              <a:off x="4150" y="2160"/>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0" name="Text Box 50" descr="斜纹布"/>
            <p:cNvSpPr txBox="1">
              <a:spLocks noChangeArrowheads="1"/>
            </p:cNvSpPr>
            <p:nvPr/>
          </p:nvSpPr>
          <p:spPr bwMode="auto">
            <a:xfrm>
              <a:off x="4875" y="2251"/>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41" name="Text Box 51" descr="斜纹布"/>
            <p:cNvSpPr txBox="1">
              <a:spLocks noChangeArrowheads="1"/>
            </p:cNvSpPr>
            <p:nvPr/>
          </p:nvSpPr>
          <p:spPr bwMode="auto">
            <a:xfrm>
              <a:off x="4059" y="2614"/>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42" name="Text Box 52" descr="斜纹布"/>
            <p:cNvSpPr txBox="1">
              <a:spLocks noChangeArrowheads="1"/>
            </p:cNvSpPr>
            <p:nvPr/>
          </p:nvSpPr>
          <p:spPr bwMode="auto">
            <a:xfrm>
              <a:off x="4104" y="216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3" name="Text Box 53" descr="斜纹布"/>
            <p:cNvSpPr txBox="1">
              <a:spLocks noChangeArrowheads="1"/>
            </p:cNvSpPr>
            <p:nvPr/>
          </p:nvSpPr>
          <p:spPr bwMode="auto">
            <a:xfrm>
              <a:off x="4150" y="3111"/>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4" name="Line 54"/>
            <p:cNvSpPr>
              <a:spLocks noChangeShapeType="1"/>
            </p:cNvSpPr>
            <p:nvPr/>
          </p:nvSpPr>
          <p:spPr bwMode="auto">
            <a:xfrm>
              <a:off x="4997" y="2342"/>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5" name="Text Box 55" descr="斜纹布"/>
            <p:cNvSpPr txBox="1">
              <a:spLocks noChangeArrowheads="1"/>
            </p:cNvSpPr>
            <p:nvPr/>
          </p:nvSpPr>
          <p:spPr bwMode="auto">
            <a:xfrm>
              <a:off x="4944" y="2761"/>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a:solidFill>
                    <a:schemeClr val="tx1"/>
                  </a:solidFill>
                  <a:latin typeface="Times New Roman" pitchFamily="18" charset="0"/>
                  <a:ea typeface="仿宋_GB2312" pitchFamily="49" charset="-122"/>
                  <a:sym typeface="Symbol" pitchFamily="18" charset="2"/>
                </a:rPr>
                <a:t>C</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46" name="Oval 56" descr="斜纹布"/>
            <p:cNvSpPr>
              <a:spLocks noChangeArrowheads="1"/>
            </p:cNvSpPr>
            <p:nvPr/>
          </p:nvSpPr>
          <p:spPr bwMode="auto">
            <a:xfrm>
              <a:off x="4150" y="3385"/>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50" name="Text Box 24"/>
          <p:cNvSpPr txBox="1">
            <a:spLocks noChangeArrowheads="1"/>
          </p:cNvSpPr>
          <p:nvPr/>
        </p:nvSpPr>
        <p:spPr bwMode="auto">
          <a:xfrm>
            <a:off x="508000" y="582613"/>
            <a:ext cx="381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l">
              <a:spcBef>
                <a:spcPct val="50000"/>
              </a:spcBef>
              <a:buFont typeface="Wingdings" pitchFamily="2" charset="2"/>
              <a:buChar char="l"/>
            </a:pPr>
            <a:r>
              <a:rPr lang="zh-CN" altLang="en-US" dirty="0">
                <a:solidFill>
                  <a:srgbClr val="0000CC"/>
                </a:solidFill>
              </a:rPr>
              <a:t>并联电容的分流</a:t>
            </a:r>
          </a:p>
        </p:txBody>
      </p:sp>
      <p:grpSp>
        <p:nvGrpSpPr>
          <p:cNvPr id="51" name="Group 8"/>
          <p:cNvGrpSpPr>
            <a:grpSpLocks/>
          </p:cNvGrpSpPr>
          <p:nvPr/>
        </p:nvGrpSpPr>
        <p:grpSpPr bwMode="auto">
          <a:xfrm>
            <a:off x="5509125" y="333375"/>
            <a:ext cx="3529073" cy="2520950"/>
            <a:chOff x="1474" y="527"/>
            <a:chExt cx="2223" cy="1588"/>
          </a:xfrm>
        </p:grpSpPr>
        <p:sp>
          <p:nvSpPr>
            <p:cNvPr id="52" name="Line 9"/>
            <p:cNvSpPr>
              <a:spLocks noChangeShapeType="1"/>
            </p:cNvSpPr>
            <p:nvPr/>
          </p:nvSpPr>
          <p:spPr bwMode="auto">
            <a:xfrm flipV="1">
              <a:off x="1655" y="844"/>
              <a:ext cx="772" cy="1"/>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3" name="Line 10"/>
            <p:cNvSpPr>
              <a:spLocks noChangeShapeType="1"/>
            </p:cNvSpPr>
            <p:nvPr/>
          </p:nvSpPr>
          <p:spPr bwMode="auto">
            <a:xfrm>
              <a:off x="1655" y="2069"/>
              <a:ext cx="806" cy="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4" name="Line 11"/>
            <p:cNvSpPr>
              <a:spLocks noChangeShapeType="1"/>
            </p:cNvSpPr>
            <p:nvPr/>
          </p:nvSpPr>
          <p:spPr bwMode="auto">
            <a:xfrm>
              <a:off x="3243" y="844"/>
              <a:ext cx="0" cy="50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5" name="Line 12"/>
            <p:cNvSpPr>
              <a:spLocks noChangeShapeType="1"/>
            </p:cNvSpPr>
            <p:nvPr/>
          </p:nvSpPr>
          <p:spPr bwMode="auto">
            <a:xfrm>
              <a:off x="2109" y="845"/>
              <a:ext cx="0" cy="499"/>
            </a:xfrm>
            <a:prstGeom prst="line">
              <a:avLst/>
            </a:prstGeom>
            <a:noFill/>
            <a:ln w="28575" cap="sq">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6" name="Line 13"/>
            <p:cNvSpPr>
              <a:spLocks noChangeShapeType="1"/>
            </p:cNvSpPr>
            <p:nvPr/>
          </p:nvSpPr>
          <p:spPr bwMode="auto">
            <a:xfrm flipV="1">
              <a:off x="3243" y="1434"/>
              <a:ext cx="0" cy="635"/>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57" name="Group 14"/>
            <p:cNvGrpSpPr>
              <a:grpSpLocks/>
            </p:cNvGrpSpPr>
            <p:nvPr/>
          </p:nvGrpSpPr>
          <p:grpSpPr bwMode="auto">
            <a:xfrm>
              <a:off x="3082" y="1344"/>
              <a:ext cx="318" cy="90"/>
              <a:chOff x="4624" y="1117"/>
              <a:chExt cx="318" cy="90"/>
            </a:xfrm>
          </p:grpSpPr>
          <p:sp>
            <p:nvSpPr>
              <p:cNvPr id="80" name="Line 15"/>
              <p:cNvSpPr>
                <a:spLocks noChangeShapeType="1"/>
              </p:cNvSpPr>
              <p:nvPr/>
            </p:nvSpPr>
            <p:spPr bwMode="auto">
              <a:xfrm>
                <a:off x="4624" y="111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1" name="Line 16"/>
              <p:cNvSpPr>
                <a:spLocks noChangeShapeType="1"/>
              </p:cNvSpPr>
              <p:nvPr/>
            </p:nvSpPr>
            <p:spPr bwMode="auto">
              <a:xfrm>
                <a:off x="4624" y="120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grpSp>
          <p:nvGrpSpPr>
            <p:cNvPr id="58" name="Group 17"/>
            <p:cNvGrpSpPr>
              <a:grpSpLocks/>
            </p:cNvGrpSpPr>
            <p:nvPr/>
          </p:nvGrpSpPr>
          <p:grpSpPr bwMode="auto">
            <a:xfrm>
              <a:off x="1947" y="1344"/>
              <a:ext cx="318" cy="90"/>
              <a:chOff x="4034" y="1117"/>
              <a:chExt cx="318" cy="90"/>
            </a:xfrm>
          </p:grpSpPr>
          <p:sp>
            <p:nvSpPr>
              <p:cNvPr id="78" name="Line 18"/>
              <p:cNvSpPr>
                <a:spLocks noChangeShapeType="1"/>
              </p:cNvSpPr>
              <p:nvPr/>
            </p:nvSpPr>
            <p:spPr bwMode="auto">
              <a:xfrm>
                <a:off x="4034" y="111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9" name="Line 19"/>
              <p:cNvSpPr>
                <a:spLocks noChangeShapeType="1"/>
              </p:cNvSpPr>
              <p:nvPr/>
            </p:nvSpPr>
            <p:spPr bwMode="auto">
              <a:xfrm>
                <a:off x="4034" y="1207"/>
                <a:ext cx="318"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59" name="Oval 20" descr="斜纹布"/>
            <p:cNvSpPr>
              <a:spLocks noChangeArrowheads="1"/>
            </p:cNvSpPr>
            <p:nvPr/>
          </p:nvSpPr>
          <p:spPr bwMode="auto">
            <a:xfrm>
              <a:off x="1565" y="799"/>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0" name="Oval 21" descr="斜纹布"/>
            <p:cNvSpPr>
              <a:spLocks noChangeArrowheads="1"/>
            </p:cNvSpPr>
            <p:nvPr/>
          </p:nvSpPr>
          <p:spPr bwMode="auto">
            <a:xfrm>
              <a:off x="1565" y="2024"/>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1" name="Line 22"/>
            <p:cNvSpPr>
              <a:spLocks noChangeShapeType="1"/>
            </p:cNvSpPr>
            <p:nvPr/>
          </p:nvSpPr>
          <p:spPr bwMode="auto">
            <a:xfrm>
              <a:off x="2109" y="1434"/>
              <a:ext cx="0" cy="635"/>
            </a:xfrm>
            <a:prstGeom prst="line">
              <a:avLst/>
            </a:prstGeom>
            <a:noFill/>
            <a:ln w="28575" cap="sq">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2" name="Text Box 23" descr="斜纹布"/>
            <p:cNvSpPr txBox="1">
              <a:spLocks noChangeArrowheads="1"/>
            </p:cNvSpPr>
            <p:nvPr/>
          </p:nvSpPr>
          <p:spPr bwMode="auto">
            <a:xfrm>
              <a:off x="3198" y="93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i</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63" name="Text Box 24" descr="斜纹布"/>
            <p:cNvSpPr txBox="1">
              <a:spLocks noChangeArrowheads="1"/>
            </p:cNvSpPr>
            <p:nvPr/>
          </p:nvSpPr>
          <p:spPr bwMode="auto">
            <a:xfrm>
              <a:off x="2064" y="935"/>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r>
                <a:rPr kumimoji="1" lang="en-US" altLang="zh-CN" b="0" baseline="-25000">
                  <a:solidFill>
                    <a:schemeClr val="tx1"/>
                  </a:solidFill>
                  <a:latin typeface="Times New Roman" pitchFamily="18" charset="0"/>
                  <a:ea typeface="仿宋_GB2312" pitchFamily="49" charset="-122"/>
                  <a:sym typeface="Symbol" pitchFamily="18" charset="2"/>
                </a:rPr>
                <a:t>1</a:t>
              </a:r>
            </a:p>
          </p:txBody>
        </p:sp>
        <p:sp>
          <p:nvSpPr>
            <p:cNvPr id="64" name="Text Box 25" descr="斜纹布"/>
            <p:cNvSpPr txBox="1">
              <a:spLocks noChangeArrowheads="1"/>
            </p:cNvSpPr>
            <p:nvPr/>
          </p:nvSpPr>
          <p:spPr bwMode="auto">
            <a:xfrm>
              <a:off x="1474" y="1253"/>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65" name="Text Box 26" descr="斜纹布"/>
            <p:cNvSpPr txBox="1">
              <a:spLocks noChangeArrowheads="1"/>
            </p:cNvSpPr>
            <p:nvPr/>
          </p:nvSpPr>
          <p:spPr bwMode="auto">
            <a:xfrm>
              <a:off x="1519" y="799"/>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66" name="Text Box 27" descr="斜纹布"/>
            <p:cNvSpPr txBox="1">
              <a:spLocks noChangeArrowheads="1"/>
            </p:cNvSpPr>
            <p:nvPr/>
          </p:nvSpPr>
          <p:spPr bwMode="auto">
            <a:xfrm>
              <a:off x="1565" y="175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67" name="Line 28"/>
            <p:cNvSpPr>
              <a:spLocks noChangeShapeType="1"/>
            </p:cNvSpPr>
            <p:nvPr/>
          </p:nvSpPr>
          <p:spPr bwMode="auto">
            <a:xfrm>
              <a:off x="2154" y="981"/>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8" name="Line 29"/>
            <p:cNvSpPr>
              <a:spLocks noChangeShapeType="1"/>
            </p:cNvSpPr>
            <p:nvPr/>
          </p:nvSpPr>
          <p:spPr bwMode="auto">
            <a:xfrm>
              <a:off x="3289" y="981"/>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9" name="Text Box 30" descr="斜纹布"/>
            <p:cNvSpPr txBox="1">
              <a:spLocks noChangeArrowheads="1"/>
            </p:cNvSpPr>
            <p:nvPr/>
          </p:nvSpPr>
          <p:spPr bwMode="auto">
            <a:xfrm>
              <a:off x="2064" y="1434"/>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C</a:t>
              </a:r>
              <a:r>
                <a:rPr kumimoji="1" lang="en-US" altLang="zh-CN" b="0" baseline="-25000">
                  <a:solidFill>
                    <a:schemeClr val="tx1"/>
                  </a:solidFill>
                  <a:latin typeface="Times New Roman" pitchFamily="18" charset="0"/>
                  <a:ea typeface="仿宋_GB2312" pitchFamily="49" charset="-122"/>
                  <a:sym typeface="Symbol" pitchFamily="18" charset="2"/>
                </a:rPr>
                <a:t>1</a:t>
              </a:r>
            </a:p>
          </p:txBody>
        </p:sp>
        <p:sp>
          <p:nvSpPr>
            <p:cNvPr id="70" name="Text Box 31" descr="斜纹布"/>
            <p:cNvSpPr txBox="1">
              <a:spLocks noChangeArrowheads="1"/>
            </p:cNvSpPr>
            <p:nvPr/>
          </p:nvSpPr>
          <p:spPr bwMode="auto">
            <a:xfrm>
              <a:off x="2608" y="1434"/>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C</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71" name="Text Box 32" descr="斜纹布"/>
            <p:cNvSpPr txBox="1">
              <a:spLocks noChangeArrowheads="1"/>
            </p:cNvSpPr>
            <p:nvPr/>
          </p:nvSpPr>
          <p:spPr bwMode="auto">
            <a:xfrm>
              <a:off x="1701" y="527"/>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72" name="Line 33"/>
            <p:cNvSpPr>
              <a:spLocks noChangeShapeType="1"/>
            </p:cNvSpPr>
            <p:nvPr/>
          </p:nvSpPr>
          <p:spPr bwMode="auto">
            <a:xfrm>
              <a:off x="1791" y="890"/>
              <a:ext cx="182" cy="0"/>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3" name="Line 9"/>
            <p:cNvSpPr>
              <a:spLocks noChangeShapeType="1"/>
            </p:cNvSpPr>
            <p:nvPr/>
          </p:nvSpPr>
          <p:spPr bwMode="auto">
            <a:xfrm flipV="1">
              <a:off x="2902" y="842"/>
              <a:ext cx="318"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4" name="Line 9"/>
            <p:cNvSpPr>
              <a:spLocks noChangeShapeType="1"/>
            </p:cNvSpPr>
            <p:nvPr/>
          </p:nvSpPr>
          <p:spPr bwMode="auto">
            <a:xfrm flipV="1">
              <a:off x="2381" y="842"/>
              <a:ext cx="521" cy="1"/>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5" name="Line 9"/>
            <p:cNvSpPr>
              <a:spLocks noChangeShapeType="1"/>
            </p:cNvSpPr>
            <p:nvPr/>
          </p:nvSpPr>
          <p:spPr bwMode="auto">
            <a:xfrm flipV="1">
              <a:off x="2925" y="2070"/>
              <a:ext cx="318"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6" name="Line 9"/>
            <p:cNvSpPr>
              <a:spLocks noChangeShapeType="1"/>
            </p:cNvSpPr>
            <p:nvPr/>
          </p:nvSpPr>
          <p:spPr bwMode="auto">
            <a:xfrm>
              <a:off x="2453" y="2070"/>
              <a:ext cx="472" cy="0"/>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7" name="Text Box 31" descr="斜纹布"/>
            <p:cNvSpPr txBox="1">
              <a:spLocks noChangeArrowheads="1"/>
            </p:cNvSpPr>
            <p:nvPr/>
          </p:nvSpPr>
          <p:spPr bwMode="auto">
            <a:xfrm>
              <a:off x="3243" y="1447"/>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C</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grpSp>
      <p:sp>
        <p:nvSpPr>
          <p:cNvPr id="82" name="Line 11"/>
          <p:cNvSpPr>
            <a:spLocks noChangeShapeType="1"/>
          </p:cNvSpPr>
          <p:nvPr/>
        </p:nvSpPr>
        <p:spPr bwMode="auto">
          <a:xfrm>
            <a:off x="7460618" y="833745"/>
            <a:ext cx="0" cy="79375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3" name="Line 13"/>
          <p:cNvSpPr>
            <a:spLocks noChangeShapeType="1"/>
          </p:cNvSpPr>
          <p:nvPr/>
        </p:nvSpPr>
        <p:spPr bwMode="auto">
          <a:xfrm flipV="1">
            <a:off x="7460618" y="1770370"/>
            <a:ext cx="0" cy="100806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4" name="Line 15"/>
          <p:cNvSpPr>
            <a:spLocks noChangeShapeType="1"/>
          </p:cNvSpPr>
          <p:nvPr/>
        </p:nvSpPr>
        <p:spPr bwMode="auto">
          <a:xfrm>
            <a:off x="7205300" y="1627495"/>
            <a:ext cx="504834"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5" name="Line 16"/>
          <p:cNvSpPr>
            <a:spLocks noChangeShapeType="1"/>
          </p:cNvSpPr>
          <p:nvPr/>
        </p:nvSpPr>
        <p:spPr bwMode="auto">
          <a:xfrm>
            <a:off x="7205300" y="1770370"/>
            <a:ext cx="504834"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6" name="Text Box 23" descr="斜纹布"/>
          <p:cNvSpPr txBox="1">
            <a:spLocks noChangeArrowheads="1"/>
          </p:cNvSpPr>
          <p:nvPr/>
        </p:nvSpPr>
        <p:spPr bwMode="auto">
          <a:xfrm>
            <a:off x="7389180" y="978207"/>
            <a:ext cx="720737" cy="4616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i</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87" name="Line 29"/>
          <p:cNvSpPr>
            <a:spLocks noChangeShapeType="1"/>
          </p:cNvSpPr>
          <p:nvPr/>
        </p:nvSpPr>
        <p:spPr bwMode="auto">
          <a:xfrm>
            <a:off x="7533645" y="1051232"/>
            <a:ext cx="0" cy="358775"/>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aphicFrame>
        <p:nvGraphicFramePr>
          <p:cNvPr id="88" name="对象 87"/>
          <p:cNvGraphicFramePr>
            <a:graphicFrameLocks noChangeAspect="1"/>
          </p:cNvGraphicFramePr>
          <p:nvPr>
            <p:extLst/>
          </p:nvPr>
        </p:nvGraphicFramePr>
        <p:xfrm>
          <a:off x="1344613" y="1500188"/>
          <a:ext cx="1412875" cy="869950"/>
        </p:xfrm>
        <a:graphic>
          <a:graphicData uri="http://schemas.openxmlformats.org/presentationml/2006/ole">
            <mc:AlternateContent xmlns:mc="http://schemas.openxmlformats.org/markup-compatibility/2006">
              <mc:Choice xmlns:v="urn:schemas-microsoft-com:vml" Requires="v">
                <p:oleObj spid="_x0000_s449558" name="Equation" r:id="rId7" imgW="596880" imgH="368280" progId="Equation.DSMT4">
                  <p:embed/>
                </p:oleObj>
              </mc:Choice>
              <mc:Fallback>
                <p:oleObj name="Equation" r:id="rId7" imgW="596880" imgH="3682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4613" y="1500188"/>
                        <a:ext cx="1412875"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 name="下箭头 88"/>
          <p:cNvSpPr/>
          <p:nvPr/>
        </p:nvSpPr>
        <p:spPr bwMode="auto">
          <a:xfrm>
            <a:off x="1679935" y="3639440"/>
            <a:ext cx="330020" cy="466316"/>
          </a:xfrm>
          <a:prstGeom prst="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charset="-122"/>
            </a:endParaRPr>
          </a:p>
        </p:txBody>
      </p:sp>
    </p:spTree>
    <p:extLst>
      <p:ext uri="{BB962C8B-B14F-4D97-AF65-F5344CB8AC3E}">
        <p14:creationId xmlns:p14="http://schemas.microsoft.com/office/powerpoint/2010/main" val="213214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inVertical)">
                                      <p:cBhvr>
                                        <p:cTn id="7" dur="500"/>
                                        <p:tgtEl>
                                          <p:spTgt spid="33"/>
                                        </p:tgtEl>
                                      </p:cBhvr>
                                    </p:animEffect>
                                  </p:childTnLst>
                                </p:cTn>
                              </p:par>
                              <p:par>
                                <p:cTn id="8" presetID="16" presetClass="entr" presetSubtype="21"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arn(inVertical)">
                                      <p:cBhvr>
                                        <p:cTn id="10" dur="500"/>
                                        <p:tgtEl>
                                          <p:spTgt spid="51"/>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barn(inVertical)">
                                      <p:cBhvr>
                                        <p:cTn id="13" dur="500"/>
                                        <p:tgtEl>
                                          <p:spTgt spid="8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83"/>
                                        </p:tgtEl>
                                        <p:attrNameLst>
                                          <p:attrName>style.visibility</p:attrName>
                                        </p:attrNameLst>
                                      </p:cBhvr>
                                      <p:to>
                                        <p:strVal val="visible"/>
                                      </p:to>
                                    </p:set>
                                    <p:animEffect transition="in" filter="barn(inVertical)">
                                      <p:cBhvr>
                                        <p:cTn id="16" dur="500"/>
                                        <p:tgtEl>
                                          <p:spTgt spid="83"/>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4"/>
                                        </p:tgtEl>
                                        <p:attrNameLst>
                                          <p:attrName>style.visibility</p:attrName>
                                        </p:attrNameLst>
                                      </p:cBhvr>
                                      <p:to>
                                        <p:strVal val="visible"/>
                                      </p:to>
                                    </p:set>
                                    <p:animEffect transition="in" filter="barn(inVertical)">
                                      <p:cBhvr>
                                        <p:cTn id="19" dur="500"/>
                                        <p:tgtEl>
                                          <p:spTgt spid="84"/>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barn(inVertical)">
                                      <p:cBhvr>
                                        <p:cTn id="22" dur="500"/>
                                        <p:tgtEl>
                                          <p:spTgt spid="85"/>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barn(inVertical)">
                                      <p:cBhvr>
                                        <p:cTn id="25" dur="500"/>
                                        <p:tgtEl>
                                          <p:spTgt spid="86"/>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87"/>
                                        </p:tgtEl>
                                        <p:attrNameLst>
                                          <p:attrName>style.visibility</p:attrName>
                                        </p:attrNameLst>
                                      </p:cBhvr>
                                      <p:to>
                                        <p:strVal val="visible"/>
                                      </p:to>
                                    </p:set>
                                    <p:animEffect transition="in" filter="barn(inVertical)">
                                      <p:cBhvr>
                                        <p:cTn id="28" dur="500"/>
                                        <p:tgtEl>
                                          <p:spTgt spid="87"/>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88"/>
                                        </p:tgtEl>
                                        <p:attrNameLst>
                                          <p:attrName>style.visibility</p:attrName>
                                        </p:attrNameLst>
                                      </p:cBhvr>
                                      <p:to>
                                        <p:strVal val="visible"/>
                                      </p:to>
                                    </p:set>
                                    <p:animEffect transition="in" filter="barn(inVertical)">
                                      <p:cBhvr>
                                        <p:cTn id="33" dur="500"/>
                                        <p:tgtEl>
                                          <p:spTgt spid="88"/>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barn(inVertical)">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barn(inVertical)">
                                      <p:cBhvr>
                                        <p:cTn id="43" dur="500"/>
                                        <p:tgtEl>
                                          <p:spTgt spid="31"/>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89"/>
                                        </p:tgtEl>
                                        <p:attrNameLst>
                                          <p:attrName>style.visibility</p:attrName>
                                        </p:attrNameLst>
                                      </p:cBhvr>
                                      <p:to>
                                        <p:strVal val="visible"/>
                                      </p:to>
                                    </p:set>
                                    <p:animEffect transition="in" filter="barn(inVertical)">
                                      <p:cBhvr>
                                        <p:cTn id="46"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84" grpId="0" animBg="1"/>
      <p:bldP spid="85" grpId="0" animBg="1"/>
      <p:bldP spid="86" grpId="0"/>
      <p:bldP spid="87" grpId="0" animBg="1"/>
      <p:bldP spid="8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81000" y="476250"/>
            <a:ext cx="8439150" cy="461665"/>
          </a:xfrm>
          <a:prstGeom prst="rect">
            <a:avLst/>
          </a:prstGeom>
          <a:solidFill>
            <a:schemeClr val="bg1"/>
          </a:solidFill>
          <a:ln>
            <a:noFill/>
          </a:ln>
          <a:effectLst/>
          <a:extLst/>
        </p:spPr>
        <p:txBody>
          <a:bodyPr wrap="square">
            <a:spAutoFit/>
          </a:bodyPr>
          <a:lstStyle/>
          <a:p>
            <a:pPr algn="l">
              <a:spcBef>
                <a:spcPct val="50000"/>
              </a:spcBef>
            </a:pPr>
            <a:r>
              <a:rPr lang="en-US" altLang="zh-CN" dirty="0" smtClean="0">
                <a:solidFill>
                  <a:srgbClr val="A50021"/>
                </a:solidFill>
              </a:rPr>
              <a:t>2.4.2 </a:t>
            </a:r>
            <a:r>
              <a:rPr lang="zh-CN" altLang="en-US" dirty="0" smtClean="0">
                <a:solidFill>
                  <a:srgbClr val="A50021"/>
                </a:solidFill>
                <a:latin typeface="+mn-lt"/>
                <a:ea typeface="+mn-ea"/>
              </a:rPr>
              <a:t>电感的</a:t>
            </a:r>
            <a:r>
              <a:rPr lang="zh-CN" altLang="en-US" dirty="0">
                <a:solidFill>
                  <a:srgbClr val="A50021"/>
                </a:solidFill>
                <a:latin typeface="+mn-lt"/>
                <a:ea typeface="+mn-ea"/>
              </a:rPr>
              <a:t>串联和</a:t>
            </a:r>
            <a:r>
              <a:rPr lang="zh-CN" altLang="en-US" dirty="0" smtClean="0">
                <a:solidFill>
                  <a:srgbClr val="A50021"/>
                </a:solidFill>
                <a:latin typeface="+mn-lt"/>
                <a:ea typeface="+mn-ea"/>
              </a:rPr>
              <a:t>并联</a:t>
            </a:r>
            <a:endParaRPr lang="en-US" altLang="zh-CN" dirty="0">
              <a:solidFill>
                <a:srgbClr val="A50021"/>
              </a:solidFill>
              <a:latin typeface="+mn-lt"/>
              <a:ea typeface="+mn-ea"/>
            </a:endParaRPr>
          </a:p>
        </p:txBody>
      </p:sp>
      <p:sp>
        <p:nvSpPr>
          <p:cNvPr id="3" name="Text Box 2"/>
          <p:cNvSpPr txBox="1">
            <a:spLocks noChangeArrowheads="1"/>
          </p:cNvSpPr>
          <p:nvPr/>
        </p:nvSpPr>
        <p:spPr bwMode="auto">
          <a:xfrm>
            <a:off x="685800" y="104775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smtClean="0">
                <a:solidFill>
                  <a:schemeClr val="accent2"/>
                </a:solidFill>
              </a:rPr>
              <a:t>1</a:t>
            </a:r>
            <a:r>
              <a:rPr lang="zh-CN" altLang="en-US" dirty="0" smtClean="0">
                <a:solidFill>
                  <a:schemeClr val="accent2"/>
                </a:solidFill>
              </a:rPr>
              <a:t>、电感的</a:t>
            </a:r>
            <a:r>
              <a:rPr lang="zh-CN" altLang="en-US" dirty="0">
                <a:solidFill>
                  <a:schemeClr val="accent2"/>
                </a:solidFill>
              </a:rPr>
              <a:t>串联</a:t>
            </a:r>
          </a:p>
        </p:txBody>
      </p:sp>
      <p:graphicFrame>
        <p:nvGraphicFramePr>
          <p:cNvPr id="4" name="Object 3"/>
          <p:cNvGraphicFramePr>
            <a:graphicFrameLocks noChangeAspect="1"/>
          </p:cNvGraphicFramePr>
          <p:nvPr>
            <p:extLst/>
          </p:nvPr>
        </p:nvGraphicFramePr>
        <p:xfrm>
          <a:off x="969963" y="2092325"/>
          <a:ext cx="1509712" cy="863600"/>
        </p:xfrm>
        <a:graphic>
          <a:graphicData uri="http://schemas.openxmlformats.org/presentationml/2006/ole">
            <mc:AlternateContent xmlns:mc="http://schemas.openxmlformats.org/markup-compatibility/2006">
              <mc:Choice xmlns:v="urn:schemas-microsoft-com:vml" Requires="v">
                <p:oleObj spid="_x0000_s450580" name="Equation" r:id="rId3" imgW="596880" imgH="368280" progId="Equation.DSMT4">
                  <p:embed/>
                </p:oleObj>
              </mc:Choice>
              <mc:Fallback>
                <p:oleObj name="Equation" r:id="rId3" imgW="596880" imgH="368280" progId="Equation.DSMT4">
                  <p:embed/>
                  <p:pic>
                    <p:nvPicPr>
                      <p:cNvPr id="0" name=""/>
                      <p:cNvPicPr>
                        <a:picLocks noChangeAspect="1" noChangeArrowheads="1"/>
                      </p:cNvPicPr>
                      <p:nvPr/>
                    </p:nvPicPr>
                    <p:blipFill>
                      <a:blip r:embed="rId4"/>
                      <a:srcRect/>
                      <a:stretch>
                        <a:fillRect/>
                      </a:stretch>
                    </p:blipFill>
                    <p:spPr bwMode="auto">
                      <a:xfrm>
                        <a:off x="969963" y="2092325"/>
                        <a:ext cx="1509712" cy="863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10"/>
          <p:cNvGraphicFramePr>
            <a:graphicFrameLocks noChangeAspect="1"/>
          </p:cNvGraphicFramePr>
          <p:nvPr>
            <p:extLst/>
          </p:nvPr>
        </p:nvGraphicFramePr>
        <p:xfrm>
          <a:off x="876301" y="4559300"/>
          <a:ext cx="3933824" cy="893845"/>
        </p:xfrm>
        <a:graphic>
          <a:graphicData uri="http://schemas.openxmlformats.org/presentationml/2006/ole">
            <mc:AlternateContent xmlns:mc="http://schemas.openxmlformats.org/markup-compatibility/2006">
              <mc:Choice xmlns:v="urn:schemas-microsoft-com:vml" Requires="v">
                <p:oleObj spid="_x0000_s450581" name="Equation" r:id="rId5" imgW="1498320" imgH="368280" progId="Equation.DSMT4">
                  <p:embed/>
                </p:oleObj>
              </mc:Choice>
              <mc:Fallback>
                <p:oleObj name="Equation" r:id="rId5" imgW="1498320" imgH="368280" progId="Equation.DSMT4">
                  <p:embed/>
                  <p:pic>
                    <p:nvPicPr>
                      <p:cNvPr id="0" name=""/>
                      <p:cNvPicPr>
                        <a:picLocks noChangeAspect="1" noChangeArrowheads="1"/>
                      </p:cNvPicPr>
                      <p:nvPr/>
                    </p:nvPicPr>
                    <p:blipFill>
                      <a:blip r:embed="rId6"/>
                      <a:srcRect/>
                      <a:stretch>
                        <a:fillRect/>
                      </a:stretch>
                    </p:blipFill>
                    <p:spPr bwMode="auto">
                      <a:xfrm>
                        <a:off x="876301" y="4559300"/>
                        <a:ext cx="3933824" cy="893845"/>
                      </a:xfrm>
                      <a:prstGeom prst="rect">
                        <a:avLst/>
                      </a:prstGeom>
                      <a:noFill/>
                      <a:ln>
                        <a:noFill/>
                      </a:ln>
                      <a:effectLst/>
                      <a:extLst/>
                    </p:spPr>
                  </p:pic>
                </p:oleObj>
              </mc:Fallback>
            </mc:AlternateContent>
          </a:graphicData>
        </a:graphic>
      </p:graphicFrame>
      <p:graphicFrame>
        <p:nvGraphicFramePr>
          <p:cNvPr id="6" name="Object 11"/>
          <p:cNvGraphicFramePr>
            <a:graphicFrameLocks noChangeAspect="1"/>
          </p:cNvGraphicFramePr>
          <p:nvPr>
            <p:extLst/>
          </p:nvPr>
        </p:nvGraphicFramePr>
        <p:xfrm>
          <a:off x="3359331" y="5757325"/>
          <a:ext cx="1574620" cy="576316"/>
        </p:xfrm>
        <a:graphic>
          <a:graphicData uri="http://schemas.openxmlformats.org/presentationml/2006/ole">
            <mc:AlternateContent xmlns:mc="http://schemas.openxmlformats.org/markup-compatibility/2006">
              <mc:Choice xmlns:v="urn:schemas-microsoft-com:vml" Requires="v">
                <p:oleObj spid="_x0000_s450582" name="Equation" r:id="rId7" imgW="609480" imgH="241200" progId="Equation.DSMT4">
                  <p:embed/>
                </p:oleObj>
              </mc:Choice>
              <mc:Fallback>
                <p:oleObj name="Equation" r:id="rId7" imgW="609480" imgH="241200" progId="Equation.DSMT4">
                  <p:embed/>
                  <p:pic>
                    <p:nvPicPr>
                      <p:cNvPr id="0" name=""/>
                      <p:cNvPicPr>
                        <a:picLocks noChangeAspect="1" noChangeArrowheads="1"/>
                      </p:cNvPicPr>
                      <p:nvPr/>
                    </p:nvPicPr>
                    <p:blipFill>
                      <a:blip r:embed="rId8"/>
                      <a:srcRect/>
                      <a:stretch>
                        <a:fillRect/>
                      </a:stretch>
                    </p:blipFill>
                    <p:spPr bwMode="auto">
                      <a:xfrm>
                        <a:off x="3359331" y="5757325"/>
                        <a:ext cx="1574620" cy="576316"/>
                      </a:xfrm>
                      <a:prstGeom prst="rect">
                        <a:avLst/>
                      </a:prstGeom>
                      <a:solidFill>
                        <a:srgbClr val="92D050"/>
                      </a:solidFill>
                      <a:ln>
                        <a:noFill/>
                      </a:ln>
                      <a:effectLst/>
                    </p:spPr>
                  </p:pic>
                </p:oleObj>
              </mc:Fallback>
            </mc:AlternateContent>
          </a:graphicData>
        </a:graphic>
      </p:graphicFrame>
      <p:grpSp>
        <p:nvGrpSpPr>
          <p:cNvPr id="7" name="Group 12"/>
          <p:cNvGrpSpPr>
            <a:grpSpLocks/>
          </p:cNvGrpSpPr>
          <p:nvPr/>
        </p:nvGrpSpPr>
        <p:grpSpPr bwMode="auto">
          <a:xfrm>
            <a:off x="3492501" y="859253"/>
            <a:ext cx="2509838" cy="3610025"/>
            <a:chOff x="2290" y="1729"/>
            <a:chExt cx="1581" cy="2274"/>
          </a:xfrm>
        </p:grpSpPr>
        <p:sp>
          <p:nvSpPr>
            <p:cNvPr id="8" name="Line 13"/>
            <p:cNvSpPr>
              <a:spLocks noChangeShapeType="1"/>
            </p:cNvSpPr>
            <p:nvPr/>
          </p:nvSpPr>
          <p:spPr bwMode="auto">
            <a:xfrm>
              <a:off x="2562" y="2048"/>
              <a:ext cx="726"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 name="Line 14"/>
            <p:cNvSpPr>
              <a:spLocks noChangeShapeType="1"/>
            </p:cNvSpPr>
            <p:nvPr/>
          </p:nvSpPr>
          <p:spPr bwMode="auto">
            <a:xfrm>
              <a:off x="2562" y="3958"/>
              <a:ext cx="726"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 name="Line 15"/>
            <p:cNvSpPr>
              <a:spLocks noChangeShapeType="1"/>
            </p:cNvSpPr>
            <p:nvPr/>
          </p:nvSpPr>
          <p:spPr bwMode="auto">
            <a:xfrm>
              <a:off x="3288" y="2043"/>
              <a:ext cx="0" cy="136"/>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1" name="Line 16"/>
            <p:cNvSpPr>
              <a:spLocks noChangeShapeType="1"/>
            </p:cNvSpPr>
            <p:nvPr/>
          </p:nvSpPr>
          <p:spPr bwMode="auto">
            <a:xfrm flipH="1">
              <a:off x="3288" y="2542"/>
              <a:ext cx="0" cy="11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2" name="Line 17"/>
            <p:cNvSpPr>
              <a:spLocks noChangeShapeType="1"/>
            </p:cNvSpPr>
            <p:nvPr/>
          </p:nvSpPr>
          <p:spPr bwMode="auto">
            <a:xfrm flipV="1">
              <a:off x="3288" y="3808"/>
              <a:ext cx="0" cy="15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3" name="Oval 18" descr="斜纹布"/>
            <p:cNvSpPr>
              <a:spLocks noChangeArrowheads="1"/>
            </p:cNvSpPr>
            <p:nvPr/>
          </p:nvSpPr>
          <p:spPr bwMode="auto">
            <a:xfrm>
              <a:off x="2471" y="2008"/>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4" name="Oval 19" descr="斜纹布"/>
            <p:cNvSpPr>
              <a:spLocks noChangeArrowheads="1"/>
            </p:cNvSpPr>
            <p:nvPr/>
          </p:nvSpPr>
          <p:spPr bwMode="auto">
            <a:xfrm>
              <a:off x="2471" y="3912"/>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5" name="Text Box 20" descr="斜纹布"/>
            <p:cNvSpPr txBox="1">
              <a:spLocks noChangeArrowheads="1"/>
            </p:cNvSpPr>
            <p:nvPr/>
          </p:nvSpPr>
          <p:spPr bwMode="auto">
            <a:xfrm>
              <a:off x="3358" y="2166"/>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r>
                <a:rPr kumimoji="1" lang="en-US" altLang="zh-CN" b="0" baseline="-25000" dirty="0" smtClean="0">
                  <a:solidFill>
                    <a:schemeClr val="tx1"/>
                  </a:solidFill>
                  <a:latin typeface="Times New Roman" pitchFamily="18" charset="0"/>
                  <a:ea typeface="仿宋_GB2312" pitchFamily="49" charset="-122"/>
                  <a:sym typeface="Symbol" pitchFamily="18" charset="2"/>
                </a:rPr>
                <a:t>1</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16" name="Text Box 21" descr="斜纹布"/>
            <p:cNvSpPr txBox="1">
              <a:spLocks noChangeArrowheads="1"/>
            </p:cNvSpPr>
            <p:nvPr/>
          </p:nvSpPr>
          <p:spPr bwMode="auto">
            <a:xfrm>
              <a:off x="2290" y="2886"/>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17" name="Text Box 22" descr="斜纹布"/>
            <p:cNvSpPr txBox="1">
              <a:spLocks noChangeArrowheads="1"/>
            </p:cNvSpPr>
            <p:nvPr/>
          </p:nvSpPr>
          <p:spPr bwMode="auto">
            <a:xfrm>
              <a:off x="2866" y="3444"/>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L</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18" name="Text Box 23" descr="斜纹布"/>
            <p:cNvSpPr txBox="1">
              <a:spLocks noChangeArrowheads="1"/>
            </p:cNvSpPr>
            <p:nvPr/>
          </p:nvSpPr>
          <p:spPr bwMode="auto">
            <a:xfrm>
              <a:off x="2878" y="2204"/>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a:solidFill>
                    <a:schemeClr val="tx1"/>
                  </a:solidFill>
                  <a:latin typeface="Times New Roman" pitchFamily="18" charset="0"/>
                  <a:ea typeface="仿宋_GB2312" pitchFamily="49" charset="-122"/>
                  <a:sym typeface="Symbol" pitchFamily="18" charset="2"/>
                </a:rPr>
                <a:t>L</a:t>
              </a:r>
              <a:r>
                <a:rPr kumimoji="1" lang="en-US" altLang="zh-CN" b="0" baseline="-25000" dirty="0">
                  <a:solidFill>
                    <a:schemeClr val="tx1"/>
                  </a:solidFill>
                  <a:latin typeface="Times New Roman" pitchFamily="18" charset="0"/>
                  <a:ea typeface="仿宋_GB2312" pitchFamily="49" charset="-122"/>
                  <a:sym typeface="Symbol" pitchFamily="18" charset="2"/>
                </a:rPr>
                <a:t>1</a:t>
              </a:r>
            </a:p>
          </p:txBody>
        </p:sp>
        <p:sp>
          <p:nvSpPr>
            <p:cNvPr id="19" name="Text Box 24" descr="斜纹布"/>
            <p:cNvSpPr txBox="1">
              <a:spLocks noChangeArrowheads="1"/>
            </p:cNvSpPr>
            <p:nvPr/>
          </p:nvSpPr>
          <p:spPr bwMode="auto">
            <a:xfrm>
              <a:off x="3417" y="285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v</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20" name="Line 25"/>
            <p:cNvSpPr>
              <a:spLocks noChangeShapeType="1"/>
            </p:cNvSpPr>
            <p:nvPr/>
          </p:nvSpPr>
          <p:spPr bwMode="auto">
            <a:xfrm>
              <a:off x="2653" y="2003"/>
              <a:ext cx="317" cy="0"/>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21" name="Text Box 26" descr="斜纹布"/>
            <p:cNvSpPr txBox="1">
              <a:spLocks noChangeArrowheads="1"/>
            </p:cNvSpPr>
            <p:nvPr/>
          </p:nvSpPr>
          <p:spPr bwMode="auto">
            <a:xfrm>
              <a:off x="3481" y="2644"/>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22" name="Text Box 27" descr="斜纹布"/>
            <p:cNvSpPr txBox="1">
              <a:spLocks noChangeArrowheads="1"/>
            </p:cNvSpPr>
            <p:nvPr/>
          </p:nvSpPr>
          <p:spPr bwMode="auto">
            <a:xfrm>
              <a:off x="3424" y="1942"/>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23" name="Text Box 28" descr="斜纹布"/>
            <p:cNvSpPr txBox="1">
              <a:spLocks noChangeArrowheads="1"/>
            </p:cNvSpPr>
            <p:nvPr/>
          </p:nvSpPr>
          <p:spPr bwMode="auto">
            <a:xfrm>
              <a:off x="2426" y="2003"/>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24" name="Text Box 29" descr="斜纹布"/>
            <p:cNvSpPr txBox="1">
              <a:spLocks noChangeArrowheads="1"/>
            </p:cNvSpPr>
            <p:nvPr/>
          </p:nvSpPr>
          <p:spPr bwMode="auto">
            <a:xfrm>
              <a:off x="3448" y="2295"/>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25" name="Text Box 30" descr="斜纹布"/>
            <p:cNvSpPr txBox="1">
              <a:spLocks noChangeArrowheads="1"/>
            </p:cNvSpPr>
            <p:nvPr/>
          </p:nvSpPr>
          <p:spPr bwMode="auto">
            <a:xfrm>
              <a:off x="3481" y="3011"/>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26" name="Text Box 31" descr="斜纹布"/>
            <p:cNvSpPr txBox="1">
              <a:spLocks noChangeArrowheads="1"/>
            </p:cNvSpPr>
            <p:nvPr/>
          </p:nvSpPr>
          <p:spPr bwMode="auto">
            <a:xfrm>
              <a:off x="2562" y="1729"/>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a:solidFill>
                    <a:schemeClr val="tx1"/>
                  </a:solidFill>
                  <a:latin typeface="Times New Roman" pitchFamily="18" charset="0"/>
                  <a:ea typeface="仿宋_GB2312" pitchFamily="49" charset="-122"/>
                  <a:sym typeface="Symbol" pitchFamily="18" charset="2"/>
                </a:rPr>
                <a:t>i</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grpSp>
          <p:nvGrpSpPr>
            <p:cNvPr id="27" name="Group 32"/>
            <p:cNvGrpSpPr>
              <a:grpSpLocks/>
            </p:cNvGrpSpPr>
            <p:nvPr/>
          </p:nvGrpSpPr>
          <p:grpSpPr bwMode="auto">
            <a:xfrm>
              <a:off x="3288" y="3445"/>
              <a:ext cx="91" cy="363"/>
              <a:chOff x="2744" y="3135"/>
              <a:chExt cx="57" cy="283"/>
            </a:xfrm>
          </p:grpSpPr>
          <p:sp>
            <p:nvSpPr>
              <p:cNvPr id="32" name="Arc 33"/>
              <p:cNvSpPr>
                <a:spLocks/>
              </p:cNvSpPr>
              <p:nvPr/>
            </p:nvSpPr>
            <p:spPr bwMode="auto">
              <a:xfrm rot="10800000" flipH="1" flipV="1">
                <a:off x="2744" y="3135"/>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Arc 34"/>
              <p:cNvSpPr>
                <a:spLocks/>
              </p:cNvSpPr>
              <p:nvPr/>
            </p:nvSpPr>
            <p:spPr bwMode="auto">
              <a:xfrm rot="10800000" flipH="1" flipV="1">
                <a:off x="2744" y="3231"/>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Arc 35"/>
              <p:cNvSpPr>
                <a:spLocks/>
              </p:cNvSpPr>
              <p:nvPr/>
            </p:nvSpPr>
            <p:spPr bwMode="auto">
              <a:xfrm rot="10800000" flipH="1" flipV="1">
                <a:off x="2744" y="3327"/>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 name="Group 36"/>
            <p:cNvGrpSpPr>
              <a:grpSpLocks/>
            </p:cNvGrpSpPr>
            <p:nvPr/>
          </p:nvGrpSpPr>
          <p:grpSpPr bwMode="auto">
            <a:xfrm>
              <a:off x="3288" y="2184"/>
              <a:ext cx="91" cy="363"/>
              <a:chOff x="2744" y="2587"/>
              <a:chExt cx="57" cy="283"/>
            </a:xfrm>
          </p:grpSpPr>
          <p:sp>
            <p:nvSpPr>
              <p:cNvPr id="29" name="Arc 37"/>
              <p:cNvSpPr>
                <a:spLocks/>
              </p:cNvSpPr>
              <p:nvPr/>
            </p:nvSpPr>
            <p:spPr bwMode="auto">
              <a:xfrm rot="10800000" flipH="1" flipV="1">
                <a:off x="2744" y="2587"/>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Arc 38"/>
              <p:cNvSpPr>
                <a:spLocks/>
              </p:cNvSpPr>
              <p:nvPr/>
            </p:nvSpPr>
            <p:spPr bwMode="auto">
              <a:xfrm rot="10800000" flipH="1" flipV="1">
                <a:off x="2744" y="2683"/>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Arc 39"/>
              <p:cNvSpPr>
                <a:spLocks/>
              </p:cNvSpPr>
              <p:nvPr/>
            </p:nvSpPr>
            <p:spPr bwMode="auto">
              <a:xfrm rot="10800000" flipH="1" flipV="1">
                <a:off x="2744" y="2779"/>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 name="Line 16"/>
            <p:cNvSpPr>
              <a:spLocks noChangeShapeType="1"/>
            </p:cNvSpPr>
            <p:nvPr/>
          </p:nvSpPr>
          <p:spPr bwMode="auto">
            <a:xfrm>
              <a:off x="3300" y="3338"/>
              <a:ext cx="0" cy="106"/>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1" name="Line 16"/>
            <p:cNvSpPr>
              <a:spLocks noChangeShapeType="1"/>
            </p:cNvSpPr>
            <p:nvPr/>
          </p:nvSpPr>
          <p:spPr bwMode="auto">
            <a:xfrm>
              <a:off x="3288" y="2652"/>
              <a:ext cx="4" cy="182"/>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2" name="Line 16"/>
            <p:cNvSpPr>
              <a:spLocks noChangeShapeType="1"/>
            </p:cNvSpPr>
            <p:nvPr/>
          </p:nvSpPr>
          <p:spPr bwMode="auto">
            <a:xfrm>
              <a:off x="3298" y="3197"/>
              <a:ext cx="4" cy="182"/>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3" name="Text Box 26" descr="斜纹布"/>
            <p:cNvSpPr txBox="1">
              <a:spLocks noChangeArrowheads="1"/>
            </p:cNvSpPr>
            <p:nvPr/>
          </p:nvSpPr>
          <p:spPr bwMode="auto">
            <a:xfrm>
              <a:off x="3481" y="3263"/>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64" name="Text Box 30" descr="斜纹布"/>
            <p:cNvSpPr txBox="1">
              <a:spLocks noChangeArrowheads="1"/>
            </p:cNvSpPr>
            <p:nvPr/>
          </p:nvSpPr>
          <p:spPr bwMode="auto">
            <a:xfrm>
              <a:off x="3486" y="362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65" name="Text Box 24" descr="斜纹布"/>
            <p:cNvSpPr txBox="1">
              <a:spLocks noChangeArrowheads="1"/>
            </p:cNvSpPr>
            <p:nvPr/>
          </p:nvSpPr>
          <p:spPr bwMode="auto">
            <a:xfrm>
              <a:off x="3404" y="3450"/>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v</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66" name="Text Box 22" descr="斜纹布"/>
            <p:cNvSpPr txBox="1">
              <a:spLocks noChangeArrowheads="1"/>
            </p:cNvSpPr>
            <p:nvPr/>
          </p:nvSpPr>
          <p:spPr bwMode="auto">
            <a:xfrm>
              <a:off x="2866" y="2848"/>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L</a:t>
              </a:r>
              <a:r>
                <a:rPr kumimoji="1" lang="en-US" altLang="zh-CN" b="0" i="1" baseline="-25000" dirty="0"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grpSp>
      <p:grpSp>
        <p:nvGrpSpPr>
          <p:cNvPr id="35" name="Group 40"/>
          <p:cNvGrpSpPr>
            <a:grpSpLocks/>
          </p:cNvGrpSpPr>
          <p:nvPr/>
        </p:nvGrpSpPr>
        <p:grpSpPr bwMode="auto">
          <a:xfrm>
            <a:off x="6948488" y="1972802"/>
            <a:ext cx="1512887" cy="2089150"/>
            <a:chOff x="1701" y="1706"/>
            <a:chExt cx="953" cy="1316"/>
          </a:xfrm>
        </p:grpSpPr>
        <p:sp>
          <p:nvSpPr>
            <p:cNvPr id="36" name="Line 41"/>
            <p:cNvSpPr>
              <a:spLocks noChangeShapeType="1"/>
            </p:cNvSpPr>
            <p:nvPr/>
          </p:nvSpPr>
          <p:spPr bwMode="auto">
            <a:xfrm>
              <a:off x="1882" y="1752"/>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7" name="Line 42"/>
            <p:cNvSpPr>
              <a:spLocks noChangeShapeType="1"/>
            </p:cNvSpPr>
            <p:nvPr/>
          </p:nvSpPr>
          <p:spPr bwMode="auto">
            <a:xfrm>
              <a:off x="1882" y="2976"/>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8" name="Line 43"/>
            <p:cNvSpPr>
              <a:spLocks noChangeShapeType="1"/>
            </p:cNvSpPr>
            <p:nvPr/>
          </p:nvSpPr>
          <p:spPr bwMode="auto">
            <a:xfrm flipH="1">
              <a:off x="2562" y="1751"/>
              <a:ext cx="1" cy="409"/>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9" name="Line 44"/>
            <p:cNvSpPr>
              <a:spLocks noChangeShapeType="1"/>
            </p:cNvSpPr>
            <p:nvPr/>
          </p:nvSpPr>
          <p:spPr bwMode="auto">
            <a:xfrm flipH="1" flipV="1">
              <a:off x="2562" y="2523"/>
              <a:ext cx="1" cy="45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0" name="Oval 45" descr="斜纹布"/>
            <p:cNvSpPr>
              <a:spLocks noChangeArrowheads="1"/>
            </p:cNvSpPr>
            <p:nvPr/>
          </p:nvSpPr>
          <p:spPr bwMode="auto">
            <a:xfrm>
              <a:off x="1792" y="1706"/>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1" name="Text Box 46" descr="斜纹布"/>
            <p:cNvSpPr txBox="1">
              <a:spLocks noChangeArrowheads="1"/>
            </p:cNvSpPr>
            <p:nvPr/>
          </p:nvSpPr>
          <p:spPr bwMode="auto">
            <a:xfrm>
              <a:off x="2154" y="1797"/>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42" name="Text Box 47" descr="斜纹布"/>
            <p:cNvSpPr txBox="1">
              <a:spLocks noChangeArrowheads="1"/>
            </p:cNvSpPr>
            <p:nvPr/>
          </p:nvSpPr>
          <p:spPr bwMode="auto">
            <a:xfrm>
              <a:off x="1701" y="2160"/>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43" name="Text Box 48" descr="斜纹布"/>
            <p:cNvSpPr txBox="1">
              <a:spLocks noChangeArrowheads="1"/>
            </p:cNvSpPr>
            <p:nvPr/>
          </p:nvSpPr>
          <p:spPr bwMode="auto">
            <a:xfrm>
              <a:off x="1792" y="1706"/>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4" name="Text Box 49" descr="斜纹布"/>
            <p:cNvSpPr txBox="1">
              <a:spLocks noChangeArrowheads="1"/>
            </p:cNvSpPr>
            <p:nvPr/>
          </p:nvSpPr>
          <p:spPr bwMode="auto">
            <a:xfrm>
              <a:off x="1792" y="2657"/>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5" name="Line 50"/>
            <p:cNvSpPr>
              <a:spLocks noChangeShapeType="1"/>
            </p:cNvSpPr>
            <p:nvPr/>
          </p:nvSpPr>
          <p:spPr bwMode="auto">
            <a:xfrm>
              <a:off x="2472" y="1842"/>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6" name="Text Box 51" descr="斜纹布"/>
            <p:cNvSpPr txBox="1">
              <a:spLocks noChangeArrowheads="1"/>
            </p:cNvSpPr>
            <p:nvPr/>
          </p:nvSpPr>
          <p:spPr bwMode="auto">
            <a:xfrm>
              <a:off x="2200" y="2205"/>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a:solidFill>
                    <a:schemeClr val="tx1"/>
                  </a:solidFill>
                  <a:latin typeface="Times New Roman" pitchFamily="18" charset="0"/>
                  <a:ea typeface="仿宋_GB2312" pitchFamily="49" charset="-122"/>
                  <a:sym typeface="Symbol" pitchFamily="18" charset="2"/>
                </a:rPr>
                <a:t>L</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47" name="Oval 52" descr="斜纹布"/>
            <p:cNvSpPr>
              <a:spLocks noChangeArrowheads="1"/>
            </p:cNvSpPr>
            <p:nvPr/>
          </p:nvSpPr>
          <p:spPr bwMode="auto">
            <a:xfrm>
              <a:off x="1792" y="2930"/>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48" name="Group 53"/>
            <p:cNvGrpSpPr>
              <a:grpSpLocks/>
            </p:cNvGrpSpPr>
            <p:nvPr/>
          </p:nvGrpSpPr>
          <p:grpSpPr bwMode="auto">
            <a:xfrm>
              <a:off x="2562" y="2160"/>
              <a:ext cx="91" cy="363"/>
              <a:chOff x="2744" y="2931"/>
              <a:chExt cx="57" cy="283"/>
            </a:xfrm>
          </p:grpSpPr>
          <p:sp>
            <p:nvSpPr>
              <p:cNvPr id="49" name="Arc 54"/>
              <p:cNvSpPr>
                <a:spLocks/>
              </p:cNvSpPr>
              <p:nvPr/>
            </p:nvSpPr>
            <p:spPr bwMode="auto">
              <a:xfrm rot="10800000" flipH="1" flipV="1">
                <a:off x="2744" y="2931"/>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Arc 55"/>
              <p:cNvSpPr>
                <a:spLocks/>
              </p:cNvSpPr>
              <p:nvPr/>
            </p:nvSpPr>
            <p:spPr bwMode="auto">
              <a:xfrm rot="10800000" flipH="1" flipV="1">
                <a:off x="2744" y="3027"/>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Arc 56"/>
              <p:cNvSpPr>
                <a:spLocks/>
              </p:cNvSpPr>
              <p:nvPr/>
            </p:nvSpPr>
            <p:spPr bwMode="auto">
              <a:xfrm rot="10800000" flipH="1" flipV="1">
                <a:off x="2744" y="3123"/>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53" name="Group 58"/>
          <p:cNvGrpSpPr>
            <a:grpSpLocks/>
          </p:cNvGrpSpPr>
          <p:nvPr/>
        </p:nvGrpSpPr>
        <p:grpSpPr bwMode="auto">
          <a:xfrm>
            <a:off x="5940425" y="2387600"/>
            <a:ext cx="1223963" cy="576263"/>
            <a:chOff x="2381" y="1298"/>
            <a:chExt cx="771" cy="363"/>
          </a:xfrm>
        </p:grpSpPr>
        <p:sp>
          <p:nvSpPr>
            <p:cNvPr id="54" name="Line 59"/>
            <p:cNvSpPr>
              <a:spLocks noChangeShapeType="1"/>
            </p:cNvSpPr>
            <p:nvPr/>
          </p:nvSpPr>
          <p:spPr bwMode="auto">
            <a:xfrm>
              <a:off x="2517" y="1661"/>
              <a:ext cx="545" cy="0"/>
            </a:xfrm>
            <a:prstGeom prst="line">
              <a:avLst/>
            </a:prstGeom>
            <a:noFill/>
            <a:ln w="762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5" name="Text Box 60" descr="斜纹布"/>
            <p:cNvSpPr txBox="1">
              <a:spLocks noChangeArrowheads="1"/>
            </p:cNvSpPr>
            <p:nvPr/>
          </p:nvSpPr>
          <p:spPr bwMode="auto">
            <a:xfrm>
              <a:off x="2381" y="1298"/>
              <a:ext cx="771"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p>
              <a:pPr algn="ctr" eaLnBrk="0" hangingPunct="0">
                <a:spcBef>
                  <a:spcPct val="50000"/>
                </a:spcBef>
              </a:pPr>
              <a:r>
                <a:rPr kumimoji="1" lang="zh-CN" altLang="en-US" sz="2400">
                  <a:latin typeface="Times New Roman" pitchFamily="18" charset="0"/>
                  <a:ea typeface="仿宋_GB2312" pitchFamily="49" charset="-122"/>
                  <a:sym typeface="Symbol" pitchFamily="18" charset="2"/>
                </a:rPr>
                <a:t>等效</a:t>
              </a:r>
            </a:p>
          </p:txBody>
        </p:sp>
      </p:grpSp>
      <p:sp>
        <p:nvSpPr>
          <p:cNvPr id="57" name="Arc 37"/>
          <p:cNvSpPr>
            <a:spLocks/>
          </p:cNvSpPr>
          <p:nvPr/>
        </p:nvSpPr>
        <p:spPr bwMode="auto">
          <a:xfrm rot="10800000" flipH="1" flipV="1">
            <a:off x="5082583" y="2605202"/>
            <a:ext cx="144463" cy="185302"/>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Arc 38"/>
          <p:cNvSpPr>
            <a:spLocks/>
          </p:cNvSpPr>
          <p:nvPr/>
        </p:nvSpPr>
        <p:spPr bwMode="auto">
          <a:xfrm rot="10800000" flipH="1" flipV="1">
            <a:off x="5082583" y="2800686"/>
            <a:ext cx="144463" cy="185302"/>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Arc 39"/>
          <p:cNvSpPr>
            <a:spLocks/>
          </p:cNvSpPr>
          <p:nvPr/>
        </p:nvSpPr>
        <p:spPr bwMode="auto">
          <a:xfrm rot="10800000" flipH="1" flipV="1">
            <a:off x="5082583" y="2996170"/>
            <a:ext cx="144463" cy="185302"/>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31525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barn(inVertical)">
                                      <p:cBhvr>
                                        <p:cTn id="15" dur="500"/>
                                        <p:tgtEl>
                                          <p:spTgt spid="5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barn(inVertical)">
                                      <p:cBhvr>
                                        <p:cTn id="18" dur="500"/>
                                        <p:tgtEl>
                                          <p:spTgt spid="58"/>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barn(inVertical)">
                                      <p:cBhvr>
                                        <p:cTn id="21" dur="500"/>
                                        <p:tgtEl>
                                          <p:spTgt spid="59"/>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inVertical)">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barn(inVertical)">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barn(inVertical)">
                                      <p:cBhvr>
                                        <p:cTn id="36" dur="500"/>
                                        <p:tgtEl>
                                          <p:spTgt spid="53"/>
                                        </p:tgtEl>
                                      </p:cBhvr>
                                    </p:animEffect>
                                  </p:childTnLst>
                                </p:cTn>
                              </p:par>
                            </p:childTnLst>
                          </p:cTn>
                        </p:par>
                        <p:par>
                          <p:cTn id="37" fill="hold">
                            <p:stCondLst>
                              <p:cond delay="500"/>
                            </p:stCondLst>
                            <p:childTnLst>
                              <p:par>
                                <p:cTn id="38" presetID="16" presetClass="entr" presetSubtype="21" fill="hold" nodeType="after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barn(inVertical)">
                                      <p:cBhvr>
                                        <p:cTn id="40" dur="500"/>
                                        <p:tgtEl>
                                          <p:spTgt spid="35"/>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1000"/>
                                        <p:tgtEl>
                                          <p:spTgt spid="6"/>
                                        </p:tgtEl>
                                      </p:cBhvr>
                                    </p:animEffect>
                                    <p:anim calcmode="lin" valueType="num">
                                      <p:cBhvr>
                                        <p:cTn id="46" dur="1000" fill="hold"/>
                                        <p:tgtEl>
                                          <p:spTgt spid="6"/>
                                        </p:tgtEl>
                                        <p:attrNameLst>
                                          <p:attrName>ppt_x</p:attrName>
                                        </p:attrNameLst>
                                      </p:cBhvr>
                                      <p:tavLst>
                                        <p:tav tm="0">
                                          <p:val>
                                            <p:strVal val="#ppt_x"/>
                                          </p:val>
                                        </p:tav>
                                        <p:tav tm="100000">
                                          <p:val>
                                            <p:strVal val="#ppt_x"/>
                                          </p:val>
                                        </p:tav>
                                      </p:tavLst>
                                    </p:anim>
                                    <p:anim calcmode="lin" valueType="num">
                                      <p:cBhvr>
                                        <p:cTn id="4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7" grpId="0" animBg="1"/>
      <p:bldP spid="58" grpId="0" animBg="1"/>
      <p:bldP spid="5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8"/>
          <p:cNvGrpSpPr>
            <a:grpSpLocks/>
          </p:cNvGrpSpPr>
          <p:nvPr/>
        </p:nvGrpSpPr>
        <p:grpSpPr bwMode="auto">
          <a:xfrm>
            <a:off x="6042564" y="1820267"/>
            <a:ext cx="1511300" cy="2089150"/>
            <a:chOff x="1701" y="1706"/>
            <a:chExt cx="952" cy="1316"/>
          </a:xfrm>
        </p:grpSpPr>
        <p:sp>
          <p:nvSpPr>
            <p:cNvPr id="39" name="Line 39"/>
            <p:cNvSpPr>
              <a:spLocks noChangeShapeType="1"/>
            </p:cNvSpPr>
            <p:nvPr/>
          </p:nvSpPr>
          <p:spPr bwMode="auto">
            <a:xfrm>
              <a:off x="1882" y="1752"/>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0" name="Line 40"/>
            <p:cNvSpPr>
              <a:spLocks noChangeShapeType="1"/>
            </p:cNvSpPr>
            <p:nvPr/>
          </p:nvSpPr>
          <p:spPr bwMode="auto">
            <a:xfrm>
              <a:off x="1882" y="2976"/>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1" name="Line 41"/>
            <p:cNvSpPr>
              <a:spLocks noChangeShapeType="1"/>
            </p:cNvSpPr>
            <p:nvPr/>
          </p:nvSpPr>
          <p:spPr bwMode="auto">
            <a:xfrm flipH="1">
              <a:off x="2562" y="1751"/>
              <a:ext cx="1" cy="409"/>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2" name="Line 42"/>
            <p:cNvSpPr>
              <a:spLocks noChangeShapeType="1"/>
            </p:cNvSpPr>
            <p:nvPr/>
          </p:nvSpPr>
          <p:spPr bwMode="auto">
            <a:xfrm flipH="1" flipV="1">
              <a:off x="2562" y="2523"/>
              <a:ext cx="1" cy="45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3" name="Oval 43" descr="斜纹布"/>
            <p:cNvSpPr>
              <a:spLocks noChangeArrowheads="1"/>
            </p:cNvSpPr>
            <p:nvPr/>
          </p:nvSpPr>
          <p:spPr bwMode="auto">
            <a:xfrm>
              <a:off x="1792" y="1706"/>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 name="Text Box 44" descr="斜纹布"/>
            <p:cNvSpPr txBox="1">
              <a:spLocks noChangeArrowheads="1"/>
            </p:cNvSpPr>
            <p:nvPr/>
          </p:nvSpPr>
          <p:spPr bwMode="auto">
            <a:xfrm>
              <a:off x="2154" y="1797"/>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45" name="Text Box 45" descr="斜纹布"/>
            <p:cNvSpPr txBox="1">
              <a:spLocks noChangeArrowheads="1"/>
            </p:cNvSpPr>
            <p:nvPr/>
          </p:nvSpPr>
          <p:spPr bwMode="auto">
            <a:xfrm>
              <a:off x="1701" y="2160"/>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46" name="Text Box 46" descr="斜纹布"/>
            <p:cNvSpPr txBox="1">
              <a:spLocks noChangeArrowheads="1"/>
            </p:cNvSpPr>
            <p:nvPr/>
          </p:nvSpPr>
          <p:spPr bwMode="auto">
            <a:xfrm>
              <a:off x="1792" y="1706"/>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7" name="Text Box 47" descr="斜纹布"/>
            <p:cNvSpPr txBox="1">
              <a:spLocks noChangeArrowheads="1"/>
            </p:cNvSpPr>
            <p:nvPr/>
          </p:nvSpPr>
          <p:spPr bwMode="auto">
            <a:xfrm>
              <a:off x="1792" y="2657"/>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8" name="Line 48"/>
            <p:cNvSpPr>
              <a:spLocks noChangeShapeType="1"/>
            </p:cNvSpPr>
            <p:nvPr/>
          </p:nvSpPr>
          <p:spPr bwMode="auto">
            <a:xfrm>
              <a:off x="2472" y="1842"/>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9" name="Text Box 49" descr="斜纹布"/>
            <p:cNvSpPr txBox="1">
              <a:spLocks noChangeArrowheads="1"/>
            </p:cNvSpPr>
            <p:nvPr/>
          </p:nvSpPr>
          <p:spPr bwMode="auto">
            <a:xfrm>
              <a:off x="2199" y="2205"/>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a:solidFill>
                    <a:schemeClr val="tx1"/>
                  </a:solidFill>
                  <a:latin typeface="Times New Roman" pitchFamily="18" charset="0"/>
                  <a:ea typeface="仿宋_GB2312" pitchFamily="49" charset="-122"/>
                  <a:sym typeface="Symbol" pitchFamily="18" charset="2"/>
                </a:rPr>
                <a:t>L</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50" name="Oval 50" descr="斜纹布"/>
            <p:cNvSpPr>
              <a:spLocks noChangeArrowheads="1"/>
            </p:cNvSpPr>
            <p:nvPr/>
          </p:nvSpPr>
          <p:spPr bwMode="auto">
            <a:xfrm>
              <a:off x="1792" y="2930"/>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51" name="Group 51"/>
            <p:cNvGrpSpPr>
              <a:grpSpLocks/>
            </p:cNvGrpSpPr>
            <p:nvPr/>
          </p:nvGrpSpPr>
          <p:grpSpPr bwMode="auto">
            <a:xfrm>
              <a:off x="2562" y="2160"/>
              <a:ext cx="91" cy="363"/>
              <a:chOff x="2744" y="2931"/>
              <a:chExt cx="57" cy="283"/>
            </a:xfrm>
          </p:grpSpPr>
          <p:sp>
            <p:nvSpPr>
              <p:cNvPr id="52" name="Arc 52"/>
              <p:cNvSpPr>
                <a:spLocks/>
              </p:cNvSpPr>
              <p:nvPr/>
            </p:nvSpPr>
            <p:spPr bwMode="auto">
              <a:xfrm rot="10800000" flipH="1" flipV="1">
                <a:off x="2744" y="2931"/>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Arc 53"/>
              <p:cNvSpPr>
                <a:spLocks/>
              </p:cNvSpPr>
              <p:nvPr/>
            </p:nvSpPr>
            <p:spPr bwMode="auto">
              <a:xfrm rot="10800000" flipH="1" flipV="1">
                <a:off x="2744" y="3027"/>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Arc 54"/>
              <p:cNvSpPr>
                <a:spLocks/>
              </p:cNvSpPr>
              <p:nvPr/>
            </p:nvSpPr>
            <p:spPr bwMode="auto">
              <a:xfrm rot="10800000" flipH="1" flipV="1">
                <a:off x="2744" y="3123"/>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55" name="Group 55"/>
          <p:cNvGrpSpPr>
            <a:grpSpLocks/>
          </p:cNvGrpSpPr>
          <p:nvPr/>
        </p:nvGrpSpPr>
        <p:grpSpPr bwMode="auto">
          <a:xfrm>
            <a:off x="4602703" y="2396530"/>
            <a:ext cx="1223962" cy="576262"/>
            <a:chOff x="2381" y="1298"/>
            <a:chExt cx="771" cy="363"/>
          </a:xfrm>
        </p:grpSpPr>
        <p:sp>
          <p:nvSpPr>
            <p:cNvPr id="56" name="Line 56"/>
            <p:cNvSpPr>
              <a:spLocks noChangeShapeType="1"/>
            </p:cNvSpPr>
            <p:nvPr/>
          </p:nvSpPr>
          <p:spPr bwMode="auto">
            <a:xfrm>
              <a:off x="2517" y="1661"/>
              <a:ext cx="545" cy="0"/>
            </a:xfrm>
            <a:prstGeom prst="line">
              <a:avLst/>
            </a:prstGeom>
            <a:noFill/>
            <a:ln w="762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7" name="Text Box 57" descr="斜纹布"/>
            <p:cNvSpPr txBox="1">
              <a:spLocks noChangeArrowheads="1"/>
            </p:cNvSpPr>
            <p:nvPr/>
          </p:nvSpPr>
          <p:spPr bwMode="auto">
            <a:xfrm>
              <a:off x="2381" y="1298"/>
              <a:ext cx="771"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p>
              <a:pPr algn="ctr" eaLnBrk="0" hangingPunct="0">
                <a:spcBef>
                  <a:spcPct val="50000"/>
                </a:spcBef>
              </a:pPr>
              <a:r>
                <a:rPr kumimoji="1" lang="zh-CN" altLang="en-US" sz="2400" dirty="0">
                  <a:latin typeface="Times New Roman" pitchFamily="18" charset="0"/>
                  <a:ea typeface="仿宋_GB2312" pitchFamily="49" charset="-122"/>
                  <a:sym typeface="Symbol" pitchFamily="18" charset="2"/>
                </a:rPr>
                <a:t>等效</a:t>
              </a:r>
            </a:p>
          </p:txBody>
        </p:sp>
      </p:grpSp>
      <p:sp>
        <p:nvSpPr>
          <p:cNvPr id="59" name="Text Box 24"/>
          <p:cNvSpPr txBox="1">
            <a:spLocks noChangeArrowheads="1"/>
          </p:cNvSpPr>
          <p:nvPr/>
        </p:nvSpPr>
        <p:spPr bwMode="auto">
          <a:xfrm>
            <a:off x="508000" y="582613"/>
            <a:ext cx="381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l">
              <a:spcBef>
                <a:spcPct val="50000"/>
              </a:spcBef>
              <a:buFont typeface="Wingdings" pitchFamily="2" charset="2"/>
              <a:buChar char="l"/>
            </a:pPr>
            <a:r>
              <a:rPr lang="zh-CN" altLang="en-US" dirty="0">
                <a:solidFill>
                  <a:srgbClr val="0000CC"/>
                </a:solidFill>
              </a:rPr>
              <a:t>串联电感的分压</a:t>
            </a:r>
          </a:p>
        </p:txBody>
      </p:sp>
      <p:graphicFrame>
        <p:nvGraphicFramePr>
          <p:cNvPr id="3" name="对象 2"/>
          <p:cNvGraphicFramePr>
            <a:graphicFrameLocks noChangeAspect="1"/>
          </p:cNvGraphicFramePr>
          <p:nvPr>
            <p:extLst/>
          </p:nvPr>
        </p:nvGraphicFramePr>
        <p:xfrm>
          <a:off x="1794669" y="5326542"/>
          <a:ext cx="1382713" cy="860425"/>
        </p:xfrm>
        <a:graphic>
          <a:graphicData uri="http://schemas.openxmlformats.org/presentationml/2006/ole">
            <mc:AlternateContent xmlns:mc="http://schemas.openxmlformats.org/markup-compatibility/2006">
              <mc:Choice xmlns:v="urn:schemas-microsoft-com:vml" Requires="v">
                <p:oleObj spid="_x0000_s451596" name="Equation" r:id="rId3" imgW="545760" imgH="368280" progId="Equation.DSMT4">
                  <p:embed/>
                </p:oleObj>
              </mc:Choice>
              <mc:Fallback>
                <p:oleObj name="Equation" r:id="rId3" imgW="545760" imgH="368280" progId="Equation.DSMT4">
                  <p:embed/>
                  <p:pic>
                    <p:nvPicPr>
                      <p:cNvPr id="0" name=""/>
                      <p:cNvPicPr>
                        <a:picLocks noChangeAspect="1" noChangeArrowheads="1"/>
                      </p:cNvPicPr>
                      <p:nvPr/>
                    </p:nvPicPr>
                    <p:blipFill>
                      <a:blip r:embed="rId4"/>
                      <a:srcRect/>
                      <a:stretch>
                        <a:fillRect/>
                      </a:stretch>
                    </p:blipFill>
                    <p:spPr bwMode="auto">
                      <a:xfrm>
                        <a:off x="1794669" y="5326542"/>
                        <a:ext cx="1382713" cy="860425"/>
                      </a:xfrm>
                      <a:prstGeom prst="rect">
                        <a:avLst/>
                      </a:prstGeom>
                      <a:solidFill>
                        <a:srgbClr val="92D050"/>
                      </a:solidFill>
                      <a:ln>
                        <a:noFill/>
                      </a:ln>
                      <a:effectLst/>
                    </p:spPr>
                  </p:pic>
                </p:oleObj>
              </mc:Fallback>
            </mc:AlternateContent>
          </a:graphicData>
        </a:graphic>
      </p:graphicFrame>
      <p:graphicFrame>
        <p:nvGraphicFramePr>
          <p:cNvPr id="4" name="对象 3"/>
          <p:cNvGraphicFramePr>
            <a:graphicFrameLocks noChangeAspect="1"/>
          </p:cNvGraphicFramePr>
          <p:nvPr>
            <p:extLst/>
          </p:nvPr>
        </p:nvGraphicFramePr>
        <p:xfrm>
          <a:off x="3851382" y="4772624"/>
          <a:ext cx="4845050" cy="1790700"/>
        </p:xfrm>
        <a:graphic>
          <a:graphicData uri="http://schemas.openxmlformats.org/presentationml/2006/ole">
            <mc:AlternateContent xmlns:mc="http://schemas.openxmlformats.org/markup-compatibility/2006">
              <mc:Choice xmlns:v="urn:schemas-microsoft-com:vml" Requires="v">
                <p:oleObj spid="_x0000_s451597" name="Equation" r:id="rId5" imgW="2095200" imgH="838080" progId="Equation.DSMT4">
                  <p:embed/>
                </p:oleObj>
              </mc:Choice>
              <mc:Fallback>
                <p:oleObj name="Equation" r:id="rId5" imgW="2095200" imgH="838080" progId="Equation.DSMT4">
                  <p:embed/>
                  <p:pic>
                    <p:nvPicPr>
                      <p:cNvPr id="0" name=""/>
                      <p:cNvPicPr>
                        <a:picLocks noChangeAspect="1" noChangeArrowheads="1"/>
                      </p:cNvPicPr>
                      <p:nvPr/>
                    </p:nvPicPr>
                    <p:blipFill>
                      <a:blip r:embed="rId6"/>
                      <a:srcRect/>
                      <a:stretch>
                        <a:fillRect/>
                      </a:stretch>
                    </p:blipFill>
                    <p:spPr bwMode="auto">
                      <a:xfrm>
                        <a:off x="3851382" y="4772624"/>
                        <a:ext cx="484505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p:cNvGrpSpPr/>
          <p:nvPr/>
        </p:nvGrpSpPr>
        <p:grpSpPr>
          <a:xfrm>
            <a:off x="1735932" y="939090"/>
            <a:ext cx="2509838" cy="3610025"/>
            <a:chOff x="1735932" y="939090"/>
            <a:chExt cx="2509838" cy="3610025"/>
          </a:xfrm>
        </p:grpSpPr>
        <p:sp>
          <p:nvSpPr>
            <p:cNvPr id="61" name="Line 13"/>
            <p:cNvSpPr>
              <a:spLocks noChangeShapeType="1"/>
            </p:cNvSpPr>
            <p:nvPr/>
          </p:nvSpPr>
          <p:spPr bwMode="auto">
            <a:xfrm>
              <a:off x="2167732" y="1445510"/>
              <a:ext cx="1152525"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2" name="Line 14"/>
            <p:cNvSpPr>
              <a:spLocks noChangeShapeType="1"/>
            </p:cNvSpPr>
            <p:nvPr/>
          </p:nvSpPr>
          <p:spPr bwMode="auto">
            <a:xfrm>
              <a:off x="2167732" y="4477677"/>
              <a:ext cx="1152525"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3" name="Line 15"/>
            <p:cNvSpPr>
              <a:spLocks noChangeShapeType="1"/>
            </p:cNvSpPr>
            <p:nvPr/>
          </p:nvSpPr>
          <p:spPr bwMode="auto">
            <a:xfrm>
              <a:off x="3320257" y="1437572"/>
              <a:ext cx="0" cy="21590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4" name="Line 16"/>
            <p:cNvSpPr>
              <a:spLocks noChangeShapeType="1"/>
            </p:cNvSpPr>
            <p:nvPr/>
          </p:nvSpPr>
          <p:spPr bwMode="auto">
            <a:xfrm flipH="1">
              <a:off x="3320257" y="2229745"/>
              <a:ext cx="0" cy="174627"/>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5" name="Line 17"/>
            <p:cNvSpPr>
              <a:spLocks noChangeShapeType="1"/>
            </p:cNvSpPr>
            <p:nvPr/>
          </p:nvSpPr>
          <p:spPr bwMode="auto">
            <a:xfrm flipV="1">
              <a:off x="3320257" y="4239548"/>
              <a:ext cx="0" cy="238128"/>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6" name="Oval 18" descr="斜纹布"/>
            <p:cNvSpPr>
              <a:spLocks noChangeArrowheads="1"/>
            </p:cNvSpPr>
            <p:nvPr/>
          </p:nvSpPr>
          <p:spPr bwMode="auto">
            <a:xfrm>
              <a:off x="2023270" y="1382009"/>
              <a:ext cx="142875" cy="144465"/>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7" name="Oval 19" descr="斜纹布"/>
            <p:cNvSpPr>
              <a:spLocks noChangeArrowheads="1"/>
            </p:cNvSpPr>
            <p:nvPr/>
          </p:nvSpPr>
          <p:spPr bwMode="auto">
            <a:xfrm>
              <a:off x="2023270" y="4404650"/>
              <a:ext cx="142875" cy="144465"/>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8" name="Text Box 20" descr="斜纹布"/>
            <p:cNvSpPr txBox="1">
              <a:spLocks noChangeArrowheads="1"/>
            </p:cNvSpPr>
            <p:nvPr/>
          </p:nvSpPr>
          <p:spPr bwMode="auto">
            <a:xfrm>
              <a:off x="3431382" y="1632837"/>
              <a:ext cx="720725" cy="461969"/>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r>
                <a:rPr kumimoji="1" lang="en-US" altLang="zh-CN" b="0" baseline="-25000" dirty="0" smtClean="0">
                  <a:solidFill>
                    <a:schemeClr val="tx1"/>
                  </a:solidFill>
                  <a:latin typeface="Times New Roman" pitchFamily="18" charset="0"/>
                  <a:ea typeface="仿宋_GB2312" pitchFamily="49" charset="-122"/>
                  <a:sym typeface="Symbol" pitchFamily="18" charset="2"/>
                </a:rPr>
                <a:t>1</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69" name="Text Box 21" descr="斜纹布"/>
            <p:cNvSpPr txBox="1">
              <a:spLocks noChangeArrowheads="1"/>
            </p:cNvSpPr>
            <p:nvPr/>
          </p:nvSpPr>
          <p:spPr bwMode="auto">
            <a:xfrm>
              <a:off x="1735932" y="2775853"/>
              <a:ext cx="720725" cy="461969"/>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70" name="Text Box 22" descr="斜纹布"/>
            <p:cNvSpPr txBox="1">
              <a:spLocks noChangeArrowheads="1"/>
            </p:cNvSpPr>
            <p:nvPr/>
          </p:nvSpPr>
          <p:spPr bwMode="auto">
            <a:xfrm>
              <a:off x="2720182" y="3701378"/>
              <a:ext cx="720725" cy="461969"/>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L</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71" name="Text Box 23" descr="斜纹布"/>
            <p:cNvSpPr txBox="1">
              <a:spLocks noChangeArrowheads="1"/>
            </p:cNvSpPr>
            <p:nvPr/>
          </p:nvSpPr>
          <p:spPr bwMode="auto">
            <a:xfrm>
              <a:off x="2709070" y="1693163"/>
              <a:ext cx="720725" cy="519120"/>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a:solidFill>
                    <a:schemeClr val="tx1"/>
                  </a:solidFill>
                  <a:latin typeface="Times New Roman" pitchFamily="18" charset="0"/>
                  <a:ea typeface="仿宋_GB2312" pitchFamily="49" charset="-122"/>
                  <a:sym typeface="Symbol" pitchFamily="18" charset="2"/>
                </a:rPr>
                <a:t>L</a:t>
              </a:r>
              <a:r>
                <a:rPr kumimoji="1" lang="en-US" altLang="zh-CN" b="0" baseline="-25000" dirty="0">
                  <a:solidFill>
                    <a:schemeClr val="tx1"/>
                  </a:solidFill>
                  <a:latin typeface="Times New Roman" pitchFamily="18" charset="0"/>
                  <a:ea typeface="仿宋_GB2312" pitchFamily="49" charset="-122"/>
                  <a:sym typeface="Symbol" pitchFamily="18" charset="2"/>
                </a:rPr>
                <a:t>1</a:t>
              </a:r>
            </a:p>
          </p:txBody>
        </p:sp>
        <p:sp>
          <p:nvSpPr>
            <p:cNvPr id="72" name="Text Box 24" descr="斜纹布"/>
            <p:cNvSpPr txBox="1">
              <a:spLocks noChangeArrowheads="1"/>
            </p:cNvSpPr>
            <p:nvPr/>
          </p:nvSpPr>
          <p:spPr bwMode="auto">
            <a:xfrm>
              <a:off x="3525045" y="2726640"/>
              <a:ext cx="720725" cy="461969"/>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v</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73" name="Line 25"/>
            <p:cNvSpPr>
              <a:spLocks noChangeShapeType="1"/>
            </p:cNvSpPr>
            <p:nvPr/>
          </p:nvSpPr>
          <p:spPr bwMode="auto">
            <a:xfrm>
              <a:off x="2312195" y="1374071"/>
              <a:ext cx="503238" cy="0"/>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4" name="Text Box 26" descr="斜纹布"/>
            <p:cNvSpPr txBox="1">
              <a:spLocks noChangeArrowheads="1"/>
            </p:cNvSpPr>
            <p:nvPr/>
          </p:nvSpPr>
          <p:spPr bwMode="auto">
            <a:xfrm>
              <a:off x="3626645" y="2391673"/>
              <a:ext cx="433388" cy="579446"/>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75" name="Text Box 27" descr="斜纹布"/>
            <p:cNvSpPr txBox="1">
              <a:spLocks noChangeArrowheads="1"/>
            </p:cNvSpPr>
            <p:nvPr/>
          </p:nvSpPr>
          <p:spPr bwMode="auto">
            <a:xfrm>
              <a:off x="3536157" y="1277232"/>
              <a:ext cx="433388" cy="579446"/>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76" name="Text Box 28" descr="斜纹布"/>
            <p:cNvSpPr txBox="1">
              <a:spLocks noChangeArrowheads="1"/>
            </p:cNvSpPr>
            <p:nvPr/>
          </p:nvSpPr>
          <p:spPr bwMode="auto">
            <a:xfrm>
              <a:off x="1951832" y="1374071"/>
              <a:ext cx="433388" cy="579446"/>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77" name="Text Box 29" descr="斜纹布"/>
            <p:cNvSpPr txBox="1">
              <a:spLocks noChangeArrowheads="1"/>
            </p:cNvSpPr>
            <p:nvPr/>
          </p:nvSpPr>
          <p:spPr bwMode="auto">
            <a:xfrm>
              <a:off x="3574257" y="1837627"/>
              <a:ext cx="433388" cy="579446"/>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78" name="Text Box 30" descr="斜纹布"/>
            <p:cNvSpPr txBox="1">
              <a:spLocks noChangeArrowheads="1"/>
            </p:cNvSpPr>
            <p:nvPr/>
          </p:nvSpPr>
          <p:spPr bwMode="auto">
            <a:xfrm>
              <a:off x="3626645" y="2974293"/>
              <a:ext cx="433388" cy="579446"/>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79" name="Text Box 31" descr="斜纹布"/>
            <p:cNvSpPr txBox="1">
              <a:spLocks noChangeArrowheads="1"/>
            </p:cNvSpPr>
            <p:nvPr/>
          </p:nvSpPr>
          <p:spPr bwMode="auto">
            <a:xfrm>
              <a:off x="2167732" y="939090"/>
              <a:ext cx="720725" cy="519120"/>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a:solidFill>
                    <a:schemeClr val="tx1"/>
                  </a:solidFill>
                  <a:latin typeface="Times New Roman" pitchFamily="18" charset="0"/>
                  <a:ea typeface="仿宋_GB2312" pitchFamily="49" charset="-122"/>
                  <a:sym typeface="Symbol" pitchFamily="18" charset="2"/>
                </a:rPr>
                <a:t>i</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grpSp>
          <p:nvGrpSpPr>
            <p:cNvPr id="80" name="Group 32"/>
            <p:cNvGrpSpPr>
              <a:grpSpLocks/>
            </p:cNvGrpSpPr>
            <p:nvPr/>
          </p:nvGrpSpPr>
          <p:grpSpPr bwMode="auto">
            <a:xfrm>
              <a:off x="3320257" y="3663278"/>
              <a:ext cx="144463" cy="576270"/>
              <a:chOff x="2744" y="3135"/>
              <a:chExt cx="57" cy="283"/>
            </a:xfrm>
          </p:grpSpPr>
          <p:sp>
            <p:nvSpPr>
              <p:cNvPr id="92" name="Arc 33"/>
              <p:cNvSpPr>
                <a:spLocks/>
              </p:cNvSpPr>
              <p:nvPr/>
            </p:nvSpPr>
            <p:spPr bwMode="auto">
              <a:xfrm rot="10800000" flipH="1" flipV="1">
                <a:off x="2744" y="3135"/>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Arc 34"/>
              <p:cNvSpPr>
                <a:spLocks/>
              </p:cNvSpPr>
              <p:nvPr/>
            </p:nvSpPr>
            <p:spPr bwMode="auto">
              <a:xfrm rot="10800000" flipH="1" flipV="1">
                <a:off x="2744" y="3231"/>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Arc 35"/>
              <p:cNvSpPr>
                <a:spLocks/>
              </p:cNvSpPr>
              <p:nvPr/>
            </p:nvSpPr>
            <p:spPr bwMode="auto">
              <a:xfrm rot="10800000" flipH="1" flipV="1">
                <a:off x="2744" y="3327"/>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 name="Group 36"/>
            <p:cNvGrpSpPr>
              <a:grpSpLocks/>
            </p:cNvGrpSpPr>
            <p:nvPr/>
          </p:nvGrpSpPr>
          <p:grpSpPr bwMode="auto">
            <a:xfrm>
              <a:off x="3320257" y="1661413"/>
              <a:ext cx="144463" cy="576270"/>
              <a:chOff x="2744" y="2587"/>
              <a:chExt cx="57" cy="283"/>
            </a:xfrm>
          </p:grpSpPr>
          <p:sp>
            <p:nvSpPr>
              <p:cNvPr id="89" name="Arc 37"/>
              <p:cNvSpPr>
                <a:spLocks/>
              </p:cNvSpPr>
              <p:nvPr/>
            </p:nvSpPr>
            <p:spPr bwMode="auto">
              <a:xfrm rot="10800000" flipH="1" flipV="1">
                <a:off x="2744" y="2587"/>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Arc 38"/>
              <p:cNvSpPr>
                <a:spLocks/>
              </p:cNvSpPr>
              <p:nvPr/>
            </p:nvSpPr>
            <p:spPr bwMode="auto">
              <a:xfrm rot="10800000" flipH="1" flipV="1">
                <a:off x="2744" y="2683"/>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Arc 39"/>
              <p:cNvSpPr>
                <a:spLocks/>
              </p:cNvSpPr>
              <p:nvPr/>
            </p:nvSpPr>
            <p:spPr bwMode="auto">
              <a:xfrm rot="10800000" flipH="1" flipV="1">
                <a:off x="2744" y="2779"/>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2" name="Line 16"/>
            <p:cNvSpPr>
              <a:spLocks noChangeShapeType="1"/>
            </p:cNvSpPr>
            <p:nvPr/>
          </p:nvSpPr>
          <p:spPr bwMode="auto">
            <a:xfrm>
              <a:off x="3339307" y="3493413"/>
              <a:ext cx="0" cy="168277"/>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3" name="Line 16"/>
            <p:cNvSpPr>
              <a:spLocks noChangeShapeType="1"/>
            </p:cNvSpPr>
            <p:nvPr/>
          </p:nvSpPr>
          <p:spPr bwMode="auto">
            <a:xfrm>
              <a:off x="3320257" y="2404373"/>
              <a:ext cx="6350" cy="288929"/>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4" name="Line 16"/>
            <p:cNvSpPr>
              <a:spLocks noChangeShapeType="1"/>
            </p:cNvSpPr>
            <p:nvPr/>
          </p:nvSpPr>
          <p:spPr bwMode="auto">
            <a:xfrm>
              <a:off x="3336132" y="3269572"/>
              <a:ext cx="6350" cy="288929"/>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5" name="Text Box 26" descr="斜纹布"/>
            <p:cNvSpPr txBox="1">
              <a:spLocks noChangeArrowheads="1"/>
            </p:cNvSpPr>
            <p:nvPr/>
          </p:nvSpPr>
          <p:spPr bwMode="auto">
            <a:xfrm>
              <a:off x="3626645" y="3374349"/>
              <a:ext cx="433388" cy="579446"/>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86" name="Text Box 30" descr="斜纹布"/>
            <p:cNvSpPr txBox="1">
              <a:spLocks noChangeArrowheads="1"/>
            </p:cNvSpPr>
            <p:nvPr/>
          </p:nvSpPr>
          <p:spPr bwMode="auto">
            <a:xfrm>
              <a:off x="3634582" y="3941094"/>
              <a:ext cx="433388" cy="579446"/>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dirty="0">
                  <a:solidFill>
                    <a:schemeClr val="tx1"/>
                  </a:solidFill>
                  <a:latin typeface="宋体" pitchFamily="2" charset="-122"/>
                  <a:ea typeface="宋体" pitchFamily="2" charset="-122"/>
                  <a:sym typeface="Symbol" pitchFamily="18" charset="2"/>
                </a:rPr>
                <a:t>-</a:t>
              </a:r>
            </a:p>
          </p:txBody>
        </p:sp>
        <p:sp>
          <p:nvSpPr>
            <p:cNvPr id="87" name="Text Box 24" descr="斜纹布"/>
            <p:cNvSpPr txBox="1">
              <a:spLocks noChangeArrowheads="1"/>
            </p:cNvSpPr>
            <p:nvPr/>
          </p:nvSpPr>
          <p:spPr bwMode="auto">
            <a:xfrm>
              <a:off x="3504407" y="3671215"/>
              <a:ext cx="720725" cy="461969"/>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v</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88" name="Text Box 22" descr="斜纹布"/>
            <p:cNvSpPr txBox="1">
              <a:spLocks noChangeArrowheads="1"/>
            </p:cNvSpPr>
            <p:nvPr/>
          </p:nvSpPr>
          <p:spPr bwMode="auto">
            <a:xfrm>
              <a:off x="2720182" y="2723465"/>
              <a:ext cx="720725" cy="461969"/>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L</a:t>
              </a:r>
              <a:r>
                <a:rPr kumimoji="1" lang="en-US" altLang="zh-CN" b="0" i="1" baseline="-25000" dirty="0"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95" name="Arc 37"/>
            <p:cNvSpPr>
              <a:spLocks/>
            </p:cNvSpPr>
            <p:nvPr/>
          </p:nvSpPr>
          <p:spPr bwMode="auto">
            <a:xfrm rot="10800000" flipH="1" flipV="1">
              <a:off x="3326014" y="2693665"/>
              <a:ext cx="144463" cy="185302"/>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Arc 38"/>
            <p:cNvSpPr>
              <a:spLocks/>
            </p:cNvSpPr>
            <p:nvPr/>
          </p:nvSpPr>
          <p:spPr bwMode="auto">
            <a:xfrm rot="10800000" flipH="1" flipV="1">
              <a:off x="3326014" y="2889149"/>
              <a:ext cx="144463" cy="185302"/>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Arc 39"/>
            <p:cNvSpPr>
              <a:spLocks/>
            </p:cNvSpPr>
            <p:nvPr/>
          </p:nvSpPr>
          <p:spPr bwMode="auto">
            <a:xfrm rot="10800000" flipH="1" flipV="1">
              <a:off x="3326014" y="3084633"/>
              <a:ext cx="144463" cy="185302"/>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11545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barn(inVertical)">
                                      <p:cBhvr>
                                        <p:cTn id="12" dur="500"/>
                                        <p:tgtEl>
                                          <p:spTgt spid="55"/>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barn(inVertical)">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inVertical)">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extLst/>
          </p:nvPr>
        </p:nvGraphicFramePr>
        <p:xfrm>
          <a:off x="850511" y="3648794"/>
          <a:ext cx="2289175" cy="857250"/>
        </p:xfrm>
        <a:graphic>
          <a:graphicData uri="http://schemas.openxmlformats.org/presentationml/2006/ole">
            <mc:AlternateContent xmlns:mc="http://schemas.openxmlformats.org/markup-compatibility/2006">
              <mc:Choice xmlns:v="urn:schemas-microsoft-com:vml" Requires="v">
                <p:oleObj spid="_x0000_s452630" name="Equation" r:id="rId3" imgW="1002960" imgH="406080" progId="Equation.DSMT4">
                  <p:embed/>
                </p:oleObj>
              </mc:Choice>
              <mc:Fallback>
                <p:oleObj name="Equation" r:id="rId3" imgW="1002960" imgH="406080" progId="Equation.DSMT4">
                  <p:embed/>
                  <p:pic>
                    <p:nvPicPr>
                      <p:cNvPr id="0" name=""/>
                      <p:cNvPicPr>
                        <a:picLocks noChangeAspect="1" noChangeArrowheads="1"/>
                      </p:cNvPicPr>
                      <p:nvPr/>
                    </p:nvPicPr>
                    <p:blipFill>
                      <a:blip r:embed="rId4"/>
                      <a:srcRect/>
                      <a:stretch>
                        <a:fillRect/>
                      </a:stretch>
                    </p:blipFill>
                    <p:spPr bwMode="auto">
                      <a:xfrm>
                        <a:off x="850511" y="3648794"/>
                        <a:ext cx="2289175" cy="857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 name="Group 35"/>
          <p:cNvGrpSpPr>
            <a:grpSpLocks/>
          </p:cNvGrpSpPr>
          <p:nvPr/>
        </p:nvGrpSpPr>
        <p:grpSpPr bwMode="auto">
          <a:xfrm>
            <a:off x="7308850" y="1303338"/>
            <a:ext cx="1512888" cy="2089150"/>
            <a:chOff x="1701" y="1706"/>
            <a:chExt cx="953" cy="1316"/>
          </a:xfrm>
        </p:grpSpPr>
        <p:sp>
          <p:nvSpPr>
            <p:cNvPr id="30" name="Line 36"/>
            <p:cNvSpPr>
              <a:spLocks noChangeShapeType="1"/>
            </p:cNvSpPr>
            <p:nvPr/>
          </p:nvSpPr>
          <p:spPr bwMode="auto">
            <a:xfrm>
              <a:off x="1882" y="1752"/>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1" name="Line 37"/>
            <p:cNvSpPr>
              <a:spLocks noChangeShapeType="1"/>
            </p:cNvSpPr>
            <p:nvPr/>
          </p:nvSpPr>
          <p:spPr bwMode="auto">
            <a:xfrm>
              <a:off x="1882" y="2976"/>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2" name="Line 38"/>
            <p:cNvSpPr>
              <a:spLocks noChangeShapeType="1"/>
            </p:cNvSpPr>
            <p:nvPr/>
          </p:nvSpPr>
          <p:spPr bwMode="auto">
            <a:xfrm flipH="1">
              <a:off x="2562" y="1751"/>
              <a:ext cx="1" cy="409"/>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3" name="Line 39"/>
            <p:cNvSpPr>
              <a:spLocks noChangeShapeType="1"/>
            </p:cNvSpPr>
            <p:nvPr/>
          </p:nvSpPr>
          <p:spPr bwMode="auto">
            <a:xfrm flipH="1" flipV="1">
              <a:off x="2562" y="2523"/>
              <a:ext cx="1" cy="45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4" name="Oval 40" descr="斜纹布"/>
            <p:cNvSpPr>
              <a:spLocks noChangeArrowheads="1"/>
            </p:cNvSpPr>
            <p:nvPr/>
          </p:nvSpPr>
          <p:spPr bwMode="auto">
            <a:xfrm>
              <a:off x="1792" y="1706"/>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5" name="Text Box 41" descr="斜纹布"/>
            <p:cNvSpPr txBox="1">
              <a:spLocks noChangeArrowheads="1"/>
            </p:cNvSpPr>
            <p:nvPr/>
          </p:nvSpPr>
          <p:spPr bwMode="auto">
            <a:xfrm>
              <a:off x="2154" y="1797"/>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36" name="Text Box 42" descr="斜纹布"/>
            <p:cNvSpPr txBox="1">
              <a:spLocks noChangeArrowheads="1"/>
            </p:cNvSpPr>
            <p:nvPr/>
          </p:nvSpPr>
          <p:spPr bwMode="auto">
            <a:xfrm>
              <a:off x="1701" y="2160"/>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37" name="Text Box 43" descr="斜纹布"/>
            <p:cNvSpPr txBox="1">
              <a:spLocks noChangeArrowheads="1"/>
            </p:cNvSpPr>
            <p:nvPr/>
          </p:nvSpPr>
          <p:spPr bwMode="auto">
            <a:xfrm>
              <a:off x="1792" y="1706"/>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38" name="Text Box 44" descr="斜纹布"/>
            <p:cNvSpPr txBox="1">
              <a:spLocks noChangeArrowheads="1"/>
            </p:cNvSpPr>
            <p:nvPr/>
          </p:nvSpPr>
          <p:spPr bwMode="auto">
            <a:xfrm>
              <a:off x="1792" y="2657"/>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39" name="Line 45"/>
            <p:cNvSpPr>
              <a:spLocks noChangeShapeType="1"/>
            </p:cNvSpPr>
            <p:nvPr/>
          </p:nvSpPr>
          <p:spPr bwMode="auto">
            <a:xfrm>
              <a:off x="2472" y="1842"/>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0" name="Text Box 46" descr="斜纹布"/>
            <p:cNvSpPr txBox="1">
              <a:spLocks noChangeArrowheads="1"/>
            </p:cNvSpPr>
            <p:nvPr/>
          </p:nvSpPr>
          <p:spPr bwMode="auto">
            <a:xfrm>
              <a:off x="2200" y="2205"/>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L</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41" name="Oval 47" descr="斜纹布"/>
            <p:cNvSpPr>
              <a:spLocks noChangeArrowheads="1"/>
            </p:cNvSpPr>
            <p:nvPr/>
          </p:nvSpPr>
          <p:spPr bwMode="auto">
            <a:xfrm>
              <a:off x="1792" y="2930"/>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42" name="Group 48"/>
            <p:cNvGrpSpPr>
              <a:grpSpLocks/>
            </p:cNvGrpSpPr>
            <p:nvPr/>
          </p:nvGrpSpPr>
          <p:grpSpPr bwMode="auto">
            <a:xfrm>
              <a:off x="2562" y="2160"/>
              <a:ext cx="91" cy="363"/>
              <a:chOff x="2744" y="2931"/>
              <a:chExt cx="57" cy="283"/>
            </a:xfrm>
          </p:grpSpPr>
          <p:sp>
            <p:nvSpPr>
              <p:cNvPr id="43" name="Arc 49"/>
              <p:cNvSpPr>
                <a:spLocks/>
              </p:cNvSpPr>
              <p:nvPr/>
            </p:nvSpPr>
            <p:spPr bwMode="auto">
              <a:xfrm rot="10800000" flipH="1" flipV="1">
                <a:off x="2744" y="2931"/>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Arc 50"/>
              <p:cNvSpPr>
                <a:spLocks/>
              </p:cNvSpPr>
              <p:nvPr/>
            </p:nvSpPr>
            <p:spPr bwMode="auto">
              <a:xfrm rot="10800000" flipH="1" flipV="1">
                <a:off x="2744" y="3027"/>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Arc 51"/>
              <p:cNvSpPr>
                <a:spLocks/>
              </p:cNvSpPr>
              <p:nvPr/>
            </p:nvSpPr>
            <p:spPr bwMode="auto">
              <a:xfrm rot="10800000" flipH="1" flipV="1">
                <a:off x="2744" y="3123"/>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6" name="Group 52"/>
          <p:cNvGrpSpPr>
            <a:grpSpLocks/>
          </p:cNvGrpSpPr>
          <p:nvPr/>
        </p:nvGrpSpPr>
        <p:grpSpPr bwMode="auto">
          <a:xfrm>
            <a:off x="6227763" y="1700213"/>
            <a:ext cx="1223962" cy="647700"/>
            <a:chOff x="3470" y="2840"/>
            <a:chExt cx="771" cy="408"/>
          </a:xfrm>
        </p:grpSpPr>
        <p:sp>
          <p:nvSpPr>
            <p:cNvPr id="47" name="Line 53"/>
            <p:cNvSpPr>
              <a:spLocks noChangeShapeType="1"/>
            </p:cNvSpPr>
            <p:nvPr/>
          </p:nvSpPr>
          <p:spPr bwMode="auto">
            <a:xfrm>
              <a:off x="3605" y="3248"/>
              <a:ext cx="545" cy="0"/>
            </a:xfrm>
            <a:prstGeom prst="line">
              <a:avLst/>
            </a:prstGeom>
            <a:noFill/>
            <a:ln w="762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8" name="Text Box 54" descr="斜纹布"/>
            <p:cNvSpPr txBox="1">
              <a:spLocks noChangeArrowheads="1"/>
            </p:cNvSpPr>
            <p:nvPr/>
          </p:nvSpPr>
          <p:spPr bwMode="auto">
            <a:xfrm>
              <a:off x="3470" y="2840"/>
              <a:ext cx="771"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p>
              <a:pPr algn="ctr" eaLnBrk="0" hangingPunct="0">
                <a:spcBef>
                  <a:spcPct val="50000"/>
                </a:spcBef>
              </a:pPr>
              <a:r>
                <a:rPr kumimoji="1" lang="zh-CN" altLang="en-US" sz="2400">
                  <a:latin typeface="Times New Roman" pitchFamily="18" charset="0"/>
                  <a:ea typeface="仿宋_GB2312" pitchFamily="49" charset="-122"/>
                  <a:sym typeface="Symbol" pitchFamily="18" charset="2"/>
                </a:rPr>
                <a:t>等效</a:t>
              </a:r>
            </a:p>
          </p:txBody>
        </p:sp>
      </p:grpSp>
      <p:graphicFrame>
        <p:nvGraphicFramePr>
          <p:cNvPr id="50" name="Object 56"/>
          <p:cNvGraphicFramePr>
            <a:graphicFrameLocks noChangeAspect="1"/>
          </p:cNvGraphicFramePr>
          <p:nvPr>
            <p:extLst/>
          </p:nvPr>
        </p:nvGraphicFramePr>
        <p:xfrm>
          <a:off x="801958" y="4430023"/>
          <a:ext cx="3794125" cy="952500"/>
        </p:xfrm>
        <a:graphic>
          <a:graphicData uri="http://schemas.openxmlformats.org/presentationml/2006/ole">
            <mc:AlternateContent xmlns:mc="http://schemas.openxmlformats.org/markup-compatibility/2006">
              <mc:Choice xmlns:v="urn:schemas-microsoft-com:vml" Requires="v">
                <p:oleObj spid="_x0000_s452631" name="Equation" r:id="rId5" imgW="1498320" imgH="406080" progId="Equation.DSMT4">
                  <p:embed/>
                </p:oleObj>
              </mc:Choice>
              <mc:Fallback>
                <p:oleObj name="Equation" r:id="rId5" imgW="1498320" imgH="406080" progId="Equation.DSMT4">
                  <p:embed/>
                  <p:pic>
                    <p:nvPicPr>
                      <p:cNvPr id="0" name=""/>
                      <p:cNvPicPr>
                        <a:picLocks noChangeAspect="1" noChangeArrowheads="1"/>
                      </p:cNvPicPr>
                      <p:nvPr/>
                    </p:nvPicPr>
                    <p:blipFill>
                      <a:blip r:embed="rId6"/>
                      <a:srcRect/>
                      <a:stretch>
                        <a:fillRect/>
                      </a:stretch>
                    </p:blipFill>
                    <p:spPr bwMode="auto">
                      <a:xfrm>
                        <a:off x="801958" y="4430023"/>
                        <a:ext cx="3794125" cy="952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57"/>
          <p:cNvGraphicFramePr>
            <a:graphicFrameLocks noChangeAspect="1"/>
          </p:cNvGraphicFramePr>
          <p:nvPr>
            <p:extLst/>
          </p:nvPr>
        </p:nvGraphicFramePr>
        <p:xfrm>
          <a:off x="4545504" y="4413880"/>
          <a:ext cx="2124075" cy="863600"/>
        </p:xfrm>
        <a:graphic>
          <a:graphicData uri="http://schemas.openxmlformats.org/presentationml/2006/ole">
            <mc:AlternateContent xmlns:mc="http://schemas.openxmlformats.org/markup-compatibility/2006">
              <mc:Choice xmlns:v="urn:schemas-microsoft-com:vml" Requires="v">
                <p:oleObj spid="_x0000_s452632" name="Equation" r:id="rId7" imgW="838080" imgH="368280" progId="Equation.DSMT4">
                  <p:embed/>
                </p:oleObj>
              </mc:Choice>
              <mc:Fallback>
                <p:oleObj name="Equation" r:id="rId7" imgW="838080" imgH="368280" progId="Equation.DSMT4">
                  <p:embed/>
                  <p:pic>
                    <p:nvPicPr>
                      <p:cNvPr id="0" name=""/>
                      <p:cNvPicPr>
                        <a:picLocks noChangeAspect="1" noChangeArrowheads="1"/>
                      </p:cNvPicPr>
                      <p:nvPr/>
                    </p:nvPicPr>
                    <p:blipFill>
                      <a:blip r:embed="rId8"/>
                      <a:srcRect/>
                      <a:stretch>
                        <a:fillRect/>
                      </a:stretch>
                    </p:blipFill>
                    <p:spPr bwMode="auto">
                      <a:xfrm>
                        <a:off x="4545504" y="4413880"/>
                        <a:ext cx="2124075" cy="863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58"/>
          <p:cNvGraphicFramePr>
            <a:graphicFrameLocks noChangeAspect="1"/>
          </p:cNvGraphicFramePr>
          <p:nvPr>
            <p:extLst/>
          </p:nvPr>
        </p:nvGraphicFramePr>
        <p:xfrm>
          <a:off x="2990850" y="5626100"/>
          <a:ext cx="1544638" cy="950913"/>
        </p:xfrm>
        <a:graphic>
          <a:graphicData uri="http://schemas.openxmlformats.org/presentationml/2006/ole">
            <mc:AlternateContent xmlns:mc="http://schemas.openxmlformats.org/markup-compatibility/2006">
              <mc:Choice xmlns:v="urn:schemas-microsoft-com:vml" Requires="v">
                <p:oleObj spid="_x0000_s452633" name="Equation" r:id="rId9" imgW="609480" imgH="406080" progId="Equation.DSMT4">
                  <p:embed/>
                </p:oleObj>
              </mc:Choice>
              <mc:Fallback>
                <p:oleObj name="Equation" r:id="rId9" imgW="609480" imgH="406080" progId="Equation.DSMT4">
                  <p:embed/>
                  <p:pic>
                    <p:nvPicPr>
                      <p:cNvPr id="0" name=""/>
                      <p:cNvPicPr>
                        <a:picLocks noChangeAspect="1" noChangeArrowheads="1"/>
                      </p:cNvPicPr>
                      <p:nvPr/>
                    </p:nvPicPr>
                    <p:blipFill>
                      <a:blip r:embed="rId10"/>
                      <a:srcRect/>
                      <a:stretch>
                        <a:fillRect/>
                      </a:stretch>
                    </p:blipFill>
                    <p:spPr bwMode="auto">
                      <a:xfrm>
                        <a:off x="2990850" y="5626100"/>
                        <a:ext cx="1544638" cy="950913"/>
                      </a:xfrm>
                      <a:prstGeom prst="rect">
                        <a:avLst/>
                      </a:prstGeom>
                      <a:solidFill>
                        <a:srgbClr val="92D050"/>
                      </a:solidFill>
                      <a:ln>
                        <a:noFill/>
                      </a:ln>
                      <a:effectLst/>
                    </p:spPr>
                  </p:pic>
                </p:oleObj>
              </mc:Fallback>
            </mc:AlternateContent>
          </a:graphicData>
        </a:graphic>
      </p:graphicFrame>
      <p:sp>
        <p:nvSpPr>
          <p:cNvPr id="55" name="Text Box 2"/>
          <p:cNvSpPr txBox="1">
            <a:spLocks noChangeArrowheads="1"/>
          </p:cNvSpPr>
          <p:nvPr/>
        </p:nvSpPr>
        <p:spPr bwMode="auto">
          <a:xfrm>
            <a:off x="714375" y="4953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smtClean="0">
                <a:solidFill>
                  <a:schemeClr val="accent2"/>
                </a:solidFill>
              </a:rPr>
              <a:t>2</a:t>
            </a:r>
            <a:r>
              <a:rPr lang="zh-CN" altLang="en-US" dirty="0" smtClean="0">
                <a:solidFill>
                  <a:schemeClr val="accent2"/>
                </a:solidFill>
              </a:rPr>
              <a:t>、电感的</a:t>
            </a:r>
            <a:r>
              <a:rPr lang="zh-CN" altLang="en-US" dirty="0">
                <a:solidFill>
                  <a:schemeClr val="accent2"/>
                </a:solidFill>
              </a:rPr>
              <a:t>并联</a:t>
            </a:r>
          </a:p>
        </p:txBody>
      </p:sp>
      <p:grpSp>
        <p:nvGrpSpPr>
          <p:cNvPr id="3" name="组合 2"/>
          <p:cNvGrpSpPr/>
          <p:nvPr/>
        </p:nvGrpSpPr>
        <p:grpSpPr>
          <a:xfrm>
            <a:off x="2799206" y="924938"/>
            <a:ext cx="3586224" cy="2520950"/>
            <a:chOff x="2799206" y="924938"/>
            <a:chExt cx="3586224" cy="2520950"/>
          </a:xfrm>
        </p:grpSpPr>
        <p:grpSp>
          <p:nvGrpSpPr>
            <p:cNvPr id="56" name="Group 8"/>
            <p:cNvGrpSpPr>
              <a:grpSpLocks/>
            </p:cNvGrpSpPr>
            <p:nvPr/>
          </p:nvGrpSpPr>
          <p:grpSpPr bwMode="auto">
            <a:xfrm>
              <a:off x="2799206" y="924938"/>
              <a:ext cx="3586224" cy="2520950"/>
              <a:chOff x="1474" y="527"/>
              <a:chExt cx="2259" cy="1588"/>
            </a:xfrm>
          </p:grpSpPr>
          <p:sp>
            <p:nvSpPr>
              <p:cNvPr id="57" name="Line 9"/>
              <p:cNvSpPr>
                <a:spLocks noChangeShapeType="1"/>
              </p:cNvSpPr>
              <p:nvPr/>
            </p:nvSpPr>
            <p:spPr bwMode="auto">
              <a:xfrm flipV="1">
                <a:off x="1655" y="844"/>
                <a:ext cx="772" cy="1"/>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8" name="Line 10"/>
              <p:cNvSpPr>
                <a:spLocks noChangeShapeType="1"/>
              </p:cNvSpPr>
              <p:nvPr/>
            </p:nvSpPr>
            <p:spPr bwMode="auto">
              <a:xfrm>
                <a:off x="1655" y="2069"/>
                <a:ext cx="806" cy="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9" name="Line 11"/>
              <p:cNvSpPr>
                <a:spLocks noChangeShapeType="1"/>
              </p:cNvSpPr>
              <p:nvPr/>
            </p:nvSpPr>
            <p:spPr bwMode="auto">
              <a:xfrm>
                <a:off x="3233" y="839"/>
                <a:ext cx="10" cy="434"/>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0" name="Line 12"/>
              <p:cNvSpPr>
                <a:spLocks noChangeShapeType="1"/>
              </p:cNvSpPr>
              <p:nvPr/>
            </p:nvSpPr>
            <p:spPr bwMode="auto">
              <a:xfrm>
                <a:off x="2094" y="847"/>
                <a:ext cx="5" cy="416"/>
              </a:xfrm>
              <a:prstGeom prst="line">
                <a:avLst/>
              </a:prstGeom>
              <a:noFill/>
              <a:ln w="28575" cap="sq">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1" name="Line 13"/>
              <p:cNvSpPr>
                <a:spLocks noChangeShapeType="1"/>
              </p:cNvSpPr>
              <p:nvPr/>
            </p:nvSpPr>
            <p:spPr bwMode="auto">
              <a:xfrm flipV="1">
                <a:off x="3243" y="1638"/>
                <a:ext cx="0" cy="431"/>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4" name="Oval 20" descr="斜纹布"/>
              <p:cNvSpPr>
                <a:spLocks noChangeArrowheads="1"/>
              </p:cNvSpPr>
              <p:nvPr/>
            </p:nvSpPr>
            <p:spPr bwMode="auto">
              <a:xfrm>
                <a:off x="1565" y="799"/>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5" name="Oval 21" descr="斜纹布"/>
              <p:cNvSpPr>
                <a:spLocks noChangeArrowheads="1"/>
              </p:cNvSpPr>
              <p:nvPr/>
            </p:nvSpPr>
            <p:spPr bwMode="auto">
              <a:xfrm>
                <a:off x="1565" y="2024"/>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6" name="Line 22"/>
              <p:cNvSpPr>
                <a:spLocks noChangeShapeType="1"/>
              </p:cNvSpPr>
              <p:nvPr/>
            </p:nvSpPr>
            <p:spPr bwMode="auto">
              <a:xfrm>
                <a:off x="2109" y="1625"/>
                <a:ext cx="0" cy="444"/>
              </a:xfrm>
              <a:prstGeom prst="line">
                <a:avLst/>
              </a:prstGeom>
              <a:noFill/>
              <a:ln w="28575" cap="sq">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7" name="Text Box 23" descr="斜纹布"/>
              <p:cNvSpPr txBox="1">
                <a:spLocks noChangeArrowheads="1"/>
              </p:cNvSpPr>
              <p:nvPr/>
            </p:nvSpPr>
            <p:spPr bwMode="auto">
              <a:xfrm>
                <a:off x="3198" y="93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i</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68" name="Text Box 24" descr="斜纹布"/>
              <p:cNvSpPr txBox="1">
                <a:spLocks noChangeArrowheads="1"/>
              </p:cNvSpPr>
              <p:nvPr/>
            </p:nvSpPr>
            <p:spPr bwMode="auto">
              <a:xfrm>
                <a:off x="2064" y="935"/>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r>
                  <a:rPr kumimoji="1" lang="en-US" altLang="zh-CN" b="0" baseline="-25000">
                    <a:solidFill>
                      <a:schemeClr val="tx1"/>
                    </a:solidFill>
                    <a:latin typeface="Times New Roman" pitchFamily="18" charset="0"/>
                    <a:ea typeface="仿宋_GB2312" pitchFamily="49" charset="-122"/>
                    <a:sym typeface="Symbol" pitchFamily="18" charset="2"/>
                  </a:rPr>
                  <a:t>1</a:t>
                </a:r>
              </a:p>
            </p:txBody>
          </p:sp>
          <p:sp>
            <p:nvSpPr>
              <p:cNvPr id="69" name="Text Box 25" descr="斜纹布"/>
              <p:cNvSpPr txBox="1">
                <a:spLocks noChangeArrowheads="1"/>
              </p:cNvSpPr>
              <p:nvPr/>
            </p:nvSpPr>
            <p:spPr bwMode="auto">
              <a:xfrm>
                <a:off x="1474" y="1253"/>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70" name="Text Box 26" descr="斜纹布"/>
              <p:cNvSpPr txBox="1">
                <a:spLocks noChangeArrowheads="1"/>
              </p:cNvSpPr>
              <p:nvPr/>
            </p:nvSpPr>
            <p:spPr bwMode="auto">
              <a:xfrm>
                <a:off x="1519" y="799"/>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71" name="Text Box 27" descr="斜纹布"/>
              <p:cNvSpPr txBox="1">
                <a:spLocks noChangeArrowheads="1"/>
              </p:cNvSpPr>
              <p:nvPr/>
            </p:nvSpPr>
            <p:spPr bwMode="auto">
              <a:xfrm>
                <a:off x="1565" y="175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72" name="Line 28"/>
              <p:cNvSpPr>
                <a:spLocks noChangeShapeType="1"/>
              </p:cNvSpPr>
              <p:nvPr/>
            </p:nvSpPr>
            <p:spPr bwMode="auto">
              <a:xfrm>
                <a:off x="2154" y="981"/>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3" name="Line 29"/>
              <p:cNvSpPr>
                <a:spLocks noChangeShapeType="1"/>
              </p:cNvSpPr>
              <p:nvPr/>
            </p:nvSpPr>
            <p:spPr bwMode="auto">
              <a:xfrm>
                <a:off x="3289" y="981"/>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5" name="Text Box 31" descr="斜纹布"/>
              <p:cNvSpPr txBox="1">
                <a:spLocks noChangeArrowheads="1"/>
              </p:cNvSpPr>
              <p:nvPr/>
            </p:nvSpPr>
            <p:spPr bwMode="auto">
              <a:xfrm>
                <a:off x="2689" y="129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L</a:t>
                </a:r>
                <a:r>
                  <a:rPr kumimoji="1" lang="en-US" altLang="zh-CN" b="0" i="1" baseline="-25000" dirty="0"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76" name="Text Box 32" descr="斜纹布"/>
              <p:cNvSpPr txBox="1">
                <a:spLocks noChangeArrowheads="1"/>
              </p:cNvSpPr>
              <p:nvPr/>
            </p:nvSpPr>
            <p:spPr bwMode="auto">
              <a:xfrm>
                <a:off x="1701" y="527"/>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77" name="Line 33"/>
              <p:cNvSpPr>
                <a:spLocks noChangeShapeType="1"/>
              </p:cNvSpPr>
              <p:nvPr/>
            </p:nvSpPr>
            <p:spPr bwMode="auto">
              <a:xfrm>
                <a:off x="1791" y="890"/>
                <a:ext cx="182" cy="0"/>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8" name="Line 9"/>
              <p:cNvSpPr>
                <a:spLocks noChangeShapeType="1"/>
              </p:cNvSpPr>
              <p:nvPr/>
            </p:nvSpPr>
            <p:spPr bwMode="auto">
              <a:xfrm flipV="1">
                <a:off x="2902" y="842"/>
                <a:ext cx="318"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79" name="Line 9"/>
              <p:cNvSpPr>
                <a:spLocks noChangeShapeType="1"/>
              </p:cNvSpPr>
              <p:nvPr/>
            </p:nvSpPr>
            <p:spPr bwMode="auto">
              <a:xfrm flipV="1">
                <a:off x="2427" y="842"/>
                <a:ext cx="475" cy="3"/>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0" name="Line 9"/>
              <p:cNvSpPr>
                <a:spLocks noChangeShapeType="1"/>
              </p:cNvSpPr>
              <p:nvPr/>
            </p:nvSpPr>
            <p:spPr bwMode="auto">
              <a:xfrm flipV="1">
                <a:off x="2925" y="2070"/>
                <a:ext cx="318"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1" name="Line 9"/>
              <p:cNvSpPr>
                <a:spLocks noChangeShapeType="1"/>
              </p:cNvSpPr>
              <p:nvPr/>
            </p:nvSpPr>
            <p:spPr bwMode="auto">
              <a:xfrm flipV="1">
                <a:off x="2461" y="2070"/>
                <a:ext cx="475" cy="2"/>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2" name="Text Box 31" descr="斜纹布"/>
              <p:cNvSpPr txBox="1">
                <a:spLocks noChangeArrowheads="1"/>
              </p:cNvSpPr>
              <p:nvPr/>
            </p:nvSpPr>
            <p:spPr bwMode="auto">
              <a:xfrm>
                <a:off x="3279" y="128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L</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grpSp>
        <p:sp>
          <p:nvSpPr>
            <p:cNvPr id="87" name="Line 11"/>
            <p:cNvSpPr>
              <a:spLocks noChangeShapeType="1"/>
            </p:cNvSpPr>
            <p:nvPr/>
          </p:nvSpPr>
          <p:spPr bwMode="auto">
            <a:xfrm>
              <a:off x="4750699" y="1425308"/>
              <a:ext cx="0" cy="702955"/>
            </a:xfrm>
            <a:prstGeom prst="line">
              <a:avLst/>
            </a:prstGeom>
            <a:noFill/>
            <a:ln w="28575" cap="sq">
              <a:solidFill>
                <a:srgbClr val="FFCC00"/>
              </a:solidFill>
              <a:round/>
              <a:headEnd type="oval"/>
              <a:tailEnd type="non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8" name="Line 13"/>
            <p:cNvSpPr>
              <a:spLocks noChangeShapeType="1"/>
            </p:cNvSpPr>
            <p:nvPr/>
          </p:nvSpPr>
          <p:spPr bwMode="auto">
            <a:xfrm flipH="1" flipV="1">
              <a:off x="4743131" y="2668014"/>
              <a:ext cx="7567" cy="701981"/>
            </a:xfrm>
            <a:prstGeom prst="line">
              <a:avLst/>
            </a:prstGeom>
            <a:noFill/>
            <a:ln w="28575" cap="sq">
              <a:solidFill>
                <a:srgbClr val="FFCC00"/>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1" name="Text Box 23" descr="斜纹布"/>
            <p:cNvSpPr txBox="1">
              <a:spLocks noChangeArrowheads="1"/>
            </p:cNvSpPr>
            <p:nvPr/>
          </p:nvSpPr>
          <p:spPr bwMode="auto">
            <a:xfrm>
              <a:off x="4679261" y="1569770"/>
              <a:ext cx="720737" cy="4616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i</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92" name="Line 29"/>
            <p:cNvSpPr>
              <a:spLocks noChangeShapeType="1"/>
            </p:cNvSpPr>
            <p:nvPr/>
          </p:nvSpPr>
          <p:spPr bwMode="auto">
            <a:xfrm>
              <a:off x="4823726" y="1642795"/>
              <a:ext cx="0" cy="358775"/>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53" name="组合 52"/>
            <p:cNvGrpSpPr/>
            <p:nvPr/>
          </p:nvGrpSpPr>
          <p:grpSpPr>
            <a:xfrm>
              <a:off x="3775476" y="2091751"/>
              <a:ext cx="144463" cy="576263"/>
              <a:chOff x="5442744" y="3394870"/>
              <a:chExt cx="144463" cy="576263"/>
            </a:xfrm>
          </p:grpSpPr>
          <p:sp>
            <p:nvSpPr>
              <p:cNvPr id="93" name="Arc 22"/>
              <p:cNvSpPr>
                <a:spLocks/>
              </p:cNvSpPr>
              <p:nvPr/>
            </p:nvSpPr>
            <p:spPr bwMode="auto">
              <a:xfrm rot="10800000" flipH="1" flipV="1">
                <a:off x="5442744" y="3394870"/>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Arc 23"/>
              <p:cNvSpPr>
                <a:spLocks/>
              </p:cNvSpPr>
              <p:nvPr/>
            </p:nvSpPr>
            <p:spPr bwMode="auto">
              <a:xfrm rot="10800000" flipH="1" flipV="1">
                <a:off x="5442744" y="3590351"/>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Arc 24"/>
              <p:cNvSpPr>
                <a:spLocks/>
              </p:cNvSpPr>
              <p:nvPr/>
            </p:nvSpPr>
            <p:spPr bwMode="auto">
              <a:xfrm rot="10800000" flipH="1" flipV="1">
                <a:off x="5442744" y="3785833"/>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6" name="组合 95"/>
            <p:cNvGrpSpPr/>
            <p:nvPr/>
          </p:nvGrpSpPr>
          <p:grpSpPr>
            <a:xfrm>
              <a:off x="4734155" y="2100252"/>
              <a:ext cx="144463" cy="576263"/>
              <a:chOff x="5442744" y="3394870"/>
              <a:chExt cx="144463" cy="576263"/>
            </a:xfrm>
          </p:grpSpPr>
          <p:sp>
            <p:nvSpPr>
              <p:cNvPr id="97" name="Arc 22"/>
              <p:cNvSpPr>
                <a:spLocks/>
              </p:cNvSpPr>
              <p:nvPr/>
            </p:nvSpPr>
            <p:spPr bwMode="auto">
              <a:xfrm rot="10800000" flipH="1" flipV="1">
                <a:off x="5442744" y="3394870"/>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Arc 23"/>
              <p:cNvSpPr>
                <a:spLocks/>
              </p:cNvSpPr>
              <p:nvPr/>
            </p:nvSpPr>
            <p:spPr bwMode="auto">
              <a:xfrm rot="10800000" flipH="1" flipV="1">
                <a:off x="5442744" y="3590351"/>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Arc 24"/>
              <p:cNvSpPr>
                <a:spLocks/>
              </p:cNvSpPr>
              <p:nvPr/>
            </p:nvSpPr>
            <p:spPr bwMode="auto">
              <a:xfrm rot="10800000" flipH="1" flipV="1">
                <a:off x="5442744" y="3785833"/>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0" name="组合 99"/>
            <p:cNvGrpSpPr/>
            <p:nvPr/>
          </p:nvGrpSpPr>
          <p:grpSpPr>
            <a:xfrm>
              <a:off x="5593073" y="2109295"/>
              <a:ext cx="144463" cy="576263"/>
              <a:chOff x="5442744" y="3394870"/>
              <a:chExt cx="144463" cy="576263"/>
            </a:xfrm>
          </p:grpSpPr>
          <p:sp>
            <p:nvSpPr>
              <p:cNvPr id="101" name="Arc 22"/>
              <p:cNvSpPr>
                <a:spLocks/>
              </p:cNvSpPr>
              <p:nvPr/>
            </p:nvSpPr>
            <p:spPr bwMode="auto">
              <a:xfrm rot="10800000" flipH="1" flipV="1">
                <a:off x="5442744" y="3394870"/>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Arc 23"/>
              <p:cNvSpPr>
                <a:spLocks/>
              </p:cNvSpPr>
              <p:nvPr/>
            </p:nvSpPr>
            <p:spPr bwMode="auto">
              <a:xfrm rot="10800000" flipH="1" flipV="1">
                <a:off x="5442744" y="3590351"/>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Arc 24"/>
              <p:cNvSpPr>
                <a:spLocks/>
              </p:cNvSpPr>
              <p:nvPr/>
            </p:nvSpPr>
            <p:spPr bwMode="auto">
              <a:xfrm rot="10800000" flipH="1" flipV="1">
                <a:off x="5442744" y="3785833"/>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337342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barn(inVertical)">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barn(inVertical)">
                                      <p:cBhvr>
                                        <p:cTn id="22" dur="500"/>
                                        <p:tgtEl>
                                          <p:spTgt spid="5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barn(inVertical)">
                                      <p:cBhvr>
                                        <p:cTn id="27" dur="500"/>
                                        <p:tgtEl>
                                          <p:spTgt spid="46"/>
                                        </p:tgtEl>
                                      </p:cBhvr>
                                    </p:animEffect>
                                  </p:childTnLst>
                                </p:cTn>
                              </p:par>
                            </p:childTnLst>
                          </p:cTn>
                        </p:par>
                        <p:par>
                          <p:cTn id="28" fill="hold">
                            <p:stCondLst>
                              <p:cond delay="500"/>
                            </p:stCondLst>
                            <p:childTnLst>
                              <p:par>
                                <p:cTn id="29" presetID="16" presetClass="entr" presetSubtype="21"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barn(inVertical)">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fade">
                                      <p:cBhvr>
                                        <p:cTn id="36" dur="1000"/>
                                        <p:tgtEl>
                                          <p:spTgt spid="52"/>
                                        </p:tgtEl>
                                      </p:cBhvr>
                                    </p:animEffect>
                                    <p:anim calcmode="lin" valueType="num">
                                      <p:cBhvr>
                                        <p:cTn id="37" dur="1000" fill="hold"/>
                                        <p:tgtEl>
                                          <p:spTgt spid="52"/>
                                        </p:tgtEl>
                                        <p:attrNameLst>
                                          <p:attrName>ppt_x</p:attrName>
                                        </p:attrNameLst>
                                      </p:cBhvr>
                                      <p:tavLst>
                                        <p:tav tm="0">
                                          <p:val>
                                            <p:strVal val="#ppt_x"/>
                                          </p:val>
                                        </p:tav>
                                        <p:tav tm="100000">
                                          <p:val>
                                            <p:strVal val="#ppt_x"/>
                                          </p:val>
                                        </p:tav>
                                      </p:tavLst>
                                    </p:anim>
                                    <p:anim calcmode="lin" valueType="num">
                                      <p:cBhvr>
                                        <p:cTn id="38"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extLst/>
          </p:nvPr>
        </p:nvGraphicFramePr>
        <p:xfrm>
          <a:off x="4945063" y="3997764"/>
          <a:ext cx="2187575" cy="714375"/>
        </p:xfrm>
        <a:graphic>
          <a:graphicData uri="http://schemas.openxmlformats.org/presentationml/2006/ole">
            <mc:AlternateContent xmlns:mc="http://schemas.openxmlformats.org/markup-compatibility/2006">
              <mc:Choice xmlns:v="urn:schemas-microsoft-com:vml" Requires="v">
                <p:oleObj spid="_x0000_s453649" name="Equation" r:id="rId3" imgW="863280" imgH="304560" progId="Equation.DSMT4">
                  <p:embed/>
                </p:oleObj>
              </mc:Choice>
              <mc:Fallback>
                <p:oleObj name="Equation" r:id="rId3" imgW="863280" imgH="304560" progId="Equation.DSMT4">
                  <p:embed/>
                  <p:pic>
                    <p:nvPicPr>
                      <p:cNvPr id="0" name=""/>
                      <p:cNvPicPr>
                        <a:picLocks noChangeAspect="1" noChangeArrowheads="1"/>
                      </p:cNvPicPr>
                      <p:nvPr/>
                    </p:nvPicPr>
                    <p:blipFill>
                      <a:blip r:embed="rId4"/>
                      <a:srcRect/>
                      <a:stretch>
                        <a:fillRect/>
                      </a:stretch>
                    </p:blipFill>
                    <p:spPr bwMode="auto">
                      <a:xfrm>
                        <a:off x="4945063" y="3997764"/>
                        <a:ext cx="2187575" cy="7143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9"/>
          <p:cNvGraphicFramePr>
            <a:graphicFrameLocks noChangeAspect="1"/>
          </p:cNvGraphicFramePr>
          <p:nvPr>
            <p:extLst/>
          </p:nvPr>
        </p:nvGraphicFramePr>
        <p:xfrm>
          <a:off x="3788764" y="5180392"/>
          <a:ext cx="1254125" cy="952500"/>
        </p:xfrm>
        <a:graphic>
          <a:graphicData uri="http://schemas.openxmlformats.org/presentationml/2006/ole">
            <mc:AlternateContent xmlns:mc="http://schemas.openxmlformats.org/markup-compatibility/2006">
              <mc:Choice xmlns:v="urn:schemas-microsoft-com:vml" Requires="v">
                <p:oleObj spid="_x0000_s453650" name="Equation" r:id="rId5" imgW="495000" imgH="406080" progId="Equation.DSMT4">
                  <p:embed/>
                </p:oleObj>
              </mc:Choice>
              <mc:Fallback>
                <p:oleObj name="Equation" r:id="rId5" imgW="495000" imgH="406080" progId="Equation.DSMT4">
                  <p:embed/>
                  <p:pic>
                    <p:nvPicPr>
                      <p:cNvPr id="0" name=""/>
                      <p:cNvPicPr>
                        <a:picLocks noChangeAspect="1" noChangeArrowheads="1"/>
                      </p:cNvPicPr>
                      <p:nvPr/>
                    </p:nvPicPr>
                    <p:blipFill>
                      <a:blip r:embed="rId6"/>
                      <a:srcRect/>
                      <a:stretch>
                        <a:fillRect/>
                      </a:stretch>
                    </p:blipFill>
                    <p:spPr bwMode="auto">
                      <a:xfrm>
                        <a:off x="3788764" y="5180392"/>
                        <a:ext cx="1254125" cy="952500"/>
                      </a:xfrm>
                      <a:prstGeom prst="rect">
                        <a:avLst/>
                      </a:prstGeom>
                      <a:solidFill>
                        <a:srgbClr val="92D050"/>
                      </a:solidFill>
                      <a:ln>
                        <a:noFill/>
                      </a:ln>
                      <a:effectLst/>
                      <a:extLst/>
                    </p:spPr>
                  </p:pic>
                </p:oleObj>
              </mc:Fallback>
            </mc:AlternateContent>
          </a:graphicData>
        </a:graphic>
      </p:graphicFrame>
      <p:grpSp>
        <p:nvGrpSpPr>
          <p:cNvPr id="37" name="Group 37"/>
          <p:cNvGrpSpPr>
            <a:grpSpLocks/>
          </p:cNvGrpSpPr>
          <p:nvPr/>
        </p:nvGrpSpPr>
        <p:grpSpPr bwMode="auto">
          <a:xfrm>
            <a:off x="6134056" y="1421251"/>
            <a:ext cx="1512888" cy="2089150"/>
            <a:chOff x="1701" y="1706"/>
            <a:chExt cx="953" cy="1316"/>
          </a:xfrm>
        </p:grpSpPr>
        <p:sp>
          <p:nvSpPr>
            <p:cNvPr id="38" name="Line 38"/>
            <p:cNvSpPr>
              <a:spLocks noChangeShapeType="1"/>
            </p:cNvSpPr>
            <p:nvPr/>
          </p:nvSpPr>
          <p:spPr bwMode="auto">
            <a:xfrm>
              <a:off x="1882" y="1752"/>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39" name="Line 39"/>
            <p:cNvSpPr>
              <a:spLocks noChangeShapeType="1"/>
            </p:cNvSpPr>
            <p:nvPr/>
          </p:nvSpPr>
          <p:spPr bwMode="auto">
            <a:xfrm>
              <a:off x="1882" y="2976"/>
              <a:ext cx="681"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0" name="Line 40"/>
            <p:cNvSpPr>
              <a:spLocks noChangeShapeType="1"/>
            </p:cNvSpPr>
            <p:nvPr/>
          </p:nvSpPr>
          <p:spPr bwMode="auto">
            <a:xfrm flipH="1">
              <a:off x="2562" y="1751"/>
              <a:ext cx="1" cy="409"/>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1" name="Line 41"/>
            <p:cNvSpPr>
              <a:spLocks noChangeShapeType="1"/>
            </p:cNvSpPr>
            <p:nvPr/>
          </p:nvSpPr>
          <p:spPr bwMode="auto">
            <a:xfrm flipH="1" flipV="1">
              <a:off x="2562" y="2523"/>
              <a:ext cx="1" cy="45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2" name="Oval 42" descr="斜纹布"/>
            <p:cNvSpPr>
              <a:spLocks noChangeArrowheads="1"/>
            </p:cNvSpPr>
            <p:nvPr/>
          </p:nvSpPr>
          <p:spPr bwMode="auto">
            <a:xfrm>
              <a:off x="1792" y="1706"/>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3" name="Text Box 43" descr="斜纹布"/>
            <p:cNvSpPr txBox="1">
              <a:spLocks noChangeArrowheads="1"/>
            </p:cNvSpPr>
            <p:nvPr/>
          </p:nvSpPr>
          <p:spPr bwMode="auto">
            <a:xfrm>
              <a:off x="2154" y="1797"/>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44" name="Text Box 44" descr="斜纹布"/>
            <p:cNvSpPr txBox="1">
              <a:spLocks noChangeArrowheads="1"/>
            </p:cNvSpPr>
            <p:nvPr/>
          </p:nvSpPr>
          <p:spPr bwMode="auto">
            <a:xfrm>
              <a:off x="1701" y="2160"/>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45" name="Text Box 45" descr="斜纹布"/>
            <p:cNvSpPr txBox="1">
              <a:spLocks noChangeArrowheads="1"/>
            </p:cNvSpPr>
            <p:nvPr/>
          </p:nvSpPr>
          <p:spPr bwMode="auto">
            <a:xfrm>
              <a:off x="1792" y="1706"/>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6" name="Text Box 46" descr="斜纹布"/>
            <p:cNvSpPr txBox="1">
              <a:spLocks noChangeArrowheads="1"/>
            </p:cNvSpPr>
            <p:nvPr/>
          </p:nvSpPr>
          <p:spPr bwMode="auto">
            <a:xfrm>
              <a:off x="1792" y="2657"/>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47" name="Line 47"/>
            <p:cNvSpPr>
              <a:spLocks noChangeShapeType="1"/>
            </p:cNvSpPr>
            <p:nvPr/>
          </p:nvSpPr>
          <p:spPr bwMode="auto">
            <a:xfrm>
              <a:off x="2472" y="1842"/>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8" name="Text Box 48" descr="斜纹布"/>
            <p:cNvSpPr txBox="1">
              <a:spLocks noChangeArrowheads="1"/>
            </p:cNvSpPr>
            <p:nvPr/>
          </p:nvSpPr>
          <p:spPr bwMode="auto">
            <a:xfrm>
              <a:off x="2200" y="2205"/>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L</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49" name="Oval 49" descr="斜纹布"/>
            <p:cNvSpPr>
              <a:spLocks noChangeArrowheads="1"/>
            </p:cNvSpPr>
            <p:nvPr/>
          </p:nvSpPr>
          <p:spPr bwMode="auto">
            <a:xfrm>
              <a:off x="1792" y="2930"/>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50" name="Group 50"/>
            <p:cNvGrpSpPr>
              <a:grpSpLocks/>
            </p:cNvGrpSpPr>
            <p:nvPr/>
          </p:nvGrpSpPr>
          <p:grpSpPr bwMode="auto">
            <a:xfrm>
              <a:off x="2562" y="2160"/>
              <a:ext cx="91" cy="363"/>
              <a:chOff x="2744" y="2931"/>
              <a:chExt cx="57" cy="283"/>
            </a:xfrm>
          </p:grpSpPr>
          <p:sp>
            <p:nvSpPr>
              <p:cNvPr id="51" name="Arc 51"/>
              <p:cNvSpPr>
                <a:spLocks/>
              </p:cNvSpPr>
              <p:nvPr/>
            </p:nvSpPr>
            <p:spPr bwMode="auto">
              <a:xfrm rot="10800000" flipH="1" flipV="1">
                <a:off x="2744" y="2931"/>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Arc 52"/>
              <p:cNvSpPr>
                <a:spLocks/>
              </p:cNvSpPr>
              <p:nvPr/>
            </p:nvSpPr>
            <p:spPr bwMode="auto">
              <a:xfrm rot="10800000" flipH="1" flipV="1">
                <a:off x="2744" y="3027"/>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Arc 53"/>
              <p:cNvSpPr>
                <a:spLocks/>
              </p:cNvSpPr>
              <p:nvPr/>
            </p:nvSpPr>
            <p:spPr bwMode="auto">
              <a:xfrm rot="10800000" flipH="1" flipV="1">
                <a:off x="2744" y="3123"/>
                <a:ext cx="57"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54" name="Group 54"/>
          <p:cNvGrpSpPr>
            <a:grpSpLocks/>
          </p:cNvGrpSpPr>
          <p:nvPr/>
        </p:nvGrpSpPr>
        <p:grpSpPr bwMode="auto">
          <a:xfrm>
            <a:off x="4590932" y="1997514"/>
            <a:ext cx="1223962" cy="647700"/>
            <a:chOff x="3470" y="2840"/>
            <a:chExt cx="771" cy="408"/>
          </a:xfrm>
        </p:grpSpPr>
        <p:sp>
          <p:nvSpPr>
            <p:cNvPr id="55" name="Line 55"/>
            <p:cNvSpPr>
              <a:spLocks noChangeShapeType="1"/>
            </p:cNvSpPr>
            <p:nvPr/>
          </p:nvSpPr>
          <p:spPr bwMode="auto">
            <a:xfrm>
              <a:off x="3605" y="3248"/>
              <a:ext cx="545" cy="0"/>
            </a:xfrm>
            <a:prstGeom prst="line">
              <a:avLst/>
            </a:prstGeom>
            <a:noFill/>
            <a:ln w="762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6" name="Text Box 56" descr="斜纹布"/>
            <p:cNvSpPr txBox="1">
              <a:spLocks noChangeArrowheads="1"/>
            </p:cNvSpPr>
            <p:nvPr/>
          </p:nvSpPr>
          <p:spPr bwMode="auto">
            <a:xfrm>
              <a:off x="3470" y="2840"/>
              <a:ext cx="771"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p>
              <a:pPr algn="ctr" eaLnBrk="0" hangingPunct="0">
                <a:spcBef>
                  <a:spcPct val="50000"/>
                </a:spcBef>
              </a:pPr>
              <a:r>
                <a:rPr kumimoji="1" lang="zh-CN" altLang="en-US" sz="2400">
                  <a:latin typeface="Times New Roman" pitchFamily="18" charset="0"/>
                  <a:ea typeface="仿宋_GB2312" pitchFamily="49" charset="-122"/>
                  <a:sym typeface="Symbol" pitchFamily="18" charset="2"/>
                </a:rPr>
                <a:t>等效</a:t>
              </a:r>
            </a:p>
          </p:txBody>
        </p:sp>
      </p:grpSp>
      <p:grpSp>
        <p:nvGrpSpPr>
          <p:cNvPr id="4" name="组合 3"/>
          <p:cNvGrpSpPr/>
          <p:nvPr/>
        </p:nvGrpSpPr>
        <p:grpSpPr>
          <a:xfrm>
            <a:off x="1125762" y="1149214"/>
            <a:ext cx="3586224" cy="2520950"/>
            <a:chOff x="1125762" y="1149214"/>
            <a:chExt cx="3586224" cy="2520950"/>
          </a:xfrm>
        </p:grpSpPr>
        <p:grpSp>
          <p:nvGrpSpPr>
            <p:cNvPr id="83" name="Group 8"/>
            <p:cNvGrpSpPr>
              <a:grpSpLocks/>
            </p:cNvGrpSpPr>
            <p:nvPr/>
          </p:nvGrpSpPr>
          <p:grpSpPr bwMode="auto">
            <a:xfrm>
              <a:off x="1125762" y="1149214"/>
              <a:ext cx="3586224" cy="2520950"/>
              <a:chOff x="1474" y="527"/>
              <a:chExt cx="2259" cy="1588"/>
            </a:xfrm>
          </p:grpSpPr>
          <p:sp>
            <p:nvSpPr>
              <p:cNvPr id="84" name="Line 9"/>
              <p:cNvSpPr>
                <a:spLocks noChangeShapeType="1"/>
              </p:cNvSpPr>
              <p:nvPr/>
            </p:nvSpPr>
            <p:spPr bwMode="auto">
              <a:xfrm flipV="1">
                <a:off x="1655" y="844"/>
                <a:ext cx="772" cy="1"/>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5" name="Line 10"/>
              <p:cNvSpPr>
                <a:spLocks noChangeShapeType="1"/>
              </p:cNvSpPr>
              <p:nvPr/>
            </p:nvSpPr>
            <p:spPr bwMode="auto">
              <a:xfrm>
                <a:off x="1655" y="2069"/>
                <a:ext cx="806" cy="3"/>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6" name="Line 11"/>
              <p:cNvSpPr>
                <a:spLocks noChangeShapeType="1"/>
              </p:cNvSpPr>
              <p:nvPr/>
            </p:nvSpPr>
            <p:spPr bwMode="auto">
              <a:xfrm>
                <a:off x="3243" y="844"/>
                <a:ext cx="0" cy="429"/>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7" name="Line 12"/>
              <p:cNvSpPr>
                <a:spLocks noChangeShapeType="1"/>
              </p:cNvSpPr>
              <p:nvPr/>
            </p:nvSpPr>
            <p:spPr bwMode="auto">
              <a:xfrm flipH="1">
                <a:off x="2099" y="845"/>
                <a:ext cx="10" cy="418"/>
              </a:xfrm>
              <a:prstGeom prst="line">
                <a:avLst/>
              </a:prstGeom>
              <a:noFill/>
              <a:ln w="28575" cap="sq">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8" name="Line 13"/>
              <p:cNvSpPr>
                <a:spLocks noChangeShapeType="1"/>
              </p:cNvSpPr>
              <p:nvPr/>
            </p:nvSpPr>
            <p:spPr bwMode="auto">
              <a:xfrm flipV="1">
                <a:off x="3243" y="1638"/>
                <a:ext cx="0" cy="431"/>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89" name="Oval 20" descr="斜纹布"/>
              <p:cNvSpPr>
                <a:spLocks noChangeArrowheads="1"/>
              </p:cNvSpPr>
              <p:nvPr/>
            </p:nvSpPr>
            <p:spPr bwMode="auto">
              <a:xfrm>
                <a:off x="1565" y="799"/>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0" name="Oval 21" descr="斜纹布"/>
              <p:cNvSpPr>
                <a:spLocks noChangeArrowheads="1"/>
              </p:cNvSpPr>
              <p:nvPr/>
            </p:nvSpPr>
            <p:spPr bwMode="auto">
              <a:xfrm>
                <a:off x="1565" y="2024"/>
                <a:ext cx="90" cy="91"/>
              </a:xfrm>
              <a:prstGeom prst="ellipse">
                <a:avLst/>
              </a:prstGeom>
              <a:noFill/>
              <a:ln w="28575" cap="sq" algn="ctr">
                <a:solidFill>
                  <a:srgbClr val="FFCC00"/>
                </a:solidFill>
                <a:round/>
                <a:headEnd/>
                <a:tailEnd/>
              </a:ln>
              <a:effectLst/>
              <a:extLst>
                <a:ext uri="{909E8E84-426E-40DD-AFC4-6F175D3DCCD1}">
                  <a14:hiddenFill xmlns:a14="http://schemas.microsoft.com/office/drawing/2010/main">
                    <a:blipFill dpi="0" rotWithShape="0">
                      <a:blip/>
                      <a:srcRect/>
                      <a:tile tx="0" ty="0" sx="100000" sy="100000" flip="none" algn="tl"/>
                    </a:blip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1" name="Line 22"/>
              <p:cNvSpPr>
                <a:spLocks noChangeShapeType="1"/>
              </p:cNvSpPr>
              <p:nvPr/>
            </p:nvSpPr>
            <p:spPr bwMode="auto">
              <a:xfrm>
                <a:off x="2109" y="1625"/>
                <a:ext cx="0" cy="444"/>
              </a:xfrm>
              <a:prstGeom prst="line">
                <a:avLst/>
              </a:prstGeom>
              <a:noFill/>
              <a:ln w="28575" cap="sq">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2" name="Text Box 23" descr="斜纹布"/>
              <p:cNvSpPr txBox="1">
                <a:spLocks noChangeArrowheads="1"/>
              </p:cNvSpPr>
              <p:nvPr/>
            </p:nvSpPr>
            <p:spPr bwMode="auto">
              <a:xfrm>
                <a:off x="3198" y="93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i</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93" name="Text Box 24" descr="斜纹布"/>
              <p:cNvSpPr txBox="1">
                <a:spLocks noChangeArrowheads="1"/>
              </p:cNvSpPr>
              <p:nvPr/>
            </p:nvSpPr>
            <p:spPr bwMode="auto">
              <a:xfrm>
                <a:off x="2064" y="935"/>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r>
                  <a:rPr kumimoji="1" lang="en-US" altLang="zh-CN" b="0" baseline="-25000">
                    <a:solidFill>
                      <a:schemeClr val="tx1"/>
                    </a:solidFill>
                    <a:latin typeface="Times New Roman" pitchFamily="18" charset="0"/>
                    <a:ea typeface="仿宋_GB2312" pitchFamily="49" charset="-122"/>
                    <a:sym typeface="Symbol" pitchFamily="18" charset="2"/>
                  </a:rPr>
                  <a:t>1</a:t>
                </a:r>
              </a:p>
            </p:txBody>
          </p:sp>
          <p:sp>
            <p:nvSpPr>
              <p:cNvPr id="94" name="Text Box 25" descr="斜纹布"/>
              <p:cNvSpPr txBox="1">
                <a:spLocks noChangeArrowheads="1"/>
              </p:cNvSpPr>
              <p:nvPr/>
            </p:nvSpPr>
            <p:spPr bwMode="auto">
              <a:xfrm>
                <a:off x="1474" y="1253"/>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v</a:t>
                </a:r>
                <a:endParaRPr kumimoji="1" lang="en-US" altLang="zh-CN" b="0" baseline="-25000" dirty="0">
                  <a:solidFill>
                    <a:schemeClr val="tx1"/>
                  </a:solidFill>
                  <a:latin typeface="Times New Roman" pitchFamily="18" charset="0"/>
                  <a:ea typeface="仿宋_GB2312" pitchFamily="49" charset="-122"/>
                  <a:sym typeface="Symbol" pitchFamily="18" charset="2"/>
                </a:endParaRPr>
              </a:p>
            </p:txBody>
          </p:sp>
          <p:sp>
            <p:nvSpPr>
              <p:cNvPr id="95" name="Text Box 26" descr="斜纹布"/>
              <p:cNvSpPr txBox="1">
                <a:spLocks noChangeArrowheads="1"/>
              </p:cNvSpPr>
              <p:nvPr/>
            </p:nvSpPr>
            <p:spPr bwMode="auto">
              <a:xfrm>
                <a:off x="1519" y="799"/>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96" name="Text Box 27" descr="斜纹布"/>
              <p:cNvSpPr txBox="1">
                <a:spLocks noChangeArrowheads="1"/>
              </p:cNvSpPr>
              <p:nvPr/>
            </p:nvSpPr>
            <p:spPr bwMode="auto">
              <a:xfrm>
                <a:off x="1565" y="1750"/>
                <a:ext cx="273" cy="3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0">
                    <a:solidFill>
                      <a:schemeClr val="tx1"/>
                    </a:solidFill>
                    <a:latin typeface="宋体" pitchFamily="2" charset="-122"/>
                    <a:ea typeface="宋体" pitchFamily="2" charset="-122"/>
                    <a:sym typeface="Symbol" pitchFamily="18" charset="2"/>
                  </a:rPr>
                  <a:t>-</a:t>
                </a:r>
              </a:p>
            </p:txBody>
          </p:sp>
          <p:sp>
            <p:nvSpPr>
              <p:cNvPr id="97" name="Line 28"/>
              <p:cNvSpPr>
                <a:spLocks noChangeShapeType="1"/>
              </p:cNvSpPr>
              <p:nvPr/>
            </p:nvSpPr>
            <p:spPr bwMode="auto">
              <a:xfrm>
                <a:off x="2154" y="981"/>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8" name="Line 29"/>
              <p:cNvSpPr>
                <a:spLocks noChangeShapeType="1"/>
              </p:cNvSpPr>
              <p:nvPr/>
            </p:nvSpPr>
            <p:spPr bwMode="auto">
              <a:xfrm>
                <a:off x="3289" y="981"/>
                <a:ext cx="0" cy="226"/>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99" name="Text Box 31" descr="斜纹布"/>
              <p:cNvSpPr txBox="1">
                <a:spLocks noChangeArrowheads="1"/>
              </p:cNvSpPr>
              <p:nvPr/>
            </p:nvSpPr>
            <p:spPr bwMode="auto">
              <a:xfrm>
                <a:off x="2689" y="129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L</a:t>
                </a:r>
                <a:r>
                  <a:rPr kumimoji="1" lang="en-US" altLang="zh-CN" b="0" i="1" baseline="-25000" dirty="0"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100" name="Text Box 32" descr="斜纹布"/>
              <p:cNvSpPr txBox="1">
                <a:spLocks noChangeArrowheads="1"/>
              </p:cNvSpPr>
              <p:nvPr/>
            </p:nvSpPr>
            <p:spPr bwMode="auto">
              <a:xfrm>
                <a:off x="1701" y="527"/>
                <a:ext cx="454" cy="327"/>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a:solidFill>
                      <a:schemeClr val="tx1"/>
                    </a:solidFill>
                    <a:latin typeface="Times New Roman" pitchFamily="18" charset="0"/>
                    <a:ea typeface="仿宋_GB2312" pitchFamily="49" charset="-122"/>
                    <a:sym typeface="Symbol" pitchFamily="18" charset="2"/>
                  </a:rPr>
                  <a:t>i</a:t>
                </a:r>
                <a:endParaRPr kumimoji="1" lang="en-US" altLang="zh-CN" b="0" baseline="-25000">
                  <a:solidFill>
                    <a:schemeClr val="tx1"/>
                  </a:solidFill>
                  <a:latin typeface="Times New Roman" pitchFamily="18" charset="0"/>
                  <a:ea typeface="仿宋_GB2312" pitchFamily="49" charset="-122"/>
                  <a:sym typeface="Symbol" pitchFamily="18" charset="2"/>
                </a:endParaRPr>
              </a:p>
            </p:txBody>
          </p:sp>
          <p:sp>
            <p:nvSpPr>
              <p:cNvPr id="101" name="Line 33"/>
              <p:cNvSpPr>
                <a:spLocks noChangeShapeType="1"/>
              </p:cNvSpPr>
              <p:nvPr/>
            </p:nvSpPr>
            <p:spPr bwMode="auto">
              <a:xfrm>
                <a:off x="1791" y="890"/>
                <a:ext cx="182" cy="0"/>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2" name="Line 9"/>
              <p:cNvSpPr>
                <a:spLocks noChangeShapeType="1"/>
              </p:cNvSpPr>
              <p:nvPr/>
            </p:nvSpPr>
            <p:spPr bwMode="auto">
              <a:xfrm flipV="1">
                <a:off x="2902" y="842"/>
                <a:ext cx="318"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3" name="Line 9"/>
              <p:cNvSpPr>
                <a:spLocks noChangeShapeType="1"/>
              </p:cNvSpPr>
              <p:nvPr/>
            </p:nvSpPr>
            <p:spPr bwMode="auto">
              <a:xfrm flipV="1">
                <a:off x="2436" y="842"/>
                <a:ext cx="466" cy="2"/>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4" name="Line 9"/>
              <p:cNvSpPr>
                <a:spLocks noChangeShapeType="1"/>
              </p:cNvSpPr>
              <p:nvPr/>
            </p:nvSpPr>
            <p:spPr bwMode="auto">
              <a:xfrm flipV="1">
                <a:off x="2925" y="2070"/>
                <a:ext cx="318" cy="0"/>
              </a:xfrm>
              <a:prstGeom prst="line">
                <a:avLst/>
              </a:prstGeom>
              <a:noFill/>
              <a:ln w="28575" cap="sq">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5" name="Line 9"/>
              <p:cNvSpPr>
                <a:spLocks noChangeShapeType="1"/>
              </p:cNvSpPr>
              <p:nvPr/>
            </p:nvSpPr>
            <p:spPr bwMode="auto">
              <a:xfrm flipV="1">
                <a:off x="2461" y="2070"/>
                <a:ext cx="475" cy="3"/>
              </a:xfrm>
              <a:prstGeom prst="line">
                <a:avLst/>
              </a:prstGeom>
              <a:noFill/>
              <a:ln w="28575" cap="sq">
                <a:solidFill>
                  <a:srgbClr val="FFCC00"/>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6" name="Text Box 31" descr="斜纹布"/>
              <p:cNvSpPr txBox="1">
                <a:spLocks noChangeArrowheads="1"/>
              </p:cNvSpPr>
              <p:nvPr/>
            </p:nvSpPr>
            <p:spPr bwMode="auto">
              <a:xfrm>
                <a:off x="3279" y="1285"/>
                <a:ext cx="454" cy="291"/>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smtClean="0">
                    <a:solidFill>
                      <a:schemeClr val="tx1"/>
                    </a:solidFill>
                    <a:latin typeface="Times New Roman" pitchFamily="18" charset="0"/>
                    <a:ea typeface="仿宋_GB2312" pitchFamily="49" charset="-122"/>
                    <a:sym typeface="Symbol" pitchFamily="18" charset="2"/>
                  </a:rPr>
                  <a:t>L</a:t>
                </a:r>
                <a:r>
                  <a:rPr kumimoji="1" lang="en-US" altLang="zh-CN" b="0" i="1" baseline="-25000" dirty="0" smtClean="0">
                    <a:solidFill>
                      <a:schemeClr val="tx1"/>
                    </a:solidFill>
                    <a:latin typeface="Times New Roman" pitchFamily="18" charset="0"/>
                    <a:ea typeface="仿宋_GB2312" pitchFamily="49" charset="-122"/>
                    <a:sym typeface="Symbol" pitchFamily="18" charset="2"/>
                  </a:rPr>
                  <a:t>n</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grpSp>
        <p:sp>
          <p:nvSpPr>
            <p:cNvPr id="107" name="Line 11"/>
            <p:cNvSpPr>
              <a:spLocks noChangeShapeType="1"/>
            </p:cNvSpPr>
            <p:nvPr/>
          </p:nvSpPr>
          <p:spPr bwMode="auto">
            <a:xfrm>
              <a:off x="3077255" y="1649584"/>
              <a:ext cx="0" cy="702955"/>
            </a:xfrm>
            <a:prstGeom prst="line">
              <a:avLst/>
            </a:prstGeom>
            <a:noFill/>
            <a:ln w="28575" cap="sq">
              <a:solidFill>
                <a:srgbClr val="FFCC00"/>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8" name="Line 13"/>
            <p:cNvSpPr>
              <a:spLocks noChangeShapeType="1"/>
            </p:cNvSpPr>
            <p:nvPr/>
          </p:nvSpPr>
          <p:spPr bwMode="auto">
            <a:xfrm flipH="1" flipV="1">
              <a:off x="3069687" y="2892290"/>
              <a:ext cx="7567" cy="701981"/>
            </a:xfrm>
            <a:prstGeom prst="line">
              <a:avLst/>
            </a:prstGeom>
            <a:noFill/>
            <a:ln w="28575" cap="sq">
              <a:solidFill>
                <a:srgbClr val="FFCC00"/>
              </a:solidFill>
              <a:round/>
              <a:headEnd type="oval"/>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109" name="Text Box 23" descr="斜纹布"/>
            <p:cNvSpPr txBox="1">
              <a:spLocks noChangeArrowheads="1"/>
            </p:cNvSpPr>
            <p:nvPr/>
          </p:nvSpPr>
          <p:spPr bwMode="auto">
            <a:xfrm>
              <a:off x="3005817" y="1794046"/>
              <a:ext cx="720737" cy="46166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spAutoFit/>
            </a:bodyPr>
            <a:lstStyle/>
            <a:p>
              <a:pPr algn="ctr" eaLnBrk="0" hangingPunct="0">
                <a:spcBef>
                  <a:spcPct val="50000"/>
                </a:spcBef>
              </a:pPr>
              <a:r>
                <a:rPr kumimoji="1" lang="en-US" altLang="zh-CN" b="0" i="1" dirty="0" err="1" smtClean="0">
                  <a:solidFill>
                    <a:schemeClr val="tx1"/>
                  </a:solidFill>
                  <a:latin typeface="Times New Roman" pitchFamily="18" charset="0"/>
                  <a:ea typeface="仿宋_GB2312" pitchFamily="49" charset="-122"/>
                  <a:sym typeface="Symbol" pitchFamily="18" charset="2"/>
                </a:rPr>
                <a:t>i</a:t>
              </a:r>
              <a:r>
                <a:rPr kumimoji="1" lang="en-US" altLang="zh-CN" b="0" i="1" baseline="-25000" dirty="0" err="1" smtClean="0">
                  <a:solidFill>
                    <a:schemeClr val="tx1"/>
                  </a:solidFill>
                  <a:latin typeface="Times New Roman" pitchFamily="18" charset="0"/>
                  <a:ea typeface="仿宋_GB2312" pitchFamily="49" charset="-122"/>
                  <a:sym typeface="Symbol" pitchFamily="18" charset="2"/>
                </a:rPr>
                <a:t>k</a:t>
              </a:r>
              <a:endParaRPr kumimoji="1" lang="en-US" altLang="zh-CN" b="0" i="1" baseline="-25000" dirty="0">
                <a:solidFill>
                  <a:schemeClr val="tx1"/>
                </a:solidFill>
                <a:latin typeface="Times New Roman" pitchFamily="18" charset="0"/>
                <a:ea typeface="仿宋_GB2312" pitchFamily="49" charset="-122"/>
                <a:sym typeface="Symbol" pitchFamily="18" charset="2"/>
              </a:endParaRPr>
            </a:p>
          </p:txBody>
        </p:sp>
        <p:sp>
          <p:nvSpPr>
            <p:cNvPr id="110" name="Line 29"/>
            <p:cNvSpPr>
              <a:spLocks noChangeShapeType="1"/>
            </p:cNvSpPr>
            <p:nvPr/>
          </p:nvSpPr>
          <p:spPr bwMode="auto">
            <a:xfrm>
              <a:off x="3150282" y="1867071"/>
              <a:ext cx="0" cy="358775"/>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nvGrpSpPr>
            <p:cNvPr id="111" name="组合 110"/>
            <p:cNvGrpSpPr/>
            <p:nvPr/>
          </p:nvGrpSpPr>
          <p:grpSpPr>
            <a:xfrm>
              <a:off x="2102032" y="2316027"/>
              <a:ext cx="144463" cy="576263"/>
              <a:chOff x="5442744" y="3394870"/>
              <a:chExt cx="144463" cy="576263"/>
            </a:xfrm>
          </p:grpSpPr>
          <p:sp>
            <p:nvSpPr>
              <p:cNvPr id="112" name="Arc 22"/>
              <p:cNvSpPr>
                <a:spLocks/>
              </p:cNvSpPr>
              <p:nvPr/>
            </p:nvSpPr>
            <p:spPr bwMode="auto">
              <a:xfrm rot="10800000" flipH="1" flipV="1">
                <a:off x="5442744" y="3394870"/>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 name="Arc 23"/>
              <p:cNvSpPr>
                <a:spLocks/>
              </p:cNvSpPr>
              <p:nvPr/>
            </p:nvSpPr>
            <p:spPr bwMode="auto">
              <a:xfrm rot="10800000" flipH="1" flipV="1">
                <a:off x="5442744" y="3590351"/>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 name="Arc 24"/>
              <p:cNvSpPr>
                <a:spLocks/>
              </p:cNvSpPr>
              <p:nvPr/>
            </p:nvSpPr>
            <p:spPr bwMode="auto">
              <a:xfrm rot="10800000" flipH="1" flipV="1">
                <a:off x="5442744" y="3785833"/>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5" name="组合 114"/>
            <p:cNvGrpSpPr/>
            <p:nvPr/>
          </p:nvGrpSpPr>
          <p:grpSpPr>
            <a:xfrm>
              <a:off x="3060711" y="2324528"/>
              <a:ext cx="144463" cy="576263"/>
              <a:chOff x="5442744" y="3394870"/>
              <a:chExt cx="144463" cy="576263"/>
            </a:xfrm>
          </p:grpSpPr>
          <p:sp>
            <p:nvSpPr>
              <p:cNvPr id="116" name="Arc 22"/>
              <p:cNvSpPr>
                <a:spLocks/>
              </p:cNvSpPr>
              <p:nvPr/>
            </p:nvSpPr>
            <p:spPr bwMode="auto">
              <a:xfrm rot="10800000" flipH="1" flipV="1">
                <a:off x="5442744" y="3394870"/>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Arc 23"/>
              <p:cNvSpPr>
                <a:spLocks/>
              </p:cNvSpPr>
              <p:nvPr/>
            </p:nvSpPr>
            <p:spPr bwMode="auto">
              <a:xfrm rot="10800000" flipH="1" flipV="1">
                <a:off x="5442744" y="3590351"/>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 name="Arc 24"/>
              <p:cNvSpPr>
                <a:spLocks/>
              </p:cNvSpPr>
              <p:nvPr/>
            </p:nvSpPr>
            <p:spPr bwMode="auto">
              <a:xfrm rot="10800000" flipH="1" flipV="1">
                <a:off x="5442744" y="3785833"/>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9" name="组合 118"/>
            <p:cNvGrpSpPr/>
            <p:nvPr/>
          </p:nvGrpSpPr>
          <p:grpSpPr>
            <a:xfrm>
              <a:off x="3919629" y="2333571"/>
              <a:ext cx="144463" cy="576263"/>
              <a:chOff x="5442744" y="3394870"/>
              <a:chExt cx="144463" cy="576263"/>
            </a:xfrm>
          </p:grpSpPr>
          <p:sp>
            <p:nvSpPr>
              <p:cNvPr id="120" name="Arc 22"/>
              <p:cNvSpPr>
                <a:spLocks/>
              </p:cNvSpPr>
              <p:nvPr/>
            </p:nvSpPr>
            <p:spPr bwMode="auto">
              <a:xfrm rot="10800000" flipH="1" flipV="1">
                <a:off x="5442744" y="3394870"/>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 name="Arc 23"/>
              <p:cNvSpPr>
                <a:spLocks/>
              </p:cNvSpPr>
              <p:nvPr/>
            </p:nvSpPr>
            <p:spPr bwMode="auto">
              <a:xfrm rot="10800000" flipH="1" flipV="1">
                <a:off x="5442744" y="3590351"/>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 name="Arc 24"/>
              <p:cNvSpPr>
                <a:spLocks/>
              </p:cNvSpPr>
              <p:nvPr/>
            </p:nvSpPr>
            <p:spPr bwMode="auto">
              <a:xfrm rot="10800000" flipH="1" flipV="1">
                <a:off x="5442744" y="3785833"/>
                <a:ext cx="144463" cy="185300"/>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8100">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aphicFrame>
        <p:nvGraphicFramePr>
          <p:cNvPr id="3" name="对象 2"/>
          <p:cNvGraphicFramePr>
            <a:graphicFrameLocks noChangeAspect="1"/>
          </p:cNvGraphicFramePr>
          <p:nvPr>
            <p:extLst/>
          </p:nvPr>
        </p:nvGraphicFramePr>
        <p:xfrm>
          <a:off x="1646238" y="4056501"/>
          <a:ext cx="2173287" cy="642938"/>
        </p:xfrm>
        <a:graphic>
          <a:graphicData uri="http://schemas.openxmlformats.org/presentationml/2006/ole">
            <mc:AlternateContent xmlns:mc="http://schemas.openxmlformats.org/markup-compatibility/2006">
              <mc:Choice xmlns:v="urn:schemas-microsoft-com:vml" Requires="v">
                <p:oleObj spid="_x0000_s453651" name="Equation" r:id="rId7" imgW="952200" imgH="304560" progId="Equation.DSMT4">
                  <p:embed/>
                </p:oleObj>
              </mc:Choice>
              <mc:Fallback>
                <p:oleObj name="Equation" r:id="rId7" imgW="952200" imgH="304560" progId="Equation.DSMT4">
                  <p:embed/>
                  <p:pic>
                    <p:nvPicPr>
                      <p:cNvPr id="0" name=""/>
                      <p:cNvPicPr>
                        <a:picLocks noChangeAspect="1" noChangeArrowheads="1"/>
                      </p:cNvPicPr>
                      <p:nvPr/>
                    </p:nvPicPr>
                    <p:blipFill>
                      <a:blip r:embed="rId8"/>
                      <a:srcRect/>
                      <a:stretch>
                        <a:fillRect/>
                      </a:stretch>
                    </p:blipFill>
                    <p:spPr bwMode="auto">
                      <a:xfrm>
                        <a:off x="1646238" y="4056501"/>
                        <a:ext cx="2173287" cy="6429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 name="Text Box 24"/>
          <p:cNvSpPr txBox="1">
            <a:spLocks noChangeArrowheads="1"/>
          </p:cNvSpPr>
          <p:nvPr/>
        </p:nvSpPr>
        <p:spPr bwMode="auto">
          <a:xfrm>
            <a:off x="508000" y="542790"/>
            <a:ext cx="381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l">
              <a:spcBef>
                <a:spcPct val="50000"/>
              </a:spcBef>
              <a:buFont typeface="Wingdings" pitchFamily="2" charset="2"/>
              <a:buChar char="l"/>
            </a:pPr>
            <a:r>
              <a:rPr lang="zh-CN" altLang="en-US" dirty="0" smtClean="0">
                <a:solidFill>
                  <a:srgbClr val="0000CC"/>
                </a:solidFill>
              </a:rPr>
              <a:t>并联电</a:t>
            </a:r>
            <a:r>
              <a:rPr lang="zh-CN" altLang="en-US" dirty="0">
                <a:solidFill>
                  <a:srgbClr val="0000CC"/>
                </a:solidFill>
              </a:rPr>
              <a:t>感</a:t>
            </a:r>
            <a:r>
              <a:rPr lang="zh-CN" altLang="en-US" dirty="0" smtClean="0">
                <a:solidFill>
                  <a:srgbClr val="0000CC"/>
                </a:solidFill>
              </a:rPr>
              <a:t>的分流</a:t>
            </a:r>
            <a:endParaRPr lang="zh-CN" altLang="en-US" dirty="0">
              <a:solidFill>
                <a:srgbClr val="0000CC"/>
              </a:solidFill>
            </a:endParaRPr>
          </a:p>
        </p:txBody>
      </p:sp>
    </p:spTree>
    <p:extLst>
      <p:ext uri="{BB962C8B-B14F-4D97-AF65-F5344CB8AC3E}">
        <p14:creationId xmlns:p14="http://schemas.microsoft.com/office/powerpoint/2010/main" val="315686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barn(inVertical)">
                                      <p:cBhvr>
                                        <p:cTn id="17" dur="500"/>
                                        <p:tgtEl>
                                          <p:spTgt spid="54"/>
                                        </p:tgtEl>
                                      </p:cBhvr>
                                    </p:animEffect>
                                  </p:childTnLst>
                                </p:cTn>
                              </p:par>
                            </p:childTnLst>
                          </p:cTn>
                        </p:par>
                        <p:par>
                          <p:cTn id="18" fill="hold">
                            <p:stCondLst>
                              <p:cond delay="500"/>
                            </p:stCondLst>
                            <p:childTnLst>
                              <p:par>
                                <p:cTn id="19" presetID="16" presetClass="entr" presetSubtype="21" fill="hold" nodeType="after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barn(inVertical)">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858" name="Rectangle 66"/>
          <p:cNvSpPr>
            <a:spLocks noChangeArrowheads="1"/>
          </p:cNvSpPr>
          <p:nvPr/>
        </p:nvSpPr>
        <p:spPr bwMode="auto">
          <a:xfrm>
            <a:off x="685800" y="577964"/>
            <a:ext cx="7515225" cy="519113"/>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p>
            <a:pPr eaLnBrk="0" hangingPunct="0"/>
            <a:r>
              <a:rPr lang="en-US" altLang="zh-CN" sz="2800" dirty="0" smtClean="0">
                <a:solidFill>
                  <a:schemeClr val="tx2"/>
                </a:solidFill>
              </a:rPr>
              <a:t>2.5 </a:t>
            </a:r>
            <a:r>
              <a:rPr lang="zh-CN" altLang="en-US" sz="2800" dirty="0" smtClean="0">
                <a:solidFill>
                  <a:schemeClr val="tx2"/>
                </a:solidFill>
              </a:rPr>
              <a:t>电源</a:t>
            </a:r>
            <a:r>
              <a:rPr lang="zh-CN" altLang="en-US" sz="2800" dirty="0">
                <a:solidFill>
                  <a:schemeClr val="tx2"/>
                </a:solidFill>
              </a:rPr>
              <a:t>电路的等效变换</a:t>
            </a:r>
            <a:endParaRPr lang="en-US" altLang="zh-CN" sz="2800" dirty="0">
              <a:solidFill>
                <a:schemeClr val="tx2"/>
              </a:solidFill>
            </a:endParaRPr>
          </a:p>
        </p:txBody>
      </p:sp>
      <p:sp>
        <p:nvSpPr>
          <p:cNvPr id="66" name="Text Box 2"/>
          <p:cNvSpPr txBox="1">
            <a:spLocks noChangeArrowheads="1"/>
          </p:cNvSpPr>
          <p:nvPr/>
        </p:nvSpPr>
        <p:spPr bwMode="auto">
          <a:xfrm>
            <a:off x="381000" y="1424426"/>
            <a:ext cx="5629276" cy="461665"/>
          </a:xfrm>
          <a:prstGeom prst="rect">
            <a:avLst/>
          </a:prstGeom>
          <a:solidFill>
            <a:schemeClr val="bg1"/>
          </a:solidFill>
          <a:ln>
            <a:noFill/>
          </a:ln>
          <a:effectLst/>
          <a:extLst/>
        </p:spPr>
        <p:txBody>
          <a:bodyPr wrap="square">
            <a:spAutoFit/>
          </a:bodyPr>
          <a:lstStyle/>
          <a:p>
            <a:pPr algn="l">
              <a:spcBef>
                <a:spcPct val="50000"/>
              </a:spcBef>
            </a:pPr>
            <a:r>
              <a:rPr lang="en-US" altLang="zh-CN" dirty="0" smtClean="0">
                <a:solidFill>
                  <a:srgbClr val="A50021"/>
                </a:solidFill>
                <a:latin typeface="+mn-lt"/>
                <a:ea typeface="+mn-ea"/>
              </a:rPr>
              <a:t>2.5.1 </a:t>
            </a:r>
            <a:r>
              <a:rPr lang="zh-CN" altLang="en-US" dirty="0" smtClean="0">
                <a:solidFill>
                  <a:srgbClr val="A50021"/>
                </a:solidFill>
                <a:latin typeface="+mn-lt"/>
                <a:ea typeface="+mn-ea"/>
              </a:rPr>
              <a:t>电压源</a:t>
            </a:r>
            <a:r>
              <a:rPr lang="zh-CN" altLang="en-US" dirty="0">
                <a:solidFill>
                  <a:srgbClr val="A50021"/>
                </a:solidFill>
                <a:latin typeface="+mn-lt"/>
                <a:ea typeface="+mn-ea"/>
              </a:rPr>
              <a:t>的串联和</a:t>
            </a:r>
            <a:r>
              <a:rPr lang="zh-CN" altLang="en-US" dirty="0" smtClean="0">
                <a:solidFill>
                  <a:srgbClr val="A50021"/>
                </a:solidFill>
                <a:latin typeface="+mn-lt"/>
                <a:ea typeface="+mn-ea"/>
              </a:rPr>
              <a:t>并联</a:t>
            </a:r>
            <a:endParaRPr lang="en-US" altLang="zh-CN" dirty="0">
              <a:solidFill>
                <a:srgbClr val="A50021"/>
              </a:solidFill>
              <a:latin typeface="+mn-lt"/>
              <a:ea typeface="+mn-ea"/>
            </a:endParaRPr>
          </a:p>
        </p:txBody>
      </p:sp>
      <p:sp>
        <p:nvSpPr>
          <p:cNvPr id="160" name="Rectangle 4"/>
          <p:cNvSpPr>
            <a:spLocks noChangeArrowheads="1"/>
          </p:cNvSpPr>
          <p:nvPr/>
        </p:nvSpPr>
        <p:spPr bwMode="auto">
          <a:xfrm>
            <a:off x="684213" y="2168749"/>
            <a:ext cx="12954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spcBef>
                <a:spcPct val="50000"/>
              </a:spcBef>
              <a:buSzPct val="95000"/>
              <a:buFont typeface="Wingdings" pitchFamily="2" charset="2"/>
              <a:buAutoNum type="circleNumDbPlain"/>
            </a:pPr>
            <a:r>
              <a:rPr kumimoji="1" lang="zh-CN" altLang="en-US" b="1" dirty="0">
                <a:latin typeface="楷体_GB2312" pitchFamily="49" charset="-122"/>
                <a:ea typeface="楷体_GB2312" pitchFamily="49" charset="-122"/>
              </a:rPr>
              <a:t>串联</a:t>
            </a:r>
            <a:endParaRPr kumimoji="1" lang="zh-CN" altLang="en-US" dirty="0">
              <a:latin typeface="楷体_GB2312" pitchFamily="49" charset="-122"/>
              <a:ea typeface="楷体_GB2312" pitchFamily="49" charset="-122"/>
            </a:endParaRPr>
          </a:p>
        </p:txBody>
      </p:sp>
      <p:graphicFrame>
        <p:nvGraphicFramePr>
          <p:cNvPr id="161" name="Object 5"/>
          <p:cNvGraphicFramePr>
            <a:graphicFrameLocks noChangeAspect="1"/>
          </p:cNvGraphicFramePr>
          <p:nvPr>
            <p:extLst>
              <p:ext uri="{D42A27DB-BD31-4B8C-83A1-F6EECF244321}">
                <p14:modId xmlns:p14="http://schemas.microsoft.com/office/powerpoint/2010/main" val="1077834816"/>
              </p:ext>
            </p:extLst>
          </p:nvPr>
        </p:nvGraphicFramePr>
        <p:xfrm>
          <a:off x="2181225" y="2149478"/>
          <a:ext cx="1598613" cy="577277"/>
        </p:xfrm>
        <a:graphic>
          <a:graphicData uri="http://schemas.openxmlformats.org/presentationml/2006/ole">
            <mc:AlternateContent xmlns:mc="http://schemas.openxmlformats.org/markup-compatibility/2006">
              <mc:Choice xmlns:v="urn:schemas-microsoft-com:vml" Requires="v">
                <p:oleObj spid="_x0000_s433172" name="Equation" r:id="rId3" imgW="711000" imgH="228600" progId="Equation.DSMT4">
                  <p:embed/>
                </p:oleObj>
              </mc:Choice>
              <mc:Fallback>
                <p:oleObj name="Equation" r:id="rId3" imgW="711000" imgH="228600" progId="Equation.DSMT4">
                  <p:embed/>
                  <p:pic>
                    <p:nvPicPr>
                      <p:cNvPr id="0" name=""/>
                      <p:cNvPicPr>
                        <a:picLocks noChangeAspect="1" noChangeArrowheads="1"/>
                      </p:cNvPicPr>
                      <p:nvPr/>
                    </p:nvPicPr>
                    <p:blipFill>
                      <a:blip r:embed="rId4"/>
                      <a:srcRect/>
                      <a:stretch>
                        <a:fillRect/>
                      </a:stretch>
                    </p:blipFill>
                    <p:spPr bwMode="auto">
                      <a:xfrm>
                        <a:off x="2181225" y="2149478"/>
                        <a:ext cx="1598613" cy="577277"/>
                      </a:xfrm>
                      <a:prstGeom prst="rect">
                        <a:avLst/>
                      </a:prstGeom>
                      <a:noFill/>
                      <a:ln>
                        <a:noFill/>
                      </a:ln>
                      <a:effectLst/>
                      <a:extLst/>
                    </p:spPr>
                  </p:pic>
                </p:oleObj>
              </mc:Fallback>
            </mc:AlternateContent>
          </a:graphicData>
        </a:graphic>
      </p:graphicFrame>
      <p:grpSp>
        <p:nvGrpSpPr>
          <p:cNvPr id="162" name="Group 6"/>
          <p:cNvGrpSpPr>
            <a:grpSpLocks/>
          </p:cNvGrpSpPr>
          <p:nvPr/>
        </p:nvGrpSpPr>
        <p:grpSpPr bwMode="auto">
          <a:xfrm>
            <a:off x="4067175" y="3327624"/>
            <a:ext cx="1801813" cy="584200"/>
            <a:chOff x="3334" y="2854"/>
            <a:chExt cx="1135" cy="368"/>
          </a:xfrm>
        </p:grpSpPr>
        <p:sp>
          <p:nvSpPr>
            <p:cNvPr id="163" name="AutoShape 7"/>
            <p:cNvSpPr>
              <a:spLocks noChangeArrowheads="1"/>
            </p:cNvSpPr>
            <p:nvPr/>
          </p:nvSpPr>
          <p:spPr bwMode="auto">
            <a:xfrm>
              <a:off x="3460" y="2854"/>
              <a:ext cx="872" cy="122"/>
            </a:xfrm>
            <a:prstGeom prst="rightArrow">
              <a:avLst>
                <a:gd name="adj1" fmla="val 50000"/>
                <a:gd name="adj2" fmla="val 178689"/>
              </a:avLst>
            </a:prstGeom>
            <a:solidFill>
              <a:srgbClr val="3399FF"/>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 name="Text Box 8"/>
            <p:cNvSpPr txBox="1">
              <a:spLocks noChangeArrowheads="1"/>
            </p:cNvSpPr>
            <p:nvPr/>
          </p:nvSpPr>
          <p:spPr bwMode="auto">
            <a:xfrm>
              <a:off x="3334" y="2931"/>
              <a:ext cx="11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Arial" charset="0"/>
                  <a:ea typeface="楷体_GB2312" pitchFamily="49" charset="-122"/>
                </a:rPr>
                <a:t>等效电路</a:t>
              </a:r>
            </a:p>
          </p:txBody>
        </p:sp>
      </p:grpSp>
      <p:sp>
        <p:nvSpPr>
          <p:cNvPr id="165" name="AutoShape 9" descr="羊皮纸"/>
          <p:cNvSpPr>
            <a:spLocks noChangeArrowheads="1"/>
          </p:cNvSpPr>
          <p:nvPr/>
        </p:nvSpPr>
        <p:spPr bwMode="auto">
          <a:xfrm>
            <a:off x="4230574" y="1706317"/>
            <a:ext cx="2348696" cy="576262"/>
          </a:xfrm>
          <a:prstGeom prst="wedgeRoundRectCallout">
            <a:avLst>
              <a:gd name="adj1" fmla="val -62462"/>
              <a:gd name="adj2" fmla="val 84122"/>
              <a:gd name="adj3"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b="1" dirty="0">
                <a:latin typeface="Arial" charset="0"/>
                <a:ea typeface="楷体_GB2312" pitchFamily="49" charset="-122"/>
              </a:rPr>
              <a:t>注意参考方向</a:t>
            </a:r>
          </a:p>
        </p:txBody>
      </p:sp>
      <p:sp>
        <p:nvSpPr>
          <p:cNvPr id="166" name="Rectangle 16"/>
          <p:cNvSpPr>
            <a:spLocks noChangeArrowheads="1"/>
          </p:cNvSpPr>
          <p:nvPr/>
        </p:nvSpPr>
        <p:spPr bwMode="auto">
          <a:xfrm>
            <a:off x="682625" y="4400774"/>
            <a:ext cx="12954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spcBef>
                <a:spcPct val="50000"/>
              </a:spcBef>
              <a:buSzPct val="95000"/>
              <a:buFont typeface="Wingdings" pitchFamily="2" charset="2"/>
              <a:buAutoNum type="circleNumDbPlain" startAt="2"/>
            </a:pPr>
            <a:r>
              <a:rPr kumimoji="1" lang="zh-CN" altLang="en-US" b="1">
                <a:latin typeface="楷体_GB2312" pitchFamily="49" charset="-122"/>
                <a:ea typeface="楷体_GB2312" pitchFamily="49" charset="-122"/>
              </a:rPr>
              <a:t>并联</a:t>
            </a:r>
            <a:endParaRPr kumimoji="1" lang="zh-CN" altLang="en-US">
              <a:latin typeface="楷体_GB2312" pitchFamily="49" charset="-122"/>
              <a:ea typeface="楷体_GB2312" pitchFamily="49" charset="-122"/>
            </a:endParaRPr>
          </a:p>
        </p:txBody>
      </p:sp>
      <p:graphicFrame>
        <p:nvGraphicFramePr>
          <p:cNvPr id="167" name="Object 17"/>
          <p:cNvGraphicFramePr>
            <a:graphicFrameLocks noChangeAspect="1"/>
          </p:cNvGraphicFramePr>
          <p:nvPr>
            <p:extLst>
              <p:ext uri="{D42A27DB-BD31-4B8C-83A1-F6EECF244321}">
                <p14:modId xmlns:p14="http://schemas.microsoft.com/office/powerpoint/2010/main" val="56002609"/>
              </p:ext>
            </p:extLst>
          </p:nvPr>
        </p:nvGraphicFramePr>
        <p:xfrm>
          <a:off x="2405063" y="4345211"/>
          <a:ext cx="1762125" cy="612775"/>
        </p:xfrm>
        <a:graphic>
          <a:graphicData uri="http://schemas.openxmlformats.org/presentationml/2006/ole">
            <mc:AlternateContent xmlns:mc="http://schemas.openxmlformats.org/markup-compatibility/2006">
              <mc:Choice xmlns:v="urn:schemas-microsoft-com:vml" Requires="v">
                <p:oleObj spid="_x0000_s433173" name="Equation" r:id="rId6" imgW="736560" imgH="228600" progId="Equation.DSMT4">
                  <p:embed/>
                </p:oleObj>
              </mc:Choice>
              <mc:Fallback>
                <p:oleObj name="Equation" r:id="rId6" imgW="736560" imgH="228600" progId="Equation.DSMT4">
                  <p:embed/>
                  <p:pic>
                    <p:nvPicPr>
                      <p:cNvPr id="0" name=""/>
                      <p:cNvPicPr>
                        <a:picLocks noChangeAspect="1" noChangeArrowheads="1"/>
                      </p:cNvPicPr>
                      <p:nvPr/>
                    </p:nvPicPr>
                    <p:blipFill>
                      <a:blip r:embed="rId7"/>
                      <a:srcRect/>
                      <a:stretch>
                        <a:fillRect/>
                      </a:stretch>
                    </p:blipFill>
                    <p:spPr bwMode="auto">
                      <a:xfrm>
                        <a:off x="2405063" y="4345211"/>
                        <a:ext cx="176212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8" name="Text Box 18"/>
          <p:cNvSpPr txBox="1">
            <a:spLocks noChangeArrowheads="1"/>
          </p:cNvSpPr>
          <p:nvPr/>
        </p:nvSpPr>
        <p:spPr bwMode="auto">
          <a:xfrm>
            <a:off x="457201" y="5571912"/>
            <a:ext cx="4679950" cy="97872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en-US" altLang="zh-CN" b="1" dirty="0">
                <a:latin typeface="楷体_GB2312" pitchFamily="49" charset="-122"/>
                <a:ea typeface="楷体_GB2312" pitchFamily="49" charset="-122"/>
              </a:rPr>
              <a:t>         </a:t>
            </a:r>
            <a:r>
              <a:rPr kumimoji="1" lang="zh-CN" altLang="en-US" b="1" dirty="0">
                <a:latin typeface="楷体_GB2312" pitchFamily="49" charset="-122"/>
                <a:ea typeface="楷体_GB2312" pitchFamily="49" charset="-122"/>
              </a:rPr>
              <a:t>相同电压源才能并联</a:t>
            </a:r>
            <a:r>
              <a:rPr kumimoji="1" lang="en-US" altLang="zh-CN" b="1" dirty="0">
                <a:latin typeface="楷体_GB2312" pitchFamily="49" charset="-122"/>
                <a:ea typeface="楷体_GB2312" pitchFamily="49" charset="-122"/>
              </a:rPr>
              <a:t>,</a:t>
            </a:r>
            <a:r>
              <a:rPr kumimoji="1" lang="zh-CN" altLang="en-US" b="1" dirty="0">
                <a:latin typeface="楷体_GB2312" pitchFamily="49" charset="-122"/>
                <a:ea typeface="楷体_GB2312" pitchFamily="49" charset="-122"/>
              </a:rPr>
              <a:t>电源中的电流不确定。</a:t>
            </a:r>
            <a:endParaRPr kumimoji="1" lang="zh-CN" altLang="en-US" dirty="0">
              <a:latin typeface="楷体_GB2312" pitchFamily="49" charset="-122"/>
              <a:ea typeface="楷体_GB2312" pitchFamily="49" charset="-122"/>
            </a:endParaRPr>
          </a:p>
        </p:txBody>
      </p:sp>
      <p:grpSp>
        <p:nvGrpSpPr>
          <p:cNvPr id="169" name="Group 19"/>
          <p:cNvGrpSpPr>
            <a:grpSpLocks/>
          </p:cNvGrpSpPr>
          <p:nvPr/>
        </p:nvGrpSpPr>
        <p:grpSpPr bwMode="auto">
          <a:xfrm>
            <a:off x="392113" y="5296974"/>
            <a:ext cx="1447800" cy="850900"/>
            <a:chOff x="385" y="3022"/>
            <a:chExt cx="912" cy="536"/>
          </a:xfrm>
        </p:grpSpPr>
        <p:pic>
          <p:nvPicPr>
            <p:cNvPr id="170" name="Picture 20" descr="1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171" name="Text Box 21"/>
            <p:cNvSpPr txBox="1">
              <a:spLocks noChangeArrowheads="1"/>
            </p:cNvSpPr>
            <p:nvPr/>
          </p:nvSpPr>
          <p:spPr bwMode="auto">
            <a:xfrm>
              <a:off x="793" y="3125"/>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CC6600"/>
                  </a:solidFill>
                  <a:latin typeface="Arial" charset="0"/>
                  <a:ea typeface="华文行楷" pitchFamily="2" charset="-122"/>
                </a:rPr>
                <a:t>注意</a:t>
              </a:r>
            </a:p>
          </p:txBody>
        </p:sp>
      </p:grpSp>
      <p:grpSp>
        <p:nvGrpSpPr>
          <p:cNvPr id="172" name="Group 22"/>
          <p:cNvGrpSpPr>
            <a:grpSpLocks/>
          </p:cNvGrpSpPr>
          <p:nvPr/>
        </p:nvGrpSpPr>
        <p:grpSpPr bwMode="auto">
          <a:xfrm>
            <a:off x="755650" y="2675162"/>
            <a:ext cx="3024188" cy="1552575"/>
            <a:chOff x="476" y="1582"/>
            <a:chExt cx="1905" cy="978"/>
          </a:xfrm>
        </p:grpSpPr>
        <p:sp>
          <p:nvSpPr>
            <p:cNvPr id="173" name="Oval 23"/>
            <p:cNvSpPr>
              <a:spLocks noChangeArrowheads="1"/>
            </p:cNvSpPr>
            <p:nvPr/>
          </p:nvSpPr>
          <p:spPr bwMode="auto">
            <a:xfrm>
              <a:off x="1701" y="188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174" name="Oval 24"/>
            <p:cNvSpPr>
              <a:spLocks noChangeArrowheads="1"/>
            </p:cNvSpPr>
            <p:nvPr/>
          </p:nvSpPr>
          <p:spPr bwMode="auto">
            <a:xfrm>
              <a:off x="839" y="188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175" name="Text Box 25"/>
            <p:cNvSpPr txBox="1">
              <a:spLocks noChangeArrowheads="1"/>
            </p:cNvSpPr>
            <p:nvPr/>
          </p:nvSpPr>
          <p:spPr bwMode="auto">
            <a:xfrm>
              <a:off x="1741" y="1582"/>
              <a:ext cx="43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smtClean="0"/>
                <a:t>v</a:t>
              </a:r>
              <a:r>
                <a:rPr kumimoji="1" lang="en-US" altLang="zh-CN" i="1" baseline="-25000" dirty="0" smtClean="0"/>
                <a:t>S</a:t>
              </a:r>
              <a:r>
                <a:rPr kumimoji="1" lang="en-US" altLang="zh-CN" baseline="-25000" dirty="0" smtClean="0"/>
                <a:t>2</a:t>
              </a:r>
              <a:endParaRPr kumimoji="1" lang="en-US" altLang="zh-CN" dirty="0"/>
            </a:p>
          </p:txBody>
        </p:sp>
        <p:sp>
          <p:nvSpPr>
            <p:cNvPr id="176" name="Text Box 26"/>
            <p:cNvSpPr txBox="1">
              <a:spLocks noChangeArrowheads="1"/>
            </p:cNvSpPr>
            <p:nvPr/>
          </p:nvSpPr>
          <p:spPr bwMode="auto">
            <a:xfrm>
              <a:off x="1483" y="1807"/>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a:solidFill>
                    <a:schemeClr val="bg1"/>
                  </a:solidFill>
                </a:rPr>
                <a:t>+</a:t>
              </a:r>
            </a:p>
          </p:txBody>
        </p:sp>
        <p:sp>
          <p:nvSpPr>
            <p:cNvPr id="177" name="Text Box 27"/>
            <p:cNvSpPr txBox="1">
              <a:spLocks noChangeArrowheads="1"/>
            </p:cNvSpPr>
            <p:nvPr/>
          </p:nvSpPr>
          <p:spPr bwMode="auto">
            <a:xfrm>
              <a:off x="2109" y="1679"/>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a:solidFill>
                    <a:schemeClr val="bg1"/>
                  </a:solidFill>
                </a:rPr>
                <a:t>_</a:t>
              </a:r>
            </a:p>
          </p:txBody>
        </p:sp>
        <p:sp>
          <p:nvSpPr>
            <p:cNvPr id="178" name="Text Box 28"/>
            <p:cNvSpPr txBox="1">
              <a:spLocks noChangeArrowheads="1"/>
            </p:cNvSpPr>
            <p:nvPr/>
          </p:nvSpPr>
          <p:spPr bwMode="auto">
            <a:xfrm>
              <a:off x="576" y="1770"/>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a:solidFill>
                    <a:schemeClr val="bg1"/>
                  </a:solidFill>
                </a:rPr>
                <a:t>+</a:t>
              </a:r>
            </a:p>
          </p:txBody>
        </p:sp>
        <p:sp>
          <p:nvSpPr>
            <p:cNvPr id="179" name="Text Box 29"/>
            <p:cNvSpPr txBox="1">
              <a:spLocks noChangeArrowheads="1"/>
            </p:cNvSpPr>
            <p:nvPr/>
          </p:nvSpPr>
          <p:spPr bwMode="auto">
            <a:xfrm>
              <a:off x="1162" y="1679"/>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dirty="0"/>
                <a:t>_</a:t>
              </a:r>
            </a:p>
          </p:txBody>
        </p:sp>
        <p:sp>
          <p:nvSpPr>
            <p:cNvPr id="180" name="Line 31"/>
            <p:cNvSpPr>
              <a:spLocks noChangeShapeType="1"/>
            </p:cNvSpPr>
            <p:nvPr/>
          </p:nvSpPr>
          <p:spPr bwMode="auto">
            <a:xfrm>
              <a:off x="522" y="2070"/>
              <a:ext cx="0" cy="3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 name="Text Box 32"/>
            <p:cNvSpPr txBox="1">
              <a:spLocks noChangeArrowheads="1"/>
            </p:cNvSpPr>
            <p:nvPr/>
          </p:nvSpPr>
          <p:spPr bwMode="auto">
            <a:xfrm>
              <a:off x="861" y="1582"/>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smtClean="0"/>
                <a:t>v</a:t>
              </a:r>
              <a:r>
                <a:rPr kumimoji="1" lang="en-US" altLang="zh-CN" i="1" baseline="-25000" dirty="0" smtClean="0"/>
                <a:t>S</a:t>
              </a:r>
              <a:r>
                <a:rPr kumimoji="1" lang="en-US" altLang="zh-CN" baseline="-25000" dirty="0" smtClean="0"/>
                <a:t>1</a:t>
              </a:r>
              <a:endParaRPr kumimoji="1" lang="en-US" altLang="zh-CN" dirty="0"/>
            </a:p>
          </p:txBody>
        </p:sp>
        <p:sp>
          <p:nvSpPr>
            <p:cNvPr id="182" name="Line 33"/>
            <p:cNvSpPr>
              <a:spLocks noChangeShapeType="1"/>
            </p:cNvSpPr>
            <p:nvPr/>
          </p:nvSpPr>
          <p:spPr bwMode="auto">
            <a:xfrm flipH="1" flipV="1">
              <a:off x="521" y="2070"/>
              <a:ext cx="181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3" name="Text Box 35"/>
            <p:cNvSpPr txBox="1">
              <a:spLocks noChangeArrowheads="1"/>
            </p:cNvSpPr>
            <p:nvPr/>
          </p:nvSpPr>
          <p:spPr bwMode="auto">
            <a:xfrm>
              <a:off x="621" y="2269"/>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dirty="0"/>
                <a:t>+</a:t>
              </a:r>
            </a:p>
          </p:txBody>
        </p:sp>
        <p:sp>
          <p:nvSpPr>
            <p:cNvPr id="184" name="Text Box 36"/>
            <p:cNvSpPr txBox="1">
              <a:spLocks noChangeArrowheads="1"/>
            </p:cNvSpPr>
            <p:nvPr/>
          </p:nvSpPr>
          <p:spPr bwMode="auto">
            <a:xfrm>
              <a:off x="2064" y="2178"/>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a:t>_</a:t>
              </a:r>
            </a:p>
          </p:txBody>
        </p:sp>
        <p:sp>
          <p:nvSpPr>
            <p:cNvPr id="185" name="Text Box 37"/>
            <p:cNvSpPr txBox="1">
              <a:spLocks noChangeArrowheads="1"/>
            </p:cNvSpPr>
            <p:nvPr/>
          </p:nvSpPr>
          <p:spPr bwMode="auto">
            <a:xfrm>
              <a:off x="1292" y="2251"/>
              <a:ext cx="3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smtClean="0"/>
                <a:t>v</a:t>
              </a:r>
              <a:endParaRPr kumimoji="1" lang="en-US" altLang="zh-CN" dirty="0"/>
            </a:p>
          </p:txBody>
        </p:sp>
        <p:sp>
          <p:nvSpPr>
            <p:cNvPr id="186" name="Line 38"/>
            <p:cNvSpPr>
              <a:spLocks noChangeShapeType="1"/>
            </p:cNvSpPr>
            <p:nvPr/>
          </p:nvSpPr>
          <p:spPr bwMode="auto">
            <a:xfrm>
              <a:off x="2336" y="2070"/>
              <a:ext cx="0" cy="3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7" name="Oval 39"/>
            <p:cNvSpPr>
              <a:spLocks noChangeArrowheads="1"/>
            </p:cNvSpPr>
            <p:nvPr/>
          </p:nvSpPr>
          <p:spPr bwMode="auto">
            <a:xfrm>
              <a:off x="476" y="2432"/>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8" name="Oval 40"/>
            <p:cNvSpPr>
              <a:spLocks noChangeArrowheads="1"/>
            </p:cNvSpPr>
            <p:nvPr/>
          </p:nvSpPr>
          <p:spPr bwMode="auto">
            <a:xfrm>
              <a:off x="2290" y="2432"/>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9" name="Text Box 35"/>
            <p:cNvSpPr txBox="1">
              <a:spLocks noChangeArrowheads="1"/>
            </p:cNvSpPr>
            <p:nvPr/>
          </p:nvSpPr>
          <p:spPr bwMode="auto">
            <a:xfrm>
              <a:off x="641" y="1778"/>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dirty="0"/>
                <a:t>+</a:t>
              </a:r>
            </a:p>
          </p:txBody>
        </p:sp>
        <p:sp>
          <p:nvSpPr>
            <p:cNvPr id="190" name="Text Box 35"/>
            <p:cNvSpPr txBox="1">
              <a:spLocks noChangeArrowheads="1"/>
            </p:cNvSpPr>
            <p:nvPr/>
          </p:nvSpPr>
          <p:spPr bwMode="auto">
            <a:xfrm>
              <a:off x="1505" y="1757"/>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dirty="0"/>
                <a:t>+</a:t>
              </a:r>
            </a:p>
          </p:txBody>
        </p:sp>
        <p:sp>
          <p:nvSpPr>
            <p:cNvPr id="191" name="Text Box 29"/>
            <p:cNvSpPr txBox="1">
              <a:spLocks noChangeArrowheads="1"/>
            </p:cNvSpPr>
            <p:nvPr/>
          </p:nvSpPr>
          <p:spPr bwMode="auto">
            <a:xfrm>
              <a:off x="2019" y="1674"/>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dirty="0"/>
                <a:t>_</a:t>
              </a:r>
            </a:p>
          </p:txBody>
        </p:sp>
      </p:grpSp>
      <p:grpSp>
        <p:nvGrpSpPr>
          <p:cNvPr id="192" name="组合 191"/>
          <p:cNvGrpSpPr/>
          <p:nvPr/>
        </p:nvGrpSpPr>
        <p:grpSpPr>
          <a:xfrm>
            <a:off x="5742877" y="4753174"/>
            <a:ext cx="2861372" cy="1539900"/>
            <a:chOff x="5742877" y="4573563"/>
            <a:chExt cx="2861372" cy="1539900"/>
          </a:xfrm>
        </p:grpSpPr>
        <p:sp>
          <p:nvSpPr>
            <p:cNvPr id="193" name="Oval 52"/>
            <p:cNvSpPr>
              <a:spLocks noChangeArrowheads="1"/>
            </p:cNvSpPr>
            <p:nvPr/>
          </p:nvSpPr>
          <p:spPr bwMode="auto">
            <a:xfrm>
              <a:off x="7241318" y="5047163"/>
              <a:ext cx="554646" cy="535425"/>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194" name="Oval 53"/>
            <p:cNvSpPr>
              <a:spLocks noChangeArrowheads="1"/>
            </p:cNvSpPr>
            <p:nvPr/>
          </p:nvSpPr>
          <p:spPr bwMode="auto">
            <a:xfrm>
              <a:off x="6148363" y="5047163"/>
              <a:ext cx="554646" cy="535425"/>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195" name="Text Box 54"/>
            <p:cNvSpPr txBox="1">
              <a:spLocks noChangeArrowheads="1"/>
            </p:cNvSpPr>
            <p:nvPr/>
          </p:nvSpPr>
          <p:spPr bwMode="auto">
            <a:xfrm>
              <a:off x="5742877" y="5257713"/>
              <a:ext cx="733416" cy="46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smtClean="0"/>
                <a:t>v</a:t>
              </a:r>
              <a:r>
                <a:rPr kumimoji="1" lang="en-US" altLang="zh-CN" i="1" baseline="-25000" dirty="0" smtClean="0"/>
                <a:t>S</a:t>
              </a:r>
              <a:r>
                <a:rPr kumimoji="1" lang="en-US" altLang="zh-CN" baseline="-25000" dirty="0" smtClean="0"/>
                <a:t>1</a:t>
              </a:r>
              <a:endParaRPr kumimoji="1" lang="en-US" altLang="zh-CN" baseline="-25000" dirty="0"/>
            </a:p>
          </p:txBody>
        </p:sp>
        <p:sp>
          <p:nvSpPr>
            <p:cNvPr id="196" name="Text Box 57"/>
            <p:cNvSpPr txBox="1">
              <a:spLocks noChangeArrowheads="1"/>
            </p:cNvSpPr>
            <p:nvPr/>
          </p:nvSpPr>
          <p:spPr bwMode="auto">
            <a:xfrm>
              <a:off x="7106859" y="4588438"/>
              <a:ext cx="359068" cy="461675"/>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a:t>+</a:t>
              </a:r>
            </a:p>
          </p:txBody>
        </p:sp>
        <p:sp>
          <p:nvSpPr>
            <p:cNvPr id="197" name="Text Box 58"/>
            <p:cNvSpPr txBox="1">
              <a:spLocks noChangeArrowheads="1"/>
            </p:cNvSpPr>
            <p:nvPr/>
          </p:nvSpPr>
          <p:spPr bwMode="auto">
            <a:xfrm>
              <a:off x="7171033" y="5525063"/>
              <a:ext cx="323925" cy="461675"/>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a:t>_</a:t>
              </a:r>
            </a:p>
          </p:txBody>
        </p:sp>
        <p:sp>
          <p:nvSpPr>
            <p:cNvPr id="198" name="Line 59"/>
            <p:cNvSpPr>
              <a:spLocks noChangeShapeType="1"/>
            </p:cNvSpPr>
            <p:nvPr/>
          </p:nvSpPr>
          <p:spPr bwMode="auto">
            <a:xfrm>
              <a:off x="6424922" y="4645963"/>
              <a:ext cx="0" cy="1404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 name="Line 60"/>
            <p:cNvSpPr>
              <a:spLocks noChangeShapeType="1"/>
            </p:cNvSpPr>
            <p:nvPr/>
          </p:nvSpPr>
          <p:spPr bwMode="auto">
            <a:xfrm>
              <a:off x="7517877" y="4645963"/>
              <a:ext cx="0" cy="1404200"/>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0" name="Line 61"/>
            <p:cNvSpPr>
              <a:spLocks noChangeShapeType="1"/>
            </p:cNvSpPr>
            <p:nvPr/>
          </p:nvSpPr>
          <p:spPr bwMode="auto">
            <a:xfrm>
              <a:off x="6408586" y="4645963"/>
              <a:ext cx="1906881" cy="0"/>
            </a:xfrm>
            <a:prstGeom prst="line">
              <a:avLst/>
            </a:prstGeom>
            <a:noFill/>
            <a:ln w="285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1" name="Line 62"/>
            <p:cNvSpPr>
              <a:spLocks noChangeShapeType="1"/>
            </p:cNvSpPr>
            <p:nvPr/>
          </p:nvSpPr>
          <p:spPr bwMode="auto">
            <a:xfrm>
              <a:off x="6408586" y="6050163"/>
              <a:ext cx="190688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2" name="Line 64"/>
            <p:cNvSpPr>
              <a:spLocks noChangeShapeType="1"/>
            </p:cNvSpPr>
            <p:nvPr/>
          </p:nvSpPr>
          <p:spPr bwMode="auto">
            <a:xfrm>
              <a:off x="7586635" y="4731388"/>
              <a:ext cx="660074" cy="0"/>
            </a:xfrm>
            <a:prstGeom prst="line">
              <a:avLst/>
            </a:prstGeom>
            <a:noFill/>
            <a:ln w="28575">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 name="Text Box 65"/>
            <p:cNvSpPr txBox="1">
              <a:spLocks noChangeArrowheads="1"/>
            </p:cNvSpPr>
            <p:nvPr/>
          </p:nvSpPr>
          <p:spPr bwMode="auto">
            <a:xfrm>
              <a:off x="6796886" y="5262513"/>
              <a:ext cx="733416" cy="46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smtClean="0"/>
                <a:t>v</a:t>
              </a:r>
              <a:r>
                <a:rPr kumimoji="1" lang="en-US" altLang="zh-CN" i="1" baseline="-25000" dirty="0" smtClean="0"/>
                <a:t>S</a:t>
              </a:r>
              <a:r>
                <a:rPr kumimoji="1" lang="en-US" altLang="zh-CN" baseline="-25000" dirty="0" smtClean="0"/>
                <a:t>2</a:t>
              </a:r>
              <a:endParaRPr kumimoji="1" lang="en-US" altLang="zh-CN" baseline="-25000" dirty="0"/>
            </a:p>
          </p:txBody>
        </p:sp>
        <p:sp>
          <p:nvSpPr>
            <p:cNvPr id="204" name="Text Box 66"/>
            <p:cNvSpPr txBox="1">
              <a:spLocks noChangeArrowheads="1"/>
            </p:cNvSpPr>
            <p:nvPr/>
          </p:nvSpPr>
          <p:spPr bwMode="auto">
            <a:xfrm>
              <a:off x="8148920" y="4700538"/>
              <a:ext cx="359068" cy="461675"/>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a:t>+</a:t>
              </a:r>
            </a:p>
          </p:txBody>
        </p:sp>
        <p:sp>
          <p:nvSpPr>
            <p:cNvPr id="205" name="Text Box 67"/>
            <p:cNvSpPr txBox="1">
              <a:spLocks noChangeArrowheads="1"/>
            </p:cNvSpPr>
            <p:nvPr/>
          </p:nvSpPr>
          <p:spPr bwMode="auto">
            <a:xfrm>
              <a:off x="8211566" y="5438038"/>
              <a:ext cx="323925" cy="461675"/>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a:t>_</a:t>
              </a:r>
            </a:p>
          </p:txBody>
        </p:sp>
        <p:sp>
          <p:nvSpPr>
            <p:cNvPr id="206" name="Text Box 68"/>
            <p:cNvSpPr txBox="1">
              <a:spLocks noChangeArrowheads="1"/>
            </p:cNvSpPr>
            <p:nvPr/>
          </p:nvSpPr>
          <p:spPr bwMode="auto">
            <a:xfrm>
              <a:off x="8072523" y="5113538"/>
              <a:ext cx="531726" cy="46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smtClean="0"/>
                <a:t>v</a:t>
              </a:r>
              <a:endParaRPr kumimoji="1" lang="en-US" altLang="zh-CN" dirty="0"/>
            </a:p>
          </p:txBody>
        </p:sp>
        <p:sp>
          <p:nvSpPr>
            <p:cNvPr id="207" name="Oval 69"/>
            <p:cNvSpPr>
              <a:spLocks noChangeArrowheads="1"/>
            </p:cNvSpPr>
            <p:nvPr/>
          </p:nvSpPr>
          <p:spPr bwMode="auto">
            <a:xfrm>
              <a:off x="8299374" y="5979238"/>
              <a:ext cx="139043" cy="134225"/>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 name="Oval 70"/>
            <p:cNvSpPr>
              <a:spLocks noChangeArrowheads="1"/>
            </p:cNvSpPr>
            <p:nvPr/>
          </p:nvSpPr>
          <p:spPr bwMode="auto">
            <a:xfrm>
              <a:off x="8308899" y="4573563"/>
              <a:ext cx="139043" cy="134225"/>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9" name="组合 208"/>
          <p:cNvGrpSpPr/>
          <p:nvPr/>
        </p:nvGrpSpPr>
        <p:grpSpPr>
          <a:xfrm>
            <a:off x="6300788" y="2300374"/>
            <a:ext cx="1944687" cy="1454286"/>
            <a:chOff x="6300788" y="2120763"/>
            <a:chExt cx="1944687" cy="1454286"/>
          </a:xfrm>
        </p:grpSpPr>
        <p:grpSp>
          <p:nvGrpSpPr>
            <p:cNvPr id="210" name="Group 41"/>
            <p:cNvGrpSpPr>
              <a:grpSpLocks/>
            </p:cNvGrpSpPr>
            <p:nvPr/>
          </p:nvGrpSpPr>
          <p:grpSpPr bwMode="auto">
            <a:xfrm>
              <a:off x="6300788" y="2162174"/>
              <a:ext cx="1944687" cy="1412875"/>
              <a:chOff x="2562" y="1951"/>
              <a:chExt cx="1225" cy="890"/>
            </a:xfrm>
          </p:grpSpPr>
          <p:sp>
            <p:nvSpPr>
              <p:cNvPr id="212" name="Oval 42"/>
              <p:cNvSpPr>
                <a:spLocks noChangeArrowheads="1"/>
              </p:cNvSpPr>
              <p:nvPr/>
            </p:nvSpPr>
            <p:spPr bwMode="auto">
              <a:xfrm>
                <a:off x="2562" y="2750"/>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3" name="Oval 43"/>
              <p:cNvSpPr>
                <a:spLocks noChangeArrowheads="1"/>
              </p:cNvSpPr>
              <p:nvPr/>
            </p:nvSpPr>
            <p:spPr bwMode="auto">
              <a:xfrm>
                <a:off x="3696" y="2750"/>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4" name="Oval 44"/>
              <p:cNvSpPr>
                <a:spLocks noChangeArrowheads="1"/>
              </p:cNvSpPr>
              <p:nvPr/>
            </p:nvSpPr>
            <p:spPr bwMode="auto">
              <a:xfrm>
                <a:off x="2960" y="2206"/>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215" name="Line 45"/>
              <p:cNvSpPr>
                <a:spLocks noChangeShapeType="1"/>
              </p:cNvSpPr>
              <p:nvPr/>
            </p:nvSpPr>
            <p:spPr bwMode="auto">
              <a:xfrm>
                <a:off x="2608" y="2388"/>
                <a:ext cx="0" cy="3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 name="Line 46"/>
              <p:cNvSpPr>
                <a:spLocks noChangeShapeType="1"/>
              </p:cNvSpPr>
              <p:nvPr/>
            </p:nvSpPr>
            <p:spPr bwMode="auto">
              <a:xfrm flipH="1">
                <a:off x="2607" y="2387"/>
                <a:ext cx="1134" cy="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7" name="Text Box 47"/>
              <p:cNvSpPr txBox="1">
                <a:spLocks noChangeArrowheads="1"/>
              </p:cNvSpPr>
              <p:nvPr/>
            </p:nvSpPr>
            <p:spPr bwMode="auto">
              <a:xfrm>
                <a:off x="2662" y="2087"/>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a:solidFill>
                      <a:schemeClr val="bg1"/>
                    </a:solidFill>
                  </a:rPr>
                  <a:t>+</a:t>
                </a:r>
              </a:p>
            </p:txBody>
          </p:sp>
          <p:sp>
            <p:nvSpPr>
              <p:cNvPr id="218" name="Text Box 48"/>
              <p:cNvSpPr txBox="1">
                <a:spLocks noChangeArrowheads="1"/>
              </p:cNvSpPr>
              <p:nvPr/>
            </p:nvSpPr>
            <p:spPr bwMode="auto">
              <a:xfrm>
                <a:off x="3288" y="1951"/>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a:solidFill>
                      <a:schemeClr val="bg1"/>
                    </a:solidFill>
                  </a:rPr>
                  <a:t>_</a:t>
                </a:r>
              </a:p>
            </p:txBody>
          </p:sp>
          <p:sp>
            <p:nvSpPr>
              <p:cNvPr id="219" name="Text Box 49"/>
              <p:cNvSpPr txBox="1">
                <a:spLocks noChangeArrowheads="1"/>
              </p:cNvSpPr>
              <p:nvPr/>
            </p:nvSpPr>
            <p:spPr bwMode="auto">
              <a:xfrm>
                <a:off x="3016" y="2523"/>
                <a:ext cx="3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solidFill>
                      <a:schemeClr val="bg1"/>
                    </a:solidFill>
                  </a:rPr>
                  <a:t>u</a:t>
                </a:r>
                <a:endParaRPr kumimoji="1" lang="en-US" altLang="zh-CN">
                  <a:solidFill>
                    <a:schemeClr val="bg1"/>
                  </a:solidFill>
                </a:endParaRPr>
              </a:p>
            </p:txBody>
          </p:sp>
          <p:sp>
            <p:nvSpPr>
              <p:cNvPr id="220" name="Line 50"/>
              <p:cNvSpPr>
                <a:spLocks noChangeShapeType="1"/>
              </p:cNvSpPr>
              <p:nvPr/>
            </p:nvSpPr>
            <p:spPr bwMode="auto">
              <a:xfrm>
                <a:off x="3741" y="2388"/>
                <a:ext cx="0" cy="3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1" name="Text Box 68"/>
            <p:cNvSpPr txBox="1">
              <a:spLocks noChangeArrowheads="1"/>
            </p:cNvSpPr>
            <p:nvPr/>
          </p:nvSpPr>
          <p:spPr bwMode="auto">
            <a:xfrm>
              <a:off x="6963232" y="2120763"/>
              <a:ext cx="531726" cy="46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smtClean="0"/>
                <a:t>v</a:t>
              </a:r>
              <a:endParaRPr kumimoji="1" lang="en-US" altLang="zh-CN" dirty="0"/>
            </a:p>
          </p:txBody>
        </p:sp>
      </p:grpSp>
      <p:grpSp>
        <p:nvGrpSpPr>
          <p:cNvPr id="221" name="Group 71"/>
          <p:cNvGrpSpPr>
            <a:grpSpLocks/>
          </p:cNvGrpSpPr>
          <p:nvPr/>
        </p:nvGrpSpPr>
        <p:grpSpPr bwMode="auto">
          <a:xfrm>
            <a:off x="6805616" y="3629249"/>
            <a:ext cx="1943101" cy="865188"/>
            <a:chOff x="4378" y="2293"/>
            <a:chExt cx="1224" cy="545"/>
          </a:xfrm>
        </p:grpSpPr>
        <p:sp>
          <p:nvSpPr>
            <p:cNvPr id="222" name="AutoShape 72"/>
            <p:cNvSpPr>
              <a:spLocks noChangeArrowheads="1"/>
            </p:cNvSpPr>
            <p:nvPr/>
          </p:nvSpPr>
          <p:spPr bwMode="auto">
            <a:xfrm rot="16200000">
              <a:off x="4173" y="2498"/>
              <a:ext cx="545" cy="135"/>
            </a:xfrm>
            <a:prstGeom prst="rightArrow">
              <a:avLst>
                <a:gd name="adj1" fmla="val 50000"/>
                <a:gd name="adj2" fmla="val 125184"/>
              </a:avLst>
            </a:prstGeom>
            <a:solidFill>
              <a:srgbClr val="3399FF"/>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 name="Text Box 73"/>
            <p:cNvSpPr txBox="1">
              <a:spLocks noChangeArrowheads="1"/>
            </p:cNvSpPr>
            <p:nvPr/>
          </p:nvSpPr>
          <p:spPr bwMode="auto">
            <a:xfrm>
              <a:off x="4536" y="2478"/>
              <a:ext cx="106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ea typeface="楷体_GB2312" pitchFamily="49" charset="-122"/>
                </a:rPr>
                <a:t>等效电路</a:t>
              </a:r>
            </a:p>
          </p:txBody>
        </p:sp>
      </p:grpSp>
    </p:spTree>
    <p:extLst>
      <p:ext uri="{BB962C8B-B14F-4D97-AF65-F5344CB8AC3E}">
        <p14:creationId xmlns:p14="http://schemas.microsoft.com/office/powerpoint/2010/main" val="11071564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barn(inVertical)">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0"/>
                                        </p:tgtEl>
                                        <p:attrNameLst>
                                          <p:attrName>style.visibility</p:attrName>
                                        </p:attrNameLst>
                                      </p:cBhvr>
                                      <p:to>
                                        <p:strVal val="visible"/>
                                      </p:to>
                                    </p:set>
                                    <p:animEffect transition="in" filter="slide(fromBottom)">
                                      <p:cBhvr>
                                        <p:cTn id="12" dur="500"/>
                                        <p:tgtEl>
                                          <p:spTgt spid="1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2"/>
                                        </p:tgtEl>
                                        <p:attrNameLst>
                                          <p:attrName>style.visibility</p:attrName>
                                        </p:attrNameLst>
                                      </p:cBhvr>
                                      <p:to>
                                        <p:strVal val="visible"/>
                                      </p:to>
                                    </p:set>
                                    <p:animEffect transition="in" filter="blinds(horizontal)">
                                      <p:cBhvr>
                                        <p:cTn id="17" dur="500"/>
                                        <p:tgtEl>
                                          <p:spTgt spid="1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1"/>
                                        </p:tgtEl>
                                        <p:attrNameLst>
                                          <p:attrName>style.visibility</p:attrName>
                                        </p:attrNameLst>
                                      </p:cBhvr>
                                      <p:to>
                                        <p:strVal val="visible"/>
                                      </p:to>
                                    </p:set>
                                    <p:animEffect transition="in" filter="wipe(left)">
                                      <p:cBhvr>
                                        <p:cTn id="22" dur="3000"/>
                                        <p:tgtEl>
                                          <p:spTgt spid="161"/>
                                        </p:tgtEl>
                                      </p:cBhvr>
                                    </p:animEffect>
                                  </p:childTnLst>
                                </p:cTn>
                              </p:par>
                            </p:childTnLst>
                          </p:cTn>
                        </p:par>
                        <p:par>
                          <p:cTn id="23" fill="hold">
                            <p:stCondLst>
                              <p:cond delay="3000"/>
                            </p:stCondLst>
                            <p:childTnLst>
                              <p:par>
                                <p:cTn id="24" presetID="20" presetClass="entr" presetSubtype="0" fill="hold" grpId="0" nodeType="afterEffect">
                                  <p:stCondLst>
                                    <p:cond delay="0"/>
                                  </p:stCondLst>
                                  <p:childTnLst>
                                    <p:set>
                                      <p:cBhvr>
                                        <p:cTn id="25" dur="1" fill="hold">
                                          <p:stCondLst>
                                            <p:cond delay="0"/>
                                          </p:stCondLst>
                                        </p:cTn>
                                        <p:tgtEl>
                                          <p:spTgt spid="165"/>
                                        </p:tgtEl>
                                        <p:attrNameLst>
                                          <p:attrName>style.visibility</p:attrName>
                                        </p:attrNameLst>
                                      </p:cBhvr>
                                      <p:to>
                                        <p:strVal val="visible"/>
                                      </p:to>
                                    </p:set>
                                    <p:animEffect transition="in" filter="wedge">
                                      <p:cBhvr>
                                        <p:cTn id="26" dur="2000"/>
                                        <p:tgtEl>
                                          <p:spTgt spid="165"/>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162"/>
                                        </p:tgtEl>
                                        <p:attrNameLst>
                                          <p:attrName>style.visibility</p:attrName>
                                        </p:attrNameLst>
                                      </p:cBhvr>
                                      <p:to>
                                        <p:strVal val="visible"/>
                                      </p:to>
                                    </p:set>
                                    <p:animEffect transition="in" filter="slide(fromLeft)">
                                      <p:cBhvr>
                                        <p:cTn id="31" dur="500"/>
                                        <p:tgtEl>
                                          <p:spTgt spid="162"/>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209"/>
                                        </p:tgtEl>
                                        <p:attrNameLst>
                                          <p:attrName>style.visibility</p:attrName>
                                        </p:attrNameLst>
                                      </p:cBhvr>
                                      <p:to>
                                        <p:strVal val="visible"/>
                                      </p:to>
                                    </p:set>
                                    <p:animEffect transition="in" filter="barn(inVertical)">
                                      <p:cBhvr>
                                        <p:cTn id="36" dur="500"/>
                                        <p:tgtEl>
                                          <p:spTgt spid="209"/>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166"/>
                                        </p:tgtEl>
                                        <p:attrNameLst>
                                          <p:attrName>style.visibility</p:attrName>
                                        </p:attrNameLst>
                                      </p:cBhvr>
                                      <p:to>
                                        <p:strVal val="visible"/>
                                      </p:to>
                                    </p:set>
                                    <p:animEffect transition="in" filter="slide(fromBottom)">
                                      <p:cBhvr>
                                        <p:cTn id="41" dur="500"/>
                                        <p:tgtEl>
                                          <p:spTgt spid="166"/>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192"/>
                                        </p:tgtEl>
                                        <p:attrNameLst>
                                          <p:attrName>style.visibility</p:attrName>
                                        </p:attrNameLst>
                                      </p:cBhvr>
                                      <p:to>
                                        <p:strVal val="visible"/>
                                      </p:to>
                                    </p:set>
                                    <p:animEffect transition="in" filter="barn(inVertical)">
                                      <p:cBhvr>
                                        <p:cTn id="46" dur="500"/>
                                        <p:tgtEl>
                                          <p:spTgt spid="192"/>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nodeType="clickEffect">
                                  <p:stCondLst>
                                    <p:cond delay="0"/>
                                  </p:stCondLst>
                                  <p:childTnLst>
                                    <p:set>
                                      <p:cBhvr>
                                        <p:cTn id="50" dur="1" fill="hold">
                                          <p:stCondLst>
                                            <p:cond delay="0"/>
                                          </p:stCondLst>
                                        </p:cTn>
                                        <p:tgtEl>
                                          <p:spTgt spid="167"/>
                                        </p:tgtEl>
                                        <p:attrNameLst>
                                          <p:attrName>style.visibility</p:attrName>
                                        </p:attrNameLst>
                                      </p:cBhvr>
                                      <p:to>
                                        <p:strVal val="visible"/>
                                      </p:to>
                                    </p:set>
                                    <p:animEffect transition="in" filter="checkerboard(across)">
                                      <p:cBhvr>
                                        <p:cTn id="51" dur="500"/>
                                        <p:tgtEl>
                                          <p:spTgt spid="167"/>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221"/>
                                        </p:tgtEl>
                                        <p:attrNameLst>
                                          <p:attrName>style.visibility</p:attrName>
                                        </p:attrNameLst>
                                      </p:cBhvr>
                                      <p:to>
                                        <p:strVal val="visible"/>
                                      </p:to>
                                    </p:set>
                                    <p:anim calcmode="lin" valueType="num">
                                      <p:cBhvr additive="base">
                                        <p:cTn id="56" dur="500" fill="hold"/>
                                        <p:tgtEl>
                                          <p:spTgt spid="221"/>
                                        </p:tgtEl>
                                        <p:attrNameLst>
                                          <p:attrName>ppt_x</p:attrName>
                                        </p:attrNameLst>
                                      </p:cBhvr>
                                      <p:tavLst>
                                        <p:tav tm="0">
                                          <p:val>
                                            <p:strVal val="#ppt_x"/>
                                          </p:val>
                                        </p:tav>
                                        <p:tav tm="100000">
                                          <p:val>
                                            <p:strVal val="#ppt_x"/>
                                          </p:val>
                                        </p:tav>
                                      </p:tavLst>
                                    </p:anim>
                                    <p:anim calcmode="lin" valueType="num">
                                      <p:cBhvr additive="base">
                                        <p:cTn id="57" dur="500" fill="hold"/>
                                        <p:tgtEl>
                                          <p:spTgt spid="221"/>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69"/>
                                        </p:tgtEl>
                                        <p:attrNameLst>
                                          <p:attrName>style.visibility</p:attrName>
                                        </p:attrNameLst>
                                      </p:cBhvr>
                                      <p:to>
                                        <p:strVal val="visible"/>
                                      </p:to>
                                    </p:set>
                                    <p:animEffect transition="in" filter="blinds(horizontal)">
                                      <p:cBhvr>
                                        <p:cTn id="62" dur="500"/>
                                        <p:tgtEl>
                                          <p:spTgt spid="169"/>
                                        </p:tgtEl>
                                      </p:cBhvr>
                                    </p:animEffect>
                                  </p:childTnLst>
                                </p:cTn>
                              </p:par>
                            </p:childTnLst>
                          </p:cTn>
                        </p:par>
                        <p:par>
                          <p:cTn id="63" fill="hold">
                            <p:stCondLst>
                              <p:cond delay="500"/>
                            </p:stCondLst>
                            <p:childTnLst>
                              <p:par>
                                <p:cTn id="64" presetID="2" presetClass="entr" presetSubtype="4" fill="hold" grpId="0" nodeType="afterEffect">
                                  <p:stCondLst>
                                    <p:cond delay="0"/>
                                  </p:stCondLst>
                                  <p:childTnLst>
                                    <p:set>
                                      <p:cBhvr>
                                        <p:cTn id="65" dur="1" fill="hold">
                                          <p:stCondLst>
                                            <p:cond delay="0"/>
                                          </p:stCondLst>
                                        </p:cTn>
                                        <p:tgtEl>
                                          <p:spTgt spid="168"/>
                                        </p:tgtEl>
                                        <p:attrNameLst>
                                          <p:attrName>style.visibility</p:attrName>
                                        </p:attrNameLst>
                                      </p:cBhvr>
                                      <p:to>
                                        <p:strVal val="visible"/>
                                      </p:to>
                                    </p:set>
                                    <p:anim calcmode="lin" valueType="num">
                                      <p:cBhvr additive="base">
                                        <p:cTn id="66" dur="500" fill="hold"/>
                                        <p:tgtEl>
                                          <p:spTgt spid="168"/>
                                        </p:tgtEl>
                                        <p:attrNameLst>
                                          <p:attrName>ppt_x</p:attrName>
                                        </p:attrNameLst>
                                      </p:cBhvr>
                                      <p:tavLst>
                                        <p:tav tm="0">
                                          <p:val>
                                            <p:strVal val="#ppt_x"/>
                                          </p:val>
                                        </p:tav>
                                        <p:tav tm="100000">
                                          <p:val>
                                            <p:strVal val="#ppt_x"/>
                                          </p:val>
                                        </p:tav>
                                      </p:tavLst>
                                    </p:anim>
                                    <p:anim calcmode="lin" valueType="num">
                                      <p:cBhvr additive="base">
                                        <p:cTn id="67" dur="500" fill="hold"/>
                                        <p:tgtEl>
                                          <p:spTgt spid="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160" grpId="0"/>
      <p:bldP spid="165" grpId="0" animBg="1"/>
      <p:bldP spid="166" grpId="0"/>
      <p:bldP spid="16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836613"/>
            <a:ext cx="56165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spcBef>
                <a:spcPct val="50000"/>
              </a:spcBef>
              <a:buSzPct val="95000"/>
              <a:buFont typeface="Wingdings" pitchFamily="2" charset="2"/>
              <a:buAutoNum type="circleNumDbPlain" startAt="3"/>
            </a:pPr>
            <a:r>
              <a:rPr lang="zh-CN" altLang="en-US" b="1">
                <a:latin typeface="楷体_GB2312" pitchFamily="49" charset="-122"/>
                <a:ea typeface="楷体_GB2312" pitchFamily="49" charset="-122"/>
              </a:rPr>
              <a:t>电压源与支路的串、并联等效</a:t>
            </a:r>
          </a:p>
        </p:txBody>
      </p:sp>
      <p:sp>
        <p:nvSpPr>
          <p:cNvPr id="3" name="AutoShape 3"/>
          <p:cNvSpPr>
            <a:spLocks noChangeArrowheads="1"/>
          </p:cNvSpPr>
          <p:nvPr/>
        </p:nvSpPr>
        <p:spPr bwMode="auto">
          <a:xfrm>
            <a:off x="4643438" y="2060575"/>
            <a:ext cx="863600" cy="215900"/>
          </a:xfrm>
          <a:prstGeom prst="rightArrow">
            <a:avLst>
              <a:gd name="adj1" fmla="val 50000"/>
              <a:gd name="adj2" fmla="val 100000"/>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 name="Object 4"/>
          <p:cNvGraphicFramePr>
            <a:graphicFrameLocks noChangeAspect="1"/>
          </p:cNvGraphicFramePr>
          <p:nvPr>
            <p:extLst/>
          </p:nvPr>
        </p:nvGraphicFramePr>
        <p:xfrm>
          <a:off x="698501" y="3206068"/>
          <a:ext cx="7558745" cy="509587"/>
        </p:xfrm>
        <a:graphic>
          <a:graphicData uri="http://schemas.openxmlformats.org/presentationml/2006/ole">
            <mc:AlternateContent xmlns:mc="http://schemas.openxmlformats.org/markup-compatibility/2006">
              <mc:Choice xmlns:v="urn:schemas-microsoft-com:vml" Requires="v">
                <p:oleObj spid="_x0000_s434187" name="Equation" r:id="rId3" imgW="3390840" imgH="228600" progId="Equation.DSMT4">
                  <p:embed/>
                </p:oleObj>
              </mc:Choice>
              <mc:Fallback>
                <p:oleObj name="Equation" r:id="rId3" imgW="3390840" imgH="228600" progId="Equation.DSMT4">
                  <p:embed/>
                  <p:pic>
                    <p:nvPicPr>
                      <p:cNvPr id="0" name=""/>
                      <p:cNvPicPr>
                        <a:picLocks noChangeAspect="1" noChangeArrowheads="1"/>
                      </p:cNvPicPr>
                      <p:nvPr/>
                    </p:nvPicPr>
                    <p:blipFill>
                      <a:blip r:embed="rId4"/>
                      <a:srcRect/>
                      <a:stretch>
                        <a:fillRect/>
                      </a:stretch>
                    </p:blipFill>
                    <p:spPr bwMode="auto">
                      <a:xfrm>
                        <a:off x="698501" y="3206068"/>
                        <a:ext cx="7558745" cy="509587"/>
                      </a:xfrm>
                      <a:prstGeom prst="rect">
                        <a:avLst/>
                      </a:prstGeom>
                      <a:noFill/>
                      <a:ln>
                        <a:noFill/>
                      </a:ln>
                      <a:effectLst/>
                      <a:extLst/>
                    </p:spPr>
                  </p:pic>
                </p:oleObj>
              </mc:Fallback>
            </mc:AlternateContent>
          </a:graphicData>
        </a:graphic>
      </p:graphicFrame>
      <p:sp>
        <p:nvSpPr>
          <p:cNvPr id="5" name="AutoShape 5"/>
          <p:cNvSpPr>
            <a:spLocks noChangeArrowheads="1"/>
          </p:cNvSpPr>
          <p:nvPr/>
        </p:nvSpPr>
        <p:spPr bwMode="auto">
          <a:xfrm>
            <a:off x="4500563" y="5042806"/>
            <a:ext cx="863600" cy="215900"/>
          </a:xfrm>
          <a:prstGeom prst="rightArrow">
            <a:avLst>
              <a:gd name="adj1" fmla="val 50000"/>
              <a:gd name="adj2" fmla="val 100000"/>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Text Box 6"/>
          <p:cNvSpPr txBox="1">
            <a:spLocks noChangeArrowheads="1"/>
          </p:cNvSpPr>
          <p:nvPr/>
        </p:nvSpPr>
        <p:spPr bwMode="auto">
          <a:xfrm>
            <a:off x="4067175" y="5834969"/>
            <a:ext cx="1549400" cy="461665"/>
          </a:xfrm>
          <a:prstGeom prst="rect">
            <a:avLst/>
          </a:prstGeom>
          <a:gradFill rotWithShape="1">
            <a:gsLst>
              <a:gs pos="0">
                <a:srgbClr val="3399FF"/>
              </a:gs>
              <a:gs pos="50000">
                <a:srgbClr val="FFFFFF"/>
              </a:gs>
              <a:gs pos="100000">
                <a:srgbClr val="3399FF"/>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solidFill>
                  <a:srgbClr val="990033"/>
                </a:solidFill>
                <a:latin typeface="Arial" charset="0"/>
                <a:ea typeface="楷体_GB2312" pitchFamily="49" charset="-122"/>
              </a:rPr>
              <a:t>对外等效！</a:t>
            </a:r>
          </a:p>
        </p:txBody>
      </p:sp>
      <p:grpSp>
        <p:nvGrpSpPr>
          <p:cNvPr id="7" name="Group 13"/>
          <p:cNvGrpSpPr>
            <a:grpSpLocks/>
          </p:cNvGrpSpPr>
          <p:nvPr/>
        </p:nvGrpSpPr>
        <p:grpSpPr bwMode="auto">
          <a:xfrm>
            <a:off x="468313" y="1196975"/>
            <a:ext cx="3816350" cy="1949450"/>
            <a:chOff x="703" y="1933"/>
            <a:chExt cx="2404" cy="1228"/>
          </a:xfrm>
        </p:grpSpPr>
        <p:sp>
          <p:nvSpPr>
            <p:cNvPr id="8" name="Oval 14"/>
            <p:cNvSpPr>
              <a:spLocks noChangeArrowheads="1"/>
            </p:cNvSpPr>
            <p:nvPr/>
          </p:nvSpPr>
          <p:spPr bwMode="auto">
            <a:xfrm>
              <a:off x="2032" y="230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9" name="Oval 15"/>
            <p:cNvSpPr>
              <a:spLocks noChangeArrowheads="1"/>
            </p:cNvSpPr>
            <p:nvPr/>
          </p:nvSpPr>
          <p:spPr bwMode="auto">
            <a:xfrm>
              <a:off x="975" y="230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10" name="Text Box 16"/>
            <p:cNvSpPr txBox="1">
              <a:spLocks noChangeArrowheads="1"/>
            </p:cNvSpPr>
            <p:nvPr/>
          </p:nvSpPr>
          <p:spPr bwMode="auto">
            <a:xfrm>
              <a:off x="2032" y="1933"/>
              <a:ext cx="43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smtClean="0"/>
                <a:t>v</a:t>
              </a:r>
              <a:r>
                <a:rPr lang="en-US" altLang="zh-CN" i="1" baseline="-25000" dirty="0" smtClean="0"/>
                <a:t>S</a:t>
              </a:r>
              <a:r>
                <a:rPr lang="en-US" altLang="zh-CN" baseline="-25000" dirty="0" smtClean="0"/>
                <a:t>2</a:t>
              </a:r>
              <a:endParaRPr lang="en-US" altLang="zh-CN" dirty="0">
                <a:latin typeface="Arial" charset="0"/>
                <a:ea typeface="仿宋_GB2312" pitchFamily="49" charset="-122"/>
              </a:endParaRPr>
            </a:p>
          </p:txBody>
        </p:sp>
        <p:sp>
          <p:nvSpPr>
            <p:cNvPr id="11" name="Text Box 17"/>
            <p:cNvSpPr txBox="1">
              <a:spLocks noChangeArrowheads="1"/>
            </p:cNvSpPr>
            <p:nvPr/>
          </p:nvSpPr>
          <p:spPr bwMode="auto">
            <a:xfrm>
              <a:off x="803" y="2161"/>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solidFill>
                    <a:schemeClr val="bg1"/>
                  </a:solidFill>
                </a:rPr>
                <a:t>+</a:t>
              </a:r>
              <a:endParaRPr lang="en-US" altLang="zh-CN">
                <a:solidFill>
                  <a:srgbClr val="FFFF00"/>
                </a:solidFill>
                <a:latin typeface="Arial" charset="0"/>
                <a:ea typeface="仿宋_GB2312" pitchFamily="49" charset="-122"/>
              </a:endParaRPr>
            </a:p>
          </p:txBody>
        </p:sp>
        <p:sp>
          <p:nvSpPr>
            <p:cNvPr id="12" name="Text Box 18"/>
            <p:cNvSpPr txBox="1">
              <a:spLocks noChangeArrowheads="1"/>
            </p:cNvSpPr>
            <p:nvPr/>
          </p:nvSpPr>
          <p:spPr bwMode="auto">
            <a:xfrm>
              <a:off x="1338" y="2008"/>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a:solidFill>
                    <a:schemeClr val="bg1"/>
                  </a:solidFill>
                </a:rPr>
                <a:t>_</a:t>
              </a:r>
              <a:endParaRPr lang="en-US" altLang="zh-CN">
                <a:solidFill>
                  <a:srgbClr val="FFFF00"/>
                </a:solidFill>
                <a:latin typeface="Arial" charset="0"/>
                <a:ea typeface="仿宋_GB2312" pitchFamily="49" charset="-122"/>
              </a:endParaRPr>
            </a:p>
          </p:txBody>
        </p:sp>
        <p:sp>
          <p:nvSpPr>
            <p:cNvPr id="13" name="Text Box 19"/>
            <p:cNvSpPr txBox="1">
              <a:spLocks noChangeArrowheads="1"/>
            </p:cNvSpPr>
            <p:nvPr/>
          </p:nvSpPr>
          <p:spPr bwMode="auto">
            <a:xfrm>
              <a:off x="1860" y="2161"/>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solidFill>
                    <a:schemeClr val="bg1"/>
                  </a:solidFill>
                </a:rPr>
                <a:t>+</a:t>
              </a:r>
              <a:endParaRPr lang="en-US" altLang="zh-CN">
                <a:solidFill>
                  <a:srgbClr val="FFFF00"/>
                </a:solidFill>
                <a:latin typeface="Arial" charset="0"/>
                <a:ea typeface="仿宋_GB2312" pitchFamily="49" charset="-122"/>
              </a:endParaRPr>
            </a:p>
          </p:txBody>
        </p:sp>
        <p:sp>
          <p:nvSpPr>
            <p:cNvPr id="14" name="Text Box 20"/>
            <p:cNvSpPr txBox="1">
              <a:spLocks noChangeArrowheads="1"/>
            </p:cNvSpPr>
            <p:nvPr/>
          </p:nvSpPr>
          <p:spPr bwMode="auto">
            <a:xfrm>
              <a:off x="2441" y="2042"/>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a:solidFill>
                    <a:schemeClr val="bg1"/>
                  </a:solidFill>
                </a:rPr>
                <a:t>_</a:t>
              </a:r>
              <a:endParaRPr lang="en-US" altLang="zh-CN">
                <a:solidFill>
                  <a:srgbClr val="FFFF00"/>
                </a:solidFill>
                <a:latin typeface="Arial" charset="0"/>
                <a:ea typeface="仿宋_GB2312" pitchFamily="49" charset="-122"/>
              </a:endParaRPr>
            </a:p>
          </p:txBody>
        </p:sp>
        <p:sp>
          <p:nvSpPr>
            <p:cNvPr id="15" name="Text Box 21"/>
            <p:cNvSpPr txBox="1">
              <a:spLocks noChangeArrowheads="1"/>
            </p:cNvSpPr>
            <p:nvPr/>
          </p:nvSpPr>
          <p:spPr bwMode="auto">
            <a:xfrm>
              <a:off x="994" y="1933"/>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smtClean="0"/>
                <a:t>v</a:t>
              </a:r>
              <a:r>
                <a:rPr lang="en-US" altLang="zh-CN" i="1" baseline="-25000" dirty="0" smtClean="0"/>
                <a:t>S</a:t>
              </a:r>
              <a:r>
                <a:rPr lang="en-US" altLang="zh-CN" baseline="-25000" dirty="0" smtClean="0"/>
                <a:t>1</a:t>
              </a:r>
              <a:endParaRPr lang="en-US" altLang="zh-CN" dirty="0">
                <a:latin typeface="Arial" charset="0"/>
                <a:ea typeface="仿宋_GB2312" pitchFamily="49" charset="-122"/>
              </a:endParaRPr>
            </a:p>
          </p:txBody>
        </p:sp>
        <p:sp>
          <p:nvSpPr>
            <p:cNvPr id="16" name="Text Box 22"/>
            <p:cNvSpPr txBox="1">
              <a:spLocks noChangeArrowheads="1"/>
            </p:cNvSpPr>
            <p:nvPr/>
          </p:nvSpPr>
          <p:spPr bwMode="auto">
            <a:xfrm>
              <a:off x="848" y="2870"/>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solidFill>
                    <a:schemeClr val="bg1"/>
                  </a:solidFill>
                </a:rPr>
                <a:t>+</a:t>
              </a:r>
              <a:endParaRPr lang="en-US" altLang="zh-CN">
                <a:solidFill>
                  <a:srgbClr val="FFFF00"/>
                </a:solidFill>
                <a:latin typeface="Arial" charset="0"/>
                <a:ea typeface="仿宋_GB2312" pitchFamily="49" charset="-122"/>
              </a:endParaRPr>
            </a:p>
          </p:txBody>
        </p:sp>
        <p:sp>
          <p:nvSpPr>
            <p:cNvPr id="17" name="Text Box 23"/>
            <p:cNvSpPr txBox="1">
              <a:spLocks noChangeArrowheads="1"/>
            </p:cNvSpPr>
            <p:nvPr/>
          </p:nvSpPr>
          <p:spPr bwMode="auto">
            <a:xfrm>
              <a:off x="2790" y="2733"/>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a:solidFill>
                    <a:schemeClr val="bg1"/>
                  </a:solidFill>
                </a:rPr>
                <a:t>_</a:t>
              </a:r>
              <a:endParaRPr lang="en-US" altLang="zh-CN">
                <a:solidFill>
                  <a:srgbClr val="FFFF00"/>
                </a:solidFill>
                <a:latin typeface="Arial" charset="0"/>
                <a:ea typeface="仿宋_GB2312" pitchFamily="49" charset="-122"/>
              </a:endParaRPr>
            </a:p>
          </p:txBody>
        </p:sp>
        <p:sp>
          <p:nvSpPr>
            <p:cNvPr id="18" name="Text Box 24"/>
            <p:cNvSpPr txBox="1">
              <a:spLocks noChangeArrowheads="1"/>
            </p:cNvSpPr>
            <p:nvPr/>
          </p:nvSpPr>
          <p:spPr bwMode="auto">
            <a:xfrm>
              <a:off x="839" y="2568"/>
              <a:ext cx="22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i</a:t>
              </a:r>
              <a:endParaRPr lang="en-US" altLang="zh-CN">
                <a:latin typeface="Arial" charset="0"/>
                <a:ea typeface="仿宋_GB2312" pitchFamily="49" charset="-122"/>
              </a:endParaRPr>
            </a:p>
          </p:txBody>
        </p:sp>
        <p:sp>
          <p:nvSpPr>
            <p:cNvPr id="19" name="Line 25"/>
            <p:cNvSpPr>
              <a:spLocks noChangeShapeType="1"/>
            </p:cNvSpPr>
            <p:nvPr/>
          </p:nvSpPr>
          <p:spPr bwMode="auto">
            <a:xfrm>
              <a:off x="749" y="2489"/>
              <a:ext cx="0" cy="4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6"/>
            <p:cNvSpPr>
              <a:spLocks noChangeShapeType="1"/>
            </p:cNvSpPr>
            <p:nvPr/>
          </p:nvSpPr>
          <p:spPr bwMode="auto">
            <a:xfrm>
              <a:off x="749" y="2489"/>
              <a:ext cx="23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7"/>
            <p:cNvSpPr>
              <a:spLocks noChangeShapeType="1"/>
            </p:cNvSpPr>
            <p:nvPr/>
          </p:nvSpPr>
          <p:spPr bwMode="auto">
            <a:xfrm>
              <a:off x="3062" y="2489"/>
              <a:ext cx="0" cy="4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Oval 28"/>
            <p:cNvSpPr>
              <a:spLocks noChangeArrowheads="1"/>
            </p:cNvSpPr>
            <p:nvPr/>
          </p:nvSpPr>
          <p:spPr bwMode="auto">
            <a:xfrm>
              <a:off x="3016" y="2897"/>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29"/>
            <p:cNvSpPr>
              <a:spLocks noChangeArrowheads="1"/>
            </p:cNvSpPr>
            <p:nvPr/>
          </p:nvSpPr>
          <p:spPr bwMode="auto">
            <a:xfrm>
              <a:off x="703" y="2897"/>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30"/>
            <p:cNvSpPr>
              <a:spLocks noChangeShapeType="1"/>
            </p:cNvSpPr>
            <p:nvPr/>
          </p:nvSpPr>
          <p:spPr bwMode="auto">
            <a:xfrm flipV="1">
              <a:off x="839" y="2568"/>
              <a:ext cx="0" cy="318"/>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31"/>
            <p:cNvSpPr txBox="1">
              <a:spLocks noChangeArrowheads="1"/>
            </p:cNvSpPr>
            <p:nvPr/>
          </p:nvSpPr>
          <p:spPr bwMode="auto">
            <a:xfrm>
              <a:off x="1837" y="2806"/>
              <a:ext cx="3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smtClean="0"/>
                <a:t>v</a:t>
              </a:r>
              <a:endParaRPr lang="en-US" altLang="zh-CN" dirty="0">
                <a:latin typeface="Arial" charset="0"/>
                <a:ea typeface="仿宋_GB2312" pitchFamily="49" charset="-122"/>
              </a:endParaRPr>
            </a:p>
          </p:txBody>
        </p:sp>
        <p:sp>
          <p:nvSpPr>
            <p:cNvPr id="26" name="Text Box 32"/>
            <p:cNvSpPr txBox="1">
              <a:spLocks noChangeArrowheads="1"/>
            </p:cNvSpPr>
            <p:nvPr/>
          </p:nvSpPr>
          <p:spPr bwMode="auto">
            <a:xfrm>
              <a:off x="1474" y="2568"/>
              <a:ext cx="3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R</a:t>
              </a:r>
              <a:r>
                <a:rPr lang="en-US" altLang="zh-CN" baseline="-25000"/>
                <a:t>1</a:t>
              </a:r>
            </a:p>
          </p:txBody>
        </p:sp>
        <p:sp>
          <p:nvSpPr>
            <p:cNvPr id="27" name="Text Box 33"/>
            <p:cNvSpPr txBox="1">
              <a:spLocks noChangeArrowheads="1"/>
            </p:cNvSpPr>
            <p:nvPr/>
          </p:nvSpPr>
          <p:spPr bwMode="auto">
            <a:xfrm>
              <a:off x="2608" y="2523"/>
              <a:ext cx="3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R</a:t>
              </a:r>
              <a:r>
                <a:rPr lang="en-US" altLang="zh-CN" baseline="-25000"/>
                <a:t>2</a:t>
              </a:r>
            </a:p>
          </p:txBody>
        </p:sp>
        <p:sp>
          <p:nvSpPr>
            <p:cNvPr id="28" name="Rectangle 34"/>
            <p:cNvSpPr>
              <a:spLocks noChangeArrowheads="1"/>
            </p:cNvSpPr>
            <p:nvPr/>
          </p:nvSpPr>
          <p:spPr bwMode="auto">
            <a:xfrm>
              <a:off x="2608" y="242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Rectangle 35"/>
            <p:cNvSpPr>
              <a:spLocks noChangeArrowheads="1"/>
            </p:cNvSpPr>
            <p:nvPr/>
          </p:nvSpPr>
          <p:spPr bwMode="auto">
            <a:xfrm>
              <a:off x="1474" y="242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0" name="Group 36"/>
          <p:cNvGrpSpPr>
            <a:grpSpLocks/>
          </p:cNvGrpSpPr>
          <p:nvPr/>
        </p:nvGrpSpPr>
        <p:grpSpPr bwMode="auto">
          <a:xfrm>
            <a:off x="5795963" y="1125538"/>
            <a:ext cx="2376487" cy="1930400"/>
            <a:chOff x="2200" y="1661"/>
            <a:chExt cx="1497" cy="1216"/>
          </a:xfrm>
        </p:grpSpPr>
        <p:sp>
          <p:nvSpPr>
            <p:cNvPr id="31" name="Oval 37"/>
            <p:cNvSpPr>
              <a:spLocks noChangeArrowheads="1"/>
            </p:cNvSpPr>
            <p:nvPr/>
          </p:nvSpPr>
          <p:spPr bwMode="auto">
            <a:xfrm>
              <a:off x="2472" y="202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32" name="Text Box 38"/>
            <p:cNvSpPr txBox="1">
              <a:spLocks noChangeArrowheads="1"/>
            </p:cNvSpPr>
            <p:nvPr/>
          </p:nvSpPr>
          <p:spPr bwMode="auto">
            <a:xfrm>
              <a:off x="2254" y="1906"/>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t>+</a:t>
              </a:r>
              <a:endParaRPr lang="en-US" altLang="zh-CN">
                <a:latin typeface="Arial" charset="0"/>
                <a:ea typeface="仿宋_GB2312" pitchFamily="49" charset="-122"/>
              </a:endParaRPr>
            </a:p>
          </p:txBody>
        </p:sp>
        <p:sp>
          <p:nvSpPr>
            <p:cNvPr id="33" name="Text Box 39"/>
            <p:cNvSpPr txBox="1">
              <a:spLocks noChangeArrowheads="1"/>
            </p:cNvSpPr>
            <p:nvPr/>
          </p:nvSpPr>
          <p:spPr bwMode="auto">
            <a:xfrm>
              <a:off x="2835" y="1815"/>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a:solidFill>
                    <a:schemeClr val="bg1"/>
                  </a:solidFill>
                </a:rPr>
                <a:t>_</a:t>
              </a:r>
              <a:endParaRPr lang="en-US" altLang="zh-CN">
                <a:solidFill>
                  <a:srgbClr val="FFFF00"/>
                </a:solidFill>
                <a:latin typeface="Arial" charset="0"/>
                <a:ea typeface="仿宋_GB2312" pitchFamily="49" charset="-122"/>
              </a:endParaRPr>
            </a:p>
          </p:txBody>
        </p:sp>
        <p:sp>
          <p:nvSpPr>
            <p:cNvPr id="34" name="Text Box 40"/>
            <p:cNvSpPr txBox="1">
              <a:spLocks noChangeArrowheads="1"/>
            </p:cNvSpPr>
            <p:nvPr/>
          </p:nvSpPr>
          <p:spPr bwMode="auto">
            <a:xfrm>
              <a:off x="2517" y="1661"/>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err="1" smtClean="0"/>
                <a:t>v</a:t>
              </a:r>
              <a:r>
                <a:rPr lang="en-US" altLang="zh-CN" i="1" baseline="-25000" dirty="0" err="1" smtClean="0"/>
                <a:t>S</a:t>
              </a:r>
              <a:endParaRPr lang="en-US" altLang="zh-CN" dirty="0">
                <a:latin typeface="Arial" charset="0"/>
                <a:ea typeface="仿宋_GB2312" pitchFamily="49" charset="-122"/>
              </a:endParaRPr>
            </a:p>
          </p:txBody>
        </p:sp>
        <p:sp>
          <p:nvSpPr>
            <p:cNvPr id="35" name="Text Box 41"/>
            <p:cNvSpPr txBox="1">
              <a:spLocks noChangeArrowheads="1"/>
            </p:cNvSpPr>
            <p:nvPr/>
          </p:nvSpPr>
          <p:spPr bwMode="auto">
            <a:xfrm>
              <a:off x="2345" y="2586"/>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solidFill>
                    <a:schemeClr val="bg1"/>
                  </a:solidFill>
                </a:rPr>
                <a:t>+</a:t>
              </a:r>
              <a:endParaRPr lang="en-US" altLang="zh-CN">
                <a:solidFill>
                  <a:srgbClr val="FFFF00"/>
                </a:solidFill>
                <a:latin typeface="Arial" charset="0"/>
                <a:ea typeface="仿宋_GB2312" pitchFamily="49" charset="-122"/>
              </a:endParaRPr>
            </a:p>
          </p:txBody>
        </p:sp>
        <p:sp>
          <p:nvSpPr>
            <p:cNvPr id="36" name="Text Box 42"/>
            <p:cNvSpPr txBox="1">
              <a:spLocks noChangeArrowheads="1"/>
            </p:cNvSpPr>
            <p:nvPr/>
          </p:nvSpPr>
          <p:spPr bwMode="auto">
            <a:xfrm>
              <a:off x="3379" y="2475"/>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a:solidFill>
                    <a:schemeClr val="bg1"/>
                  </a:solidFill>
                </a:rPr>
                <a:t>_</a:t>
              </a:r>
              <a:endParaRPr lang="en-US" altLang="zh-CN">
                <a:solidFill>
                  <a:srgbClr val="FFFF00"/>
                </a:solidFill>
                <a:latin typeface="Arial" charset="0"/>
                <a:ea typeface="仿宋_GB2312" pitchFamily="49" charset="-122"/>
              </a:endParaRPr>
            </a:p>
          </p:txBody>
        </p:sp>
        <p:sp>
          <p:nvSpPr>
            <p:cNvPr id="37" name="Text Box 43"/>
            <p:cNvSpPr txBox="1">
              <a:spLocks noChangeArrowheads="1"/>
            </p:cNvSpPr>
            <p:nvPr/>
          </p:nvSpPr>
          <p:spPr bwMode="auto">
            <a:xfrm>
              <a:off x="2290" y="2251"/>
              <a:ext cx="22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i</a:t>
              </a:r>
              <a:endParaRPr lang="en-US" altLang="zh-CN">
                <a:latin typeface="Arial" charset="0"/>
                <a:ea typeface="仿宋_GB2312" pitchFamily="49" charset="-122"/>
              </a:endParaRPr>
            </a:p>
          </p:txBody>
        </p:sp>
        <p:sp>
          <p:nvSpPr>
            <p:cNvPr id="38" name="Line 44"/>
            <p:cNvSpPr>
              <a:spLocks noChangeShapeType="1"/>
            </p:cNvSpPr>
            <p:nvPr/>
          </p:nvSpPr>
          <p:spPr bwMode="auto">
            <a:xfrm>
              <a:off x="2246" y="2205"/>
              <a:ext cx="0" cy="4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45"/>
            <p:cNvSpPr>
              <a:spLocks noChangeShapeType="1"/>
            </p:cNvSpPr>
            <p:nvPr/>
          </p:nvSpPr>
          <p:spPr bwMode="auto">
            <a:xfrm flipV="1">
              <a:off x="2246" y="2205"/>
              <a:ext cx="140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46"/>
            <p:cNvSpPr>
              <a:spLocks noChangeShapeType="1"/>
            </p:cNvSpPr>
            <p:nvPr/>
          </p:nvSpPr>
          <p:spPr bwMode="auto">
            <a:xfrm>
              <a:off x="3652" y="2205"/>
              <a:ext cx="0" cy="4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Oval 47"/>
            <p:cNvSpPr>
              <a:spLocks noChangeArrowheads="1"/>
            </p:cNvSpPr>
            <p:nvPr/>
          </p:nvSpPr>
          <p:spPr bwMode="auto">
            <a:xfrm>
              <a:off x="3606" y="2613"/>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Oval 48"/>
            <p:cNvSpPr>
              <a:spLocks noChangeArrowheads="1"/>
            </p:cNvSpPr>
            <p:nvPr/>
          </p:nvSpPr>
          <p:spPr bwMode="auto">
            <a:xfrm>
              <a:off x="2200" y="2613"/>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9"/>
            <p:cNvSpPr>
              <a:spLocks noChangeShapeType="1"/>
            </p:cNvSpPr>
            <p:nvPr/>
          </p:nvSpPr>
          <p:spPr bwMode="auto">
            <a:xfrm flipV="1">
              <a:off x="2290" y="2251"/>
              <a:ext cx="0" cy="318"/>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Text Box 50"/>
            <p:cNvSpPr txBox="1">
              <a:spLocks noChangeArrowheads="1"/>
            </p:cNvSpPr>
            <p:nvPr/>
          </p:nvSpPr>
          <p:spPr bwMode="auto">
            <a:xfrm>
              <a:off x="2789" y="2523"/>
              <a:ext cx="3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smtClean="0"/>
                <a:t>v</a:t>
              </a:r>
              <a:endParaRPr lang="en-US" altLang="zh-CN" dirty="0">
                <a:latin typeface="Arial" charset="0"/>
                <a:ea typeface="仿宋_GB2312" pitchFamily="49" charset="-122"/>
              </a:endParaRPr>
            </a:p>
          </p:txBody>
        </p:sp>
        <p:sp>
          <p:nvSpPr>
            <p:cNvPr id="45" name="Text Box 51"/>
            <p:cNvSpPr txBox="1">
              <a:spLocks noChangeArrowheads="1"/>
            </p:cNvSpPr>
            <p:nvPr/>
          </p:nvSpPr>
          <p:spPr bwMode="auto">
            <a:xfrm>
              <a:off x="3152" y="1842"/>
              <a:ext cx="3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R</a:t>
              </a:r>
              <a:endParaRPr lang="en-US" altLang="zh-CN">
                <a:latin typeface="Arial" charset="0"/>
                <a:ea typeface="仿宋_GB2312" pitchFamily="49" charset="-122"/>
              </a:endParaRPr>
            </a:p>
          </p:txBody>
        </p:sp>
        <p:sp>
          <p:nvSpPr>
            <p:cNvPr id="46" name="Rectangle 52"/>
            <p:cNvSpPr>
              <a:spLocks noChangeArrowheads="1"/>
            </p:cNvSpPr>
            <p:nvPr/>
          </p:nvSpPr>
          <p:spPr bwMode="auto">
            <a:xfrm>
              <a:off x="3107" y="2142"/>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7" name="Group 53"/>
          <p:cNvGrpSpPr>
            <a:grpSpLocks/>
          </p:cNvGrpSpPr>
          <p:nvPr/>
        </p:nvGrpSpPr>
        <p:grpSpPr bwMode="auto">
          <a:xfrm>
            <a:off x="539750" y="3963306"/>
            <a:ext cx="3095625" cy="2232025"/>
            <a:chOff x="295" y="2205"/>
            <a:chExt cx="1950" cy="1361"/>
          </a:xfrm>
        </p:grpSpPr>
        <p:sp>
          <p:nvSpPr>
            <p:cNvPr id="48" name="Oval 54"/>
            <p:cNvSpPr>
              <a:spLocks noChangeArrowheads="1"/>
            </p:cNvSpPr>
            <p:nvPr/>
          </p:nvSpPr>
          <p:spPr bwMode="auto">
            <a:xfrm>
              <a:off x="596" y="2784"/>
              <a:ext cx="371" cy="354"/>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49" name="Text Box 55"/>
            <p:cNvSpPr txBox="1">
              <a:spLocks noChangeArrowheads="1"/>
            </p:cNvSpPr>
            <p:nvPr/>
          </p:nvSpPr>
          <p:spPr bwMode="auto">
            <a:xfrm>
              <a:off x="295" y="2795"/>
              <a:ext cx="48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err="1" smtClean="0"/>
                <a:t>v</a:t>
              </a:r>
              <a:r>
                <a:rPr kumimoji="1" lang="en-US" altLang="zh-CN" i="1" baseline="-25000" dirty="0" err="1" smtClean="0"/>
                <a:t>S</a:t>
              </a:r>
              <a:endParaRPr kumimoji="1" lang="en-US" altLang="zh-CN" baseline="-25000" dirty="0"/>
            </a:p>
          </p:txBody>
        </p:sp>
        <p:sp>
          <p:nvSpPr>
            <p:cNvPr id="50" name="Text Box 56"/>
            <p:cNvSpPr txBox="1">
              <a:spLocks noChangeArrowheads="1"/>
            </p:cNvSpPr>
            <p:nvPr/>
          </p:nvSpPr>
          <p:spPr bwMode="auto">
            <a:xfrm>
              <a:off x="529" y="2546"/>
              <a:ext cx="226" cy="28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a:solidFill>
                    <a:schemeClr val="bg1"/>
                  </a:solidFill>
                </a:rPr>
                <a:t>+</a:t>
              </a:r>
            </a:p>
          </p:txBody>
        </p:sp>
        <p:sp>
          <p:nvSpPr>
            <p:cNvPr id="51" name="Text Box 57"/>
            <p:cNvSpPr txBox="1">
              <a:spLocks noChangeArrowheads="1"/>
            </p:cNvSpPr>
            <p:nvPr/>
          </p:nvSpPr>
          <p:spPr bwMode="auto">
            <a:xfrm>
              <a:off x="521" y="2998"/>
              <a:ext cx="212" cy="28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a:solidFill>
                    <a:schemeClr val="bg1"/>
                  </a:solidFill>
                </a:rPr>
                <a:t>_</a:t>
              </a:r>
            </a:p>
          </p:txBody>
        </p:sp>
        <p:sp>
          <p:nvSpPr>
            <p:cNvPr id="52" name="Line 58"/>
            <p:cNvSpPr>
              <a:spLocks noChangeShapeType="1"/>
            </p:cNvSpPr>
            <p:nvPr/>
          </p:nvSpPr>
          <p:spPr bwMode="auto">
            <a:xfrm>
              <a:off x="777" y="2493"/>
              <a:ext cx="0" cy="10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9"/>
            <p:cNvSpPr>
              <a:spLocks noChangeShapeType="1"/>
            </p:cNvSpPr>
            <p:nvPr/>
          </p:nvSpPr>
          <p:spPr bwMode="auto">
            <a:xfrm>
              <a:off x="1497" y="2493"/>
              <a:ext cx="0" cy="1008"/>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60"/>
            <p:cNvSpPr>
              <a:spLocks noChangeShapeType="1"/>
            </p:cNvSpPr>
            <p:nvPr/>
          </p:nvSpPr>
          <p:spPr bwMode="auto">
            <a:xfrm>
              <a:off x="777" y="2493"/>
              <a:ext cx="1248" cy="0"/>
            </a:xfrm>
            <a:prstGeom prst="line">
              <a:avLst/>
            </a:prstGeom>
            <a:noFill/>
            <a:ln w="28575">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61"/>
            <p:cNvSpPr>
              <a:spLocks noChangeShapeType="1"/>
            </p:cNvSpPr>
            <p:nvPr/>
          </p:nvSpPr>
          <p:spPr bwMode="auto">
            <a:xfrm>
              <a:off x="777" y="3501"/>
              <a:ext cx="12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62"/>
            <p:cNvSpPr txBox="1">
              <a:spLocks noChangeArrowheads="1"/>
            </p:cNvSpPr>
            <p:nvPr/>
          </p:nvSpPr>
          <p:spPr bwMode="auto">
            <a:xfrm>
              <a:off x="1701" y="2205"/>
              <a:ext cx="24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t>i</a:t>
              </a:r>
              <a:endParaRPr kumimoji="1" lang="en-US" altLang="zh-CN"/>
            </a:p>
          </p:txBody>
        </p:sp>
        <p:sp>
          <p:nvSpPr>
            <p:cNvPr id="57" name="Line 63"/>
            <p:cNvSpPr>
              <a:spLocks noChangeShapeType="1"/>
            </p:cNvSpPr>
            <p:nvPr/>
          </p:nvSpPr>
          <p:spPr bwMode="auto">
            <a:xfrm>
              <a:off x="1565" y="2568"/>
              <a:ext cx="317"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64"/>
            <p:cNvSpPr>
              <a:spLocks noChangeArrowheads="1"/>
            </p:cNvSpPr>
            <p:nvPr/>
          </p:nvSpPr>
          <p:spPr bwMode="auto">
            <a:xfrm>
              <a:off x="1202" y="2704"/>
              <a:ext cx="589" cy="63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solidFill>
                    <a:schemeClr val="bg1"/>
                  </a:solidFill>
                  <a:latin typeface="Arial" charset="0"/>
                  <a:ea typeface="楷体_GB2312" pitchFamily="49" charset="-122"/>
                </a:rPr>
                <a:t>任意</a:t>
              </a:r>
            </a:p>
            <a:p>
              <a:pPr algn="ctr"/>
              <a:r>
                <a:rPr lang="zh-CN" altLang="en-US" b="1">
                  <a:solidFill>
                    <a:schemeClr val="bg1"/>
                  </a:solidFill>
                  <a:latin typeface="Arial" charset="0"/>
                  <a:ea typeface="楷体_GB2312" pitchFamily="49" charset="-122"/>
                </a:rPr>
                <a:t>元件</a:t>
              </a:r>
            </a:p>
          </p:txBody>
        </p:sp>
        <p:sp>
          <p:nvSpPr>
            <p:cNvPr id="59" name="Oval 65"/>
            <p:cNvSpPr>
              <a:spLocks noChangeArrowheads="1"/>
            </p:cNvSpPr>
            <p:nvPr/>
          </p:nvSpPr>
          <p:spPr bwMode="auto">
            <a:xfrm>
              <a:off x="2018" y="2432"/>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Oval 66"/>
            <p:cNvSpPr>
              <a:spLocks noChangeArrowheads="1"/>
            </p:cNvSpPr>
            <p:nvPr/>
          </p:nvSpPr>
          <p:spPr bwMode="auto">
            <a:xfrm>
              <a:off x="2018" y="3475"/>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 Box 67"/>
            <p:cNvSpPr txBox="1">
              <a:spLocks noChangeArrowheads="1"/>
            </p:cNvSpPr>
            <p:nvPr/>
          </p:nvSpPr>
          <p:spPr bwMode="auto">
            <a:xfrm>
              <a:off x="1882" y="2886"/>
              <a:ext cx="363"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smtClean="0"/>
                <a:t>v</a:t>
              </a:r>
              <a:endParaRPr lang="en-US" altLang="zh-CN" dirty="0">
                <a:latin typeface="Arial" charset="0"/>
                <a:ea typeface="仿宋_GB2312" pitchFamily="49" charset="-122"/>
              </a:endParaRPr>
            </a:p>
          </p:txBody>
        </p:sp>
        <p:sp>
          <p:nvSpPr>
            <p:cNvPr id="62" name="Text Box 68"/>
            <p:cNvSpPr txBox="1">
              <a:spLocks noChangeArrowheads="1"/>
            </p:cNvSpPr>
            <p:nvPr/>
          </p:nvSpPr>
          <p:spPr bwMode="auto">
            <a:xfrm>
              <a:off x="1937" y="2500"/>
              <a:ext cx="226" cy="28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t>+</a:t>
              </a:r>
              <a:endParaRPr lang="en-US" altLang="zh-CN">
                <a:latin typeface="Arial" charset="0"/>
                <a:ea typeface="仿宋_GB2312" pitchFamily="49" charset="-122"/>
              </a:endParaRPr>
            </a:p>
          </p:txBody>
        </p:sp>
        <p:sp>
          <p:nvSpPr>
            <p:cNvPr id="63" name="Text Box 69"/>
            <p:cNvSpPr txBox="1">
              <a:spLocks noChangeArrowheads="1"/>
            </p:cNvSpPr>
            <p:nvPr/>
          </p:nvSpPr>
          <p:spPr bwMode="auto">
            <a:xfrm>
              <a:off x="1928" y="3090"/>
              <a:ext cx="212" cy="282"/>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a:t>_</a:t>
              </a:r>
              <a:endParaRPr lang="en-US" altLang="zh-CN">
                <a:latin typeface="Arial" charset="0"/>
                <a:ea typeface="仿宋_GB2312" pitchFamily="49" charset="-122"/>
              </a:endParaRPr>
            </a:p>
          </p:txBody>
        </p:sp>
      </p:grpSp>
      <p:grpSp>
        <p:nvGrpSpPr>
          <p:cNvPr id="64" name="Group 70"/>
          <p:cNvGrpSpPr>
            <a:grpSpLocks/>
          </p:cNvGrpSpPr>
          <p:nvPr/>
        </p:nvGrpSpPr>
        <p:grpSpPr bwMode="auto">
          <a:xfrm>
            <a:off x="3419473" y="4395106"/>
            <a:ext cx="676275" cy="1655763"/>
            <a:chOff x="2018" y="2478"/>
            <a:chExt cx="426" cy="1043"/>
          </a:xfrm>
        </p:grpSpPr>
        <p:sp>
          <p:nvSpPr>
            <p:cNvPr id="65" name="Freeform 71"/>
            <p:cNvSpPr>
              <a:spLocks/>
            </p:cNvSpPr>
            <p:nvPr/>
          </p:nvSpPr>
          <p:spPr bwMode="auto">
            <a:xfrm>
              <a:off x="2018" y="2478"/>
              <a:ext cx="408" cy="1043"/>
            </a:xfrm>
            <a:custGeom>
              <a:avLst/>
              <a:gdLst>
                <a:gd name="T0" fmla="*/ 0 w 688"/>
                <a:gd name="T1" fmla="*/ 1043 h 1043"/>
                <a:gd name="T2" fmla="*/ 363 w 688"/>
                <a:gd name="T3" fmla="*/ 861 h 1043"/>
                <a:gd name="T4" fmla="*/ 635 w 688"/>
                <a:gd name="T5" fmla="*/ 453 h 1043"/>
                <a:gd name="T6" fmla="*/ 46 w 688"/>
                <a:gd name="T7" fmla="*/ 0 h 1043"/>
              </a:gdLst>
              <a:ahLst/>
              <a:cxnLst>
                <a:cxn ang="0">
                  <a:pos x="T0" y="T1"/>
                </a:cxn>
                <a:cxn ang="0">
                  <a:pos x="T2" y="T3"/>
                </a:cxn>
                <a:cxn ang="0">
                  <a:pos x="T4" y="T5"/>
                </a:cxn>
                <a:cxn ang="0">
                  <a:pos x="T6" y="T7"/>
                </a:cxn>
              </a:cxnLst>
              <a:rect l="0" t="0" r="r" b="b"/>
              <a:pathLst>
                <a:path w="688" h="1043">
                  <a:moveTo>
                    <a:pt x="0" y="1043"/>
                  </a:moveTo>
                  <a:cubicBezTo>
                    <a:pt x="128" y="1001"/>
                    <a:pt x="257" y="959"/>
                    <a:pt x="363" y="861"/>
                  </a:cubicBezTo>
                  <a:cubicBezTo>
                    <a:pt x="469" y="763"/>
                    <a:pt x="688" y="596"/>
                    <a:pt x="635" y="453"/>
                  </a:cubicBezTo>
                  <a:cubicBezTo>
                    <a:pt x="582" y="310"/>
                    <a:pt x="314" y="155"/>
                    <a:pt x="46" y="0"/>
                  </a:cubicBez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Text Box 72"/>
            <p:cNvSpPr txBox="1">
              <a:spLocks noChangeArrowheads="1"/>
            </p:cNvSpPr>
            <p:nvPr/>
          </p:nvSpPr>
          <p:spPr bwMode="auto">
            <a:xfrm>
              <a:off x="2064" y="2840"/>
              <a:ext cx="348" cy="291"/>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a:t>R</a:t>
              </a:r>
              <a:endParaRPr lang="en-US" altLang="zh-CN" dirty="0">
                <a:latin typeface="Arial" charset="0"/>
                <a:ea typeface="仿宋_GB2312" pitchFamily="49" charset="-122"/>
              </a:endParaRPr>
            </a:p>
          </p:txBody>
        </p:sp>
        <p:sp>
          <p:nvSpPr>
            <p:cNvPr id="67" name="Rectangle 73"/>
            <p:cNvSpPr>
              <a:spLocks noChangeArrowheads="1"/>
            </p:cNvSpPr>
            <p:nvPr/>
          </p:nvSpPr>
          <p:spPr bwMode="auto">
            <a:xfrm>
              <a:off x="2317" y="2845"/>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8" name="Group 74"/>
          <p:cNvGrpSpPr>
            <a:grpSpLocks/>
          </p:cNvGrpSpPr>
          <p:nvPr/>
        </p:nvGrpSpPr>
        <p:grpSpPr bwMode="auto">
          <a:xfrm>
            <a:off x="5724525" y="4034744"/>
            <a:ext cx="2232025" cy="2089150"/>
            <a:chOff x="1383" y="2160"/>
            <a:chExt cx="1406" cy="1316"/>
          </a:xfrm>
        </p:grpSpPr>
        <p:sp>
          <p:nvSpPr>
            <p:cNvPr id="69" name="Oval 75"/>
            <p:cNvSpPr>
              <a:spLocks noChangeArrowheads="1"/>
            </p:cNvSpPr>
            <p:nvPr/>
          </p:nvSpPr>
          <p:spPr bwMode="auto">
            <a:xfrm>
              <a:off x="1701" y="270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70" name="Text Box 76"/>
            <p:cNvSpPr txBox="1">
              <a:spLocks noChangeArrowheads="1"/>
            </p:cNvSpPr>
            <p:nvPr/>
          </p:nvSpPr>
          <p:spPr bwMode="auto">
            <a:xfrm>
              <a:off x="1383" y="2704"/>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err="1" smtClean="0"/>
                <a:t>v</a:t>
              </a:r>
              <a:r>
                <a:rPr lang="en-US" altLang="zh-CN" i="1" baseline="-25000" dirty="0" err="1" smtClean="0"/>
                <a:t>S</a:t>
              </a:r>
              <a:endParaRPr lang="en-US" altLang="zh-CN" dirty="0">
                <a:latin typeface="Arial" charset="0"/>
                <a:ea typeface="仿宋_GB2312" pitchFamily="49" charset="-122"/>
              </a:endParaRPr>
            </a:p>
          </p:txBody>
        </p:sp>
        <p:sp>
          <p:nvSpPr>
            <p:cNvPr id="71" name="Text Box 77"/>
            <p:cNvSpPr txBox="1">
              <a:spLocks noChangeArrowheads="1"/>
            </p:cNvSpPr>
            <p:nvPr/>
          </p:nvSpPr>
          <p:spPr bwMode="auto">
            <a:xfrm>
              <a:off x="1618" y="2450"/>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solidFill>
                    <a:schemeClr val="bg1"/>
                  </a:solidFill>
                </a:rPr>
                <a:t>+</a:t>
              </a:r>
              <a:endParaRPr lang="en-US" altLang="zh-CN">
                <a:solidFill>
                  <a:srgbClr val="FFFF00"/>
                </a:solidFill>
                <a:latin typeface="Arial" charset="0"/>
                <a:ea typeface="仿宋_GB2312" pitchFamily="49" charset="-122"/>
              </a:endParaRPr>
            </a:p>
          </p:txBody>
        </p:sp>
        <p:sp>
          <p:nvSpPr>
            <p:cNvPr id="72" name="Text Box 78"/>
            <p:cNvSpPr txBox="1">
              <a:spLocks noChangeArrowheads="1"/>
            </p:cNvSpPr>
            <p:nvPr/>
          </p:nvSpPr>
          <p:spPr bwMode="auto">
            <a:xfrm>
              <a:off x="1610" y="2994"/>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a:solidFill>
                    <a:schemeClr val="bg1"/>
                  </a:solidFill>
                </a:rPr>
                <a:t>_</a:t>
              </a:r>
              <a:endParaRPr lang="en-US" altLang="zh-CN">
                <a:solidFill>
                  <a:srgbClr val="FFFF00"/>
                </a:solidFill>
                <a:latin typeface="Arial" charset="0"/>
                <a:ea typeface="仿宋_GB2312" pitchFamily="49" charset="-122"/>
              </a:endParaRPr>
            </a:p>
          </p:txBody>
        </p:sp>
        <p:sp>
          <p:nvSpPr>
            <p:cNvPr id="73" name="Line 79"/>
            <p:cNvSpPr>
              <a:spLocks noChangeShapeType="1"/>
            </p:cNvSpPr>
            <p:nvPr/>
          </p:nvSpPr>
          <p:spPr bwMode="auto">
            <a:xfrm>
              <a:off x="1878" y="2432"/>
              <a:ext cx="0" cy="10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Text Box 80"/>
            <p:cNvSpPr txBox="1">
              <a:spLocks noChangeArrowheads="1"/>
            </p:cNvSpPr>
            <p:nvPr/>
          </p:nvSpPr>
          <p:spPr bwMode="auto">
            <a:xfrm>
              <a:off x="2234" y="2160"/>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solidFill>
                    <a:schemeClr val="bg1"/>
                  </a:solidFill>
                </a:rPr>
                <a:t>i</a:t>
              </a:r>
              <a:endParaRPr lang="en-US" altLang="zh-CN">
                <a:solidFill>
                  <a:srgbClr val="FFFF00"/>
                </a:solidFill>
                <a:latin typeface="Arial" charset="0"/>
                <a:ea typeface="仿宋_GB2312" pitchFamily="49" charset="-122"/>
              </a:endParaRPr>
            </a:p>
          </p:txBody>
        </p:sp>
        <p:sp>
          <p:nvSpPr>
            <p:cNvPr id="75" name="Line 81"/>
            <p:cNvSpPr>
              <a:spLocks noChangeShapeType="1"/>
            </p:cNvSpPr>
            <p:nvPr/>
          </p:nvSpPr>
          <p:spPr bwMode="auto">
            <a:xfrm>
              <a:off x="2018" y="2478"/>
              <a:ext cx="318" cy="0"/>
            </a:xfrm>
            <a:prstGeom prst="line">
              <a:avLst/>
            </a:prstGeom>
            <a:noFill/>
            <a:ln w="2857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Oval 82"/>
            <p:cNvSpPr>
              <a:spLocks noChangeArrowheads="1"/>
            </p:cNvSpPr>
            <p:nvPr/>
          </p:nvSpPr>
          <p:spPr bwMode="auto">
            <a:xfrm>
              <a:off x="2563" y="2387"/>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Oval 83"/>
            <p:cNvSpPr>
              <a:spLocks noChangeArrowheads="1"/>
            </p:cNvSpPr>
            <p:nvPr/>
          </p:nvSpPr>
          <p:spPr bwMode="auto">
            <a:xfrm>
              <a:off x="2563" y="3385"/>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Text Box 84"/>
            <p:cNvSpPr txBox="1">
              <a:spLocks noChangeArrowheads="1"/>
            </p:cNvSpPr>
            <p:nvPr/>
          </p:nvSpPr>
          <p:spPr bwMode="auto">
            <a:xfrm>
              <a:off x="2426" y="2750"/>
              <a:ext cx="36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dirty="0" smtClean="0"/>
                <a:t>v</a:t>
              </a:r>
              <a:endParaRPr lang="en-US" altLang="zh-CN" dirty="0">
                <a:latin typeface="Arial" charset="0"/>
                <a:ea typeface="仿宋_GB2312" pitchFamily="49" charset="-122"/>
              </a:endParaRPr>
            </a:p>
          </p:txBody>
        </p:sp>
        <p:sp>
          <p:nvSpPr>
            <p:cNvPr id="79" name="Text Box 85"/>
            <p:cNvSpPr txBox="1">
              <a:spLocks noChangeArrowheads="1"/>
            </p:cNvSpPr>
            <p:nvPr/>
          </p:nvSpPr>
          <p:spPr bwMode="auto">
            <a:xfrm>
              <a:off x="2482" y="2451"/>
              <a:ext cx="226"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a:t>+</a:t>
              </a:r>
              <a:endParaRPr lang="en-US" altLang="zh-CN">
                <a:latin typeface="Arial" charset="0"/>
                <a:ea typeface="仿宋_GB2312" pitchFamily="49" charset="-122"/>
              </a:endParaRPr>
            </a:p>
          </p:txBody>
        </p:sp>
        <p:sp>
          <p:nvSpPr>
            <p:cNvPr id="80" name="Text Box 86"/>
            <p:cNvSpPr txBox="1">
              <a:spLocks noChangeArrowheads="1"/>
            </p:cNvSpPr>
            <p:nvPr/>
          </p:nvSpPr>
          <p:spPr bwMode="auto">
            <a:xfrm>
              <a:off x="2472" y="3040"/>
              <a:ext cx="212" cy="291"/>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a:t>_</a:t>
              </a:r>
              <a:endParaRPr lang="en-US" altLang="zh-CN">
                <a:latin typeface="Arial" charset="0"/>
                <a:ea typeface="仿宋_GB2312" pitchFamily="49" charset="-122"/>
              </a:endParaRPr>
            </a:p>
          </p:txBody>
        </p:sp>
        <p:sp>
          <p:nvSpPr>
            <p:cNvPr id="81" name="Line 87"/>
            <p:cNvSpPr>
              <a:spLocks noChangeShapeType="1"/>
            </p:cNvSpPr>
            <p:nvPr/>
          </p:nvSpPr>
          <p:spPr bwMode="auto">
            <a:xfrm>
              <a:off x="1883" y="2432"/>
              <a:ext cx="6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88"/>
            <p:cNvSpPr>
              <a:spLocks noChangeShapeType="1"/>
            </p:cNvSpPr>
            <p:nvPr/>
          </p:nvSpPr>
          <p:spPr bwMode="auto">
            <a:xfrm>
              <a:off x="1883" y="3430"/>
              <a:ext cx="6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681904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3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slide(fromLeft)">
                                      <p:cBhvr>
                                        <p:cTn id="23" dur="500"/>
                                        <p:tgtEl>
                                          <p:spTgt spid="3"/>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blinds(horizontal)">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blinds(horizontal)">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15" presetClass="entr" presetSubtype="0"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anim calcmode="lin" valueType="num">
                                      <p:cBhvr>
                                        <p:cTn id="37" dur="1000" fill="hold"/>
                                        <p:tgtEl>
                                          <p:spTgt spid="64"/>
                                        </p:tgtEl>
                                        <p:attrNameLst>
                                          <p:attrName>ppt_w</p:attrName>
                                        </p:attrNameLst>
                                      </p:cBhvr>
                                      <p:tavLst>
                                        <p:tav tm="0">
                                          <p:val>
                                            <p:fltVal val="0"/>
                                          </p:val>
                                        </p:tav>
                                        <p:tav tm="100000">
                                          <p:val>
                                            <p:strVal val="#ppt_w"/>
                                          </p:val>
                                        </p:tav>
                                      </p:tavLst>
                                    </p:anim>
                                    <p:anim calcmode="lin" valueType="num">
                                      <p:cBhvr>
                                        <p:cTn id="38" dur="1000" fill="hold"/>
                                        <p:tgtEl>
                                          <p:spTgt spid="64"/>
                                        </p:tgtEl>
                                        <p:attrNameLst>
                                          <p:attrName>ppt_h</p:attrName>
                                        </p:attrNameLst>
                                      </p:cBhvr>
                                      <p:tavLst>
                                        <p:tav tm="0">
                                          <p:val>
                                            <p:fltVal val="0"/>
                                          </p:val>
                                        </p:tav>
                                        <p:tav tm="100000">
                                          <p:val>
                                            <p:strVal val="#ppt_h"/>
                                          </p:val>
                                        </p:tav>
                                      </p:tavLst>
                                    </p:anim>
                                    <p:anim calcmode="lin" valueType="num">
                                      <p:cBhvr>
                                        <p:cTn id="39" dur="1000" fill="hold"/>
                                        <p:tgtEl>
                                          <p:spTgt spid="64"/>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6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slide(fromLeft)">
                                      <p:cBhvr>
                                        <p:cTn id="45" dur="500"/>
                                        <p:tgtEl>
                                          <p:spTgt spid="5"/>
                                        </p:tgtEl>
                                      </p:cBhvr>
                                    </p:animEffect>
                                  </p:childTnLst>
                                </p:cTn>
                              </p:par>
                            </p:childTnLst>
                          </p:cTn>
                        </p:par>
                        <p:par>
                          <p:cTn id="46" fill="hold">
                            <p:stCondLst>
                              <p:cond delay="500"/>
                            </p:stCondLst>
                            <p:childTnLst>
                              <p:par>
                                <p:cTn id="47" presetID="3" presetClass="entr" presetSubtype="10" fill="hold" nodeType="after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blinds(horizontal)">
                                      <p:cBhvr>
                                        <p:cTn id="49" dur="500"/>
                                        <p:tgtEl>
                                          <p:spTgt spid="68"/>
                                        </p:tgtEl>
                                      </p:cBhvr>
                                    </p:animEffect>
                                  </p:childTnLst>
                                </p:cTn>
                              </p:par>
                            </p:childTnLst>
                          </p:cTn>
                        </p:par>
                        <p:par>
                          <p:cTn id="50" fill="hold">
                            <p:stCondLst>
                              <p:cond delay="1000"/>
                            </p:stCondLst>
                            <p:childTnLst>
                              <p:par>
                                <p:cTn id="51" presetID="22" presetClass="entr" presetSubtype="1" fill="hold" grpId="0" nodeType="after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up)">
                                      <p:cBhvr>
                                        <p:cTn id="5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 Box 2"/>
          <p:cNvSpPr txBox="1">
            <a:spLocks noChangeArrowheads="1"/>
          </p:cNvSpPr>
          <p:nvPr/>
        </p:nvSpPr>
        <p:spPr bwMode="auto">
          <a:xfrm>
            <a:off x="381000" y="354900"/>
            <a:ext cx="5629276" cy="461665"/>
          </a:xfrm>
          <a:prstGeom prst="rect">
            <a:avLst/>
          </a:prstGeom>
          <a:solidFill>
            <a:schemeClr val="bg1"/>
          </a:solidFill>
          <a:ln>
            <a:noFill/>
          </a:ln>
          <a:effectLst/>
          <a:extLst/>
        </p:spPr>
        <p:txBody>
          <a:bodyPr wrap="square">
            <a:spAutoFit/>
          </a:bodyPr>
          <a:lstStyle/>
          <a:p>
            <a:pPr algn="l">
              <a:spcBef>
                <a:spcPct val="50000"/>
              </a:spcBef>
            </a:pPr>
            <a:r>
              <a:rPr lang="en-US" altLang="zh-CN" dirty="0" smtClean="0">
                <a:solidFill>
                  <a:srgbClr val="A50021"/>
                </a:solidFill>
                <a:latin typeface="+mn-lt"/>
                <a:ea typeface="+mn-ea"/>
              </a:rPr>
              <a:t>2.5.2 </a:t>
            </a:r>
            <a:r>
              <a:rPr lang="zh-CN" altLang="en-US" dirty="0" smtClean="0">
                <a:solidFill>
                  <a:srgbClr val="A50021"/>
                </a:solidFill>
                <a:latin typeface="+mn-lt"/>
                <a:ea typeface="+mn-ea"/>
              </a:rPr>
              <a:t>电</a:t>
            </a:r>
            <a:r>
              <a:rPr lang="zh-CN" altLang="en-US" dirty="0">
                <a:solidFill>
                  <a:srgbClr val="A50021"/>
                </a:solidFill>
                <a:latin typeface="+mn-lt"/>
                <a:ea typeface="+mn-ea"/>
              </a:rPr>
              <a:t>流</a:t>
            </a:r>
            <a:r>
              <a:rPr lang="zh-CN" altLang="en-US" dirty="0" smtClean="0">
                <a:solidFill>
                  <a:srgbClr val="A50021"/>
                </a:solidFill>
                <a:latin typeface="+mn-lt"/>
                <a:ea typeface="+mn-ea"/>
              </a:rPr>
              <a:t>源</a:t>
            </a:r>
            <a:r>
              <a:rPr lang="zh-CN" altLang="en-US" dirty="0">
                <a:solidFill>
                  <a:srgbClr val="A50021"/>
                </a:solidFill>
                <a:latin typeface="+mn-lt"/>
                <a:ea typeface="+mn-ea"/>
              </a:rPr>
              <a:t>的串联和</a:t>
            </a:r>
            <a:r>
              <a:rPr lang="zh-CN" altLang="en-US" dirty="0" smtClean="0">
                <a:solidFill>
                  <a:srgbClr val="A50021"/>
                </a:solidFill>
                <a:latin typeface="+mn-lt"/>
                <a:ea typeface="+mn-ea"/>
              </a:rPr>
              <a:t>并联</a:t>
            </a:r>
            <a:endParaRPr lang="en-US" altLang="zh-CN" dirty="0">
              <a:solidFill>
                <a:srgbClr val="A50021"/>
              </a:solidFill>
              <a:latin typeface="+mn-lt"/>
              <a:ea typeface="+mn-ea"/>
            </a:endParaRPr>
          </a:p>
        </p:txBody>
      </p:sp>
      <p:sp>
        <p:nvSpPr>
          <p:cNvPr id="68" name="Text Box 3"/>
          <p:cNvSpPr txBox="1">
            <a:spLocks noChangeArrowheads="1"/>
          </p:cNvSpPr>
          <p:nvPr/>
        </p:nvSpPr>
        <p:spPr bwMode="auto">
          <a:xfrm>
            <a:off x="755650" y="5529263"/>
            <a:ext cx="7416800" cy="97872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b="1" dirty="0">
                <a:latin typeface="楷体_GB2312" pitchFamily="49" charset="-122"/>
                <a:ea typeface="楷体_GB2312" pitchFamily="49" charset="-122"/>
              </a:rPr>
              <a:t>       </a:t>
            </a:r>
            <a:r>
              <a:rPr kumimoji="1" lang="zh-CN" altLang="en-US" b="1" dirty="0">
                <a:latin typeface="楷体_GB2312" pitchFamily="49" charset="-122"/>
                <a:ea typeface="楷体_GB2312" pitchFamily="49" charset="-122"/>
              </a:rPr>
              <a:t>相同的理想电流源才能串联</a:t>
            </a:r>
            <a:r>
              <a:rPr kumimoji="1" lang="en-US" altLang="zh-CN" b="1" dirty="0">
                <a:latin typeface="楷体_GB2312" pitchFamily="49" charset="-122"/>
                <a:ea typeface="楷体_GB2312" pitchFamily="49" charset="-122"/>
              </a:rPr>
              <a:t>, </a:t>
            </a:r>
            <a:r>
              <a:rPr kumimoji="1" lang="zh-CN" altLang="en-US" b="1" dirty="0">
                <a:latin typeface="楷体_GB2312" pitchFamily="49" charset="-122"/>
                <a:ea typeface="楷体_GB2312" pitchFamily="49" charset="-122"/>
              </a:rPr>
              <a:t>每个电流源的端电压不能确定。</a:t>
            </a:r>
          </a:p>
        </p:txBody>
      </p:sp>
      <p:sp>
        <p:nvSpPr>
          <p:cNvPr id="69" name="Rectangle 4"/>
          <p:cNvSpPr>
            <a:spLocks noChangeArrowheads="1"/>
          </p:cNvSpPr>
          <p:nvPr/>
        </p:nvSpPr>
        <p:spPr bwMode="auto">
          <a:xfrm>
            <a:off x="392113" y="3860800"/>
            <a:ext cx="1511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spcBef>
                <a:spcPct val="50000"/>
              </a:spcBef>
              <a:buSzPct val="95000"/>
              <a:buFont typeface="Wingdings" pitchFamily="2" charset="2"/>
              <a:buAutoNum type="circleNumDbPlain" startAt="2"/>
            </a:pPr>
            <a:r>
              <a:rPr kumimoji="1" lang="zh-CN" altLang="en-US" b="1" dirty="0">
                <a:latin typeface="楷体_GB2312" pitchFamily="49" charset="-122"/>
                <a:ea typeface="楷体_GB2312" pitchFamily="49" charset="-122"/>
              </a:rPr>
              <a:t>串联</a:t>
            </a:r>
          </a:p>
        </p:txBody>
      </p:sp>
      <p:sp>
        <p:nvSpPr>
          <p:cNvPr id="70" name="Rectangle 5"/>
          <p:cNvSpPr>
            <a:spLocks noChangeArrowheads="1"/>
          </p:cNvSpPr>
          <p:nvPr/>
        </p:nvSpPr>
        <p:spPr bwMode="auto">
          <a:xfrm>
            <a:off x="395288" y="1412875"/>
            <a:ext cx="14732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a:spcBef>
                <a:spcPct val="50000"/>
              </a:spcBef>
              <a:buSzPct val="95000"/>
              <a:buFont typeface="Wingdings" pitchFamily="2" charset="2"/>
              <a:buAutoNum type="circleNumDbPlain"/>
            </a:pPr>
            <a:r>
              <a:rPr kumimoji="1" lang="zh-CN" altLang="en-US" b="1">
                <a:latin typeface="楷体_GB2312" pitchFamily="49" charset="-122"/>
                <a:ea typeface="楷体_GB2312" pitchFamily="49" charset="-122"/>
              </a:rPr>
              <a:t>并联</a:t>
            </a:r>
          </a:p>
        </p:txBody>
      </p:sp>
      <p:sp>
        <p:nvSpPr>
          <p:cNvPr id="71" name="AutoShape 7" descr="羊皮纸"/>
          <p:cNvSpPr>
            <a:spLocks noChangeArrowheads="1"/>
          </p:cNvSpPr>
          <p:nvPr/>
        </p:nvSpPr>
        <p:spPr bwMode="auto">
          <a:xfrm>
            <a:off x="4210844" y="1012034"/>
            <a:ext cx="2665412" cy="576262"/>
          </a:xfrm>
          <a:prstGeom prst="wedgeRoundRectCallout">
            <a:avLst>
              <a:gd name="adj1" fmla="val -74203"/>
              <a:gd name="adj2" fmla="val 56981"/>
              <a:gd name="adj3"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dirty="0">
                <a:latin typeface="Arial" charset="0"/>
                <a:ea typeface="楷体_GB2312" pitchFamily="49" charset="-122"/>
              </a:rPr>
              <a:t>注意参考方向</a:t>
            </a:r>
            <a:endParaRPr lang="zh-CN" altLang="en-US" b="1" dirty="0">
              <a:solidFill>
                <a:srgbClr val="FFFF00"/>
              </a:solidFill>
              <a:latin typeface="Arial" charset="0"/>
              <a:ea typeface="楷体_GB2312" pitchFamily="49" charset="-122"/>
            </a:endParaRPr>
          </a:p>
        </p:txBody>
      </p:sp>
      <p:graphicFrame>
        <p:nvGraphicFramePr>
          <p:cNvPr id="72" name="Object 8"/>
          <p:cNvGraphicFramePr>
            <a:graphicFrameLocks noChangeAspect="1"/>
          </p:cNvGraphicFramePr>
          <p:nvPr>
            <p:extLst>
              <p:ext uri="{D42A27DB-BD31-4B8C-83A1-F6EECF244321}">
                <p14:modId xmlns:p14="http://schemas.microsoft.com/office/powerpoint/2010/main" val="797893227"/>
              </p:ext>
            </p:extLst>
          </p:nvPr>
        </p:nvGraphicFramePr>
        <p:xfrm>
          <a:off x="1804989" y="4549082"/>
          <a:ext cx="1781174" cy="607117"/>
        </p:xfrm>
        <a:graphic>
          <a:graphicData uri="http://schemas.openxmlformats.org/presentationml/2006/ole">
            <mc:AlternateContent xmlns:mc="http://schemas.openxmlformats.org/markup-compatibility/2006">
              <mc:Choice xmlns:v="urn:schemas-microsoft-com:vml" Requires="v">
                <p:oleObj spid="_x0000_s435220" name="公式" r:id="rId4" imgW="711000" imgH="241200" progId="Equation.3">
                  <p:embed/>
                </p:oleObj>
              </mc:Choice>
              <mc:Fallback>
                <p:oleObj name="公式" r:id="rId4" imgW="71100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4989" y="4549082"/>
                        <a:ext cx="1781174" cy="607117"/>
                      </a:xfrm>
                      <a:prstGeom prst="rect">
                        <a:avLst/>
                      </a:prstGeom>
                      <a:noFill/>
                      <a:ln>
                        <a:noFill/>
                      </a:ln>
                      <a:effectLst/>
                      <a:extLst/>
                    </p:spPr>
                  </p:pic>
                </p:oleObj>
              </mc:Fallback>
            </mc:AlternateContent>
          </a:graphicData>
        </a:graphic>
      </p:graphicFrame>
      <p:grpSp>
        <p:nvGrpSpPr>
          <p:cNvPr id="73" name="Group 15"/>
          <p:cNvGrpSpPr>
            <a:grpSpLocks/>
          </p:cNvGrpSpPr>
          <p:nvPr/>
        </p:nvGrpSpPr>
        <p:grpSpPr bwMode="auto">
          <a:xfrm>
            <a:off x="1501776" y="1700213"/>
            <a:ext cx="2667004" cy="1944687"/>
            <a:chOff x="946" y="1071"/>
            <a:chExt cx="1680" cy="1225"/>
          </a:xfrm>
        </p:grpSpPr>
        <p:sp>
          <p:nvSpPr>
            <p:cNvPr id="74" name="Line 16"/>
            <p:cNvSpPr>
              <a:spLocks noChangeShapeType="1"/>
            </p:cNvSpPr>
            <p:nvPr/>
          </p:nvSpPr>
          <p:spPr bwMode="auto">
            <a:xfrm>
              <a:off x="1127" y="1434"/>
              <a:ext cx="0" cy="8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Text Box 17"/>
            <p:cNvSpPr txBox="1">
              <a:spLocks noChangeArrowheads="1"/>
            </p:cNvSpPr>
            <p:nvPr/>
          </p:nvSpPr>
          <p:spPr bwMode="auto">
            <a:xfrm>
              <a:off x="1198" y="1434"/>
              <a:ext cx="3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t>i</a:t>
              </a:r>
              <a:r>
                <a:rPr kumimoji="1" lang="en-US" altLang="zh-CN" baseline="-25000"/>
                <a:t>S1</a:t>
              </a:r>
              <a:endParaRPr kumimoji="1" lang="en-US" altLang="zh-CN"/>
            </a:p>
          </p:txBody>
        </p:sp>
        <p:sp>
          <p:nvSpPr>
            <p:cNvPr id="76" name="Line 18"/>
            <p:cNvSpPr>
              <a:spLocks noChangeShapeType="1"/>
            </p:cNvSpPr>
            <p:nvPr/>
          </p:nvSpPr>
          <p:spPr bwMode="auto">
            <a:xfrm flipV="1">
              <a:off x="1127" y="1454"/>
              <a:ext cx="0" cy="227"/>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Text Box 19"/>
            <p:cNvSpPr txBox="1">
              <a:spLocks noChangeArrowheads="1"/>
            </p:cNvSpPr>
            <p:nvPr/>
          </p:nvSpPr>
          <p:spPr bwMode="auto">
            <a:xfrm>
              <a:off x="1853" y="1389"/>
              <a:ext cx="42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a:t>i</a:t>
              </a:r>
              <a:r>
                <a:rPr kumimoji="1" lang="en-US" altLang="zh-CN" baseline="-25000" dirty="0"/>
                <a:t>S2</a:t>
              </a:r>
              <a:endParaRPr kumimoji="1" lang="en-US" altLang="zh-CN" dirty="0"/>
            </a:p>
          </p:txBody>
        </p:sp>
        <p:sp>
          <p:nvSpPr>
            <p:cNvPr id="78" name="Line 21"/>
            <p:cNvSpPr>
              <a:spLocks noChangeShapeType="1"/>
            </p:cNvSpPr>
            <p:nvPr/>
          </p:nvSpPr>
          <p:spPr bwMode="auto">
            <a:xfrm>
              <a:off x="1137" y="2241"/>
              <a:ext cx="6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23"/>
            <p:cNvSpPr>
              <a:spLocks noChangeShapeType="1"/>
            </p:cNvSpPr>
            <p:nvPr/>
          </p:nvSpPr>
          <p:spPr bwMode="auto">
            <a:xfrm>
              <a:off x="1117" y="1425"/>
              <a:ext cx="6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24"/>
            <p:cNvSpPr>
              <a:spLocks noChangeShapeType="1"/>
            </p:cNvSpPr>
            <p:nvPr/>
          </p:nvSpPr>
          <p:spPr bwMode="auto">
            <a:xfrm>
              <a:off x="1790" y="2241"/>
              <a:ext cx="49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26"/>
            <p:cNvSpPr>
              <a:spLocks noChangeShapeType="1"/>
            </p:cNvSpPr>
            <p:nvPr/>
          </p:nvSpPr>
          <p:spPr bwMode="auto">
            <a:xfrm>
              <a:off x="1790" y="1425"/>
              <a:ext cx="49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27"/>
            <p:cNvSpPr>
              <a:spLocks noChangeShapeType="1"/>
            </p:cNvSpPr>
            <p:nvPr/>
          </p:nvSpPr>
          <p:spPr bwMode="auto">
            <a:xfrm>
              <a:off x="1927" y="1344"/>
              <a:ext cx="363"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Text Box 28"/>
            <p:cNvSpPr txBox="1">
              <a:spLocks noChangeArrowheads="1"/>
            </p:cNvSpPr>
            <p:nvPr/>
          </p:nvSpPr>
          <p:spPr bwMode="auto">
            <a:xfrm>
              <a:off x="2290" y="1071"/>
              <a:ext cx="3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solidFill>
                    <a:schemeClr val="bg1"/>
                  </a:solidFill>
                </a:rPr>
                <a:t>i</a:t>
              </a:r>
              <a:endParaRPr lang="en-US" altLang="zh-CN">
                <a:solidFill>
                  <a:schemeClr val="bg1"/>
                </a:solidFill>
                <a:latin typeface="Arial" charset="0"/>
                <a:ea typeface="仿宋_GB2312" pitchFamily="49" charset="-122"/>
              </a:endParaRPr>
            </a:p>
          </p:txBody>
        </p:sp>
        <p:grpSp>
          <p:nvGrpSpPr>
            <p:cNvPr id="84" name="Group 29"/>
            <p:cNvGrpSpPr>
              <a:grpSpLocks/>
            </p:cNvGrpSpPr>
            <p:nvPr/>
          </p:nvGrpSpPr>
          <p:grpSpPr bwMode="auto">
            <a:xfrm>
              <a:off x="946" y="1661"/>
              <a:ext cx="363" cy="363"/>
              <a:chOff x="5527" y="709"/>
              <a:chExt cx="363" cy="363"/>
            </a:xfrm>
          </p:grpSpPr>
          <p:sp>
            <p:nvSpPr>
              <p:cNvPr id="92" name="Oval 30"/>
              <p:cNvSpPr>
                <a:spLocks noChangeArrowheads="1"/>
              </p:cNvSpPr>
              <p:nvPr/>
            </p:nvSpPr>
            <p:spPr bwMode="auto">
              <a:xfrm>
                <a:off x="5527"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93" name="Line 31"/>
              <p:cNvSpPr>
                <a:spLocks noChangeShapeType="1"/>
              </p:cNvSpPr>
              <p:nvPr/>
            </p:nvSpPr>
            <p:spPr bwMode="auto">
              <a:xfrm>
                <a:off x="5527"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5" name="Line 32"/>
            <p:cNvSpPr>
              <a:spLocks noChangeShapeType="1"/>
            </p:cNvSpPr>
            <p:nvPr/>
          </p:nvSpPr>
          <p:spPr bwMode="auto">
            <a:xfrm>
              <a:off x="1762" y="1434"/>
              <a:ext cx="0" cy="817"/>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Oval 34"/>
            <p:cNvSpPr>
              <a:spLocks noChangeArrowheads="1"/>
            </p:cNvSpPr>
            <p:nvPr/>
          </p:nvSpPr>
          <p:spPr bwMode="auto">
            <a:xfrm>
              <a:off x="2290" y="1389"/>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Oval 35"/>
            <p:cNvSpPr>
              <a:spLocks noChangeArrowheads="1"/>
            </p:cNvSpPr>
            <p:nvPr/>
          </p:nvSpPr>
          <p:spPr bwMode="auto">
            <a:xfrm>
              <a:off x="2290" y="2205"/>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8" name="Group 39"/>
            <p:cNvGrpSpPr>
              <a:grpSpLocks/>
            </p:cNvGrpSpPr>
            <p:nvPr/>
          </p:nvGrpSpPr>
          <p:grpSpPr bwMode="auto">
            <a:xfrm>
              <a:off x="1581" y="1661"/>
              <a:ext cx="363" cy="363"/>
              <a:chOff x="5527" y="709"/>
              <a:chExt cx="363" cy="363"/>
            </a:xfrm>
          </p:grpSpPr>
          <p:sp>
            <p:nvSpPr>
              <p:cNvPr id="90" name="Oval 40"/>
              <p:cNvSpPr>
                <a:spLocks noChangeArrowheads="1"/>
              </p:cNvSpPr>
              <p:nvPr/>
            </p:nvSpPr>
            <p:spPr bwMode="auto">
              <a:xfrm>
                <a:off x="5527"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91" name="Line 41"/>
              <p:cNvSpPr>
                <a:spLocks noChangeShapeType="1"/>
              </p:cNvSpPr>
              <p:nvPr/>
            </p:nvSpPr>
            <p:spPr bwMode="auto">
              <a:xfrm>
                <a:off x="5527"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9" name="Line 43"/>
            <p:cNvSpPr>
              <a:spLocks noChangeShapeType="1"/>
            </p:cNvSpPr>
            <p:nvPr/>
          </p:nvSpPr>
          <p:spPr bwMode="auto">
            <a:xfrm flipH="1" flipV="1">
              <a:off x="1762" y="1469"/>
              <a:ext cx="3" cy="173"/>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 name="Group 44"/>
          <p:cNvGrpSpPr>
            <a:grpSpLocks/>
          </p:cNvGrpSpPr>
          <p:nvPr/>
        </p:nvGrpSpPr>
        <p:grpSpPr bwMode="auto">
          <a:xfrm>
            <a:off x="4067175" y="2420938"/>
            <a:ext cx="1801813" cy="584200"/>
            <a:chOff x="3334" y="2854"/>
            <a:chExt cx="1135" cy="368"/>
          </a:xfrm>
        </p:grpSpPr>
        <p:sp>
          <p:nvSpPr>
            <p:cNvPr id="95" name="AutoShape 45"/>
            <p:cNvSpPr>
              <a:spLocks noChangeArrowheads="1"/>
            </p:cNvSpPr>
            <p:nvPr/>
          </p:nvSpPr>
          <p:spPr bwMode="auto">
            <a:xfrm>
              <a:off x="3460" y="2854"/>
              <a:ext cx="872" cy="122"/>
            </a:xfrm>
            <a:prstGeom prst="rightArrow">
              <a:avLst>
                <a:gd name="adj1" fmla="val 50000"/>
                <a:gd name="adj2" fmla="val 178689"/>
              </a:avLst>
            </a:prstGeom>
            <a:solidFill>
              <a:srgbClr val="3399FF"/>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Text Box 46"/>
            <p:cNvSpPr txBox="1">
              <a:spLocks noChangeArrowheads="1"/>
            </p:cNvSpPr>
            <p:nvPr/>
          </p:nvSpPr>
          <p:spPr bwMode="auto">
            <a:xfrm>
              <a:off x="3334" y="2931"/>
              <a:ext cx="11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Arial" charset="0"/>
                  <a:ea typeface="楷体_GB2312" pitchFamily="49" charset="-122"/>
                </a:rPr>
                <a:t>等效电路</a:t>
              </a:r>
            </a:p>
          </p:txBody>
        </p:sp>
      </p:grpSp>
      <p:grpSp>
        <p:nvGrpSpPr>
          <p:cNvPr id="97" name="Group 47"/>
          <p:cNvGrpSpPr>
            <a:grpSpLocks/>
          </p:cNvGrpSpPr>
          <p:nvPr/>
        </p:nvGrpSpPr>
        <p:grpSpPr bwMode="auto">
          <a:xfrm rot="-1626714">
            <a:off x="4278152" y="3430570"/>
            <a:ext cx="1801812" cy="612775"/>
            <a:chOff x="3334" y="2854"/>
            <a:chExt cx="1135" cy="386"/>
          </a:xfrm>
        </p:grpSpPr>
        <p:sp>
          <p:nvSpPr>
            <p:cNvPr id="98" name="AutoShape 48"/>
            <p:cNvSpPr>
              <a:spLocks noChangeArrowheads="1"/>
            </p:cNvSpPr>
            <p:nvPr/>
          </p:nvSpPr>
          <p:spPr bwMode="auto">
            <a:xfrm>
              <a:off x="3460" y="2854"/>
              <a:ext cx="872" cy="122"/>
            </a:xfrm>
            <a:prstGeom prst="rightArrow">
              <a:avLst>
                <a:gd name="adj1" fmla="val 50000"/>
                <a:gd name="adj2" fmla="val 178689"/>
              </a:avLst>
            </a:prstGeom>
            <a:solidFill>
              <a:srgbClr val="3399FF"/>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Text Box 49"/>
            <p:cNvSpPr txBox="1">
              <a:spLocks noChangeArrowheads="1"/>
            </p:cNvSpPr>
            <p:nvPr/>
          </p:nvSpPr>
          <p:spPr bwMode="auto">
            <a:xfrm>
              <a:off x="3334" y="2949"/>
              <a:ext cx="11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Arial" charset="0"/>
                  <a:ea typeface="楷体_GB2312" pitchFamily="49" charset="-122"/>
                </a:rPr>
                <a:t>等效电路</a:t>
              </a:r>
            </a:p>
          </p:txBody>
        </p:sp>
      </p:grpSp>
      <p:grpSp>
        <p:nvGrpSpPr>
          <p:cNvPr id="100" name="Group 50"/>
          <p:cNvGrpSpPr>
            <a:grpSpLocks/>
          </p:cNvGrpSpPr>
          <p:nvPr/>
        </p:nvGrpSpPr>
        <p:grpSpPr bwMode="auto">
          <a:xfrm>
            <a:off x="4787900" y="3860800"/>
            <a:ext cx="3097213" cy="1368425"/>
            <a:chOff x="3016" y="2432"/>
            <a:chExt cx="1951" cy="862"/>
          </a:xfrm>
        </p:grpSpPr>
        <p:sp>
          <p:nvSpPr>
            <p:cNvPr id="101" name="Text Box 51"/>
            <p:cNvSpPr txBox="1">
              <a:spLocks noChangeArrowheads="1"/>
            </p:cNvSpPr>
            <p:nvPr/>
          </p:nvSpPr>
          <p:spPr bwMode="auto">
            <a:xfrm>
              <a:off x="3198" y="2942"/>
              <a:ext cx="22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t>i</a:t>
              </a:r>
              <a:endParaRPr lang="en-US" altLang="zh-CN">
                <a:latin typeface="Arial" charset="0"/>
                <a:ea typeface="仿宋_GB2312" pitchFamily="49" charset="-122"/>
              </a:endParaRPr>
            </a:p>
          </p:txBody>
        </p:sp>
        <p:sp>
          <p:nvSpPr>
            <p:cNvPr id="102" name="Line 52"/>
            <p:cNvSpPr>
              <a:spLocks noChangeShapeType="1"/>
            </p:cNvSpPr>
            <p:nvPr/>
          </p:nvSpPr>
          <p:spPr bwMode="auto">
            <a:xfrm>
              <a:off x="3062" y="2795"/>
              <a:ext cx="0" cy="4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 name="Line 53"/>
            <p:cNvSpPr>
              <a:spLocks noChangeShapeType="1"/>
            </p:cNvSpPr>
            <p:nvPr/>
          </p:nvSpPr>
          <p:spPr bwMode="auto">
            <a:xfrm>
              <a:off x="4922" y="2795"/>
              <a:ext cx="0" cy="4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 name="Oval 54"/>
            <p:cNvSpPr>
              <a:spLocks noChangeArrowheads="1"/>
            </p:cNvSpPr>
            <p:nvPr/>
          </p:nvSpPr>
          <p:spPr bwMode="auto">
            <a:xfrm>
              <a:off x="4876" y="3203"/>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Oval 55"/>
            <p:cNvSpPr>
              <a:spLocks noChangeArrowheads="1"/>
            </p:cNvSpPr>
            <p:nvPr/>
          </p:nvSpPr>
          <p:spPr bwMode="auto">
            <a:xfrm>
              <a:off x="3016" y="3203"/>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 name="Line 56"/>
            <p:cNvSpPr>
              <a:spLocks noChangeShapeType="1"/>
            </p:cNvSpPr>
            <p:nvPr/>
          </p:nvSpPr>
          <p:spPr bwMode="auto">
            <a:xfrm flipV="1">
              <a:off x="3152" y="2841"/>
              <a:ext cx="0" cy="318"/>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 name="Line 57"/>
            <p:cNvSpPr>
              <a:spLocks noChangeShapeType="1"/>
            </p:cNvSpPr>
            <p:nvPr/>
          </p:nvSpPr>
          <p:spPr bwMode="auto">
            <a:xfrm>
              <a:off x="3061" y="2795"/>
              <a:ext cx="186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 name="Text Box 58"/>
            <p:cNvSpPr txBox="1">
              <a:spLocks noChangeArrowheads="1"/>
            </p:cNvSpPr>
            <p:nvPr/>
          </p:nvSpPr>
          <p:spPr bwMode="auto">
            <a:xfrm>
              <a:off x="4513" y="2432"/>
              <a:ext cx="30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a typeface="仿宋_GB2312" pitchFamily="49" charset="-122"/>
                </a:rPr>
                <a:t>i</a:t>
              </a:r>
              <a:r>
                <a:rPr lang="en-US" altLang="zh-CN" i="1" baseline="-25000">
                  <a:ea typeface="仿宋_GB2312" pitchFamily="49" charset="-122"/>
                </a:rPr>
                <a:t>S</a:t>
              </a:r>
              <a:r>
                <a:rPr lang="en-US" altLang="zh-CN" baseline="-25000">
                  <a:ea typeface="仿宋_GB2312" pitchFamily="49" charset="-122"/>
                </a:rPr>
                <a:t>2</a:t>
              </a:r>
            </a:p>
          </p:txBody>
        </p:sp>
        <p:sp>
          <p:nvSpPr>
            <p:cNvPr id="109" name="Text Box 59"/>
            <p:cNvSpPr txBox="1">
              <a:spLocks noChangeArrowheads="1"/>
            </p:cNvSpPr>
            <p:nvPr/>
          </p:nvSpPr>
          <p:spPr bwMode="auto">
            <a:xfrm>
              <a:off x="3696" y="2432"/>
              <a:ext cx="30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a typeface="仿宋_GB2312" pitchFamily="49" charset="-122"/>
                </a:rPr>
                <a:t>i</a:t>
              </a:r>
              <a:r>
                <a:rPr lang="en-US" altLang="zh-CN" i="1" baseline="-25000">
                  <a:ea typeface="仿宋_GB2312" pitchFamily="49" charset="-122"/>
                </a:rPr>
                <a:t>S</a:t>
              </a:r>
              <a:r>
                <a:rPr lang="en-US" altLang="zh-CN" baseline="-25000">
                  <a:ea typeface="仿宋_GB2312" pitchFamily="49" charset="-122"/>
                </a:rPr>
                <a:t>1</a:t>
              </a:r>
            </a:p>
          </p:txBody>
        </p:sp>
        <p:sp>
          <p:nvSpPr>
            <p:cNvPr id="110" name="Line 60"/>
            <p:cNvSpPr>
              <a:spLocks noChangeShapeType="1"/>
            </p:cNvSpPr>
            <p:nvPr/>
          </p:nvSpPr>
          <p:spPr bwMode="auto">
            <a:xfrm>
              <a:off x="3742" y="2795"/>
              <a:ext cx="272"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 name="Line 61"/>
            <p:cNvSpPr>
              <a:spLocks noChangeShapeType="1"/>
            </p:cNvSpPr>
            <p:nvPr/>
          </p:nvSpPr>
          <p:spPr bwMode="auto">
            <a:xfrm>
              <a:off x="4558" y="2795"/>
              <a:ext cx="272"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2" name="Group 62"/>
            <p:cNvGrpSpPr>
              <a:grpSpLocks/>
            </p:cNvGrpSpPr>
            <p:nvPr/>
          </p:nvGrpSpPr>
          <p:grpSpPr bwMode="auto">
            <a:xfrm rot="5400000">
              <a:off x="4150" y="2614"/>
              <a:ext cx="363" cy="363"/>
              <a:chOff x="4785" y="709"/>
              <a:chExt cx="363" cy="363"/>
            </a:xfrm>
          </p:grpSpPr>
          <p:sp>
            <p:nvSpPr>
              <p:cNvPr id="116" name="Oval 63"/>
              <p:cNvSpPr>
                <a:spLocks noChangeArrowheads="1"/>
              </p:cNvSpPr>
              <p:nvPr/>
            </p:nvSpPr>
            <p:spPr bwMode="auto">
              <a:xfrm>
                <a:off x="4785"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a:solidFill>
                    <a:srgbClr val="FFFF00"/>
                  </a:solidFill>
                  <a:latin typeface="Arial" charset="0"/>
                  <a:ea typeface="仿宋_GB2312" pitchFamily="49" charset="-122"/>
                </a:endParaRPr>
              </a:p>
            </p:txBody>
          </p:sp>
          <p:sp>
            <p:nvSpPr>
              <p:cNvPr id="117" name="Line 64"/>
              <p:cNvSpPr>
                <a:spLocks noChangeShapeType="1"/>
              </p:cNvSpPr>
              <p:nvPr/>
            </p:nvSpPr>
            <p:spPr bwMode="auto">
              <a:xfrm>
                <a:off x="4785"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 name="Group 65"/>
            <p:cNvGrpSpPr>
              <a:grpSpLocks/>
            </p:cNvGrpSpPr>
            <p:nvPr/>
          </p:nvGrpSpPr>
          <p:grpSpPr bwMode="auto">
            <a:xfrm rot="5400000">
              <a:off x="3333" y="2614"/>
              <a:ext cx="363" cy="363"/>
              <a:chOff x="4785" y="709"/>
              <a:chExt cx="363" cy="363"/>
            </a:xfrm>
          </p:grpSpPr>
          <p:sp>
            <p:nvSpPr>
              <p:cNvPr id="114" name="Oval 66"/>
              <p:cNvSpPr>
                <a:spLocks noChangeArrowheads="1"/>
              </p:cNvSpPr>
              <p:nvPr/>
            </p:nvSpPr>
            <p:spPr bwMode="auto">
              <a:xfrm>
                <a:off x="4785"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a:solidFill>
                    <a:srgbClr val="FFFF00"/>
                  </a:solidFill>
                  <a:latin typeface="Arial" charset="0"/>
                  <a:ea typeface="仿宋_GB2312" pitchFamily="49" charset="-122"/>
                </a:endParaRPr>
              </a:p>
            </p:txBody>
          </p:sp>
          <p:sp>
            <p:nvSpPr>
              <p:cNvPr id="115" name="Line 67"/>
              <p:cNvSpPr>
                <a:spLocks noChangeShapeType="1"/>
              </p:cNvSpPr>
              <p:nvPr/>
            </p:nvSpPr>
            <p:spPr bwMode="auto">
              <a:xfrm>
                <a:off x="4785"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18" name="Group 68"/>
          <p:cNvGrpSpPr>
            <a:grpSpLocks/>
          </p:cNvGrpSpPr>
          <p:nvPr/>
        </p:nvGrpSpPr>
        <p:grpSpPr bwMode="auto">
          <a:xfrm>
            <a:off x="6227763" y="2205038"/>
            <a:ext cx="1439862" cy="1441450"/>
            <a:chOff x="3923" y="1389"/>
            <a:chExt cx="907" cy="908"/>
          </a:xfrm>
        </p:grpSpPr>
        <p:sp>
          <p:nvSpPr>
            <p:cNvPr id="119" name="Oval 69"/>
            <p:cNvSpPr>
              <a:spLocks noChangeArrowheads="1"/>
            </p:cNvSpPr>
            <p:nvPr/>
          </p:nvSpPr>
          <p:spPr bwMode="auto">
            <a:xfrm>
              <a:off x="4739" y="1389"/>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Line 70"/>
            <p:cNvSpPr>
              <a:spLocks noChangeShapeType="1"/>
            </p:cNvSpPr>
            <p:nvPr/>
          </p:nvSpPr>
          <p:spPr bwMode="auto">
            <a:xfrm>
              <a:off x="4104" y="1435"/>
              <a:ext cx="0"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 name="Line 71"/>
            <p:cNvSpPr>
              <a:spLocks noChangeShapeType="1"/>
            </p:cNvSpPr>
            <p:nvPr/>
          </p:nvSpPr>
          <p:spPr bwMode="auto">
            <a:xfrm flipV="1">
              <a:off x="4105" y="1435"/>
              <a:ext cx="0" cy="192"/>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 name="Text Box 72"/>
            <p:cNvSpPr txBox="1">
              <a:spLocks noChangeArrowheads="1"/>
            </p:cNvSpPr>
            <p:nvPr/>
          </p:nvSpPr>
          <p:spPr bwMode="auto">
            <a:xfrm>
              <a:off x="4240" y="1435"/>
              <a:ext cx="3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t>i</a:t>
              </a:r>
              <a:endParaRPr kumimoji="1" lang="en-US" altLang="zh-CN"/>
            </a:p>
          </p:txBody>
        </p:sp>
        <p:sp>
          <p:nvSpPr>
            <p:cNvPr id="123" name="Line 73"/>
            <p:cNvSpPr>
              <a:spLocks noChangeShapeType="1"/>
            </p:cNvSpPr>
            <p:nvPr/>
          </p:nvSpPr>
          <p:spPr bwMode="auto">
            <a:xfrm>
              <a:off x="4104" y="2251"/>
              <a:ext cx="5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Line 74"/>
            <p:cNvSpPr>
              <a:spLocks noChangeShapeType="1"/>
            </p:cNvSpPr>
            <p:nvPr/>
          </p:nvSpPr>
          <p:spPr bwMode="auto">
            <a:xfrm>
              <a:off x="4104" y="1435"/>
              <a:ext cx="63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5" name="Group 75"/>
            <p:cNvGrpSpPr>
              <a:grpSpLocks/>
            </p:cNvGrpSpPr>
            <p:nvPr/>
          </p:nvGrpSpPr>
          <p:grpSpPr bwMode="auto">
            <a:xfrm>
              <a:off x="3923" y="1662"/>
              <a:ext cx="363" cy="363"/>
              <a:chOff x="4785" y="709"/>
              <a:chExt cx="363" cy="363"/>
            </a:xfrm>
          </p:grpSpPr>
          <p:sp>
            <p:nvSpPr>
              <p:cNvPr id="127" name="Oval 76"/>
              <p:cNvSpPr>
                <a:spLocks noChangeArrowheads="1"/>
              </p:cNvSpPr>
              <p:nvPr/>
            </p:nvSpPr>
            <p:spPr bwMode="auto">
              <a:xfrm>
                <a:off x="4785"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Arial" charset="0"/>
                  <a:ea typeface="仿宋_GB2312" pitchFamily="49" charset="-122"/>
                </a:endParaRPr>
              </a:p>
            </p:txBody>
          </p:sp>
          <p:sp>
            <p:nvSpPr>
              <p:cNvPr id="128" name="Line 77"/>
              <p:cNvSpPr>
                <a:spLocks noChangeShapeType="1"/>
              </p:cNvSpPr>
              <p:nvPr/>
            </p:nvSpPr>
            <p:spPr bwMode="auto">
              <a:xfrm>
                <a:off x="4785"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6" name="Oval 78"/>
            <p:cNvSpPr>
              <a:spLocks noChangeArrowheads="1"/>
            </p:cNvSpPr>
            <p:nvPr/>
          </p:nvSpPr>
          <p:spPr bwMode="auto">
            <a:xfrm>
              <a:off x="4694" y="2206"/>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9" name="Group 79"/>
          <p:cNvGrpSpPr>
            <a:grpSpLocks/>
          </p:cNvGrpSpPr>
          <p:nvPr/>
        </p:nvGrpSpPr>
        <p:grpSpPr bwMode="auto">
          <a:xfrm>
            <a:off x="250825" y="5240338"/>
            <a:ext cx="1447800" cy="850900"/>
            <a:chOff x="385" y="3022"/>
            <a:chExt cx="912" cy="536"/>
          </a:xfrm>
        </p:grpSpPr>
        <p:pic>
          <p:nvPicPr>
            <p:cNvPr id="130" name="Picture 80" descr="1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131" name="Text Box 81"/>
            <p:cNvSpPr txBox="1">
              <a:spLocks noChangeArrowheads="1"/>
            </p:cNvSpPr>
            <p:nvPr/>
          </p:nvSpPr>
          <p:spPr bwMode="auto">
            <a:xfrm>
              <a:off x="793" y="3125"/>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CC6600"/>
                  </a:solidFill>
                  <a:latin typeface="Arial" charset="0"/>
                  <a:ea typeface="华文行楷" pitchFamily="2" charset="-122"/>
                </a:rPr>
                <a:t>注意</a:t>
              </a:r>
            </a:p>
          </p:txBody>
        </p:sp>
      </p:grpSp>
      <p:graphicFrame>
        <p:nvGraphicFramePr>
          <p:cNvPr id="132" name="Object 5"/>
          <p:cNvGraphicFramePr>
            <a:graphicFrameLocks noChangeAspect="1"/>
          </p:cNvGraphicFramePr>
          <p:nvPr>
            <p:extLst>
              <p:ext uri="{D42A27DB-BD31-4B8C-83A1-F6EECF244321}">
                <p14:modId xmlns:p14="http://schemas.microsoft.com/office/powerpoint/2010/main" val="1428150231"/>
              </p:ext>
            </p:extLst>
          </p:nvPr>
        </p:nvGraphicFramePr>
        <p:xfrm>
          <a:off x="2078039" y="1390264"/>
          <a:ext cx="1508124" cy="610214"/>
        </p:xfrm>
        <a:graphic>
          <a:graphicData uri="http://schemas.openxmlformats.org/presentationml/2006/ole">
            <mc:AlternateContent xmlns:mc="http://schemas.openxmlformats.org/markup-compatibility/2006">
              <mc:Choice xmlns:v="urn:schemas-microsoft-com:vml" Requires="v">
                <p:oleObj spid="_x0000_s435221" name="Equation" r:id="rId7" imgW="634680" imgH="228600" progId="Equation.DSMT4">
                  <p:embed/>
                </p:oleObj>
              </mc:Choice>
              <mc:Fallback>
                <p:oleObj name="Equation" r:id="rId7" imgW="634680" imgH="228600" progId="Equation.DSMT4">
                  <p:embed/>
                  <p:pic>
                    <p:nvPicPr>
                      <p:cNvPr id="0" name=""/>
                      <p:cNvPicPr>
                        <a:picLocks noChangeAspect="1" noChangeArrowheads="1"/>
                      </p:cNvPicPr>
                      <p:nvPr/>
                    </p:nvPicPr>
                    <p:blipFill>
                      <a:blip r:embed="rId8"/>
                      <a:srcRect/>
                      <a:stretch>
                        <a:fillRect/>
                      </a:stretch>
                    </p:blipFill>
                    <p:spPr bwMode="auto">
                      <a:xfrm>
                        <a:off x="2078039" y="1390264"/>
                        <a:ext cx="1508124" cy="610214"/>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41893484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barn(inVertical)">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 calcmode="lin" valueType="num">
                                      <p:cBhvr additive="base">
                                        <p:cTn id="12" dur="500" fill="hold"/>
                                        <p:tgtEl>
                                          <p:spTgt spid="70"/>
                                        </p:tgtEl>
                                        <p:attrNameLst>
                                          <p:attrName>ppt_x</p:attrName>
                                        </p:attrNameLst>
                                      </p:cBhvr>
                                      <p:tavLst>
                                        <p:tav tm="0">
                                          <p:val>
                                            <p:strVal val="0-#ppt_w/2"/>
                                          </p:val>
                                        </p:tav>
                                        <p:tav tm="100000">
                                          <p:val>
                                            <p:strVal val="#ppt_x"/>
                                          </p:val>
                                        </p:tav>
                                      </p:tavLst>
                                    </p:anim>
                                    <p:anim calcmode="lin" valueType="num">
                                      <p:cBhvr additive="base">
                                        <p:cTn id="13" dur="500" fill="hold"/>
                                        <p:tgtEl>
                                          <p:spTgt spid="7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3"/>
                                        </p:tgtEl>
                                        <p:attrNameLst>
                                          <p:attrName>style.visibility</p:attrName>
                                        </p:attrNameLst>
                                      </p:cBhvr>
                                      <p:to>
                                        <p:strVal val="visible"/>
                                      </p:to>
                                    </p:set>
                                    <p:animEffect transition="in" filter="blinds(horizontal)">
                                      <p:cBhvr>
                                        <p:cTn id="18" dur="500"/>
                                        <p:tgtEl>
                                          <p:spTgt spid="73"/>
                                        </p:tgtEl>
                                      </p:cBhvr>
                                    </p:animEffect>
                                  </p:childTnLst>
                                </p:cTn>
                              </p:par>
                            </p:childTnLst>
                          </p:cTn>
                        </p:par>
                        <p:par>
                          <p:cTn id="19" fill="hold">
                            <p:stCondLst>
                              <p:cond delay="500"/>
                            </p:stCondLst>
                            <p:childTnLst>
                              <p:par>
                                <p:cTn id="20" presetID="20" presetClass="entr" presetSubtype="0" fill="hold" grpId="0" nodeType="after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edge">
                                      <p:cBhvr>
                                        <p:cTn id="22" dur="10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2"/>
                                        </p:tgtEl>
                                        <p:attrNameLst>
                                          <p:attrName>style.visibility</p:attrName>
                                        </p:attrNameLst>
                                      </p:cBhvr>
                                      <p:to>
                                        <p:strVal val="visible"/>
                                      </p:to>
                                    </p:set>
                                    <p:animEffect transition="in" filter="wipe(left)">
                                      <p:cBhvr>
                                        <p:cTn id="27" dur="3000"/>
                                        <p:tgtEl>
                                          <p:spTgt spid="132"/>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94"/>
                                        </p:tgtEl>
                                        <p:attrNameLst>
                                          <p:attrName>style.visibility</p:attrName>
                                        </p:attrNameLst>
                                      </p:cBhvr>
                                      <p:to>
                                        <p:strVal val="visible"/>
                                      </p:to>
                                    </p:set>
                                    <p:animEffect transition="in" filter="slide(fromLeft)">
                                      <p:cBhvr>
                                        <p:cTn id="32" dur="500"/>
                                        <p:tgtEl>
                                          <p:spTgt spid="94"/>
                                        </p:tgtEl>
                                      </p:cBhvr>
                                    </p:animEffect>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118"/>
                                        </p:tgtEl>
                                        <p:attrNameLst>
                                          <p:attrName>style.visibility</p:attrName>
                                        </p:attrNameLst>
                                      </p:cBhvr>
                                      <p:to>
                                        <p:strVal val="visible"/>
                                      </p:to>
                                    </p:set>
                                    <p:animEffect transition="in" filter="blinds(horizontal)">
                                      <p:cBhvr>
                                        <p:cTn id="36" dur="500"/>
                                        <p:tgtEl>
                                          <p:spTgt spid="11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9"/>
                                        </p:tgtEl>
                                        <p:attrNameLst>
                                          <p:attrName>style.visibility</p:attrName>
                                        </p:attrNameLst>
                                      </p:cBhvr>
                                      <p:to>
                                        <p:strVal val="visible"/>
                                      </p:to>
                                    </p:set>
                                    <p:anim calcmode="lin" valueType="num">
                                      <p:cBhvr additive="base">
                                        <p:cTn id="41" dur="500" fill="hold"/>
                                        <p:tgtEl>
                                          <p:spTgt spid="69"/>
                                        </p:tgtEl>
                                        <p:attrNameLst>
                                          <p:attrName>ppt_x</p:attrName>
                                        </p:attrNameLst>
                                      </p:cBhvr>
                                      <p:tavLst>
                                        <p:tav tm="0">
                                          <p:val>
                                            <p:strVal val="#ppt_x"/>
                                          </p:val>
                                        </p:tav>
                                        <p:tav tm="100000">
                                          <p:val>
                                            <p:strVal val="#ppt_x"/>
                                          </p:val>
                                        </p:tav>
                                      </p:tavLst>
                                    </p:anim>
                                    <p:anim calcmode="lin" valueType="num">
                                      <p:cBhvr additive="base">
                                        <p:cTn id="42"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00"/>
                                        </p:tgtEl>
                                        <p:attrNameLst>
                                          <p:attrName>style.visibility</p:attrName>
                                        </p:attrNameLst>
                                      </p:cBhvr>
                                      <p:to>
                                        <p:strVal val="visible"/>
                                      </p:to>
                                    </p:set>
                                    <p:animEffect transition="in" filter="blinds(horizontal)">
                                      <p:cBhvr>
                                        <p:cTn id="47" dur="500"/>
                                        <p:tgtEl>
                                          <p:spTgt spid="10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wipe(left)">
                                      <p:cBhvr>
                                        <p:cTn id="52" dur="20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nodeType="clickEffect">
                                  <p:stCondLst>
                                    <p:cond delay="0"/>
                                  </p:stCondLst>
                                  <p:childTnLst>
                                    <p:set>
                                      <p:cBhvr>
                                        <p:cTn id="56" dur="1" fill="hold">
                                          <p:stCondLst>
                                            <p:cond delay="0"/>
                                          </p:stCondLst>
                                        </p:cTn>
                                        <p:tgtEl>
                                          <p:spTgt spid="97"/>
                                        </p:tgtEl>
                                        <p:attrNameLst>
                                          <p:attrName>style.visibility</p:attrName>
                                        </p:attrNameLst>
                                      </p:cBhvr>
                                      <p:to>
                                        <p:strVal val="visible"/>
                                      </p:to>
                                    </p:set>
                                    <p:animEffect transition="in" filter="slide(fromLeft)">
                                      <p:cBhvr>
                                        <p:cTn id="57" dur="500"/>
                                        <p:tgtEl>
                                          <p:spTgt spid="9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9"/>
                                        </p:tgtEl>
                                        <p:attrNameLst>
                                          <p:attrName>style.visibility</p:attrName>
                                        </p:attrNameLst>
                                      </p:cBhvr>
                                      <p:to>
                                        <p:strVal val="visible"/>
                                      </p:to>
                                    </p:set>
                                    <p:animEffect transition="in" filter="blinds(horizontal)">
                                      <p:cBhvr>
                                        <p:cTn id="62" dur="500"/>
                                        <p:tgtEl>
                                          <p:spTgt spid="129"/>
                                        </p:tgtEl>
                                      </p:cBhvr>
                                    </p:animEffect>
                                  </p:childTnLst>
                                </p:cTn>
                              </p:par>
                            </p:childTnLst>
                          </p:cTn>
                        </p:par>
                        <p:par>
                          <p:cTn id="63" fill="hold">
                            <p:stCondLst>
                              <p:cond delay="500"/>
                            </p:stCondLst>
                            <p:childTnLst>
                              <p:par>
                                <p:cTn id="64" presetID="12" presetClass="entr" presetSubtype="4" fill="hold" grpId="0" nodeType="afterEffect">
                                  <p:stCondLst>
                                    <p:cond delay="0"/>
                                  </p:stCondLst>
                                  <p:childTnLst>
                                    <p:set>
                                      <p:cBhvr>
                                        <p:cTn id="65" dur="1" fill="hold">
                                          <p:stCondLst>
                                            <p:cond delay="0"/>
                                          </p:stCondLst>
                                        </p:cTn>
                                        <p:tgtEl>
                                          <p:spTgt spid="68"/>
                                        </p:tgtEl>
                                        <p:attrNameLst>
                                          <p:attrName>style.visibility</p:attrName>
                                        </p:attrNameLst>
                                      </p:cBhvr>
                                      <p:to>
                                        <p:strVal val="visible"/>
                                      </p:to>
                                    </p:set>
                                    <p:animEffect transition="in" filter="slide(fromBottom)">
                                      <p:cBhvr>
                                        <p:cTn id="6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8" grpId="0"/>
      <p:bldP spid="69" grpId="0"/>
      <p:bldP spid="70" grpId="0"/>
      <p:bldP spid="7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extLst/>
          </p:nvPr>
        </p:nvGraphicFramePr>
        <p:xfrm>
          <a:off x="904875" y="3225800"/>
          <a:ext cx="7118350" cy="504825"/>
        </p:xfrm>
        <a:graphic>
          <a:graphicData uri="http://schemas.openxmlformats.org/presentationml/2006/ole">
            <mc:AlternateContent xmlns:mc="http://schemas.openxmlformats.org/markup-compatibility/2006">
              <mc:Choice xmlns:v="urn:schemas-microsoft-com:vml" Requires="v">
                <p:oleObj spid="_x0000_s436234" name="Equation" r:id="rId3" imgW="3581280" imgH="228600" progId="Equation.DSMT4">
                  <p:embed/>
                </p:oleObj>
              </mc:Choice>
              <mc:Fallback>
                <p:oleObj name="Equation" r:id="rId3" imgW="3581280" imgH="228600" progId="Equation.DSMT4">
                  <p:embed/>
                  <p:pic>
                    <p:nvPicPr>
                      <p:cNvPr id="0" name=""/>
                      <p:cNvPicPr>
                        <a:picLocks noChangeAspect="1" noChangeArrowheads="1"/>
                      </p:cNvPicPr>
                      <p:nvPr/>
                    </p:nvPicPr>
                    <p:blipFill>
                      <a:blip r:embed="rId4"/>
                      <a:srcRect/>
                      <a:stretch>
                        <a:fillRect/>
                      </a:stretch>
                    </p:blipFill>
                    <p:spPr bwMode="auto">
                      <a:xfrm>
                        <a:off x="904875" y="3225800"/>
                        <a:ext cx="71183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 Box 9"/>
          <p:cNvSpPr txBox="1">
            <a:spLocks noChangeArrowheads="1"/>
          </p:cNvSpPr>
          <p:nvPr/>
        </p:nvSpPr>
        <p:spPr bwMode="auto">
          <a:xfrm>
            <a:off x="323850" y="836613"/>
            <a:ext cx="56165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charset="0"/>
                <a:ea typeface="宋体" charset="-122"/>
              </a:defRPr>
            </a:lvl1pPr>
            <a:lvl2pPr marL="800100" indent="-342900">
              <a:defRPr>
                <a:solidFill>
                  <a:schemeClr val="tx1"/>
                </a:solidFill>
                <a:latin typeface="Arial" charset="0"/>
                <a:ea typeface="宋体" charset="-122"/>
              </a:defRPr>
            </a:lvl2pPr>
            <a:lvl3pPr marL="1257300" indent="-342900">
              <a:defRPr>
                <a:solidFill>
                  <a:schemeClr val="tx1"/>
                </a:solidFill>
                <a:latin typeface="Arial" charset="0"/>
                <a:ea typeface="宋体" charset="-122"/>
              </a:defRPr>
            </a:lvl3pPr>
            <a:lvl4pPr marL="1714500" indent="-342900">
              <a:defRPr>
                <a:solidFill>
                  <a:schemeClr val="tx1"/>
                </a:solidFill>
                <a:latin typeface="Arial" charset="0"/>
                <a:ea typeface="宋体" charset="-122"/>
              </a:defRPr>
            </a:lvl4pPr>
            <a:lvl5pPr marL="2171700" indent="-342900">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pPr marL="457200" indent="-457200">
              <a:spcBef>
                <a:spcPct val="50000"/>
              </a:spcBef>
              <a:buSzPct val="95000"/>
              <a:buFont typeface="+mj-ea"/>
              <a:buAutoNum type="circleNumDbPlain" startAt="3"/>
            </a:pPr>
            <a:r>
              <a:rPr lang="zh-CN" altLang="en-US" b="1" dirty="0">
                <a:latin typeface="+mn-lt"/>
                <a:ea typeface="楷体_GB2312" pitchFamily="49" charset="-122"/>
              </a:rPr>
              <a:t>电流源与支路的串、并联等效</a:t>
            </a:r>
          </a:p>
        </p:txBody>
      </p:sp>
      <p:grpSp>
        <p:nvGrpSpPr>
          <p:cNvPr id="4" name="Group 10"/>
          <p:cNvGrpSpPr>
            <a:grpSpLocks/>
          </p:cNvGrpSpPr>
          <p:nvPr/>
        </p:nvGrpSpPr>
        <p:grpSpPr bwMode="auto">
          <a:xfrm>
            <a:off x="468313" y="1125538"/>
            <a:ext cx="4006850" cy="1944687"/>
            <a:chOff x="295" y="709"/>
            <a:chExt cx="2524" cy="1225"/>
          </a:xfrm>
        </p:grpSpPr>
        <p:sp>
          <p:nvSpPr>
            <p:cNvPr id="5" name="Text Box 11"/>
            <p:cNvSpPr txBox="1">
              <a:spLocks noChangeArrowheads="1"/>
            </p:cNvSpPr>
            <p:nvPr/>
          </p:nvSpPr>
          <p:spPr bwMode="auto">
            <a:xfrm>
              <a:off x="2100" y="1298"/>
              <a:ext cx="3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latin typeface="+mn-lt"/>
                </a:rPr>
                <a:t>R</a:t>
              </a:r>
              <a:r>
                <a:rPr kumimoji="1" lang="en-US" altLang="zh-CN" baseline="-25000">
                  <a:latin typeface="+mn-lt"/>
                </a:rPr>
                <a:t>2</a:t>
              </a:r>
              <a:endParaRPr kumimoji="1" lang="en-US" altLang="zh-CN">
                <a:latin typeface="+mn-lt"/>
              </a:endParaRPr>
            </a:p>
          </p:txBody>
        </p:sp>
        <p:sp>
          <p:nvSpPr>
            <p:cNvPr id="6" name="Text Box 12"/>
            <p:cNvSpPr txBox="1">
              <a:spLocks noChangeArrowheads="1"/>
            </p:cNvSpPr>
            <p:nvPr/>
          </p:nvSpPr>
          <p:spPr bwMode="auto">
            <a:xfrm>
              <a:off x="1006" y="1298"/>
              <a:ext cx="3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a:latin typeface="+mn-lt"/>
                </a:rPr>
                <a:t>R</a:t>
              </a:r>
              <a:r>
                <a:rPr kumimoji="1" lang="en-US" altLang="zh-CN" baseline="-25000" dirty="0">
                  <a:latin typeface="+mn-lt"/>
                </a:rPr>
                <a:t>1</a:t>
              </a:r>
              <a:endParaRPr kumimoji="1" lang="en-US" altLang="zh-CN" dirty="0">
                <a:latin typeface="+mn-lt"/>
              </a:endParaRPr>
            </a:p>
          </p:txBody>
        </p:sp>
        <p:sp>
          <p:nvSpPr>
            <p:cNvPr id="7" name="Text Box 13"/>
            <p:cNvSpPr txBox="1">
              <a:spLocks noChangeArrowheads="1"/>
            </p:cNvSpPr>
            <p:nvPr/>
          </p:nvSpPr>
          <p:spPr bwMode="auto">
            <a:xfrm>
              <a:off x="2422" y="1047"/>
              <a:ext cx="3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latin typeface="+mn-lt"/>
                  <a:ea typeface="仿宋_GB2312" pitchFamily="49" charset="-122"/>
                </a:rPr>
                <a:t>+</a:t>
              </a:r>
            </a:p>
          </p:txBody>
        </p:sp>
        <p:sp>
          <p:nvSpPr>
            <p:cNvPr id="8" name="Text Box 14"/>
            <p:cNvSpPr txBox="1">
              <a:spLocks noChangeArrowheads="1"/>
            </p:cNvSpPr>
            <p:nvPr/>
          </p:nvSpPr>
          <p:spPr bwMode="auto">
            <a:xfrm>
              <a:off x="2427" y="1525"/>
              <a:ext cx="3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mn-lt"/>
                </a:rPr>
                <a:t>_</a:t>
              </a:r>
            </a:p>
          </p:txBody>
        </p:sp>
        <p:sp>
          <p:nvSpPr>
            <p:cNvPr id="9" name="Text Box 15"/>
            <p:cNvSpPr txBox="1">
              <a:spLocks noChangeArrowheads="1"/>
            </p:cNvSpPr>
            <p:nvPr/>
          </p:nvSpPr>
          <p:spPr bwMode="auto">
            <a:xfrm>
              <a:off x="2382" y="1344"/>
              <a:ext cx="3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bg1"/>
                  </a:solidFill>
                  <a:latin typeface="+mn-lt"/>
                  <a:ea typeface="仿宋_GB2312" pitchFamily="49" charset="-122"/>
                </a:rPr>
                <a:t>u</a:t>
              </a:r>
            </a:p>
          </p:txBody>
        </p:sp>
        <p:sp>
          <p:nvSpPr>
            <p:cNvPr id="10" name="Line 16"/>
            <p:cNvSpPr>
              <a:spLocks noChangeShapeType="1"/>
            </p:cNvSpPr>
            <p:nvPr/>
          </p:nvSpPr>
          <p:spPr bwMode="auto">
            <a:xfrm>
              <a:off x="476" y="1072"/>
              <a:ext cx="0" cy="8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1" name="Text Box 17"/>
            <p:cNvSpPr txBox="1">
              <a:spLocks noChangeArrowheads="1"/>
            </p:cNvSpPr>
            <p:nvPr/>
          </p:nvSpPr>
          <p:spPr bwMode="auto">
            <a:xfrm>
              <a:off x="567" y="1072"/>
              <a:ext cx="3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a:latin typeface="+mn-lt"/>
                </a:rPr>
                <a:t>i</a:t>
              </a:r>
              <a:r>
                <a:rPr kumimoji="1" lang="en-US" altLang="zh-CN" baseline="-25000" dirty="0">
                  <a:latin typeface="+mn-lt"/>
                </a:rPr>
                <a:t>S1</a:t>
              </a:r>
              <a:endParaRPr kumimoji="1" lang="en-US" altLang="zh-CN" dirty="0">
                <a:latin typeface="+mn-lt"/>
              </a:endParaRPr>
            </a:p>
          </p:txBody>
        </p:sp>
        <p:sp>
          <p:nvSpPr>
            <p:cNvPr id="12" name="Line 18"/>
            <p:cNvSpPr>
              <a:spLocks noChangeShapeType="1"/>
            </p:cNvSpPr>
            <p:nvPr/>
          </p:nvSpPr>
          <p:spPr bwMode="auto">
            <a:xfrm flipV="1">
              <a:off x="476" y="1072"/>
              <a:ext cx="0" cy="227"/>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 name="Text Box 19"/>
            <p:cNvSpPr txBox="1">
              <a:spLocks noChangeArrowheads="1"/>
            </p:cNvSpPr>
            <p:nvPr/>
          </p:nvSpPr>
          <p:spPr bwMode="auto">
            <a:xfrm>
              <a:off x="1612" y="1072"/>
              <a:ext cx="42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latin typeface="+mn-lt"/>
                </a:rPr>
                <a:t>i</a:t>
              </a:r>
              <a:r>
                <a:rPr kumimoji="1" lang="en-US" altLang="zh-CN" baseline="-25000">
                  <a:latin typeface="+mn-lt"/>
                </a:rPr>
                <a:t>S2</a:t>
              </a:r>
              <a:endParaRPr kumimoji="1" lang="en-US" altLang="zh-CN">
                <a:latin typeface="+mn-lt"/>
              </a:endParaRPr>
            </a:p>
          </p:txBody>
        </p:sp>
        <p:sp>
          <p:nvSpPr>
            <p:cNvPr id="14" name="Line 20"/>
            <p:cNvSpPr>
              <a:spLocks noChangeShapeType="1"/>
            </p:cNvSpPr>
            <p:nvPr/>
          </p:nvSpPr>
          <p:spPr bwMode="auto">
            <a:xfrm>
              <a:off x="477" y="1888"/>
              <a:ext cx="190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5" name="Line 21"/>
            <p:cNvSpPr>
              <a:spLocks noChangeShapeType="1"/>
            </p:cNvSpPr>
            <p:nvPr/>
          </p:nvSpPr>
          <p:spPr bwMode="auto">
            <a:xfrm>
              <a:off x="477" y="1072"/>
              <a:ext cx="190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6" name="Line 22"/>
            <p:cNvSpPr>
              <a:spLocks noChangeShapeType="1"/>
            </p:cNvSpPr>
            <p:nvPr/>
          </p:nvSpPr>
          <p:spPr bwMode="auto">
            <a:xfrm>
              <a:off x="2110" y="1026"/>
              <a:ext cx="272"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17" name="Text Box 23"/>
            <p:cNvSpPr txBox="1">
              <a:spLocks noChangeArrowheads="1"/>
            </p:cNvSpPr>
            <p:nvPr/>
          </p:nvSpPr>
          <p:spPr bwMode="auto">
            <a:xfrm>
              <a:off x="2382" y="709"/>
              <a:ext cx="3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solidFill>
                    <a:schemeClr val="bg1"/>
                  </a:solidFill>
                  <a:latin typeface="+mn-lt"/>
                </a:rPr>
                <a:t>i</a:t>
              </a:r>
              <a:endParaRPr lang="en-US" altLang="zh-CN">
                <a:solidFill>
                  <a:schemeClr val="bg1"/>
                </a:solidFill>
                <a:latin typeface="+mn-lt"/>
                <a:ea typeface="仿宋_GB2312" pitchFamily="49" charset="-122"/>
              </a:endParaRPr>
            </a:p>
          </p:txBody>
        </p:sp>
        <p:grpSp>
          <p:nvGrpSpPr>
            <p:cNvPr id="18" name="Group 24"/>
            <p:cNvGrpSpPr>
              <a:grpSpLocks/>
            </p:cNvGrpSpPr>
            <p:nvPr/>
          </p:nvGrpSpPr>
          <p:grpSpPr bwMode="auto">
            <a:xfrm>
              <a:off x="295" y="1299"/>
              <a:ext cx="363" cy="363"/>
              <a:chOff x="4785" y="709"/>
              <a:chExt cx="363" cy="363"/>
            </a:xfrm>
          </p:grpSpPr>
          <p:sp>
            <p:nvSpPr>
              <p:cNvPr id="30" name="Oval 25"/>
              <p:cNvSpPr>
                <a:spLocks noChangeArrowheads="1"/>
              </p:cNvSpPr>
              <p:nvPr/>
            </p:nvSpPr>
            <p:spPr bwMode="auto">
              <a:xfrm>
                <a:off x="4785"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mn-lt"/>
                  <a:ea typeface="仿宋_GB2312" pitchFamily="49" charset="-122"/>
                </a:endParaRPr>
              </a:p>
            </p:txBody>
          </p:sp>
          <p:sp>
            <p:nvSpPr>
              <p:cNvPr id="31" name="Line 26"/>
              <p:cNvSpPr>
                <a:spLocks noChangeShapeType="1"/>
              </p:cNvSpPr>
              <p:nvPr/>
            </p:nvSpPr>
            <p:spPr bwMode="auto">
              <a:xfrm>
                <a:off x="4785"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sp>
          <p:nvSpPr>
            <p:cNvPr id="19" name="Line 27"/>
            <p:cNvSpPr>
              <a:spLocks noChangeShapeType="1"/>
            </p:cNvSpPr>
            <p:nvPr/>
          </p:nvSpPr>
          <p:spPr bwMode="auto">
            <a:xfrm>
              <a:off x="975" y="1072"/>
              <a:ext cx="0" cy="817"/>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20" name="Line 28"/>
            <p:cNvSpPr>
              <a:spLocks noChangeShapeType="1"/>
            </p:cNvSpPr>
            <p:nvPr/>
          </p:nvSpPr>
          <p:spPr bwMode="auto">
            <a:xfrm>
              <a:off x="1520" y="1072"/>
              <a:ext cx="0" cy="817"/>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21" name="Oval 29"/>
            <p:cNvSpPr>
              <a:spLocks noChangeArrowheads="1"/>
            </p:cNvSpPr>
            <p:nvPr/>
          </p:nvSpPr>
          <p:spPr bwMode="auto">
            <a:xfrm>
              <a:off x="2381" y="1027"/>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22" name="Oval 30"/>
            <p:cNvSpPr>
              <a:spLocks noChangeArrowheads="1"/>
            </p:cNvSpPr>
            <p:nvPr/>
          </p:nvSpPr>
          <p:spPr bwMode="auto">
            <a:xfrm>
              <a:off x="2381" y="1843"/>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nvGrpSpPr>
            <p:cNvPr id="23" name="Group 31"/>
            <p:cNvGrpSpPr>
              <a:grpSpLocks/>
            </p:cNvGrpSpPr>
            <p:nvPr/>
          </p:nvGrpSpPr>
          <p:grpSpPr bwMode="auto">
            <a:xfrm>
              <a:off x="1339" y="1298"/>
              <a:ext cx="363" cy="363"/>
              <a:chOff x="4785" y="709"/>
              <a:chExt cx="363" cy="363"/>
            </a:xfrm>
          </p:grpSpPr>
          <p:sp>
            <p:nvSpPr>
              <p:cNvPr id="28" name="Oval 32"/>
              <p:cNvSpPr>
                <a:spLocks noChangeArrowheads="1"/>
              </p:cNvSpPr>
              <p:nvPr/>
            </p:nvSpPr>
            <p:spPr bwMode="auto">
              <a:xfrm>
                <a:off x="4785"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mn-lt"/>
                  <a:ea typeface="仿宋_GB2312" pitchFamily="49" charset="-122"/>
                </a:endParaRPr>
              </a:p>
            </p:txBody>
          </p:sp>
          <p:sp>
            <p:nvSpPr>
              <p:cNvPr id="29" name="Line 33"/>
              <p:cNvSpPr>
                <a:spLocks noChangeShapeType="1"/>
              </p:cNvSpPr>
              <p:nvPr/>
            </p:nvSpPr>
            <p:spPr bwMode="auto">
              <a:xfrm>
                <a:off x="4785"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sp>
          <p:nvSpPr>
            <p:cNvPr id="24" name="Line 34"/>
            <p:cNvSpPr>
              <a:spLocks noChangeShapeType="1"/>
            </p:cNvSpPr>
            <p:nvPr/>
          </p:nvSpPr>
          <p:spPr bwMode="auto">
            <a:xfrm flipV="1">
              <a:off x="1524" y="1072"/>
              <a:ext cx="0" cy="227"/>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25" name="Rectangle 35"/>
            <p:cNvSpPr>
              <a:spLocks noChangeArrowheads="1"/>
            </p:cNvSpPr>
            <p:nvPr/>
          </p:nvSpPr>
          <p:spPr bwMode="auto">
            <a:xfrm>
              <a:off x="924" y="129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26" name="Line 36"/>
            <p:cNvSpPr>
              <a:spLocks noChangeShapeType="1"/>
            </p:cNvSpPr>
            <p:nvPr/>
          </p:nvSpPr>
          <p:spPr bwMode="auto">
            <a:xfrm>
              <a:off x="2064" y="1072"/>
              <a:ext cx="0" cy="817"/>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27" name="Rectangle 37"/>
            <p:cNvSpPr>
              <a:spLocks noChangeArrowheads="1"/>
            </p:cNvSpPr>
            <p:nvPr/>
          </p:nvSpPr>
          <p:spPr bwMode="auto">
            <a:xfrm>
              <a:off x="2010" y="129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83" name="Text Box 17"/>
            <p:cNvSpPr txBox="1">
              <a:spLocks noChangeArrowheads="1"/>
            </p:cNvSpPr>
            <p:nvPr/>
          </p:nvSpPr>
          <p:spPr bwMode="auto">
            <a:xfrm>
              <a:off x="2431" y="1296"/>
              <a:ext cx="3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dirty="0" smtClean="0">
                  <a:latin typeface="+mn-lt"/>
                </a:rPr>
                <a:t>v</a:t>
              </a:r>
              <a:endParaRPr kumimoji="1" lang="en-US" altLang="zh-CN" dirty="0">
                <a:latin typeface="+mn-lt"/>
              </a:endParaRPr>
            </a:p>
          </p:txBody>
        </p:sp>
      </p:grpSp>
      <p:grpSp>
        <p:nvGrpSpPr>
          <p:cNvPr id="32" name="Group 38"/>
          <p:cNvGrpSpPr>
            <a:grpSpLocks/>
          </p:cNvGrpSpPr>
          <p:nvPr/>
        </p:nvGrpSpPr>
        <p:grpSpPr bwMode="auto">
          <a:xfrm>
            <a:off x="4356100" y="1916113"/>
            <a:ext cx="1801813" cy="584200"/>
            <a:chOff x="3334" y="2854"/>
            <a:chExt cx="1135" cy="368"/>
          </a:xfrm>
        </p:grpSpPr>
        <p:sp>
          <p:nvSpPr>
            <p:cNvPr id="33" name="AutoShape 39"/>
            <p:cNvSpPr>
              <a:spLocks noChangeArrowheads="1"/>
            </p:cNvSpPr>
            <p:nvPr/>
          </p:nvSpPr>
          <p:spPr bwMode="auto">
            <a:xfrm>
              <a:off x="3460" y="2854"/>
              <a:ext cx="872" cy="122"/>
            </a:xfrm>
            <a:prstGeom prst="rightArrow">
              <a:avLst>
                <a:gd name="adj1" fmla="val 50000"/>
                <a:gd name="adj2" fmla="val 178689"/>
              </a:avLst>
            </a:prstGeom>
            <a:solidFill>
              <a:srgbClr val="3399FF"/>
            </a:solidFill>
            <a:ln>
              <a:noFill/>
            </a:ln>
            <a:effectLst/>
            <a:extLst>
              <a:ext uri="{91240B29-F687-4F45-9708-019B960494DF}">
                <a14:hiddenLine xmlns:a14="http://schemas.microsoft.com/office/drawing/2010/main" w="12700">
                  <a:solidFill>
                    <a:srgbClr val="33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34" name="Text Box 40"/>
            <p:cNvSpPr txBox="1">
              <a:spLocks noChangeArrowheads="1"/>
            </p:cNvSpPr>
            <p:nvPr/>
          </p:nvSpPr>
          <p:spPr bwMode="auto">
            <a:xfrm>
              <a:off x="3334" y="2931"/>
              <a:ext cx="11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mn-lt"/>
                  <a:ea typeface="楷体_GB2312" pitchFamily="49" charset="-122"/>
                </a:rPr>
                <a:t>等效电路</a:t>
              </a:r>
            </a:p>
          </p:txBody>
        </p:sp>
      </p:grpSp>
      <p:grpSp>
        <p:nvGrpSpPr>
          <p:cNvPr id="35" name="Group 41"/>
          <p:cNvGrpSpPr>
            <a:grpSpLocks/>
          </p:cNvGrpSpPr>
          <p:nvPr/>
        </p:nvGrpSpPr>
        <p:grpSpPr bwMode="auto">
          <a:xfrm>
            <a:off x="6227763" y="1412875"/>
            <a:ext cx="1800225" cy="1439863"/>
            <a:chOff x="3923" y="890"/>
            <a:chExt cx="1134" cy="907"/>
          </a:xfrm>
        </p:grpSpPr>
        <p:sp>
          <p:nvSpPr>
            <p:cNvPr id="36" name="Line 42"/>
            <p:cNvSpPr>
              <a:spLocks noChangeShapeType="1"/>
            </p:cNvSpPr>
            <p:nvPr/>
          </p:nvSpPr>
          <p:spPr bwMode="auto">
            <a:xfrm>
              <a:off x="4603" y="935"/>
              <a:ext cx="0" cy="816"/>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37" name="Text Box 43"/>
            <p:cNvSpPr txBox="1">
              <a:spLocks noChangeArrowheads="1"/>
            </p:cNvSpPr>
            <p:nvPr/>
          </p:nvSpPr>
          <p:spPr bwMode="auto">
            <a:xfrm>
              <a:off x="4676" y="1116"/>
              <a:ext cx="27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latin typeface="+mn-lt"/>
                  <a:ea typeface="仿宋_GB2312" pitchFamily="49" charset="-122"/>
                </a:rPr>
                <a:t>R</a:t>
              </a:r>
              <a:endParaRPr lang="en-US" altLang="zh-CN">
                <a:latin typeface="+mn-lt"/>
                <a:ea typeface="仿宋_GB2312" pitchFamily="49" charset="-122"/>
              </a:endParaRPr>
            </a:p>
          </p:txBody>
        </p:sp>
        <p:sp>
          <p:nvSpPr>
            <p:cNvPr id="38" name="Oval 44"/>
            <p:cNvSpPr>
              <a:spLocks noChangeArrowheads="1"/>
            </p:cNvSpPr>
            <p:nvPr/>
          </p:nvSpPr>
          <p:spPr bwMode="auto">
            <a:xfrm>
              <a:off x="4966" y="890"/>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39" name="Line 45"/>
            <p:cNvSpPr>
              <a:spLocks noChangeShapeType="1"/>
            </p:cNvSpPr>
            <p:nvPr/>
          </p:nvSpPr>
          <p:spPr bwMode="auto">
            <a:xfrm>
              <a:off x="4104" y="936"/>
              <a:ext cx="0"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40" name="Line 46"/>
            <p:cNvSpPr>
              <a:spLocks noChangeShapeType="1"/>
            </p:cNvSpPr>
            <p:nvPr/>
          </p:nvSpPr>
          <p:spPr bwMode="auto">
            <a:xfrm flipV="1">
              <a:off x="4105" y="936"/>
              <a:ext cx="0" cy="192"/>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41" name="Text Box 47"/>
            <p:cNvSpPr txBox="1">
              <a:spLocks noChangeArrowheads="1"/>
            </p:cNvSpPr>
            <p:nvPr/>
          </p:nvSpPr>
          <p:spPr bwMode="auto">
            <a:xfrm>
              <a:off x="4240" y="936"/>
              <a:ext cx="3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latin typeface="+mn-lt"/>
                </a:rPr>
                <a:t>i</a:t>
              </a:r>
              <a:r>
                <a:rPr kumimoji="1" lang="en-US" altLang="zh-CN" i="1" baseline="-25000">
                  <a:latin typeface="+mn-lt"/>
                </a:rPr>
                <a:t>S</a:t>
              </a:r>
              <a:endParaRPr kumimoji="1" lang="en-US" altLang="zh-CN">
                <a:latin typeface="+mn-lt"/>
              </a:endParaRPr>
            </a:p>
          </p:txBody>
        </p:sp>
        <p:sp>
          <p:nvSpPr>
            <p:cNvPr id="42" name="Line 48"/>
            <p:cNvSpPr>
              <a:spLocks noChangeShapeType="1"/>
            </p:cNvSpPr>
            <p:nvPr/>
          </p:nvSpPr>
          <p:spPr bwMode="auto">
            <a:xfrm flipV="1">
              <a:off x="4104" y="1751"/>
              <a:ext cx="8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43" name="Line 49"/>
            <p:cNvSpPr>
              <a:spLocks noChangeShapeType="1"/>
            </p:cNvSpPr>
            <p:nvPr/>
          </p:nvSpPr>
          <p:spPr bwMode="auto">
            <a:xfrm flipV="1">
              <a:off x="4104" y="935"/>
              <a:ext cx="8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nvGrpSpPr>
            <p:cNvPr id="44" name="Group 50"/>
            <p:cNvGrpSpPr>
              <a:grpSpLocks/>
            </p:cNvGrpSpPr>
            <p:nvPr/>
          </p:nvGrpSpPr>
          <p:grpSpPr bwMode="auto">
            <a:xfrm>
              <a:off x="3923" y="1163"/>
              <a:ext cx="363" cy="363"/>
              <a:chOff x="4785" y="709"/>
              <a:chExt cx="363" cy="363"/>
            </a:xfrm>
          </p:grpSpPr>
          <p:sp>
            <p:nvSpPr>
              <p:cNvPr id="47" name="Oval 51"/>
              <p:cNvSpPr>
                <a:spLocks noChangeArrowheads="1"/>
              </p:cNvSpPr>
              <p:nvPr/>
            </p:nvSpPr>
            <p:spPr bwMode="auto">
              <a:xfrm>
                <a:off x="4785"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mn-lt"/>
                  <a:ea typeface="仿宋_GB2312" pitchFamily="49" charset="-122"/>
                </a:endParaRPr>
              </a:p>
            </p:txBody>
          </p:sp>
          <p:sp>
            <p:nvSpPr>
              <p:cNvPr id="48" name="Line 52"/>
              <p:cNvSpPr>
                <a:spLocks noChangeShapeType="1"/>
              </p:cNvSpPr>
              <p:nvPr/>
            </p:nvSpPr>
            <p:spPr bwMode="auto">
              <a:xfrm>
                <a:off x="4785"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sp>
          <p:nvSpPr>
            <p:cNvPr id="45" name="Oval 53"/>
            <p:cNvSpPr>
              <a:spLocks noChangeArrowheads="1"/>
            </p:cNvSpPr>
            <p:nvPr/>
          </p:nvSpPr>
          <p:spPr bwMode="auto">
            <a:xfrm>
              <a:off x="4921" y="1706"/>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46" name="Rectangle 54"/>
            <p:cNvSpPr>
              <a:spLocks noChangeArrowheads="1"/>
            </p:cNvSpPr>
            <p:nvPr/>
          </p:nvSpPr>
          <p:spPr bwMode="auto">
            <a:xfrm>
              <a:off x="4540" y="1162"/>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grpSp>
        <p:nvGrpSpPr>
          <p:cNvPr id="49" name="Group 55"/>
          <p:cNvGrpSpPr>
            <a:grpSpLocks/>
          </p:cNvGrpSpPr>
          <p:nvPr/>
        </p:nvGrpSpPr>
        <p:grpSpPr bwMode="auto">
          <a:xfrm>
            <a:off x="6227763" y="4076700"/>
            <a:ext cx="1439862" cy="1441450"/>
            <a:chOff x="3923" y="2568"/>
            <a:chExt cx="907" cy="908"/>
          </a:xfrm>
        </p:grpSpPr>
        <p:sp>
          <p:nvSpPr>
            <p:cNvPr id="50" name="Oval 56"/>
            <p:cNvSpPr>
              <a:spLocks noChangeArrowheads="1"/>
            </p:cNvSpPr>
            <p:nvPr/>
          </p:nvSpPr>
          <p:spPr bwMode="auto">
            <a:xfrm>
              <a:off x="4739" y="2568"/>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51" name="Line 57"/>
            <p:cNvSpPr>
              <a:spLocks noChangeShapeType="1"/>
            </p:cNvSpPr>
            <p:nvPr/>
          </p:nvSpPr>
          <p:spPr bwMode="auto">
            <a:xfrm>
              <a:off x="4104" y="2614"/>
              <a:ext cx="0"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52" name="Line 58"/>
            <p:cNvSpPr>
              <a:spLocks noChangeShapeType="1"/>
            </p:cNvSpPr>
            <p:nvPr/>
          </p:nvSpPr>
          <p:spPr bwMode="auto">
            <a:xfrm flipV="1">
              <a:off x="4105" y="2614"/>
              <a:ext cx="0" cy="192"/>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53" name="Text Box 59"/>
            <p:cNvSpPr txBox="1">
              <a:spLocks noChangeArrowheads="1"/>
            </p:cNvSpPr>
            <p:nvPr/>
          </p:nvSpPr>
          <p:spPr bwMode="auto">
            <a:xfrm>
              <a:off x="4240" y="2614"/>
              <a:ext cx="3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latin typeface="+mn-lt"/>
                </a:rPr>
                <a:t>i</a:t>
              </a:r>
              <a:r>
                <a:rPr kumimoji="1" lang="en-US" altLang="zh-CN" i="1" baseline="-25000">
                  <a:latin typeface="+mn-lt"/>
                </a:rPr>
                <a:t>S</a:t>
              </a:r>
              <a:endParaRPr kumimoji="1" lang="en-US" altLang="zh-CN">
                <a:latin typeface="+mn-lt"/>
              </a:endParaRPr>
            </a:p>
          </p:txBody>
        </p:sp>
        <p:sp>
          <p:nvSpPr>
            <p:cNvPr id="54" name="Line 60"/>
            <p:cNvSpPr>
              <a:spLocks noChangeShapeType="1"/>
            </p:cNvSpPr>
            <p:nvPr/>
          </p:nvSpPr>
          <p:spPr bwMode="auto">
            <a:xfrm>
              <a:off x="4104" y="3430"/>
              <a:ext cx="5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55" name="Line 61"/>
            <p:cNvSpPr>
              <a:spLocks noChangeShapeType="1"/>
            </p:cNvSpPr>
            <p:nvPr/>
          </p:nvSpPr>
          <p:spPr bwMode="auto">
            <a:xfrm>
              <a:off x="4104" y="2614"/>
              <a:ext cx="63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nvGrpSpPr>
            <p:cNvPr id="56" name="Group 62"/>
            <p:cNvGrpSpPr>
              <a:grpSpLocks/>
            </p:cNvGrpSpPr>
            <p:nvPr/>
          </p:nvGrpSpPr>
          <p:grpSpPr bwMode="auto">
            <a:xfrm>
              <a:off x="3923" y="2841"/>
              <a:ext cx="363" cy="363"/>
              <a:chOff x="4785" y="709"/>
              <a:chExt cx="363" cy="363"/>
            </a:xfrm>
          </p:grpSpPr>
          <p:sp>
            <p:nvSpPr>
              <p:cNvPr id="58" name="Oval 63"/>
              <p:cNvSpPr>
                <a:spLocks noChangeArrowheads="1"/>
              </p:cNvSpPr>
              <p:nvPr/>
            </p:nvSpPr>
            <p:spPr bwMode="auto">
              <a:xfrm>
                <a:off x="4785"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mn-lt"/>
                  <a:ea typeface="仿宋_GB2312" pitchFamily="49" charset="-122"/>
                </a:endParaRPr>
              </a:p>
            </p:txBody>
          </p:sp>
          <p:sp>
            <p:nvSpPr>
              <p:cNvPr id="59" name="Line 64"/>
              <p:cNvSpPr>
                <a:spLocks noChangeShapeType="1"/>
              </p:cNvSpPr>
              <p:nvPr/>
            </p:nvSpPr>
            <p:spPr bwMode="auto">
              <a:xfrm>
                <a:off x="4785"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sp>
          <p:nvSpPr>
            <p:cNvPr id="57" name="Oval 65"/>
            <p:cNvSpPr>
              <a:spLocks noChangeArrowheads="1"/>
            </p:cNvSpPr>
            <p:nvPr/>
          </p:nvSpPr>
          <p:spPr bwMode="auto">
            <a:xfrm>
              <a:off x="4694" y="3385"/>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grpSp>
        <p:nvGrpSpPr>
          <p:cNvPr id="60" name="Group 66"/>
          <p:cNvGrpSpPr>
            <a:grpSpLocks/>
          </p:cNvGrpSpPr>
          <p:nvPr/>
        </p:nvGrpSpPr>
        <p:grpSpPr bwMode="auto">
          <a:xfrm>
            <a:off x="4140200" y="4508500"/>
            <a:ext cx="1801813" cy="584200"/>
            <a:chOff x="3334" y="2854"/>
            <a:chExt cx="1135" cy="368"/>
          </a:xfrm>
        </p:grpSpPr>
        <p:sp>
          <p:nvSpPr>
            <p:cNvPr id="61" name="AutoShape 67"/>
            <p:cNvSpPr>
              <a:spLocks noChangeArrowheads="1"/>
            </p:cNvSpPr>
            <p:nvPr/>
          </p:nvSpPr>
          <p:spPr bwMode="auto">
            <a:xfrm>
              <a:off x="3460" y="2854"/>
              <a:ext cx="872" cy="122"/>
            </a:xfrm>
            <a:prstGeom prst="rightArrow">
              <a:avLst>
                <a:gd name="adj1" fmla="val 50000"/>
                <a:gd name="adj2" fmla="val 178689"/>
              </a:avLst>
            </a:prstGeom>
            <a:solidFill>
              <a:srgbClr val="3399FF"/>
            </a:solidFill>
            <a:ln>
              <a:noFill/>
            </a:ln>
            <a:effectLst/>
            <a:extLst>
              <a:ext uri="{91240B29-F687-4F45-9708-019B960494DF}">
                <a14:hiddenLine xmlns:a14="http://schemas.microsoft.com/office/drawing/2010/main" w="12700">
                  <a:solidFill>
                    <a:srgbClr val="33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62" name="Text Box 68"/>
            <p:cNvSpPr txBox="1">
              <a:spLocks noChangeArrowheads="1"/>
            </p:cNvSpPr>
            <p:nvPr/>
          </p:nvSpPr>
          <p:spPr bwMode="auto">
            <a:xfrm>
              <a:off x="3334" y="2931"/>
              <a:ext cx="113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mn-lt"/>
                  <a:ea typeface="楷体_GB2312" pitchFamily="49" charset="-122"/>
                </a:rPr>
                <a:t>等效电路</a:t>
              </a:r>
            </a:p>
          </p:txBody>
        </p:sp>
      </p:grpSp>
      <p:sp>
        <p:nvSpPr>
          <p:cNvPr id="63" name="Text Box 69"/>
          <p:cNvSpPr txBox="1">
            <a:spLocks noChangeArrowheads="1"/>
          </p:cNvSpPr>
          <p:nvPr/>
        </p:nvSpPr>
        <p:spPr bwMode="auto">
          <a:xfrm>
            <a:off x="4211638" y="5445125"/>
            <a:ext cx="1571624" cy="461665"/>
          </a:xfrm>
          <a:prstGeom prst="rect">
            <a:avLst/>
          </a:prstGeom>
          <a:gradFill rotWithShape="1">
            <a:gsLst>
              <a:gs pos="0">
                <a:srgbClr val="3399FF"/>
              </a:gs>
              <a:gs pos="100000">
                <a:srgbClr val="FFFFFF"/>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a:solidFill>
                  <a:srgbClr val="990033"/>
                </a:solidFill>
                <a:latin typeface="+mn-lt"/>
                <a:ea typeface="楷体_GB2312" pitchFamily="49" charset="-122"/>
              </a:rPr>
              <a:t>对外等效！</a:t>
            </a:r>
          </a:p>
        </p:txBody>
      </p:sp>
      <p:grpSp>
        <p:nvGrpSpPr>
          <p:cNvPr id="64" name="Group 70"/>
          <p:cNvGrpSpPr>
            <a:grpSpLocks/>
          </p:cNvGrpSpPr>
          <p:nvPr/>
        </p:nvGrpSpPr>
        <p:grpSpPr bwMode="auto">
          <a:xfrm>
            <a:off x="468313" y="3860800"/>
            <a:ext cx="2360612" cy="2233613"/>
            <a:chOff x="295" y="2432"/>
            <a:chExt cx="1487" cy="1407"/>
          </a:xfrm>
        </p:grpSpPr>
        <p:sp>
          <p:nvSpPr>
            <p:cNvPr id="65" name="Line 71"/>
            <p:cNvSpPr>
              <a:spLocks noChangeShapeType="1"/>
            </p:cNvSpPr>
            <p:nvPr/>
          </p:nvSpPr>
          <p:spPr bwMode="auto">
            <a:xfrm flipH="1">
              <a:off x="476" y="2705"/>
              <a:ext cx="0" cy="10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66" name="Line 72"/>
            <p:cNvSpPr>
              <a:spLocks noChangeShapeType="1"/>
            </p:cNvSpPr>
            <p:nvPr/>
          </p:nvSpPr>
          <p:spPr bwMode="auto">
            <a:xfrm flipV="1">
              <a:off x="476" y="2750"/>
              <a:ext cx="0" cy="26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67" name="Text Box 73"/>
            <p:cNvSpPr txBox="1">
              <a:spLocks noChangeArrowheads="1"/>
            </p:cNvSpPr>
            <p:nvPr/>
          </p:nvSpPr>
          <p:spPr bwMode="auto">
            <a:xfrm>
              <a:off x="658" y="3022"/>
              <a:ext cx="50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i="1">
                  <a:latin typeface="+mn-lt"/>
                </a:rPr>
                <a:t>i</a:t>
              </a:r>
              <a:r>
                <a:rPr kumimoji="1" lang="en-US" altLang="zh-CN" i="1" baseline="-25000">
                  <a:latin typeface="+mn-lt"/>
                </a:rPr>
                <a:t>S</a:t>
              </a:r>
              <a:endParaRPr kumimoji="1" lang="en-US" altLang="zh-CN">
                <a:latin typeface="+mn-lt"/>
              </a:endParaRPr>
            </a:p>
          </p:txBody>
        </p:sp>
        <p:sp>
          <p:nvSpPr>
            <p:cNvPr id="68" name="Line 74"/>
            <p:cNvSpPr>
              <a:spLocks noChangeShapeType="1"/>
            </p:cNvSpPr>
            <p:nvPr/>
          </p:nvSpPr>
          <p:spPr bwMode="auto">
            <a:xfrm>
              <a:off x="467" y="3788"/>
              <a:ext cx="1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69" name="Line 75"/>
            <p:cNvSpPr>
              <a:spLocks noChangeShapeType="1"/>
            </p:cNvSpPr>
            <p:nvPr/>
          </p:nvSpPr>
          <p:spPr bwMode="auto">
            <a:xfrm>
              <a:off x="467" y="2705"/>
              <a:ext cx="11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70" name="Rectangle 76"/>
            <p:cNvSpPr>
              <a:spLocks noChangeArrowheads="1"/>
            </p:cNvSpPr>
            <p:nvPr/>
          </p:nvSpPr>
          <p:spPr bwMode="auto">
            <a:xfrm>
              <a:off x="839" y="2432"/>
              <a:ext cx="643" cy="590"/>
            </a:xfrm>
            <a:prstGeom prst="rect">
              <a:avLst/>
            </a:prstGeom>
            <a:gradFill rotWithShape="1">
              <a:gsLst>
                <a:gs pos="0">
                  <a:schemeClr val="hlink"/>
                </a:gs>
                <a:gs pos="100000">
                  <a:schemeClr val="hlink">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solidFill>
                    <a:schemeClr val="bg1"/>
                  </a:solidFill>
                  <a:latin typeface="+mn-lt"/>
                  <a:ea typeface="楷体_GB2312" pitchFamily="49" charset="-122"/>
                </a:rPr>
                <a:t>任意</a:t>
              </a:r>
            </a:p>
            <a:p>
              <a:pPr algn="ctr"/>
              <a:r>
                <a:rPr lang="zh-CN" altLang="en-US" b="1">
                  <a:solidFill>
                    <a:schemeClr val="bg1"/>
                  </a:solidFill>
                  <a:latin typeface="+mn-lt"/>
                  <a:ea typeface="楷体_GB2312" pitchFamily="49" charset="-122"/>
                </a:rPr>
                <a:t>元件</a:t>
              </a:r>
            </a:p>
          </p:txBody>
        </p:sp>
        <p:sp>
          <p:nvSpPr>
            <p:cNvPr id="71" name="Text Box 77"/>
            <p:cNvSpPr txBox="1">
              <a:spLocks noChangeArrowheads="1"/>
            </p:cNvSpPr>
            <p:nvPr/>
          </p:nvSpPr>
          <p:spPr bwMode="auto">
            <a:xfrm>
              <a:off x="1485" y="3126"/>
              <a:ext cx="2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smtClean="0">
                  <a:latin typeface="+mn-lt"/>
                  <a:ea typeface="仿宋_GB2312" pitchFamily="49" charset="-122"/>
                </a:rPr>
                <a:t>v</a:t>
              </a:r>
              <a:endParaRPr lang="en-US" altLang="zh-CN" i="1" dirty="0">
                <a:latin typeface="+mn-lt"/>
                <a:ea typeface="仿宋_GB2312" pitchFamily="49" charset="-122"/>
              </a:endParaRPr>
            </a:p>
          </p:txBody>
        </p:sp>
        <p:sp>
          <p:nvSpPr>
            <p:cNvPr id="72" name="Text Box 78"/>
            <p:cNvSpPr txBox="1">
              <a:spLocks noChangeArrowheads="1"/>
            </p:cNvSpPr>
            <p:nvPr/>
          </p:nvSpPr>
          <p:spPr bwMode="auto">
            <a:xfrm>
              <a:off x="1485" y="3398"/>
              <a:ext cx="2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mn-lt"/>
                </a:rPr>
                <a:t>_</a:t>
              </a:r>
            </a:p>
          </p:txBody>
        </p:sp>
        <p:sp>
          <p:nvSpPr>
            <p:cNvPr id="73" name="Text Box 79"/>
            <p:cNvSpPr txBox="1">
              <a:spLocks noChangeArrowheads="1"/>
            </p:cNvSpPr>
            <p:nvPr/>
          </p:nvSpPr>
          <p:spPr bwMode="auto">
            <a:xfrm>
              <a:off x="1474" y="2750"/>
              <a:ext cx="2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mn-lt"/>
                  <a:ea typeface="仿宋_GB2312" pitchFamily="49" charset="-122"/>
                </a:rPr>
                <a:t>+</a:t>
              </a:r>
            </a:p>
          </p:txBody>
        </p:sp>
        <p:grpSp>
          <p:nvGrpSpPr>
            <p:cNvPr id="74" name="Group 80"/>
            <p:cNvGrpSpPr>
              <a:grpSpLocks/>
            </p:cNvGrpSpPr>
            <p:nvPr/>
          </p:nvGrpSpPr>
          <p:grpSpPr bwMode="auto">
            <a:xfrm>
              <a:off x="295" y="3068"/>
              <a:ext cx="363" cy="363"/>
              <a:chOff x="4785" y="709"/>
              <a:chExt cx="363" cy="363"/>
            </a:xfrm>
          </p:grpSpPr>
          <p:sp>
            <p:nvSpPr>
              <p:cNvPr id="77" name="Oval 81"/>
              <p:cNvSpPr>
                <a:spLocks noChangeArrowheads="1"/>
              </p:cNvSpPr>
              <p:nvPr/>
            </p:nvSpPr>
            <p:spPr bwMode="auto">
              <a:xfrm>
                <a:off x="4785" y="709"/>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solidFill>
                    <a:srgbClr val="FFFF00"/>
                  </a:solidFill>
                  <a:latin typeface="+mn-lt"/>
                  <a:ea typeface="仿宋_GB2312" pitchFamily="49" charset="-122"/>
                </a:endParaRPr>
              </a:p>
            </p:txBody>
          </p:sp>
          <p:sp>
            <p:nvSpPr>
              <p:cNvPr id="78" name="Line 82"/>
              <p:cNvSpPr>
                <a:spLocks noChangeShapeType="1"/>
              </p:cNvSpPr>
              <p:nvPr/>
            </p:nvSpPr>
            <p:spPr bwMode="auto">
              <a:xfrm>
                <a:off x="4785" y="89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sp>
          <p:nvSpPr>
            <p:cNvPr id="75" name="Oval 83"/>
            <p:cNvSpPr>
              <a:spLocks noChangeArrowheads="1"/>
            </p:cNvSpPr>
            <p:nvPr/>
          </p:nvSpPr>
          <p:spPr bwMode="auto">
            <a:xfrm>
              <a:off x="1610" y="3748"/>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76" name="Oval 84"/>
            <p:cNvSpPr>
              <a:spLocks noChangeArrowheads="1"/>
            </p:cNvSpPr>
            <p:nvPr/>
          </p:nvSpPr>
          <p:spPr bwMode="auto">
            <a:xfrm>
              <a:off x="1610" y="2659"/>
              <a:ext cx="91" cy="91"/>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grpSp>
        <p:nvGrpSpPr>
          <p:cNvPr id="79" name="Group 85"/>
          <p:cNvGrpSpPr>
            <a:grpSpLocks/>
          </p:cNvGrpSpPr>
          <p:nvPr/>
        </p:nvGrpSpPr>
        <p:grpSpPr bwMode="auto">
          <a:xfrm>
            <a:off x="2627313" y="4292600"/>
            <a:ext cx="933450" cy="1800225"/>
            <a:chOff x="1655" y="2795"/>
            <a:chExt cx="588" cy="1134"/>
          </a:xfrm>
        </p:grpSpPr>
        <p:sp>
          <p:nvSpPr>
            <p:cNvPr id="80" name="Freeform 86"/>
            <p:cNvSpPr>
              <a:spLocks/>
            </p:cNvSpPr>
            <p:nvPr/>
          </p:nvSpPr>
          <p:spPr bwMode="auto">
            <a:xfrm>
              <a:off x="1655" y="2795"/>
              <a:ext cx="530" cy="1134"/>
            </a:xfrm>
            <a:custGeom>
              <a:avLst/>
              <a:gdLst>
                <a:gd name="T0" fmla="*/ 0 w 688"/>
                <a:gd name="T1" fmla="*/ 1043 h 1043"/>
                <a:gd name="T2" fmla="*/ 363 w 688"/>
                <a:gd name="T3" fmla="*/ 861 h 1043"/>
                <a:gd name="T4" fmla="*/ 635 w 688"/>
                <a:gd name="T5" fmla="*/ 453 h 1043"/>
                <a:gd name="T6" fmla="*/ 46 w 688"/>
                <a:gd name="T7" fmla="*/ 0 h 1043"/>
              </a:gdLst>
              <a:ahLst/>
              <a:cxnLst>
                <a:cxn ang="0">
                  <a:pos x="T0" y="T1"/>
                </a:cxn>
                <a:cxn ang="0">
                  <a:pos x="T2" y="T3"/>
                </a:cxn>
                <a:cxn ang="0">
                  <a:pos x="T4" y="T5"/>
                </a:cxn>
                <a:cxn ang="0">
                  <a:pos x="T6" y="T7"/>
                </a:cxn>
              </a:cxnLst>
              <a:rect l="0" t="0" r="r" b="b"/>
              <a:pathLst>
                <a:path w="688" h="1043">
                  <a:moveTo>
                    <a:pt x="0" y="1043"/>
                  </a:moveTo>
                  <a:cubicBezTo>
                    <a:pt x="128" y="1001"/>
                    <a:pt x="257" y="959"/>
                    <a:pt x="363" y="861"/>
                  </a:cubicBezTo>
                  <a:cubicBezTo>
                    <a:pt x="469" y="763"/>
                    <a:pt x="688" y="596"/>
                    <a:pt x="635" y="453"/>
                  </a:cubicBezTo>
                  <a:cubicBezTo>
                    <a:pt x="582" y="310"/>
                    <a:pt x="314" y="155"/>
                    <a:pt x="46" y="0"/>
                  </a:cubicBez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81" name="Text Box 87"/>
            <p:cNvSpPr txBox="1">
              <a:spLocks noChangeArrowheads="1"/>
            </p:cNvSpPr>
            <p:nvPr/>
          </p:nvSpPr>
          <p:spPr bwMode="auto">
            <a:xfrm>
              <a:off x="1791" y="3203"/>
              <a:ext cx="4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i="1">
                  <a:latin typeface="+mn-lt"/>
                </a:rPr>
                <a:t>R</a:t>
              </a:r>
              <a:endParaRPr lang="en-US" altLang="zh-CN">
                <a:latin typeface="+mn-lt"/>
                <a:ea typeface="仿宋_GB2312" pitchFamily="49" charset="-122"/>
              </a:endParaRPr>
            </a:p>
          </p:txBody>
        </p:sp>
        <p:sp>
          <p:nvSpPr>
            <p:cNvPr id="82" name="Rectangle 88"/>
            <p:cNvSpPr>
              <a:spLocks noChangeArrowheads="1"/>
            </p:cNvSpPr>
            <p:nvPr/>
          </p:nvSpPr>
          <p:spPr bwMode="auto">
            <a:xfrm>
              <a:off x="2064" y="3203"/>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spTree>
    <p:extLst>
      <p:ext uri="{BB962C8B-B14F-4D97-AF65-F5344CB8AC3E}">
        <p14:creationId xmlns:p14="http://schemas.microsoft.com/office/powerpoint/2010/main" val="26990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3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slide(fromLeft)">
                                      <p:cBhvr>
                                        <p:cTn id="23" dur="500"/>
                                        <p:tgtEl>
                                          <p:spTgt spid="32"/>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blinds(horizontal)">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blinds(horizontal)">
                                      <p:cBhvr>
                                        <p:cTn id="32" dur="500"/>
                                        <p:tgtEl>
                                          <p:spTgt spid="64"/>
                                        </p:tgtEl>
                                      </p:cBhvr>
                                    </p:animEffect>
                                  </p:childTnLst>
                                </p:cTn>
                              </p:par>
                            </p:childTnLst>
                          </p:cTn>
                        </p:par>
                      </p:childTnLst>
                    </p:cTn>
                  </p:par>
                  <p:par>
                    <p:cTn id="33" fill="hold">
                      <p:stCondLst>
                        <p:cond delay="indefinite"/>
                      </p:stCondLst>
                      <p:childTnLst>
                        <p:par>
                          <p:cTn id="34" fill="hold">
                            <p:stCondLst>
                              <p:cond delay="0"/>
                            </p:stCondLst>
                            <p:childTnLst>
                              <p:par>
                                <p:cTn id="35" presetID="15" presetClass="entr" presetSubtype="0" fill="hold" nodeType="clickEffect">
                                  <p:stCondLst>
                                    <p:cond delay="0"/>
                                  </p:stCondLst>
                                  <p:childTnLst>
                                    <p:set>
                                      <p:cBhvr>
                                        <p:cTn id="36" dur="1" fill="hold">
                                          <p:stCondLst>
                                            <p:cond delay="0"/>
                                          </p:stCondLst>
                                        </p:cTn>
                                        <p:tgtEl>
                                          <p:spTgt spid="79"/>
                                        </p:tgtEl>
                                        <p:attrNameLst>
                                          <p:attrName>style.visibility</p:attrName>
                                        </p:attrNameLst>
                                      </p:cBhvr>
                                      <p:to>
                                        <p:strVal val="visible"/>
                                      </p:to>
                                    </p:set>
                                    <p:anim calcmode="lin" valueType="num">
                                      <p:cBhvr>
                                        <p:cTn id="37" dur="1000" fill="hold"/>
                                        <p:tgtEl>
                                          <p:spTgt spid="79"/>
                                        </p:tgtEl>
                                        <p:attrNameLst>
                                          <p:attrName>ppt_w</p:attrName>
                                        </p:attrNameLst>
                                      </p:cBhvr>
                                      <p:tavLst>
                                        <p:tav tm="0">
                                          <p:val>
                                            <p:fltVal val="0"/>
                                          </p:val>
                                        </p:tav>
                                        <p:tav tm="100000">
                                          <p:val>
                                            <p:strVal val="#ppt_w"/>
                                          </p:val>
                                        </p:tav>
                                      </p:tavLst>
                                    </p:anim>
                                    <p:anim calcmode="lin" valueType="num">
                                      <p:cBhvr>
                                        <p:cTn id="38" dur="1000" fill="hold"/>
                                        <p:tgtEl>
                                          <p:spTgt spid="79"/>
                                        </p:tgtEl>
                                        <p:attrNameLst>
                                          <p:attrName>ppt_h</p:attrName>
                                        </p:attrNameLst>
                                      </p:cBhvr>
                                      <p:tavLst>
                                        <p:tav tm="0">
                                          <p:val>
                                            <p:fltVal val="0"/>
                                          </p:val>
                                        </p:tav>
                                        <p:tav tm="100000">
                                          <p:val>
                                            <p:strVal val="#ppt_h"/>
                                          </p:val>
                                        </p:tav>
                                      </p:tavLst>
                                    </p:anim>
                                    <p:anim calcmode="lin" valueType="num">
                                      <p:cBhvr>
                                        <p:cTn id="39" dur="1000" fill="hold"/>
                                        <p:tgtEl>
                                          <p:spTgt spid="79"/>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7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60"/>
                                        </p:tgtEl>
                                        <p:attrNameLst>
                                          <p:attrName>style.visibility</p:attrName>
                                        </p:attrNameLst>
                                      </p:cBhvr>
                                      <p:to>
                                        <p:strVal val="visible"/>
                                      </p:to>
                                    </p:set>
                                    <p:animEffect transition="in" filter="slide(fromLeft)">
                                      <p:cBhvr>
                                        <p:cTn id="45" dur="500"/>
                                        <p:tgtEl>
                                          <p:spTgt spid="60"/>
                                        </p:tgtEl>
                                      </p:cBhvr>
                                    </p:animEffect>
                                  </p:childTnLst>
                                </p:cTn>
                              </p:par>
                            </p:childTnLst>
                          </p:cTn>
                        </p:par>
                        <p:par>
                          <p:cTn id="46" fill="hold">
                            <p:stCondLst>
                              <p:cond delay="500"/>
                            </p:stCondLst>
                            <p:childTnLst>
                              <p:par>
                                <p:cTn id="47" presetID="3" presetClass="entr" presetSubtype="10" fill="hold" nodeType="after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blinds(horizontal)">
                                      <p:cBhvr>
                                        <p:cTn id="49" dur="500"/>
                                        <p:tgtEl>
                                          <p:spTgt spid="49"/>
                                        </p:tgtEl>
                                      </p:cBhvr>
                                    </p:animEffect>
                                  </p:childTnLst>
                                </p:cTn>
                              </p:par>
                            </p:childTnLst>
                          </p:cTn>
                        </p:par>
                        <p:par>
                          <p:cTn id="50" fill="hold">
                            <p:stCondLst>
                              <p:cond delay="1000"/>
                            </p:stCondLst>
                            <p:childTnLst>
                              <p:par>
                                <p:cTn id="51" presetID="22" presetClass="entr" presetSubtype="1" fill="hold" grpId="0" nodeType="after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wipe(up)">
                                      <p:cBhvr>
                                        <p:cTn id="5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3"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9419</TotalTime>
  <Words>1829</Words>
  <Application>Microsoft Office PowerPoint</Application>
  <PresentationFormat>全屏显示(4:3)</PresentationFormat>
  <Paragraphs>713</Paragraphs>
  <Slides>37</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52" baseType="lpstr">
      <vt:lpstr>CommonBullets</vt:lpstr>
      <vt:lpstr>仿宋_GB2312</vt:lpstr>
      <vt:lpstr>黑体</vt:lpstr>
      <vt:lpstr>华文行楷</vt:lpstr>
      <vt:lpstr>楷体_GB2312</vt:lpstr>
      <vt:lpstr>隶书</vt:lpstr>
      <vt:lpstr>宋体</vt:lpstr>
      <vt:lpstr>Arial</vt:lpstr>
      <vt:lpstr>Symbol</vt:lpstr>
      <vt:lpstr>Times New Roman</vt:lpstr>
      <vt:lpstr>Wingdings</vt:lpstr>
      <vt:lpstr>Wingdings 3</vt:lpstr>
      <vt:lpstr>默认设计模板</vt:lpstr>
      <vt:lpstr>Equation</vt:lpstr>
      <vt:lpstr>公式</vt:lpstr>
      <vt:lpstr>第2章 电路的等效变换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thcic</dc:creator>
  <cp:lastModifiedBy>JT</cp:lastModifiedBy>
  <cp:revision>727</cp:revision>
  <dcterms:created xsi:type="dcterms:W3CDTF">1998-03-26T06:58:13Z</dcterms:created>
  <dcterms:modified xsi:type="dcterms:W3CDTF">2024-06-25T13:14:18Z</dcterms:modified>
</cp:coreProperties>
</file>
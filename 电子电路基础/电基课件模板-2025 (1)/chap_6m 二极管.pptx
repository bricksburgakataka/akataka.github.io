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vsd" ContentType="application/vnd.visio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302" r:id="rId10"/>
    <p:sldId id="303" r:id="rId11"/>
    <p:sldId id="304" r:id="rId12"/>
    <p:sldId id="305" r:id="rId13"/>
    <p:sldId id="307" r:id="rId14"/>
    <p:sldId id="308" r:id="rId15"/>
    <p:sldId id="309" r:id="rId16"/>
    <p:sldId id="310" r:id="rId17"/>
    <p:sldId id="278" r:id="rId18"/>
    <p:sldId id="279" r:id="rId19"/>
    <p:sldId id="290" r:id="rId20"/>
    <p:sldId id="291" r:id="rId21"/>
    <p:sldId id="292" r:id="rId22"/>
    <p:sldId id="293" r:id="rId23"/>
    <p:sldId id="314" r:id="rId24"/>
    <p:sldId id="295" r:id="rId25"/>
    <p:sldId id="297" r:id="rId26"/>
    <p:sldId id="298" r:id="rId27"/>
    <p:sldId id="312" r:id="rId28"/>
    <p:sldId id="313" r:id="rId2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9EC6"/>
    <a:srgbClr val="25E2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1" autoAdjust="0"/>
    <p:restoredTop sz="94611" autoAdjust="0"/>
  </p:normalViewPr>
  <p:slideViewPr>
    <p:cSldViewPr>
      <p:cViewPr varScale="1">
        <p:scale>
          <a:sx n="79" d="100"/>
          <a:sy n="79" d="100"/>
        </p:scale>
        <p:origin x="114" y="7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86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2" Type="http://schemas.openxmlformats.org/officeDocument/2006/relationships/image" Target="../media/image28.wmf"/><Relationship Id="rId1" Type="http://schemas.openxmlformats.org/officeDocument/2006/relationships/image" Target="../media/image27.e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emf"/><Relationship Id="rId4" Type="http://schemas.openxmlformats.org/officeDocument/2006/relationships/image" Target="../media/image37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image" Target="../media/image40.wmf"/><Relationship Id="rId7" Type="http://schemas.openxmlformats.org/officeDocument/2006/relationships/image" Target="../media/image44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6" Type="http://schemas.openxmlformats.org/officeDocument/2006/relationships/image" Target="../media/image43.wmf"/><Relationship Id="rId5" Type="http://schemas.openxmlformats.org/officeDocument/2006/relationships/image" Target="../media/image42.emf"/><Relationship Id="rId4" Type="http://schemas.openxmlformats.org/officeDocument/2006/relationships/image" Target="../media/image41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wmf"/><Relationship Id="rId1" Type="http://schemas.openxmlformats.org/officeDocument/2006/relationships/image" Target="../media/image51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46C414-4A14-4380-8407-43FE0F33CAB2}" type="datetimeFigureOut">
              <a:rPr lang="zh-CN" altLang="en-US"/>
              <a:pPr>
                <a:defRPr/>
              </a:pPr>
              <a:t>2024-06-17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876197-B5B3-44CA-8F3A-4150037E294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6AF9E6-8CDE-4234-827D-C51C6186A486}" type="datetimeFigureOut">
              <a:rPr lang="zh-CN" altLang="en-US"/>
              <a:pPr>
                <a:defRPr/>
              </a:pPr>
              <a:t>2024-06-17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E5BCBA-813F-42C3-82E6-CBCFC7AFDA8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C30627-A4E4-49D1-9C76-1826CA5C891D}" type="datetimeFigureOut">
              <a:rPr lang="zh-CN" altLang="en-US"/>
              <a:pPr>
                <a:defRPr/>
              </a:pPr>
              <a:t>2024-06-17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EC9F24-3E29-43AA-B631-5FA22A67942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A39E46-6D98-456F-A929-05340F7E0C75}" type="datetimeFigureOut">
              <a:rPr lang="zh-CN" altLang="en-US"/>
              <a:pPr>
                <a:defRPr/>
              </a:pPr>
              <a:t>2024-06-17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5E55A3-271D-47C3-A68F-550B30336EA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2C2537-1CCE-4647-BB29-DE71B79C08BA}" type="datetimeFigureOut">
              <a:rPr lang="zh-CN" altLang="en-US"/>
              <a:pPr>
                <a:defRPr/>
              </a:pPr>
              <a:t>2024-06-17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D5191D-77C6-4BAF-81F8-76160D7BEE1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AA321F-5FC7-4657-B6F4-2A4C802A7A8D}" type="datetimeFigureOut">
              <a:rPr lang="zh-CN" altLang="en-US"/>
              <a:pPr>
                <a:defRPr/>
              </a:pPr>
              <a:t>2024-06-17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DD4392-E950-44E5-BB1D-A92FDCCE9E9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DC7926-9E05-4FBC-A54A-F66CCCE56197}" type="datetimeFigureOut">
              <a:rPr lang="zh-CN" altLang="en-US"/>
              <a:pPr>
                <a:defRPr/>
              </a:pPr>
              <a:t>2024-06-17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26190F-BC4E-4F34-B384-AA671690EE9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857194-8DD0-446E-8C01-C459AC686067}" type="datetimeFigureOut">
              <a:rPr lang="zh-CN" altLang="en-US"/>
              <a:pPr>
                <a:defRPr/>
              </a:pPr>
              <a:t>2024-06-17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B5A354-6FA7-4081-9ED3-3A606F88C73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893642-9021-4FD8-BAB6-018C3199EAA8}" type="datetimeFigureOut">
              <a:rPr lang="zh-CN" altLang="en-US"/>
              <a:pPr>
                <a:defRPr/>
              </a:pPr>
              <a:t>2024-06-17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81B709-C5D1-45D1-B44F-52926DD6D82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1318CA-E632-45DE-9259-A42BFDAC3F07}" type="datetimeFigureOut">
              <a:rPr lang="zh-CN" altLang="en-US"/>
              <a:pPr>
                <a:defRPr/>
              </a:pPr>
              <a:t>2024-06-17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AFE32E-EDD1-4695-A7DA-BA242565F53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F94F0A-1BD5-4001-9A32-B84536C57DAB}" type="datetimeFigureOut">
              <a:rPr lang="zh-CN" altLang="en-US"/>
              <a:pPr>
                <a:defRPr/>
              </a:pPr>
              <a:t>2024-06-17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C61956-BE2A-4D98-BD7A-41956566E35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6C88F81-6082-49F1-BB23-9F43B7536759}" type="datetimeFigureOut">
              <a:rPr lang="zh-CN" altLang="en-US"/>
              <a:pPr>
                <a:defRPr/>
              </a:pPr>
              <a:t>2024-06-17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2B49EA1-4A91-44A0-89F5-9106F7F158B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9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Visio_2003-2010___1.vsd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2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Visio_2003-2010___2.vsd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3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oleObject" Target="../embeddings/oleObject12.bin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image" Target="../media/image20.png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9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3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18.bin"/><Relationship Id="rId3" Type="http://schemas.openxmlformats.org/officeDocument/2006/relationships/oleObject" Target="../embeddings/Microsoft_Visio_2003-2010___3.vsd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31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3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5" Type="http://schemas.openxmlformats.org/officeDocument/2006/relationships/oleObject" Target="../embeddings/oleObject19.bin"/><Relationship Id="rId10" Type="http://schemas.openxmlformats.org/officeDocument/2006/relationships/image" Target="../media/image30.wmf"/><Relationship Id="rId4" Type="http://schemas.openxmlformats.org/officeDocument/2006/relationships/image" Target="../media/image27.e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32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Microsoft_Visio_2003-2010___4.vsd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5.wmf"/><Relationship Id="rId5" Type="http://schemas.openxmlformats.org/officeDocument/2006/relationships/oleObject" Target="../embeddings/Microsoft_Visio_2003-2010___5.vsd"/><Relationship Id="rId10" Type="http://schemas.openxmlformats.org/officeDocument/2006/relationships/image" Target="../media/image37.wmf"/><Relationship Id="rId4" Type="http://schemas.openxmlformats.org/officeDocument/2006/relationships/image" Target="../media/image34.emf"/><Relationship Id="rId9" Type="http://schemas.openxmlformats.org/officeDocument/2006/relationships/oleObject" Target="../embeddings/oleObject21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27.bin"/><Relationship Id="rId18" Type="http://schemas.openxmlformats.org/officeDocument/2006/relationships/image" Target="../media/image45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42.emf"/><Relationship Id="rId1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4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10" Type="http://schemas.openxmlformats.org/officeDocument/2006/relationships/image" Target="../media/image41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43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Visio_2003-2010___6.vsd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46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oleObject" Target="../embeddings/oleObject30.bin"/><Relationship Id="rId7" Type="http://schemas.openxmlformats.org/officeDocument/2006/relationships/image" Target="../media/image4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47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oleObject" Target="../embeddings/oleObject32.bin"/><Relationship Id="rId7" Type="http://schemas.openxmlformats.org/officeDocument/2006/relationships/image" Target="../media/image5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51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oleObject" Target="../embeddings/oleObject34.bin"/><Relationship Id="rId7" Type="http://schemas.openxmlformats.org/officeDocument/2006/relationships/image" Target="../media/image5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55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6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6.png"/><Relationship Id="rId7" Type="http://schemas.openxmlformats.org/officeDocument/2006/relationships/image" Target="../media/image6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67.png"/><Relationship Id="rId9" Type="http://schemas.openxmlformats.org/officeDocument/2006/relationships/image" Target="../media/image7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58888" y="1196975"/>
            <a:ext cx="6323012" cy="914400"/>
          </a:xfrm>
          <a:gradFill rotWithShape="0">
            <a:gsLst>
              <a:gs pos="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effectLst>
            <a:prstShdw prst="shdw17" dist="17961" dir="2700000">
              <a:srgbClr val="FFFFFF">
                <a:gamma/>
                <a:shade val="60000"/>
                <a:invGamma/>
              </a:srgbClr>
            </a:prstShdw>
          </a:effectLst>
          <a:extLst/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第</a:t>
            </a:r>
            <a:r>
              <a:rPr lang="en-US" altLang="zh-CN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6</a:t>
            </a:r>
            <a:r>
              <a:rPr lang="zh-CN" altLang="en-US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章  </a:t>
            </a:r>
            <a:r>
              <a:rPr lang="zh-CN" altLang="en-US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二极管</a:t>
            </a:r>
          </a:p>
        </p:txBody>
      </p:sp>
      <p:sp>
        <p:nvSpPr>
          <p:cNvPr id="10" name="Text Box 10" descr="蓝色砂纸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800225" y="2924175"/>
            <a:ext cx="5232400" cy="5794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>
            <a:outerShdw dist="107763" dir="18900000" algn="ctr" rotWithShape="0">
              <a:srgbClr val="808080"/>
            </a:outerShdw>
          </a:effectLst>
          <a:extLst/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kern="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二极管基础</a:t>
            </a:r>
            <a:endParaRPr lang="zh-CN" altLang="en-US" sz="3200" kern="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" name="Text Box 13" descr="蓝色砂纸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1800225" y="4144963"/>
            <a:ext cx="5248275" cy="579437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>
            <a:outerShdw dist="107763" dir="18900000" algn="ctr" rotWithShape="0">
              <a:srgbClr val="808080"/>
            </a:outerShdw>
          </a:effectLst>
          <a:extLst/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kern="0" dirty="0" smtClean="0">
                <a:solidFill>
                  <a:srgbClr val="000000"/>
                </a:solidFill>
                <a:ea typeface="楷体_GB2312" pitchFamily="49" charset="-122"/>
              </a:rPr>
              <a:t>二极管</a:t>
            </a:r>
            <a:r>
              <a:rPr lang="zh-CN" altLang="en-US" sz="3200" kern="0" dirty="0">
                <a:solidFill>
                  <a:srgbClr val="000000"/>
                </a:solidFill>
                <a:ea typeface="楷体_GB2312" pitchFamily="49" charset="-122"/>
              </a:rPr>
              <a:t>应用</a:t>
            </a:r>
            <a:r>
              <a:rPr lang="zh-CN" altLang="en-US" sz="3200" kern="0" dirty="0" smtClean="0">
                <a:solidFill>
                  <a:srgbClr val="000000"/>
                </a:solidFill>
                <a:ea typeface="楷体_GB2312" pitchFamily="49" charset="-122"/>
              </a:rPr>
              <a:t>电路</a:t>
            </a:r>
            <a:endParaRPr lang="zh-CN" altLang="en-US" sz="3200" kern="0" dirty="0">
              <a:solidFill>
                <a:srgbClr val="0000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59" name="Text Box 15"/>
          <p:cNvSpPr txBox="1">
            <a:spLocks noChangeArrowheads="1"/>
          </p:cNvSpPr>
          <p:nvPr/>
        </p:nvSpPr>
        <p:spPr bwMode="auto">
          <a:xfrm>
            <a:off x="623888" y="1933401"/>
            <a:ext cx="6553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990033"/>
                </a:solidFill>
                <a:latin typeface="Times New Roman" pitchFamily="18" charset="0"/>
              </a:rPr>
              <a:t>一、二极管的结构</a:t>
            </a:r>
          </a:p>
        </p:txBody>
      </p:sp>
      <p:sp>
        <p:nvSpPr>
          <p:cNvPr id="441360" name="Text Box 16"/>
          <p:cNvSpPr txBox="1">
            <a:spLocks noChangeArrowheads="1"/>
          </p:cNvSpPr>
          <p:nvPr/>
        </p:nvSpPr>
        <p:spPr bwMode="auto">
          <a:xfrm>
            <a:off x="755650" y="2525538"/>
            <a:ext cx="7010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Times New Roman" pitchFamily="18" charset="0"/>
              </a:rPr>
              <a:t>将</a:t>
            </a:r>
            <a:r>
              <a:rPr lang="en-US" altLang="zh-CN" sz="2000" dirty="0">
                <a:latin typeface="Times New Roman" pitchFamily="18" charset="0"/>
              </a:rPr>
              <a:t>PN</a:t>
            </a:r>
            <a:r>
              <a:rPr lang="zh-CN" altLang="en-US" sz="2000" dirty="0">
                <a:latin typeface="Times New Roman" pitchFamily="18" charset="0"/>
              </a:rPr>
              <a:t>结封装，引出两个电极，就构成了二极管。</a:t>
            </a:r>
          </a:p>
        </p:txBody>
      </p:sp>
      <p:pic>
        <p:nvPicPr>
          <p:cNvPr id="441361" name="Picture 17" descr="二极管"/>
          <p:cNvPicPr>
            <a:picLocks noChangeAspect="1" noChangeArrowheads="1"/>
          </p:cNvPicPr>
          <p:nvPr/>
        </p:nvPicPr>
        <p:blipFill>
          <a:blip r:embed="rId2"/>
          <a:srcRect l="27335" t="32445" r="12996" b="27780"/>
          <a:stretch>
            <a:fillRect/>
          </a:stretch>
        </p:blipFill>
        <p:spPr bwMode="auto">
          <a:xfrm>
            <a:off x="2259013" y="3212976"/>
            <a:ext cx="4965700" cy="238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1362" name="AutoShape 18"/>
          <p:cNvSpPr>
            <a:spLocks/>
          </p:cNvSpPr>
          <p:nvPr/>
        </p:nvSpPr>
        <p:spPr bwMode="auto">
          <a:xfrm>
            <a:off x="1258888" y="5816476"/>
            <a:ext cx="1130300" cy="720725"/>
          </a:xfrm>
          <a:prstGeom prst="borderCallout1">
            <a:avLst>
              <a:gd name="adj1" fmla="val 15861"/>
              <a:gd name="adj2" fmla="val 106741"/>
              <a:gd name="adj3" fmla="val -43833"/>
              <a:gd name="adj4" fmla="val 171630"/>
            </a:avLst>
          </a:prstGeom>
          <a:solidFill>
            <a:srgbClr val="66FFFF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 sz="2000" b="1">
                <a:latin typeface="Arial" charset="0"/>
              </a:rPr>
              <a:t>小功率二极管</a:t>
            </a:r>
          </a:p>
        </p:txBody>
      </p:sp>
      <p:sp>
        <p:nvSpPr>
          <p:cNvPr id="441363" name="AutoShape 19"/>
          <p:cNvSpPr>
            <a:spLocks/>
          </p:cNvSpPr>
          <p:nvPr/>
        </p:nvSpPr>
        <p:spPr bwMode="auto">
          <a:xfrm>
            <a:off x="3203575" y="5816476"/>
            <a:ext cx="1130300" cy="720725"/>
          </a:xfrm>
          <a:prstGeom prst="borderCallout1">
            <a:avLst>
              <a:gd name="adj1" fmla="val 15861"/>
              <a:gd name="adj2" fmla="val 106741"/>
              <a:gd name="adj3" fmla="val -68500"/>
              <a:gd name="adj4" fmla="val 139468"/>
            </a:avLst>
          </a:prstGeom>
          <a:solidFill>
            <a:srgbClr val="66FFFF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 sz="2000" dirty="0">
                <a:latin typeface="Arial" charset="0"/>
              </a:rPr>
              <a:t>大功率二极管</a:t>
            </a:r>
          </a:p>
        </p:txBody>
      </p:sp>
      <p:sp>
        <p:nvSpPr>
          <p:cNvPr id="441364" name="AutoShape 20"/>
          <p:cNvSpPr>
            <a:spLocks/>
          </p:cNvSpPr>
          <p:nvPr/>
        </p:nvSpPr>
        <p:spPr bwMode="auto">
          <a:xfrm>
            <a:off x="5926138" y="5745038"/>
            <a:ext cx="1130300" cy="720725"/>
          </a:xfrm>
          <a:prstGeom prst="borderCallout1">
            <a:avLst>
              <a:gd name="adj1" fmla="val 15861"/>
              <a:gd name="adj2" fmla="val -6741"/>
              <a:gd name="adj3" fmla="val -35241"/>
              <a:gd name="adj4" fmla="val -27949"/>
            </a:avLst>
          </a:prstGeom>
          <a:solidFill>
            <a:srgbClr val="66FFFF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 sz="2000" b="1">
                <a:latin typeface="Arial" charset="0"/>
              </a:rPr>
              <a:t>稳压</a:t>
            </a:r>
          </a:p>
          <a:p>
            <a:r>
              <a:rPr lang="zh-CN" altLang="en-US" sz="2000" b="1">
                <a:latin typeface="Arial" charset="0"/>
              </a:rPr>
              <a:t>二极管</a:t>
            </a:r>
          </a:p>
        </p:txBody>
      </p:sp>
      <p:sp>
        <p:nvSpPr>
          <p:cNvPr id="441365" name="AutoShape 21"/>
          <p:cNvSpPr>
            <a:spLocks/>
          </p:cNvSpPr>
          <p:nvPr/>
        </p:nvSpPr>
        <p:spPr bwMode="auto">
          <a:xfrm>
            <a:off x="7654925" y="5745038"/>
            <a:ext cx="1130300" cy="720725"/>
          </a:xfrm>
          <a:prstGeom prst="borderCallout1">
            <a:avLst>
              <a:gd name="adj1" fmla="val 15861"/>
              <a:gd name="adj2" fmla="val -6741"/>
              <a:gd name="adj3" fmla="val -74227"/>
              <a:gd name="adj4" fmla="val -113764"/>
            </a:avLst>
          </a:prstGeom>
          <a:solidFill>
            <a:srgbClr val="66FFFF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 sz="2000" b="1">
                <a:latin typeface="Arial" charset="0"/>
              </a:rPr>
              <a:t>发光</a:t>
            </a:r>
          </a:p>
          <a:p>
            <a:r>
              <a:rPr lang="zh-CN" altLang="en-US" sz="2000" b="1">
                <a:latin typeface="Arial" charset="0"/>
              </a:rPr>
              <a:t>二极管</a:t>
            </a:r>
          </a:p>
        </p:txBody>
      </p:sp>
      <p:sp>
        <p:nvSpPr>
          <p:cNvPr id="17" name="Text Box 65"/>
          <p:cNvSpPr txBox="1">
            <a:spLocks noChangeArrowheads="1"/>
          </p:cNvSpPr>
          <p:nvPr/>
        </p:nvSpPr>
        <p:spPr bwMode="auto">
          <a:xfrm>
            <a:off x="388938" y="1341263"/>
            <a:ext cx="82883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r>
              <a:rPr lang="en-US" altLang="zh-CN" sz="2400" b="1" dirty="0" smtClean="0">
                <a:solidFill>
                  <a:srgbClr val="990033"/>
                </a:solidFill>
                <a:latin typeface="Times New Roman" pitchFamily="18" charset="0"/>
                <a:ea typeface="楷体_GB2312"/>
                <a:cs typeface="楷体_GB2312"/>
              </a:rPr>
              <a:t>6.1.1 </a:t>
            </a:r>
            <a:r>
              <a:rPr lang="zh-CN" altLang="zh-CN" sz="2400" b="1" dirty="0">
                <a:solidFill>
                  <a:srgbClr val="990033"/>
                </a:solidFill>
                <a:latin typeface="Times New Roman" pitchFamily="18" charset="0"/>
                <a:ea typeface="楷体_GB2312"/>
                <a:cs typeface="楷体_GB2312"/>
              </a:rPr>
              <a:t>二极管的结构及其伏安特性</a:t>
            </a:r>
            <a:endParaRPr lang="en-US" altLang="zh-CN" sz="2400" b="1" dirty="0">
              <a:solidFill>
                <a:srgbClr val="990033"/>
              </a:solidFill>
              <a:latin typeface="Times New Roman" pitchFamily="18" charset="0"/>
              <a:ea typeface="楷体_GB2312"/>
              <a:cs typeface="楷体_GB2312"/>
            </a:endParaRPr>
          </a:p>
        </p:txBody>
      </p:sp>
      <p:sp>
        <p:nvSpPr>
          <p:cNvPr id="10" name="Rectangle 16"/>
          <p:cNvSpPr>
            <a:spLocks noChangeArrowheads="1"/>
          </p:cNvSpPr>
          <p:nvPr/>
        </p:nvSpPr>
        <p:spPr bwMode="auto">
          <a:xfrm>
            <a:off x="585788" y="693738"/>
            <a:ext cx="7515225" cy="519112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/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defRPr/>
            </a:pPr>
            <a:r>
              <a:rPr lang="en-US" altLang="zh-CN" sz="2800" b="1" dirty="0" smtClean="0">
                <a:latin typeface="Times New Roman" pitchFamily="18" charset="0"/>
                <a:ea typeface="楷体_GB2312" pitchFamily="49" charset="-122"/>
              </a:rPr>
              <a:t>6.1 </a:t>
            </a:r>
            <a:r>
              <a:rPr lang="zh-CN" altLang="en-US" sz="2800" b="1" dirty="0" smtClean="0">
                <a:latin typeface="Times New Roman" pitchFamily="18" charset="0"/>
                <a:ea typeface="楷体_GB2312" pitchFamily="49" charset="-122"/>
              </a:rPr>
              <a:t>二极管</a:t>
            </a:r>
            <a:r>
              <a:rPr lang="zh-CN" altLang="en-US" sz="2800" b="1" dirty="0">
                <a:latin typeface="Times New Roman" pitchFamily="18" charset="0"/>
                <a:ea typeface="楷体_GB2312" pitchFamily="49" charset="-122"/>
              </a:rPr>
              <a:t>基础</a:t>
            </a:r>
            <a:endParaRPr lang="zh-CN" altLang="en-US" sz="2800" b="1" dirty="0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1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41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41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41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41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41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41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359" grpId="0"/>
      <p:bldP spid="441360" grpId="0"/>
      <p:bldP spid="441362" grpId="0" animBg="1"/>
      <p:bldP spid="441363" grpId="0" animBg="1"/>
      <p:bldP spid="441364" grpId="0" animBg="1"/>
      <p:bldP spid="44136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20" name="Picture 3" descr="Dz01020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0113" y="1214438"/>
            <a:ext cx="7315200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7419" name="Object 11"/>
          <p:cNvGraphicFramePr>
            <a:graphicFrameLocks noChangeAspect="1"/>
          </p:cNvGraphicFramePr>
          <p:nvPr/>
        </p:nvGraphicFramePr>
        <p:xfrm>
          <a:off x="611188" y="2222500"/>
          <a:ext cx="8001000" cy="178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23" name="Photo Editor 照片" r:id="rId4" imgW="39628571" imgH="8869013" progId="">
                  <p:embed/>
                </p:oleObj>
              </mc:Choice>
              <mc:Fallback>
                <p:oleObj name="Photo Editor 照片" r:id="rId4" imgW="39628571" imgH="8869013" progId="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222500"/>
                        <a:ext cx="8001000" cy="178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1" name="Text Box 5"/>
          <p:cNvSpPr txBox="1">
            <a:spLocks noChangeArrowheads="1"/>
          </p:cNvSpPr>
          <p:nvPr/>
        </p:nvSpPr>
        <p:spPr bwMode="auto">
          <a:xfrm>
            <a:off x="685800" y="4257675"/>
            <a:ext cx="2667000" cy="1886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点接触型</a:t>
            </a:r>
            <a:r>
              <a:rPr lang="zh-CN" altLang="en-US" sz="2000" dirty="0"/>
              <a:t>：结面积小，结电容小</a:t>
            </a:r>
            <a:r>
              <a:rPr lang="zh-CN" altLang="en-US" sz="2000" dirty="0" smtClean="0"/>
              <a:t>，允许通过的</a:t>
            </a:r>
            <a:r>
              <a:rPr lang="zh-CN" altLang="en-US" sz="2000" dirty="0"/>
              <a:t>电流小，最高工作频率高。</a:t>
            </a:r>
          </a:p>
        </p:txBody>
      </p:sp>
      <p:sp>
        <p:nvSpPr>
          <p:cNvPr id="17422" name="Text Box 6"/>
          <p:cNvSpPr txBox="1">
            <a:spLocks noChangeArrowheads="1"/>
          </p:cNvSpPr>
          <p:nvPr/>
        </p:nvSpPr>
        <p:spPr bwMode="auto">
          <a:xfrm>
            <a:off x="3429000" y="4257675"/>
            <a:ext cx="2590800" cy="1886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面接触型</a:t>
            </a:r>
            <a:r>
              <a:rPr lang="zh-CN" altLang="en-US" sz="2000" dirty="0"/>
              <a:t>：结面积大，结电容大</a:t>
            </a:r>
            <a:r>
              <a:rPr lang="zh-CN" altLang="en-US" sz="2000" dirty="0" smtClean="0"/>
              <a:t>，允许通过的</a:t>
            </a:r>
            <a:r>
              <a:rPr lang="zh-CN" altLang="en-US" sz="2000" dirty="0"/>
              <a:t>电流大，最高工作频率低。</a:t>
            </a:r>
          </a:p>
        </p:txBody>
      </p:sp>
      <p:sp>
        <p:nvSpPr>
          <p:cNvPr id="17423" name="Text Box 7"/>
          <p:cNvSpPr txBox="1">
            <a:spLocks noChangeArrowheads="1"/>
          </p:cNvSpPr>
          <p:nvPr/>
        </p:nvSpPr>
        <p:spPr bwMode="auto">
          <a:xfrm>
            <a:off x="6096000" y="4267200"/>
            <a:ext cx="2667000" cy="1886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平面型</a:t>
            </a:r>
            <a:r>
              <a:rPr lang="zh-CN" altLang="en-US" sz="2000" dirty="0"/>
              <a:t>：结面积可小、可大，小的工作频率高，大</a:t>
            </a:r>
            <a:r>
              <a:rPr lang="zh-CN" altLang="en-US" sz="2000" dirty="0" smtClean="0"/>
              <a:t>的允许通过的</a:t>
            </a:r>
            <a:r>
              <a:rPr lang="zh-CN" altLang="en-US" sz="2000" dirty="0"/>
              <a:t>电流大。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1" grpId="0"/>
      <p:bldP spid="17422" grpId="0"/>
      <p:bldP spid="174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4" name="Text Box 4"/>
          <p:cNvSpPr txBox="1">
            <a:spLocks noChangeArrowheads="1"/>
          </p:cNvSpPr>
          <p:nvPr/>
        </p:nvSpPr>
        <p:spPr bwMode="auto">
          <a:xfrm>
            <a:off x="727075" y="1047750"/>
            <a:ext cx="7010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/>
              <a:t>二极管电路符号</a:t>
            </a:r>
          </a:p>
        </p:txBody>
      </p:sp>
      <p:pic>
        <p:nvPicPr>
          <p:cNvPr id="18445" name="图片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75656" y="1940616"/>
            <a:ext cx="6985520" cy="1712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784" y="4437112"/>
            <a:ext cx="4021669" cy="9768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9" name="Text Box 2"/>
          <p:cNvSpPr txBox="1">
            <a:spLocks noChangeArrowheads="1"/>
          </p:cNvSpPr>
          <p:nvPr/>
        </p:nvSpPr>
        <p:spPr bwMode="auto">
          <a:xfrm>
            <a:off x="582613" y="1268760"/>
            <a:ext cx="1757362" cy="457200"/>
          </a:xfrm>
          <a:prstGeom prst="rect">
            <a:avLst/>
          </a:prstGeom>
          <a:solidFill>
            <a:srgbClr val="25E2E7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 dirty="0"/>
              <a:t>理想二极管</a:t>
            </a:r>
          </a:p>
        </p:txBody>
      </p:sp>
      <p:sp>
        <p:nvSpPr>
          <p:cNvPr id="19470" name="Text Box 7"/>
          <p:cNvSpPr txBox="1">
            <a:spLocks noChangeArrowheads="1"/>
          </p:cNvSpPr>
          <p:nvPr/>
        </p:nvSpPr>
        <p:spPr bwMode="auto">
          <a:xfrm>
            <a:off x="930275" y="1864072"/>
            <a:ext cx="7458075" cy="962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000" dirty="0"/>
              <a:t>          </a:t>
            </a:r>
            <a:r>
              <a:rPr lang="zh-CN" altLang="en-US" sz="2000" dirty="0"/>
              <a:t>理想二极管的性能就像一个单向的开关，正向导通无压降，反向截止无漏电。</a:t>
            </a:r>
          </a:p>
        </p:txBody>
      </p:sp>
      <p:graphicFrame>
        <p:nvGraphicFramePr>
          <p:cNvPr id="1946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7298744"/>
              </p:ext>
            </p:extLst>
          </p:nvPr>
        </p:nvGraphicFramePr>
        <p:xfrm>
          <a:off x="2268538" y="2930872"/>
          <a:ext cx="4895850" cy="377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1" name="Visio" r:id="rId3" imgW="3584124" imgH="2732504" progId="Visio.Drawing.11">
                  <p:embed/>
                </p:oleObj>
              </mc:Choice>
              <mc:Fallback>
                <p:oleObj name="Visio" r:id="rId3" imgW="3584124" imgH="2732504" progId="Visio.Drawing.11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930872"/>
                        <a:ext cx="4895850" cy="3771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519113"/>
            <a:ext cx="7708900" cy="609600"/>
          </a:xfrm>
        </p:spPr>
        <p:txBody>
          <a:bodyPr/>
          <a:lstStyle/>
          <a:p>
            <a:pPr algn="l" eaLnBrk="1" hangingPunct="1">
              <a:spcBef>
                <a:spcPct val="50000"/>
              </a:spcBef>
            </a:pPr>
            <a:r>
              <a:rPr kumimoji="1" lang="zh-CN" altLang="en-US" sz="2400" b="1" dirty="0" smtClean="0">
                <a:solidFill>
                  <a:srgbClr val="990033"/>
                </a:solidFill>
                <a:latin typeface="Times New Roman" pitchFamily="18" charset="0"/>
              </a:rPr>
              <a:t>二、二极管伏安特性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7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93" name="Object 13"/>
          <p:cNvGraphicFramePr>
            <a:graphicFrameLocks noChangeAspect="1"/>
          </p:cNvGraphicFramePr>
          <p:nvPr/>
        </p:nvGraphicFramePr>
        <p:xfrm>
          <a:off x="1187450" y="1196975"/>
          <a:ext cx="6840538" cy="506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7" name="Visio" r:id="rId3" imgW="5227135" imgH="3868148" progId="Visio.Drawing.11">
                  <p:embed/>
                </p:oleObj>
              </mc:Choice>
              <mc:Fallback>
                <p:oleObj name="Visio" r:id="rId3" imgW="5227135" imgH="3868148" progId="Visio.Drawing.11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196975"/>
                        <a:ext cx="6840538" cy="5062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582613" y="595536"/>
            <a:ext cx="1757362" cy="457200"/>
          </a:xfrm>
          <a:prstGeom prst="rect">
            <a:avLst/>
          </a:prstGeom>
          <a:solidFill>
            <a:srgbClr val="25E2E7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 dirty="0" smtClean="0"/>
              <a:t>实际二极管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4449" name="Group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950460"/>
              </p:ext>
            </p:extLst>
          </p:nvPr>
        </p:nvGraphicFramePr>
        <p:xfrm>
          <a:off x="1813099" y="4998044"/>
          <a:ext cx="6248400" cy="1311276"/>
        </p:xfrm>
        <a:graphic>
          <a:graphicData uri="http://schemas.openxmlformats.org/drawingml/2006/table">
            <a:tbl>
              <a:tblPr/>
              <a:tblGrid>
                <a:gridCol w="1143000"/>
                <a:gridCol w="1371600"/>
                <a:gridCol w="1524000"/>
                <a:gridCol w="220980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材料</a:t>
                      </a:r>
                    </a:p>
                  </a:txBody>
                  <a:tcPr marT="45742" marB="457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开启电压</a:t>
                      </a:r>
                    </a:p>
                  </a:txBody>
                  <a:tcPr marT="45742" marB="457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导通电压</a:t>
                      </a:r>
                    </a:p>
                  </a:txBody>
                  <a:tcPr marT="45742" marB="457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反向饱和电流</a:t>
                      </a:r>
                    </a:p>
                  </a:txBody>
                  <a:tcPr marT="45742" marB="457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硅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Si</a:t>
                      </a:r>
                    </a:p>
                  </a:txBody>
                  <a:tcPr marT="45742" marB="457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0.5V</a:t>
                      </a:r>
                    </a:p>
                  </a:txBody>
                  <a:tcPr marT="45742" marB="457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0.5~0.8V</a:t>
                      </a:r>
                    </a:p>
                  </a:txBody>
                  <a:tcPr marT="45742" marB="457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µA</a:t>
                      </a: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以下</a:t>
                      </a:r>
                    </a:p>
                  </a:txBody>
                  <a:tcPr marT="45742" marB="457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锗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Ge</a:t>
                      </a:r>
                    </a:p>
                  </a:txBody>
                  <a:tcPr marT="45742" marB="457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0.1V</a:t>
                      </a:r>
                    </a:p>
                  </a:txBody>
                  <a:tcPr marT="45742" marB="457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0.1~0.3V</a:t>
                      </a:r>
                    </a:p>
                  </a:txBody>
                  <a:tcPr marT="45742" marB="457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几十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µA</a:t>
                      </a:r>
                    </a:p>
                  </a:txBody>
                  <a:tcPr marT="45742" marB="457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574" name="AutoShape 27"/>
          <p:cNvSpPr>
            <a:spLocks/>
          </p:cNvSpPr>
          <p:nvPr/>
        </p:nvSpPr>
        <p:spPr bwMode="auto">
          <a:xfrm>
            <a:off x="7844663" y="2890214"/>
            <a:ext cx="1224086" cy="418821"/>
          </a:xfrm>
          <a:prstGeom prst="borderCallout1">
            <a:avLst>
              <a:gd name="adj1" fmla="val 13634"/>
              <a:gd name="adj2" fmla="val -9093"/>
              <a:gd name="adj3" fmla="val -121910"/>
              <a:gd name="adj4" fmla="val -61278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开启电压</a:t>
            </a:r>
          </a:p>
        </p:txBody>
      </p:sp>
      <p:sp>
        <p:nvSpPr>
          <p:cNvPr id="21575" name="AutoShape 28"/>
          <p:cNvSpPr>
            <a:spLocks/>
          </p:cNvSpPr>
          <p:nvPr/>
        </p:nvSpPr>
        <p:spPr bwMode="auto">
          <a:xfrm>
            <a:off x="3258187" y="4156585"/>
            <a:ext cx="1723263" cy="401563"/>
          </a:xfrm>
          <a:prstGeom prst="borderCallout1">
            <a:avLst>
              <a:gd name="adj1" fmla="val 14037"/>
              <a:gd name="adj2" fmla="val 106301"/>
              <a:gd name="adj3" fmla="val -415807"/>
              <a:gd name="adj4" fmla="val 129815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反向饱和电流</a:t>
            </a:r>
          </a:p>
        </p:txBody>
      </p:sp>
      <p:sp>
        <p:nvSpPr>
          <p:cNvPr id="21576" name="AutoShape 29"/>
          <p:cNvSpPr>
            <a:spLocks/>
          </p:cNvSpPr>
          <p:nvPr/>
        </p:nvSpPr>
        <p:spPr bwMode="auto">
          <a:xfrm>
            <a:off x="2843807" y="2717469"/>
            <a:ext cx="1276011" cy="398325"/>
          </a:xfrm>
          <a:prstGeom prst="borderCallout1">
            <a:avLst>
              <a:gd name="adj1" fmla="val 13481"/>
              <a:gd name="adj2" fmla="val 108333"/>
              <a:gd name="adj3" fmla="val -81877"/>
              <a:gd name="adj4" fmla="val 173359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击穿电压</a:t>
            </a:r>
          </a:p>
        </p:txBody>
      </p:sp>
      <p:graphicFrame>
        <p:nvGraphicFramePr>
          <p:cNvPr id="21549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1365148"/>
              </p:ext>
            </p:extLst>
          </p:nvPr>
        </p:nvGraphicFramePr>
        <p:xfrm>
          <a:off x="400224" y="1162050"/>
          <a:ext cx="20828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73" name="Equation" r:id="rId3" imgW="1041120" imgH="533160" progId="Equation.DSMT4">
                  <p:embed/>
                </p:oleObj>
              </mc:Choice>
              <mc:Fallback>
                <p:oleObj name="Equation" r:id="rId3" imgW="1041120" imgH="533160" progId="Equation.DSMT4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224" y="1162050"/>
                        <a:ext cx="2082800" cy="106680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190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50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5990348"/>
              </p:ext>
            </p:extLst>
          </p:nvPr>
        </p:nvGraphicFramePr>
        <p:xfrm>
          <a:off x="467594" y="2590236"/>
          <a:ext cx="1320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74" name="Equation" r:id="rId5" imgW="660400" imgH="228600" progId="Equation.DSMT4">
                  <p:embed/>
                </p:oleObj>
              </mc:Choice>
              <mc:Fallback>
                <p:oleObj name="Equation" r:id="rId5" imgW="660400" imgH="228600" progId="Equation.DSMT4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94" y="2590236"/>
                        <a:ext cx="1320800" cy="45720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190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77" name="Text Box 40"/>
          <p:cNvSpPr txBox="1">
            <a:spLocks noChangeArrowheads="1"/>
          </p:cNvSpPr>
          <p:nvPr/>
        </p:nvSpPr>
        <p:spPr bwMode="auto">
          <a:xfrm>
            <a:off x="400224" y="3398826"/>
            <a:ext cx="2567012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热电</a:t>
            </a:r>
            <a:r>
              <a:rPr lang="zh-CN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压：</a:t>
            </a: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室温下，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000" i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 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≈ 25 mV</a:t>
            </a:r>
          </a:p>
        </p:txBody>
      </p:sp>
      <p:sp>
        <p:nvSpPr>
          <p:cNvPr id="21578" name="Text Box 41"/>
          <p:cNvSpPr txBox="1">
            <a:spLocks noChangeArrowheads="1"/>
          </p:cNvSpPr>
          <p:nvPr/>
        </p:nvSpPr>
        <p:spPr bwMode="auto">
          <a:xfrm>
            <a:off x="3602212" y="822604"/>
            <a:ext cx="2686050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集成二极管：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n=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分立二极管：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n=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" name="Rectangle 36"/>
          <p:cNvSpPr>
            <a:spLocks noChangeArrowheads="1"/>
          </p:cNvSpPr>
          <p:nvPr/>
        </p:nvSpPr>
        <p:spPr bwMode="auto">
          <a:xfrm>
            <a:off x="216074" y="-196850"/>
            <a:ext cx="184150" cy="39687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/>
        </p:spPr>
        <p:txBody>
          <a:bodyPr wrap="none" anchor="ctr">
            <a:spAutoFit/>
          </a:bodyPr>
          <a:lstStyle/>
          <a:p>
            <a:endParaRPr lang="zh-CN" altLang="en-US" sz="200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21551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841203"/>
              </p:ext>
            </p:extLst>
          </p:nvPr>
        </p:nvGraphicFramePr>
        <p:xfrm>
          <a:off x="4300712" y="495579"/>
          <a:ext cx="3975100" cy="362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75" name="Visio" r:id="rId7" imgW="5040765" imgH="4068887" progId="Visio.Drawing.11">
                  <p:embed/>
                </p:oleObj>
              </mc:Choice>
              <mc:Fallback>
                <p:oleObj name="Visio" r:id="rId7" imgW="5040765" imgH="4068887" progId="Visio.Drawing.11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0712" y="495579"/>
                        <a:ext cx="3975100" cy="3622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1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1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44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1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1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1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1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74" grpId="0" animBg="1"/>
      <p:bldP spid="21575" grpId="0" animBg="1"/>
      <p:bldP spid="21576" grpId="0" animBg="1"/>
      <p:bldP spid="21577" grpId="0"/>
      <p:bldP spid="2157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>
          <a:xfrm>
            <a:off x="503238" y="557213"/>
            <a:ext cx="4432300" cy="552450"/>
          </a:xfrm>
        </p:spPr>
        <p:txBody>
          <a:bodyPr/>
          <a:lstStyle/>
          <a:p>
            <a:pPr algn="l" eaLnBrk="1" hangingPunct="1">
              <a:spcBef>
                <a:spcPct val="50000"/>
              </a:spcBef>
            </a:pPr>
            <a:r>
              <a:rPr kumimoji="1" lang="zh-CN" altLang="en-US" sz="2400" b="1" dirty="0" smtClean="0">
                <a:solidFill>
                  <a:srgbClr val="990033"/>
                </a:solidFill>
                <a:latin typeface="Times New Roman" pitchFamily="18" charset="0"/>
              </a:rPr>
              <a:t>三、二极管</a:t>
            </a:r>
            <a:r>
              <a:rPr kumimoji="1" lang="zh-CN" altLang="en-US" sz="2400" b="1" dirty="0">
                <a:solidFill>
                  <a:srgbClr val="990033"/>
                </a:solidFill>
                <a:latin typeface="Times New Roman" pitchFamily="18" charset="0"/>
              </a:rPr>
              <a:t>的主要参数</a:t>
            </a:r>
          </a:p>
        </p:txBody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1503362"/>
            <a:ext cx="7481887" cy="3509813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最大整流电流 </a:t>
            </a:r>
            <a:r>
              <a:rPr lang="en-US" altLang="zh-CN" sz="20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000" i="1" baseline="-25000" dirty="0" smtClean="0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：最大平均值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endParaRPr lang="zh-CN" alt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最大反向工作电压 </a:t>
            </a:r>
            <a:r>
              <a:rPr lang="en-US" altLang="zh-CN" sz="20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CN" sz="2000" i="1" baseline="-25000" dirty="0" smtClean="0"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：最大瞬时值（反向击穿电压值的一半或三分之二）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endParaRPr lang="zh-CN" alt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反向饱和电流 </a:t>
            </a:r>
            <a:r>
              <a:rPr lang="en-US" altLang="zh-CN" sz="20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000" i="1" baseline="-25000" dirty="0" smtClean="0">
                <a:latin typeface="Times New Roman" pitchFamily="18" charset="0"/>
                <a:cs typeface="Times New Roman" pitchFamily="18" charset="0"/>
              </a:rPr>
              <a:t>S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endParaRPr lang="en-US" altLang="zh-CN" sz="2000" dirty="0" smtClean="0">
              <a:latin typeface="Times New Roman" pitchFamily="18" charset="0"/>
              <a:cs typeface="Times New Roman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最高工作频率 </a:t>
            </a:r>
            <a:r>
              <a:rPr lang="en-US" altLang="zh-CN" sz="2000" i="1" dirty="0" err="1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CN" sz="2000" i="1" baseline="-25000" dirty="0" err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000" i="1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：因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PN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结有电容效应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5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45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45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45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59" name="Text Box 15"/>
          <p:cNvSpPr txBox="1">
            <a:spLocks noChangeArrowheads="1"/>
          </p:cNvSpPr>
          <p:nvPr/>
        </p:nvSpPr>
        <p:spPr bwMode="auto">
          <a:xfrm>
            <a:off x="623888" y="1141413"/>
            <a:ext cx="6553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990033"/>
                </a:solidFill>
                <a:latin typeface="Times New Roman" pitchFamily="18" charset="0"/>
              </a:rPr>
              <a:t>一、简化二极管模型</a:t>
            </a:r>
          </a:p>
        </p:txBody>
      </p:sp>
      <p:sp>
        <p:nvSpPr>
          <p:cNvPr id="17" name="Text Box 65"/>
          <p:cNvSpPr txBox="1">
            <a:spLocks noChangeArrowheads="1"/>
          </p:cNvSpPr>
          <p:nvPr/>
        </p:nvSpPr>
        <p:spPr bwMode="auto">
          <a:xfrm>
            <a:off x="388938" y="549275"/>
            <a:ext cx="82883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r>
              <a:rPr lang="en-US" altLang="zh-CN" sz="2400" b="1" dirty="0" smtClean="0">
                <a:solidFill>
                  <a:srgbClr val="990033"/>
                </a:solidFill>
                <a:latin typeface="Times New Roman" pitchFamily="18" charset="0"/>
                <a:ea typeface="楷体_GB2312"/>
                <a:cs typeface="楷体_GB2312"/>
              </a:rPr>
              <a:t>6.1.2 </a:t>
            </a:r>
            <a:r>
              <a:rPr lang="zh-CN" altLang="en-US" sz="2400" b="1" dirty="0" smtClean="0">
                <a:solidFill>
                  <a:srgbClr val="990033"/>
                </a:solidFill>
                <a:latin typeface="Times New Roman" pitchFamily="18" charset="0"/>
                <a:ea typeface="楷体_GB2312"/>
                <a:cs typeface="楷体_GB2312"/>
              </a:rPr>
              <a:t>二极管等效电路</a:t>
            </a:r>
            <a:r>
              <a:rPr lang="zh-CN" altLang="en-US" sz="2400" b="1" dirty="0">
                <a:solidFill>
                  <a:srgbClr val="990033"/>
                </a:solidFill>
                <a:latin typeface="Times New Roman" pitchFamily="18" charset="0"/>
                <a:ea typeface="楷体_GB2312"/>
                <a:cs typeface="楷体_GB2312"/>
              </a:rPr>
              <a:t>模型</a:t>
            </a:r>
            <a:endParaRPr lang="en-US" altLang="zh-CN" sz="2400" b="1" dirty="0">
              <a:solidFill>
                <a:srgbClr val="990033"/>
              </a:solidFill>
              <a:latin typeface="Times New Roman" pitchFamily="18" charset="0"/>
              <a:ea typeface="楷体_GB2312"/>
              <a:cs typeface="楷体_GB2312"/>
            </a:endParaRP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2963" y="2006600"/>
            <a:ext cx="7635875" cy="962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000" dirty="0"/>
              <a:t>        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把</a:t>
            </a:r>
            <a:r>
              <a:rPr lang="zh-CN" altLang="en-US" sz="2000" dirty="0"/>
              <a:t>一个普通的二极管等效为一个理想二极管、一个电压源和一个等效电阻的串联。</a:t>
            </a:r>
          </a:p>
        </p:txBody>
      </p:sp>
      <p:graphicFrame>
        <p:nvGraphicFramePr>
          <p:cNvPr id="20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6937365"/>
              </p:ext>
            </p:extLst>
          </p:nvPr>
        </p:nvGraphicFramePr>
        <p:xfrm>
          <a:off x="1684338" y="3289300"/>
          <a:ext cx="5762625" cy="285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07" name="Visio" r:id="rId3" imgW="5747760" imgH="2841480" progId="Visio.Drawing.11">
                  <p:embed/>
                </p:oleObj>
              </mc:Choice>
              <mc:Fallback>
                <p:oleObj name="Visio" r:id="rId3" imgW="5747760" imgH="284148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4338" y="3289300"/>
                        <a:ext cx="5762625" cy="285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7446963" y="518180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增量电阻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34128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1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359" grpId="0"/>
      <p:bldP spid="18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8" name="Rectangle 3"/>
          <p:cNvSpPr>
            <a:spLocks noGrp="1" noChangeArrowheads="1"/>
          </p:cNvSpPr>
          <p:nvPr>
            <p:ph type="title"/>
          </p:nvPr>
        </p:nvSpPr>
        <p:spPr>
          <a:xfrm>
            <a:off x="611560" y="544513"/>
            <a:ext cx="3206750" cy="592137"/>
          </a:xfrm>
        </p:spPr>
        <p:txBody>
          <a:bodyPr/>
          <a:lstStyle/>
          <a:p>
            <a:pPr algn="l" eaLnBrk="1" hangingPunct="1">
              <a:spcBef>
                <a:spcPct val="50000"/>
              </a:spcBef>
            </a:pPr>
            <a:r>
              <a:rPr kumimoji="1" lang="zh-CN" altLang="en-US" sz="2400" b="1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  <a:cs typeface="+mn-cs"/>
              </a:rPr>
              <a:t>二、</a:t>
            </a:r>
            <a:r>
              <a:rPr kumimoji="1" lang="en-US" altLang="en-US" sz="2400" b="1" dirty="0" err="1">
                <a:solidFill>
                  <a:srgbClr val="990033"/>
                </a:solidFill>
                <a:latin typeface="Times New Roman" pitchFamily="18" charset="0"/>
                <a:ea typeface="宋体" charset="-122"/>
                <a:cs typeface="+mn-cs"/>
              </a:rPr>
              <a:t>恒压降模型</a:t>
            </a:r>
            <a:endParaRPr kumimoji="1" lang="zh-CN" altLang="en-US" sz="2400" b="1" dirty="0">
              <a:solidFill>
                <a:srgbClr val="990033"/>
              </a:solidFill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26641" name="Text Box 8"/>
          <p:cNvSpPr txBox="1">
            <a:spLocks noChangeArrowheads="1"/>
          </p:cNvSpPr>
          <p:nvPr/>
        </p:nvSpPr>
        <p:spPr bwMode="auto">
          <a:xfrm>
            <a:off x="842963" y="1349375"/>
            <a:ext cx="76358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/>
              <a:t>        </a:t>
            </a:r>
            <a:r>
              <a:rPr lang="zh-CN" altLang="en-US" sz="2000" dirty="0"/>
              <a:t>把一个二极管等效成一个理想二极管和一个电压源的串联。</a:t>
            </a:r>
          </a:p>
        </p:txBody>
      </p:sp>
      <p:graphicFrame>
        <p:nvGraphicFramePr>
          <p:cNvPr id="2663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3957990"/>
              </p:ext>
            </p:extLst>
          </p:nvPr>
        </p:nvGraphicFramePr>
        <p:xfrm>
          <a:off x="2138363" y="2674938"/>
          <a:ext cx="5734050" cy="282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32" name="Visio" r:id="rId3" imgW="5734173" imgH="2829098" progId="Visio.Drawing.11">
                  <p:embed/>
                </p:oleObj>
              </mc:Choice>
              <mc:Fallback>
                <p:oleObj name="Visio" r:id="rId3" imgW="5734173" imgH="282909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8363" y="2674938"/>
                        <a:ext cx="5734050" cy="2828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057035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6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6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4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99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544513"/>
            <a:ext cx="3206750" cy="592137"/>
          </a:xfrm>
        </p:spPr>
        <p:txBody>
          <a:bodyPr/>
          <a:lstStyle/>
          <a:p>
            <a:pPr algn="l" eaLnBrk="1" hangingPunct="1">
              <a:spcBef>
                <a:spcPct val="50000"/>
              </a:spcBef>
            </a:pPr>
            <a:r>
              <a:rPr kumimoji="1" lang="zh-CN" altLang="en-US" sz="2400" b="1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  <a:cs typeface="+mn-cs"/>
              </a:rPr>
              <a:t>三、</a:t>
            </a:r>
            <a:r>
              <a:rPr kumimoji="1" lang="en-US" altLang="en-US" sz="2400" b="1" dirty="0" err="1">
                <a:solidFill>
                  <a:srgbClr val="990033"/>
                </a:solidFill>
                <a:latin typeface="Times New Roman" pitchFamily="18" charset="0"/>
                <a:ea typeface="宋体" charset="-122"/>
                <a:cs typeface="+mn-cs"/>
              </a:rPr>
              <a:t>小信号模型</a:t>
            </a:r>
            <a:endParaRPr kumimoji="1" lang="zh-CN" altLang="en-US" sz="2400" b="1" dirty="0">
              <a:solidFill>
                <a:srgbClr val="990033"/>
              </a:solidFill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27703" name="Text Box 6"/>
          <p:cNvSpPr txBox="1">
            <a:spLocks noChangeArrowheads="1"/>
          </p:cNvSpPr>
          <p:nvPr/>
        </p:nvSpPr>
        <p:spPr bwMode="auto">
          <a:xfrm>
            <a:off x="842963" y="1349375"/>
            <a:ext cx="76358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/>
              <a:t>        </a:t>
            </a:r>
            <a:r>
              <a:rPr lang="zh-CN" altLang="en-US" sz="2000" dirty="0"/>
              <a:t>采用叠加原理分析二极管电路。</a:t>
            </a:r>
          </a:p>
        </p:txBody>
      </p:sp>
      <p:graphicFrame>
        <p:nvGraphicFramePr>
          <p:cNvPr id="27693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5522932"/>
              </p:ext>
            </p:extLst>
          </p:nvPr>
        </p:nvGraphicFramePr>
        <p:xfrm>
          <a:off x="1133475" y="1897063"/>
          <a:ext cx="169164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772" name="Equation" r:id="rId3" imgW="939800" imgH="228600" progId="Equation.DSMT4">
                  <p:embed/>
                </p:oleObj>
              </mc:Choice>
              <mc:Fallback>
                <p:oleObj name="Equation" r:id="rId3" imgW="939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3475" y="1897063"/>
                        <a:ext cx="169164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94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7591736"/>
              </p:ext>
            </p:extLst>
          </p:nvPr>
        </p:nvGraphicFramePr>
        <p:xfrm>
          <a:off x="1087438" y="2568575"/>
          <a:ext cx="5554980" cy="434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773" name="Equation" r:id="rId5" imgW="3086100" imgH="241300" progId="Equation.DSMT4">
                  <p:embed/>
                </p:oleObj>
              </mc:Choice>
              <mc:Fallback>
                <p:oleObj name="Equation" r:id="rId5" imgW="30861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7438" y="2568575"/>
                        <a:ext cx="5554980" cy="4343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95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3453767"/>
              </p:ext>
            </p:extLst>
          </p:nvPr>
        </p:nvGraphicFramePr>
        <p:xfrm>
          <a:off x="1303277" y="3391859"/>
          <a:ext cx="1346200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774" name="Equation" r:id="rId7" imgW="749160" imgH="431640" progId="Equation.DSMT4">
                  <p:embed/>
                </p:oleObj>
              </mc:Choice>
              <mc:Fallback>
                <p:oleObj name="Equation" r:id="rId7" imgW="7491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3277" y="3391859"/>
                        <a:ext cx="1346200" cy="776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96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7821837"/>
              </p:ext>
            </p:extLst>
          </p:nvPr>
        </p:nvGraphicFramePr>
        <p:xfrm>
          <a:off x="1976377" y="4211614"/>
          <a:ext cx="4800600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775" name="Equation" r:id="rId9" imgW="2666880" imgH="482400" progId="Equation.DSMT4">
                  <p:embed/>
                </p:oleObj>
              </mc:Choice>
              <mc:Fallback>
                <p:oleObj name="Equation" r:id="rId9" imgW="26668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377" y="4211614"/>
                        <a:ext cx="4800600" cy="868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10" name="Rectangle 19"/>
          <p:cNvSpPr>
            <a:spLocks noChangeArrowheads="1"/>
          </p:cNvSpPr>
          <p:nvPr/>
        </p:nvSpPr>
        <p:spPr bwMode="auto">
          <a:xfrm>
            <a:off x="2322513" y="53419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7697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5726884"/>
              </p:ext>
            </p:extLst>
          </p:nvPr>
        </p:nvGraphicFramePr>
        <p:xfrm>
          <a:off x="1976377" y="5385407"/>
          <a:ext cx="1852613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776" name="Equation" r:id="rId11" imgW="1028520" imgH="431640" progId="Equation.DSMT4">
                  <p:embed/>
                </p:oleObj>
              </mc:Choice>
              <mc:Fallback>
                <p:oleObj name="Equation" r:id="rId11" imgW="10285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377" y="5385407"/>
                        <a:ext cx="1852613" cy="776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98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001671"/>
              </p:ext>
            </p:extLst>
          </p:nvPr>
        </p:nvGraphicFramePr>
        <p:xfrm>
          <a:off x="4660900" y="5341938"/>
          <a:ext cx="1777228" cy="863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777" name="Equation" r:id="rId13" imgW="888614" imgH="431613" progId="Equation.DSMT4">
                  <p:embed/>
                </p:oleObj>
              </mc:Choice>
              <mc:Fallback>
                <p:oleObj name="Equation" r:id="rId13" imgW="888614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0900" y="5341938"/>
                        <a:ext cx="1777228" cy="863226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6642418" y="558888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增量电阻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70080" y="349310"/>
            <a:ext cx="2057400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1134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7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7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7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7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7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7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03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92" name="Rectangle 3"/>
          <p:cNvSpPr>
            <a:spLocks noChangeArrowheads="1"/>
          </p:cNvSpPr>
          <p:nvPr/>
        </p:nvSpPr>
        <p:spPr bwMode="auto">
          <a:xfrm>
            <a:off x="0" y="28289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693" name="Rectangle 4"/>
          <p:cNvSpPr>
            <a:spLocks noChangeArrowheads="1"/>
          </p:cNvSpPr>
          <p:nvPr/>
        </p:nvSpPr>
        <p:spPr bwMode="auto">
          <a:xfrm>
            <a:off x="0" y="23241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694" name="Rectangle 5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695" name="Rectangle 7"/>
          <p:cNvSpPr>
            <a:spLocks noChangeArrowheads="1"/>
          </p:cNvSpPr>
          <p:nvPr/>
        </p:nvSpPr>
        <p:spPr bwMode="auto">
          <a:xfrm>
            <a:off x="0" y="27098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696" name="Rectangle 8"/>
          <p:cNvSpPr>
            <a:spLocks noChangeArrowheads="1"/>
          </p:cNvSpPr>
          <p:nvPr/>
        </p:nvSpPr>
        <p:spPr bwMode="auto">
          <a:xfrm>
            <a:off x="0" y="26479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697" name="Rectangle 9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698" name="Rectangle 11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699" name="Rectangle 13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700" name="Rectangle 15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701" name="Rectangle 17"/>
          <p:cNvSpPr>
            <a:spLocks noChangeArrowheads="1"/>
          </p:cNvSpPr>
          <p:nvPr/>
        </p:nvSpPr>
        <p:spPr bwMode="auto">
          <a:xfrm>
            <a:off x="2322513" y="53419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702" name="Rectangle 19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703" name="Rectangle 23"/>
          <p:cNvSpPr>
            <a:spLocks noChangeArrowheads="1"/>
          </p:cNvSpPr>
          <p:nvPr/>
        </p:nvSpPr>
        <p:spPr bwMode="auto">
          <a:xfrm>
            <a:off x="0" y="15382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620688"/>
            <a:ext cx="5410200" cy="58578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232" y="1909763"/>
            <a:ext cx="2038350" cy="2800350"/>
          </a:xfrm>
          <a:prstGeom prst="rect">
            <a:avLst/>
          </a:prstGeom>
        </p:spPr>
      </p:pic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6476603" y="4735513"/>
            <a:ext cx="26642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/>
              <a:t>        </a:t>
            </a:r>
            <a:r>
              <a:rPr lang="zh-CN" altLang="en-US" sz="2000" dirty="0" smtClean="0"/>
              <a:t>小信号等效电路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210744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7" name="Rectangle 5"/>
          <p:cNvSpPr>
            <a:spLocks noChangeArrowheads="1"/>
          </p:cNvSpPr>
          <p:nvPr/>
        </p:nvSpPr>
        <p:spPr bwMode="auto">
          <a:xfrm>
            <a:off x="0" y="2644775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38" name="Rectangle 7"/>
          <p:cNvSpPr>
            <a:spLocks noChangeArrowheads="1"/>
          </p:cNvSpPr>
          <p:nvPr/>
        </p:nvSpPr>
        <p:spPr bwMode="auto">
          <a:xfrm>
            <a:off x="0" y="21399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39" name="Rectangle 9"/>
          <p:cNvSpPr>
            <a:spLocks noChangeArrowheads="1"/>
          </p:cNvSpPr>
          <p:nvPr/>
        </p:nvSpPr>
        <p:spPr bwMode="auto">
          <a:xfrm>
            <a:off x="0" y="3125788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40" name="Rectangle 11"/>
          <p:cNvSpPr>
            <a:spLocks noChangeArrowheads="1"/>
          </p:cNvSpPr>
          <p:nvPr/>
        </p:nvSpPr>
        <p:spPr bwMode="auto">
          <a:xfrm>
            <a:off x="0" y="3135313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41" name="Rectangle 14"/>
          <p:cNvSpPr>
            <a:spLocks noChangeArrowheads="1"/>
          </p:cNvSpPr>
          <p:nvPr/>
        </p:nvSpPr>
        <p:spPr bwMode="auto">
          <a:xfrm>
            <a:off x="852064" y="1674247"/>
            <a:ext cx="5459828" cy="133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indent="266700">
              <a:lnSpc>
                <a:spcPct val="150000"/>
              </a:lnSpc>
              <a:tabLst>
                <a:tab pos="2952750" algn="l"/>
              </a:tabLst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当击穿电压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小于 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5 V 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时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，通常是</a:t>
            </a: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齐纳效应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；</a:t>
            </a:r>
          </a:p>
          <a:p>
            <a:pPr indent="266700">
              <a:lnSpc>
                <a:spcPct val="150000"/>
              </a:lnSpc>
              <a:tabLst>
                <a:tab pos="2952750" algn="l"/>
              </a:tabLst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当击穿电压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大于 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7 V 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时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，通常是</a:t>
            </a: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雪崩效应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。</a:t>
            </a:r>
          </a:p>
          <a:p>
            <a:pPr indent="266700">
              <a:lnSpc>
                <a:spcPct val="150000"/>
              </a:lnSpc>
              <a:tabLst>
                <a:tab pos="2952750" algn="l"/>
              </a:tabLst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当击穿电压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在 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～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7 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V 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时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，则两种情况兼而有之。 </a:t>
            </a:r>
          </a:p>
        </p:txBody>
      </p:sp>
      <p:graphicFrame>
        <p:nvGraphicFramePr>
          <p:cNvPr id="3073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9811893"/>
              </p:ext>
            </p:extLst>
          </p:nvPr>
        </p:nvGraphicFramePr>
        <p:xfrm>
          <a:off x="3717925" y="3706813"/>
          <a:ext cx="1628775" cy="202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8" name="Visio" r:id="rId3" imgW="961199" imgH="1213395" progId="Visio.Drawing.11">
                  <p:embed/>
                </p:oleObj>
              </mc:Choice>
              <mc:Fallback>
                <p:oleObj name="Visio" r:id="rId3" imgW="961199" imgH="121339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7925" y="3706813"/>
                        <a:ext cx="1628775" cy="2025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65"/>
          <p:cNvSpPr txBox="1">
            <a:spLocks noChangeArrowheads="1"/>
          </p:cNvSpPr>
          <p:nvPr/>
        </p:nvSpPr>
        <p:spPr bwMode="auto">
          <a:xfrm>
            <a:off x="388938" y="620688"/>
            <a:ext cx="82883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0" hangingPunct="0"/>
            <a:r>
              <a:rPr kumimoji="1" lang="en-US" altLang="zh-CN" sz="2400" b="1" dirty="0" smtClean="0">
                <a:solidFill>
                  <a:srgbClr val="990033"/>
                </a:solidFill>
                <a:latin typeface="Times New Roman" pitchFamily="18" charset="0"/>
              </a:rPr>
              <a:t>6.1.3 </a:t>
            </a:r>
            <a:r>
              <a:rPr kumimoji="1" lang="zh-CN" altLang="en-US" sz="2400" b="1" dirty="0" smtClean="0">
                <a:solidFill>
                  <a:srgbClr val="990033"/>
                </a:solidFill>
                <a:latin typeface="Times New Roman" pitchFamily="18" charset="0"/>
              </a:rPr>
              <a:t>齐纳二极管</a:t>
            </a:r>
            <a:r>
              <a:rPr kumimoji="1" lang="zh-CN" altLang="en-US" sz="2400" b="1" dirty="0" smtClean="0">
                <a:solidFill>
                  <a:srgbClr val="990033"/>
                </a:solidFill>
                <a:latin typeface="Times New Roman" pitchFamily="18" charset="0"/>
              </a:rPr>
              <a:t>及其应用</a:t>
            </a:r>
            <a:endParaRPr kumimoji="1" lang="en-US" altLang="zh-CN" sz="2400" b="1" dirty="0">
              <a:solidFill>
                <a:srgbClr val="990033"/>
              </a:solidFill>
              <a:latin typeface="Times New Roman" pitchFamily="18" charset="0"/>
            </a:endParaRP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501650" y="1190516"/>
            <a:ext cx="74612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r>
              <a:rPr lang="zh-CN" altLang="en-US" dirty="0">
                <a:solidFill>
                  <a:srgbClr val="990033"/>
                </a:solidFill>
              </a:rPr>
              <a:t>一、工作原理</a:t>
            </a:r>
          </a:p>
        </p:txBody>
      </p:sp>
      <p:sp>
        <p:nvSpPr>
          <p:cNvPr id="2" name="矩形 1"/>
          <p:cNvSpPr/>
          <p:nvPr/>
        </p:nvSpPr>
        <p:spPr>
          <a:xfrm>
            <a:off x="3923928" y="558924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电路符号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15750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07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07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07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0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4"/>
          <p:cNvSpPr>
            <a:spLocks noChangeArrowheads="1"/>
          </p:cNvSpPr>
          <p:nvPr/>
        </p:nvSpPr>
        <p:spPr bwMode="auto">
          <a:xfrm>
            <a:off x="0" y="28289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6322" name="Rectangle 6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6323" name="Rectangle 7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6324" name="Rectangle 9"/>
          <p:cNvSpPr>
            <a:spLocks noChangeArrowheads="1"/>
          </p:cNvSpPr>
          <p:nvPr/>
        </p:nvSpPr>
        <p:spPr bwMode="auto">
          <a:xfrm>
            <a:off x="0" y="29813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6326" name="Rectangle 12"/>
          <p:cNvSpPr>
            <a:spLocks noGrp="1" noChangeArrowheads="1"/>
          </p:cNvSpPr>
          <p:nvPr>
            <p:ph type="title"/>
          </p:nvPr>
        </p:nvSpPr>
        <p:spPr>
          <a:xfrm>
            <a:off x="619125" y="603250"/>
            <a:ext cx="2440707" cy="592138"/>
          </a:xfrm>
        </p:spPr>
        <p:txBody>
          <a:bodyPr/>
          <a:lstStyle/>
          <a:p>
            <a:pPr algn="l"/>
            <a:r>
              <a:rPr kumimoji="1" lang="zh-CN" altLang="en-US" sz="2400" b="1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  <a:cs typeface="+mn-cs"/>
              </a:rPr>
              <a:t>二、</a:t>
            </a:r>
            <a:r>
              <a:rPr kumimoji="1" lang="en-US" altLang="en-US" sz="2400" b="1" dirty="0" err="1" smtClean="0">
                <a:solidFill>
                  <a:srgbClr val="990033"/>
                </a:solidFill>
                <a:latin typeface="Times New Roman" pitchFamily="18" charset="0"/>
                <a:ea typeface="宋体" charset="-122"/>
                <a:cs typeface="+mn-cs"/>
              </a:rPr>
              <a:t>伏安特性</a:t>
            </a:r>
            <a:endParaRPr kumimoji="1" lang="zh-CN" altLang="en-US" sz="2400" b="1" dirty="0">
              <a:solidFill>
                <a:srgbClr val="990033"/>
              </a:solidFill>
              <a:latin typeface="Times New Roman" pitchFamily="18" charset="0"/>
              <a:ea typeface="宋体" charset="-122"/>
              <a:cs typeface="+mn-cs"/>
            </a:endParaRPr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396" y="1556792"/>
            <a:ext cx="4393207" cy="454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07468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491" y="1569159"/>
            <a:ext cx="3404042" cy="354436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295" y="982016"/>
            <a:ext cx="1313062" cy="2165155"/>
          </a:xfrm>
          <a:prstGeom prst="rect">
            <a:avLst/>
          </a:prstGeom>
        </p:spPr>
      </p:pic>
      <p:sp>
        <p:nvSpPr>
          <p:cNvPr id="32788" name="AutoShape 5"/>
          <p:cNvSpPr>
            <a:spLocks/>
          </p:cNvSpPr>
          <p:nvPr/>
        </p:nvSpPr>
        <p:spPr bwMode="auto">
          <a:xfrm>
            <a:off x="5875338" y="4252480"/>
            <a:ext cx="2819400" cy="442913"/>
          </a:xfrm>
          <a:prstGeom prst="borderCallout1">
            <a:avLst>
              <a:gd name="adj1" fmla="val 25806"/>
              <a:gd name="adj2" fmla="val -2704"/>
              <a:gd name="adj3" fmla="val -391826"/>
              <a:gd name="adj4" fmla="val -25273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 sz="2000" dirty="0">
                <a:latin typeface="Times New Roman" panose="02020603050405020304" pitchFamily="18" charset="0"/>
                <a:cs typeface="Times New Roman" pitchFamily="18" charset="0"/>
              </a:rPr>
              <a:t>进入稳压区的最小电流</a:t>
            </a:r>
          </a:p>
        </p:txBody>
      </p:sp>
      <p:sp>
        <p:nvSpPr>
          <p:cNvPr id="32789" name="AutoShape 6"/>
          <p:cNvSpPr>
            <a:spLocks/>
          </p:cNvSpPr>
          <p:nvPr/>
        </p:nvSpPr>
        <p:spPr bwMode="auto">
          <a:xfrm>
            <a:off x="5875338" y="4785880"/>
            <a:ext cx="2867025" cy="476250"/>
          </a:xfrm>
          <a:prstGeom prst="borderCallout1">
            <a:avLst>
              <a:gd name="adj1" fmla="val 24000"/>
              <a:gd name="adj2" fmla="val -2657"/>
              <a:gd name="adj3" fmla="val -31054"/>
              <a:gd name="adj4" fmla="val -25943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 sz="2000" dirty="0">
                <a:latin typeface="Times New Roman" panose="02020603050405020304" pitchFamily="18" charset="0"/>
                <a:cs typeface="Times New Roman" pitchFamily="18" charset="0"/>
              </a:rPr>
              <a:t>不至于损坏的最大电流</a:t>
            </a:r>
          </a:p>
        </p:txBody>
      </p:sp>
      <p:sp>
        <p:nvSpPr>
          <p:cNvPr id="32790" name="Text Box 9"/>
          <p:cNvSpPr txBox="1">
            <a:spLocks noChangeArrowheads="1"/>
          </p:cNvSpPr>
          <p:nvPr/>
        </p:nvSpPr>
        <p:spPr bwMode="auto">
          <a:xfrm>
            <a:off x="467544" y="2144305"/>
            <a:ext cx="1704181" cy="400110"/>
          </a:xfrm>
          <a:prstGeom prst="rect">
            <a:avLst/>
          </a:prstGeom>
          <a:solidFill>
            <a:srgbClr val="FFFFCC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稳定电压 </a:t>
            </a:r>
            <a:r>
              <a:rPr lang="en-US" altLang="zh-CN" sz="2000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CN" sz="2000" i="1" baseline="-25000" dirty="0"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32791" name="Text Box 10"/>
          <p:cNvSpPr txBox="1">
            <a:spLocks noChangeArrowheads="1"/>
          </p:cNvSpPr>
          <p:nvPr/>
        </p:nvSpPr>
        <p:spPr bwMode="auto">
          <a:xfrm>
            <a:off x="494531" y="5189130"/>
            <a:ext cx="2783607" cy="400110"/>
          </a:xfrm>
          <a:prstGeom prst="rect">
            <a:avLst/>
          </a:prstGeom>
          <a:solidFill>
            <a:srgbClr val="FFFFCC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最大功耗 </a:t>
            </a:r>
            <a:r>
              <a:rPr lang="en-US" altLang="zh-CN" sz="2000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CN" sz="2000" i="1" baseline="-25000" dirty="0" smtClean="0">
                <a:latin typeface="Times New Roman" pitchFamily="18" charset="0"/>
                <a:cs typeface="Times New Roman" pitchFamily="18" charset="0"/>
              </a:rPr>
              <a:t>ZM 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＝ </a:t>
            </a:r>
            <a:r>
              <a:rPr lang="en-US" altLang="zh-CN" sz="2000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000" baseline="-25000" dirty="0">
                <a:latin typeface="Times New Roman" pitchFamily="18" charset="0"/>
                <a:cs typeface="Times New Roman" pitchFamily="18" charset="0"/>
              </a:rPr>
              <a:t>max </a:t>
            </a:r>
            <a:r>
              <a:rPr lang="en-US" altLang="zh-CN" sz="2000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CN" sz="2000" i="1" baseline="-25000" dirty="0"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32792" name="Text Box 11"/>
          <p:cNvSpPr txBox="1">
            <a:spLocks noChangeArrowheads="1"/>
          </p:cNvSpPr>
          <p:nvPr/>
        </p:nvSpPr>
        <p:spPr bwMode="auto">
          <a:xfrm>
            <a:off x="480244" y="4476342"/>
            <a:ext cx="2797894" cy="400110"/>
          </a:xfrm>
          <a:prstGeom prst="rect">
            <a:avLst/>
          </a:prstGeom>
          <a:solidFill>
            <a:srgbClr val="FFFFCC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动态电阻 </a:t>
            </a:r>
            <a:r>
              <a:rPr lang="en-US" altLang="zh-CN" sz="2000" i="1" dirty="0" err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000" i="1" baseline="-25000" dirty="0" err="1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＝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Δ</a:t>
            </a:r>
            <a:r>
              <a:rPr lang="en-US" altLang="zh-CN" sz="2000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CN" sz="2000" i="1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/Δ</a:t>
            </a:r>
            <a:r>
              <a:rPr lang="en-US" altLang="zh-CN" sz="2000" i="1" dirty="0">
                <a:latin typeface="Times New Roman" pitchFamily="18" charset="0"/>
                <a:cs typeface="Times New Roman" pitchFamily="18" charset="0"/>
              </a:rPr>
              <a:t>I</a:t>
            </a:r>
            <a:endParaRPr lang="en-US" altLang="zh-C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797" name="Text Box 17"/>
          <p:cNvSpPr txBox="1">
            <a:spLocks noChangeArrowheads="1"/>
          </p:cNvSpPr>
          <p:nvPr/>
        </p:nvSpPr>
        <p:spPr bwMode="auto">
          <a:xfrm>
            <a:off x="555873" y="604838"/>
            <a:ext cx="44481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kumimoji="1" lang="zh-CN" altLang="en-US" sz="2400" b="1" dirty="0" smtClean="0">
                <a:solidFill>
                  <a:srgbClr val="990033"/>
                </a:solidFill>
                <a:latin typeface="Times New Roman" pitchFamily="18" charset="0"/>
              </a:rPr>
              <a:t>三、齐纳二极管</a:t>
            </a:r>
            <a:r>
              <a:rPr kumimoji="1" lang="zh-CN" altLang="en-US" sz="2400" b="1" dirty="0">
                <a:solidFill>
                  <a:srgbClr val="990033"/>
                </a:solidFill>
                <a:latin typeface="Times New Roman" pitchFamily="18" charset="0"/>
              </a:rPr>
              <a:t>的主要参数</a:t>
            </a:r>
          </a:p>
        </p:txBody>
      </p:sp>
      <p:sp>
        <p:nvSpPr>
          <p:cNvPr id="32798" name="Text Box 18"/>
          <p:cNvSpPr txBox="1">
            <a:spLocks noChangeArrowheads="1"/>
          </p:cNvSpPr>
          <p:nvPr/>
        </p:nvSpPr>
        <p:spPr bwMode="auto">
          <a:xfrm>
            <a:off x="480244" y="3725455"/>
            <a:ext cx="2221830" cy="400110"/>
          </a:xfrm>
          <a:prstGeom prst="rect">
            <a:avLst/>
          </a:prstGeom>
          <a:solidFill>
            <a:srgbClr val="FFFFCC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最小稳定电流 </a:t>
            </a:r>
            <a:r>
              <a:rPr lang="en-US" altLang="zh-CN" sz="20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000" baseline="-25000" dirty="0" err="1" smtClean="0">
                <a:latin typeface="Times New Roman" pitchFamily="18" charset="0"/>
                <a:cs typeface="Times New Roman" pitchFamily="18" charset="0"/>
              </a:rPr>
              <a:t>min</a:t>
            </a:r>
            <a:endParaRPr lang="en-US" altLang="zh-CN" sz="20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799" name="Text Box 19"/>
          <p:cNvSpPr txBox="1">
            <a:spLocks noChangeArrowheads="1"/>
          </p:cNvSpPr>
          <p:nvPr/>
        </p:nvSpPr>
        <p:spPr bwMode="auto">
          <a:xfrm>
            <a:off x="467544" y="2941230"/>
            <a:ext cx="2234530" cy="400110"/>
          </a:xfrm>
          <a:prstGeom prst="rect">
            <a:avLst/>
          </a:prstGeom>
          <a:solidFill>
            <a:srgbClr val="FFFFCC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最大稳定电流 </a:t>
            </a:r>
            <a:r>
              <a:rPr lang="en-US" altLang="zh-CN" sz="2000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000" baseline="-25000" dirty="0">
                <a:latin typeface="Times New Roman" pitchFamily="18" charset="0"/>
                <a:cs typeface="Times New Roman" pitchFamily="18" charset="0"/>
              </a:rPr>
              <a:t>max</a:t>
            </a:r>
          </a:p>
        </p:txBody>
      </p:sp>
      <p:sp>
        <p:nvSpPr>
          <p:cNvPr id="6" name="矩形 5"/>
          <p:cNvSpPr/>
          <p:nvPr/>
        </p:nvSpPr>
        <p:spPr>
          <a:xfrm>
            <a:off x="6776191" y="3197426"/>
            <a:ext cx="23118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齐纳二极管等效模型</a:t>
            </a:r>
            <a:endParaRPr lang="zh-CN" altLang="en-US" b="1" dirty="0"/>
          </a:p>
        </p:txBody>
      </p:sp>
      <p:sp>
        <p:nvSpPr>
          <p:cNvPr id="7" name="矩形 6"/>
          <p:cNvSpPr/>
          <p:nvPr/>
        </p:nvSpPr>
        <p:spPr>
          <a:xfrm>
            <a:off x="4737613" y="4320047"/>
            <a:ext cx="44916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1400" baseline="-25000" dirty="0">
                <a:latin typeface="Times New Roman" pitchFamily="18" charset="0"/>
                <a:cs typeface="Times New Roman" pitchFamily="18" charset="0"/>
              </a:rPr>
              <a:t>max</a:t>
            </a:r>
          </a:p>
        </p:txBody>
      </p:sp>
      <p:sp>
        <p:nvSpPr>
          <p:cNvPr id="8" name="矩形 7"/>
          <p:cNvSpPr/>
          <p:nvPr/>
        </p:nvSpPr>
        <p:spPr>
          <a:xfrm>
            <a:off x="4716016" y="2463645"/>
            <a:ext cx="4299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1400" baseline="-25000" dirty="0" err="1">
                <a:latin typeface="Times New Roman" pitchFamily="18" charset="0"/>
                <a:cs typeface="Times New Roman" pitchFamily="18" charset="0"/>
              </a:rPr>
              <a:t>min</a:t>
            </a:r>
            <a:endParaRPr lang="en-US" altLang="zh-CN" sz="1400" baseline="-25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1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2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2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2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2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2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2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2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88" grpId="0" animBg="1"/>
      <p:bldP spid="32789" grpId="0" animBg="1"/>
      <p:bldP spid="32790" grpId="0" animBg="1"/>
      <p:bldP spid="32791" grpId="0" animBg="1"/>
      <p:bldP spid="32792" grpId="0" animBg="1"/>
      <p:bldP spid="32798" grpId="0" animBg="1"/>
      <p:bldP spid="32799" grpId="0" animBg="1"/>
      <p:bldP spid="6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29" name="Text Box 12"/>
          <p:cNvSpPr txBox="1">
            <a:spLocks noChangeArrowheads="1"/>
          </p:cNvSpPr>
          <p:nvPr/>
        </p:nvSpPr>
        <p:spPr bwMode="auto">
          <a:xfrm>
            <a:off x="699889" y="548680"/>
            <a:ext cx="44481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kumimoji="1" lang="zh-CN" altLang="en-US" sz="2400" b="1" dirty="0" smtClean="0">
                <a:solidFill>
                  <a:srgbClr val="990033"/>
                </a:solidFill>
                <a:latin typeface="Times New Roman" pitchFamily="18" charset="0"/>
              </a:rPr>
              <a:t>四、齐纳二极管</a:t>
            </a:r>
            <a:r>
              <a:rPr kumimoji="1" lang="zh-CN" altLang="en-US" sz="2400" b="1" dirty="0">
                <a:solidFill>
                  <a:srgbClr val="990033"/>
                </a:solidFill>
                <a:latin typeface="Times New Roman" pitchFamily="18" charset="0"/>
              </a:rPr>
              <a:t>的应用电路</a:t>
            </a:r>
          </a:p>
        </p:txBody>
      </p:sp>
      <p:graphicFrame>
        <p:nvGraphicFramePr>
          <p:cNvPr id="33824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1090293"/>
              </p:ext>
            </p:extLst>
          </p:nvPr>
        </p:nvGraphicFramePr>
        <p:xfrm>
          <a:off x="2600325" y="2189163"/>
          <a:ext cx="3257550" cy="20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33" name="Visio" r:id="rId3" imgW="3257485" imgH="2095500" progId="Visio.Drawing.11">
                  <p:embed/>
                </p:oleObj>
              </mc:Choice>
              <mc:Fallback>
                <p:oleObj name="Visio" r:id="rId3" imgW="3257485" imgH="209550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0325" y="2189163"/>
                        <a:ext cx="3257550" cy="209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4487993"/>
              </p:ext>
            </p:extLst>
          </p:nvPr>
        </p:nvGraphicFramePr>
        <p:xfrm>
          <a:off x="1367978" y="5136409"/>
          <a:ext cx="2144712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34" name="Equation" r:id="rId5" imgW="1193760" imgH="228600" progId="Equation.DSMT4">
                  <p:embed/>
                </p:oleObj>
              </mc:Choice>
              <mc:Fallback>
                <p:oleObj name="Equation" r:id="rId5" imgW="1193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7978" y="5136409"/>
                        <a:ext cx="2144712" cy="41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6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9474032"/>
              </p:ext>
            </p:extLst>
          </p:nvPr>
        </p:nvGraphicFramePr>
        <p:xfrm>
          <a:off x="5378970" y="4242331"/>
          <a:ext cx="2125663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35" name="Equation" r:id="rId7" imgW="1180800" imgH="431640" progId="Equation.DSMT4">
                  <p:embed/>
                </p:oleObj>
              </mc:Choice>
              <mc:Fallback>
                <p:oleObj name="Equation" r:id="rId7" imgW="1180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970" y="4242331"/>
                        <a:ext cx="2125663" cy="777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7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8930606"/>
              </p:ext>
            </p:extLst>
          </p:nvPr>
        </p:nvGraphicFramePr>
        <p:xfrm>
          <a:off x="5378970" y="5016096"/>
          <a:ext cx="2146300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36" name="Equation" r:id="rId9" imgW="1193760" imgH="431640" progId="Equation.DSMT4">
                  <p:embed/>
                </p:oleObj>
              </mc:Choice>
              <mc:Fallback>
                <p:oleObj name="Equation" r:id="rId9" imgW="1193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970" y="5016096"/>
                        <a:ext cx="2146300" cy="776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8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975780"/>
              </p:ext>
            </p:extLst>
          </p:nvPr>
        </p:nvGraphicFramePr>
        <p:xfrm>
          <a:off x="5432945" y="5808184"/>
          <a:ext cx="2811463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37" name="Equation" r:id="rId11" imgW="1562040" imgH="431640" progId="Equation.DSMT4">
                  <p:embed/>
                </p:oleObj>
              </mc:Choice>
              <mc:Fallback>
                <p:oleObj name="Equation" r:id="rId11" imgW="15620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2945" y="5808184"/>
                        <a:ext cx="2811463" cy="777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3133338"/>
              </p:ext>
            </p:extLst>
          </p:nvPr>
        </p:nvGraphicFramePr>
        <p:xfrm>
          <a:off x="1141413" y="5821363"/>
          <a:ext cx="2806700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38" name="Equation" r:id="rId13" imgW="1562040" imgH="431640" progId="Equation.DSMT4">
                  <p:embed/>
                </p:oleObj>
              </mc:Choice>
              <mc:Fallback>
                <p:oleObj name="Equation" r:id="rId13" imgW="15620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1413" y="5821363"/>
                        <a:ext cx="2806700" cy="776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5239888"/>
              </p:ext>
            </p:extLst>
          </p:nvPr>
        </p:nvGraphicFramePr>
        <p:xfrm>
          <a:off x="1463674" y="4291087"/>
          <a:ext cx="1665288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39" name="Equation" r:id="rId15" imgW="927000" imgH="228600" progId="Equation.DSMT4">
                  <p:embed/>
                </p:oleObj>
              </mc:Choice>
              <mc:Fallback>
                <p:oleObj name="Equation" r:id="rId15" imgW="927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3674" y="4291087"/>
                        <a:ext cx="1665288" cy="411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467544" y="984605"/>
            <a:ext cx="8351837" cy="9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若</a:t>
            </a: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通过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稳压</a:t>
            </a: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管的电流太小则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不能稳压，太</a:t>
            </a: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大则会因功耗过大而损坏，因而稳压管电路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中必须有</a:t>
            </a: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限制稳压管电流的</a:t>
            </a:r>
            <a:r>
              <a:rPr lang="zh-CN" alt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限流电阻</a:t>
            </a: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！</a:t>
            </a:r>
          </a:p>
        </p:txBody>
      </p:sp>
      <p:sp>
        <p:nvSpPr>
          <p:cNvPr id="2" name="椭圆 1"/>
          <p:cNvSpPr/>
          <p:nvPr/>
        </p:nvSpPr>
        <p:spPr>
          <a:xfrm>
            <a:off x="3620260" y="2251990"/>
            <a:ext cx="576064" cy="576007"/>
          </a:xfrm>
          <a:prstGeom prst="ellipse">
            <a:avLst/>
          </a:prstGeom>
          <a:noFill/>
          <a:ln w="12700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箭头连接符 3"/>
          <p:cNvCxnSpPr/>
          <p:nvPr/>
        </p:nvCxnSpPr>
        <p:spPr>
          <a:xfrm flipH="1">
            <a:off x="4159270" y="1881955"/>
            <a:ext cx="1564858" cy="4159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2575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3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3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3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33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33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6" name="Text Box 3"/>
          <p:cNvSpPr txBox="1">
            <a:spLocks noChangeArrowheads="1"/>
          </p:cNvSpPr>
          <p:nvPr/>
        </p:nvSpPr>
        <p:spPr bwMode="auto">
          <a:xfrm>
            <a:off x="623888" y="1239143"/>
            <a:ext cx="6553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solidFill>
                  <a:srgbClr val="990033"/>
                </a:solidFill>
                <a:latin typeface="Times New Roman" pitchFamily="18" charset="0"/>
              </a:rPr>
              <a:t>二极管电路分析方法</a:t>
            </a:r>
          </a:p>
        </p:txBody>
      </p:sp>
      <p:graphicFrame>
        <p:nvGraphicFramePr>
          <p:cNvPr id="23581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2774134"/>
              </p:ext>
            </p:extLst>
          </p:nvPr>
        </p:nvGraphicFramePr>
        <p:xfrm>
          <a:off x="971600" y="2915668"/>
          <a:ext cx="2544762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09" name="Visio" r:id="rId3" imgW="3028798" imgH="1619160" progId="Visio.Drawing.11">
                  <p:embed/>
                </p:oleObj>
              </mc:Choice>
              <mc:Fallback>
                <p:oleObj name="Visio" r:id="rId3" imgW="3028798" imgH="1619160" progId="Visio.Drawing.11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2915668"/>
                        <a:ext cx="2544762" cy="1358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9279916"/>
              </p:ext>
            </p:extLst>
          </p:nvPr>
        </p:nvGraphicFramePr>
        <p:xfrm>
          <a:off x="4125913" y="2865438"/>
          <a:ext cx="4230687" cy="286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10" name="Visio" r:id="rId5" imgW="4230360" imgH="2867760" progId="Visio.Drawing.11">
                  <p:embed/>
                </p:oleObj>
              </mc:Choice>
              <mc:Fallback>
                <p:oleObj name="Visio" r:id="rId5" imgW="4230360" imgH="2867760" progId="Visio.Drawing.11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5913" y="2865438"/>
                        <a:ext cx="4230687" cy="2865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3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7449971"/>
              </p:ext>
            </p:extLst>
          </p:nvPr>
        </p:nvGraphicFramePr>
        <p:xfrm>
          <a:off x="5836178" y="2587625"/>
          <a:ext cx="1651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11" name="Equation" r:id="rId7" imgW="825480" imgH="241200" progId="Equation.DSMT4">
                  <p:embed/>
                </p:oleObj>
              </mc:Choice>
              <mc:Fallback>
                <p:oleObj name="Equation" r:id="rId7" imgW="825480" imgH="241200" progId="Equation.DSMT4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6178" y="2587625"/>
                        <a:ext cx="1651000" cy="482600"/>
                      </a:xfrm>
                      <a:prstGeom prst="rect">
                        <a:avLst/>
                      </a:prstGeom>
                      <a:solidFill>
                        <a:srgbClr val="3399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4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6972790"/>
              </p:ext>
            </p:extLst>
          </p:nvPr>
        </p:nvGraphicFramePr>
        <p:xfrm>
          <a:off x="6700274" y="5877272"/>
          <a:ext cx="1904174" cy="457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12" name="Equation" r:id="rId9" imgW="952087" imgH="228501" progId="Equation.DSMT4">
                  <p:embed/>
                </p:oleObj>
              </mc:Choice>
              <mc:Fallback>
                <p:oleObj name="Equation" r:id="rId9" imgW="952087" imgH="228501" progId="Equation.DSMT4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0274" y="5877272"/>
                        <a:ext cx="1904174" cy="457002"/>
                      </a:xfrm>
                      <a:prstGeom prst="rect">
                        <a:avLst/>
                      </a:prstGeom>
                      <a:solidFill>
                        <a:srgbClr val="3399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64"/>
          <p:cNvSpPr>
            <a:spLocks noChangeArrowheads="1"/>
          </p:cNvSpPr>
          <p:nvPr/>
        </p:nvSpPr>
        <p:spPr bwMode="auto">
          <a:xfrm>
            <a:off x="666750" y="409575"/>
            <a:ext cx="7515225" cy="519113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kumimoji="1" lang="en-US" altLang="zh-CN" sz="2800" b="1" dirty="0" smtClean="0">
                <a:solidFill>
                  <a:srgbClr val="000000"/>
                </a:solidFill>
                <a:latin typeface="Times New Roman" pitchFamily="18" charset="0"/>
              </a:rPr>
              <a:t>6.2 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Times New Roman" pitchFamily="18" charset="0"/>
              </a:rPr>
              <a:t>二极管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itchFamily="18" charset="0"/>
              </a:rPr>
              <a:t>应用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Times New Roman" pitchFamily="18" charset="0"/>
              </a:rPr>
              <a:t>电路</a:t>
            </a:r>
            <a:endParaRPr kumimoji="1" lang="zh-CN" altLang="en-US" sz="28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677063" y="1836850"/>
            <a:ext cx="365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 smtClean="0">
                <a:solidFill>
                  <a:srgbClr val="3333CC"/>
                </a:solidFill>
                <a:latin typeface="Times New Roman" pitchFamily="18" charset="0"/>
              </a:rPr>
              <a:t>1</a:t>
            </a:r>
            <a:r>
              <a:rPr kumimoji="1" lang="zh-CN" altLang="en-US" sz="2400" b="1" dirty="0" smtClean="0">
                <a:solidFill>
                  <a:srgbClr val="3333CC"/>
                </a:solidFill>
                <a:latin typeface="Times New Roman" pitchFamily="18" charset="0"/>
              </a:rPr>
              <a:t>、图解</a:t>
            </a:r>
            <a:r>
              <a:rPr kumimoji="1" lang="zh-CN" altLang="en-US" sz="2400" b="1" dirty="0">
                <a:solidFill>
                  <a:srgbClr val="3333CC"/>
                </a:solidFill>
                <a:latin typeface="Times New Roman" pitchFamily="18" charset="0"/>
              </a:rPr>
              <a:t>分析法</a:t>
            </a: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3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3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3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86" grpId="0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22" name="Rectangle 4"/>
          <p:cNvSpPr>
            <a:spLocks noGrp="1" noChangeArrowheads="1"/>
          </p:cNvSpPr>
          <p:nvPr>
            <p:ph type="title"/>
          </p:nvPr>
        </p:nvSpPr>
        <p:spPr>
          <a:xfrm>
            <a:off x="777875" y="490538"/>
            <a:ext cx="3816350" cy="592137"/>
          </a:xfrm>
        </p:spPr>
        <p:txBody>
          <a:bodyPr/>
          <a:lstStyle/>
          <a:p>
            <a:pPr algn="l" eaLnBrk="1" hangingPunct="1"/>
            <a:r>
              <a:rPr kumimoji="1" lang="en-US" altLang="zh-CN" sz="2400" b="1" dirty="0">
                <a:solidFill>
                  <a:srgbClr val="3333CC"/>
                </a:solidFill>
                <a:latin typeface="Times New Roman" pitchFamily="18" charset="0"/>
                <a:ea typeface="宋体" charset="-122"/>
                <a:cs typeface="+mn-cs"/>
              </a:rPr>
              <a:t>2</a:t>
            </a:r>
            <a:r>
              <a:rPr kumimoji="1" lang="zh-CN" altLang="en-US" sz="2400" b="1" dirty="0">
                <a:solidFill>
                  <a:srgbClr val="3333CC"/>
                </a:solidFill>
                <a:latin typeface="Times New Roman" pitchFamily="18" charset="0"/>
                <a:ea typeface="宋体" charset="-122"/>
                <a:cs typeface="+mn-cs"/>
              </a:rPr>
              <a:t>、</a:t>
            </a:r>
            <a:r>
              <a:rPr kumimoji="1" lang="en-US" altLang="en-US" sz="2400" b="1" dirty="0" err="1">
                <a:solidFill>
                  <a:srgbClr val="3333CC"/>
                </a:solidFill>
                <a:latin typeface="Times New Roman" pitchFamily="18" charset="0"/>
                <a:ea typeface="宋体" charset="-122"/>
                <a:cs typeface="+mn-cs"/>
              </a:rPr>
              <a:t>重复分析法</a:t>
            </a:r>
            <a:r>
              <a:rPr kumimoji="1" lang="zh-CN" altLang="en-US" sz="2400" b="1" dirty="0">
                <a:solidFill>
                  <a:srgbClr val="3333CC"/>
                </a:solidFill>
                <a:latin typeface="Times New Roman" pitchFamily="18" charset="0"/>
                <a:ea typeface="宋体" charset="-122"/>
                <a:cs typeface="+mn-cs"/>
              </a:rPr>
              <a:t>（迭代法）</a:t>
            </a:r>
          </a:p>
        </p:txBody>
      </p:sp>
      <p:sp>
        <p:nvSpPr>
          <p:cNvPr id="24623" name="Rectangle 7"/>
          <p:cNvSpPr>
            <a:spLocks noChangeArrowheads="1"/>
          </p:cNvSpPr>
          <p:nvPr/>
        </p:nvSpPr>
        <p:spPr bwMode="auto">
          <a:xfrm>
            <a:off x="0" y="23241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624" name="Rectangle 9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625" name="Rectangle 11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626" name="Rectangle 14"/>
          <p:cNvSpPr>
            <a:spLocks noChangeArrowheads="1"/>
          </p:cNvSpPr>
          <p:nvPr/>
        </p:nvSpPr>
        <p:spPr bwMode="auto">
          <a:xfrm>
            <a:off x="0" y="27193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627" name="Rectangle 16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4618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2016233"/>
              </p:ext>
            </p:extLst>
          </p:nvPr>
        </p:nvGraphicFramePr>
        <p:xfrm>
          <a:off x="5894388" y="1474580"/>
          <a:ext cx="1463675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4" name="Equation" r:id="rId3" imgW="812520" imgH="393480" progId="Equation.DSMT4">
                  <p:embed/>
                </p:oleObj>
              </mc:Choice>
              <mc:Fallback>
                <p:oleObj name="Equation" r:id="rId3" imgW="812520" imgH="393480" progId="Equation.DSMT4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4388" y="1474580"/>
                        <a:ext cx="1463675" cy="708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28" name="Rectangle 18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4619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676762"/>
              </p:ext>
            </p:extLst>
          </p:nvPr>
        </p:nvGraphicFramePr>
        <p:xfrm>
          <a:off x="5900738" y="2300799"/>
          <a:ext cx="141763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5" name="Equation" r:id="rId5" imgW="787320" imgH="241200" progId="Equation.DSMT4">
                  <p:embed/>
                </p:oleObj>
              </mc:Choice>
              <mc:Fallback>
                <p:oleObj name="Equation" r:id="rId5" imgW="787320" imgH="241200" progId="Equation.DSMT4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0738" y="2300799"/>
                        <a:ext cx="1417637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29" name="Rectangle 20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4620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534353"/>
              </p:ext>
            </p:extLst>
          </p:nvPr>
        </p:nvGraphicFramePr>
        <p:xfrm>
          <a:off x="5513784" y="3308911"/>
          <a:ext cx="251460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6" name="Equation" r:id="rId7" imgW="1397000" imgH="431800" progId="Equation.DSMT4">
                  <p:embed/>
                </p:oleObj>
              </mc:Choice>
              <mc:Fallback>
                <p:oleObj name="Equation" r:id="rId7" imgW="1397000" imgH="431800" progId="Equation.DSMT4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3784" y="3308911"/>
                        <a:ext cx="251460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30" name="Line 21"/>
          <p:cNvSpPr>
            <a:spLocks noChangeShapeType="1"/>
          </p:cNvSpPr>
          <p:nvPr/>
        </p:nvSpPr>
        <p:spPr bwMode="auto">
          <a:xfrm>
            <a:off x="6660232" y="2876863"/>
            <a:ext cx="0" cy="493713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31" name="Line 22"/>
          <p:cNvSpPr>
            <a:spLocks noChangeShapeType="1"/>
          </p:cNvSpPr>
          <p:nvPr/>
        </p:nvSpPr>
        <p:spPr bwMode="auto">
          <a:xfrm>
            <a:off x="6660232" y="4028991"/>
            <a:ext cx="0" cy="49371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4621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1565671"/>
              </p:ext>
            </p:extLst>
          </p:nvPr>
        </p:nvGraphicFramePr>
        <p:xfrm>
          <a:off x="6511707" y="4608004"/>
          <a:ext cx="297050" cy="411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7" name="Equation" r:id="rId9" imgW="165028" imgH="228501" progId="Equation.DSMT4">
                  <p:embed/>
                </p:oleObj>
              </mc:Choice>
              <mc:Fallback>
                <p:oleObj name="Equation" r:id="rId9" imgW="165028" imgH="228501" progId="Equation.DSMT4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1707" y="4608004"/>
                        <a:ext cx="297050" cy="4113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32" name="Text Box 24"/>
          <p:cNvSpPr txBox="1">
            <a:spLocks noChangeArrowheads="1"/>
          </p:cNvSpPr>
          <p:nvPr/>
        </p:nvSpPr>
        <p:spPr bwMode="auto">
          <a:xfrm>
            <a:off x="6771084" y="4052942"/>
            <a:ext cx="21213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accent2"/>
                </a:solidFill>
              </a:rPr>
              <a:t>（</a:t>
            </a:r>
            <a:r>
              <a:rPr lang="zh-CN" altLang="en-US" b="1" dirty="0" smtClean="0">
                <a:solidFill>
                  <a:schemeClr val="accent2"/>
                </a:solidFill>
              </a:rPr>
              <a:t>已知</a:t>
            </a:r>
            <a:r>
              <a:rPr lang="en-US" altLang="zh-CN" b="1" i="1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b="1" i="1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baseline="-250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、</a:t>
            </a:r>
            <a:r>
              <a:rPr lang="en-US" altLang="zh-CN" b="1" i="1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baseline="-250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CN" altLang="en-US" b="1" dirty="0" smtClean="0">
                <a:solidFill>
                  <a:schemeClr val="accent2"/>
                </a:solidFill>
              </a:rPr>
              <a:t>）</a:t>
            </a:r>
            <a:endParaRPr lang="zh-CN" altLang="en-US" b="1" dirty="0">
              <a:solidFill>
                <a:schemeClr val="accent2"/>
              </a:solidFill>
            </a:endParaRPr>
          </a:p>
        </p:txBody>
      </p:sp>
      <p:sp>
        <p:nvSpPr>
          <p:cNvPr id="24633" name="Line 25"/>
          <p:cNvSpPr>
            <a:spLocks noChangeShapeType="1"/>
          </p:cNvSpPr>
          <p:nvPr/>
        </p:nvSpPr>
        <p:spPr bwMode="auto">
          <a:xfrm flipH="1">
            <a:off x="5094288" y="5502403"/>
            <a:ext cx="701848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34" name="Line 26"/>
          <p:cNvSpPr>
            <a:spLocks noChangeShapeType="1"/>
          </p:cNvSpPr>
          <p:nvPr/>
        </p:nvSpPr>
        <p:spPr bwMode="auto">
          <a:xfrm flipH="1" flipV="1">
            <a:off x="5094288" y="1082674"/>
            <a:ext cx="0" cy="4458484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35" name="Line 27"/>
          <p:cNvSpPr>
            <a:spLocks noChangeShapeType="1"/>
          </p:cNvSpPr>
          <p:nvPr/>
        </p:nvSpPr>
        <p:spPr bwMode="auto">
          <a:xfrm>
            <a:off x="5075530" y="1107492"/>
            <a:ext cx="694727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7227596"/>
              </p:ext>
            </p:extLst>
          </p:nvPr>
        </p:nvGraphicFramePr>
        <p:xfrm>
          <a:off x="573138" y="2204864"/>
          <a:ext cx="3906787" cy="2094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8" name="Visio" r:id="rId11" imgW="3042269" imgH="1630744" progId="Visio.Drawing.11">
                  <p:embed/>
                </p:oleObj>
              </mc:Choice>
              <mc:Fallback>
                <p:oleObj name="Visio" r:id="rId11" imgW="3042269" imgH="1630744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73138" y="2204864"/>
                        <a:ext cx="3906787" cy="20940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3057491"/>
              </p:ext>
            </p:extLst>
          </p:nvPr>
        </p:nvGraphicFramePr>
        <p:xfrm>
          <a:off x="6032469" y="5260888"/>
          <a:ext cx="15525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9" name="Equation" r:id="rId13" imgW="863280" imgH="253800" progId="Equation.DSMT4">
                  <p:embed/>
                </p:oleObj>
              </mc:Choice>
              <mc:Fallback>
                <p:oleObj name="Equation" r:id="rId13" imgW="8632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469" y="5260888"/>
                        <a:ext cx="15525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5251607" y="5076222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</a:rPr>
              <a:t>否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6829605" y="5775004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accent2"/>
                </a:solidFill>
              </a:rPr>
              <a:t>是</a:t>
            </a:r>
            <a:endParaRPr lang="zh-CN" altLang="en-US" dirty="0"/>
          </a:p>
        </p:txBody>
      </p:sp>
      <p:sp>
        <p:nvSpPr>
          <p:cNvPr id="24" name="Line 22"/>
          <p:cNvSpPr>
            <a:spLocks noChangeShapeType="1"/>
          </p:cNvSpPr>
          <p:nvPr/>
        </p:nvSpPr>
        <p:spPr bwMode="auto">
          <a:xfrm>
            <a:off x="6674806" y="5775004"/>
            <a:ext cx="0" cy="49371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6372200" y="6372036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结束</a:t>
            </a:r>
            <a:endParaRPr lang="zh-CN" altLang="en-US" dirty="0"/>
          </a:p>
        </p:txBody>
      </p:sp>
      <p:graphicFrame>
        <p:nvGraphicFramePr>
          <p:cNvPr id="26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2560344"/>
              </p:ext>
            </p:extLst>
          </p:nvPr>
        </p:nvGraphicFramePr>
        <p:xfrm>
          <a:off x="5868144" y="893763"/>
          <a:ext cx="22860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40" name="Equation" r:id="rId15" imgW="1269720" imgH="228600" progId="Equation.DSMT4">
                  <p:embed/>
                </p:oleObj>
              </mc:Choice>
              <mc:Fallback>
                <p:oleObj name="Equation" r:id="rId15" imgW="1269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893763"/>
                        <a:ext cx="2286000" cy="41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2920383"/>
              </p:ext>
            </p:extLst>
          </p:nvPr>
        </p:nvGraphicFramePr>
        <p:xfrm>
          <a:off x="5023636" y="5567048"/>
          <a:ext cx="798513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41" name="Equation" r:id="rId17" imgW="444240" imgH="228600" progId="Equation.DSMT4">
                  <p:embed/>
                </p:oleObj>
              </mc:Choice>
              <mc:Fallback>
                <p:oleObj name="Equation" r:id="rId17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3636" y="5567048"/>
                        <a:ext cx="798513" cy="411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4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4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4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4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4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4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4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4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30" grpId="0" animBg="1"/>
      <p:bldP spid="24631" grpId="0" animBg="1"/>
      <p:bldP spid="24632" grpId="0"/>
      <p:bldP spid="24633" grpId="0" animBg="1"/>
      <p:bldP spid="24634" grpId="0" animBg="1"/>
      <p:bldP spid="24635" grpId="0" animBg="1"/>
      <p:bldP spid="3" grpId="0"/>
      <p:bldP spid="23" grpId="0"/>
      <p:bldP spid="24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39" name="Rectangle 8"/>
          <p:cNvSpPr>
            <a:spLocks noChangeArrowheads="1"/>
          </p:cNvSpPr>
          <p:nvPr/>
        </p:nvSpPr>
        <p:spPr bwMode="auto">
          <a:xfrm>
            <a:off x="3509963" y="4437112"/>
            <a:ext cx="20224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indent="266700">
              <a:tabLst>
                <a:tab pos="2952750" algn="l"/>
              </a:tabLst>
            </a:pPr>
            <a:r>
              <a:rPr lang="zh-CN" altLang="en-US" b="1"/>
              <a:t>直流稳压电路</a:t>
            </a:r>
          </a:p>
        </p:txBody>
      </p:sp>
      <p:graphicFrame>
        <p:nvGraphicFramePr>
          <p:cNvPr id="3483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028806"/>
              </p:ext>
            </p:extLst>
          </p:nvPr>
        </p:nvGraphicFramePr>
        <p:xfrm>
          <a:off x="981075" y="1773238"/>
          <a:ext cx="7080250" cy="232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8" name="Visio" r:id="rId3" imgW="7079760" imgH="2324520" progId="Visio.Drawing.11">
                  <p:embed/>
                </p:oleObj>
              </mc:Choice>
              <mc:Fallback>
                <p:oleObj name="Visio" r:id="rId3" imgW="7079760" imgH="2324520" progId="Visio.Drawing.11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1075" y="1773238"/>
                        <a:ext cx="7080250" cy="2324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65"/>
          <p:cNvSpPr txBox="1">
            <a:spLocks noChangeArrowheads="1"/>
          </p:cNvSpPr>
          <p:nvPr/>
        </p:nvSpPr>
        <p:spPr bwMode="auto">
          <a:xfrm>
            <a:off x="388938" y="735087"/>
            <a:ext cx="82883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0" hangingPunct="0"/>
            <a:r>
              <a:rPr kumimoji="1" lang="en-US" altLang="zh-CN" sz="2400" b="1" dirty="0" smtClean="0">
                <a:solidFill>
                  <a:srgbClr val="990033"/>
                </a:solidFill>
                <a:latin typeface="Times New Roman" pitchFamily="18" charset="0"/>
              </a:rPr>
              <a:t>6.2.1 </a:t>
            </a:r>
            <a:r>
              <a:rPr kumimoji="1" lang="zh-CN" altLang="en-US" sz="2400" b="1" dirty="0" smtClean="0">
                <a:solidFill>
                  <a:srgbClr val="990033"/>
                </a:solidFill>
                <a:latin typeface="Times New Roman" pitchFamily="18" charset="0"/>
              </a:rPr>
              <a:t>整流电路</a:t>
            </a:r>
            <a:r>
              <a:rPr kumimoji="1" lang="zh-CN" altLang="en-US" sz="2400" b="1" dirty="0">
                <a:solidFill>
                  <a:srgbClr val="0000CC"/>
                </a:solidFill>
                <a:latin typeface="Times New Roman" pitchFamily="18" charset="0"/>
              </a:rPr>
              <a:t>（</a:t>
            </a:r>
            <a:r>
              <a:rPr kumimoji="1" lang="en-US" altLang="zh-CN" sz="2400" b="1" dirty="0">
                <a:solidFill>
                  <a:srgbClr val="0000CC"/>
                </a:solidFill>
                <a:latin typeface="Times New Roman" pitchFamily="18" charset="0"/>
              </a:rPr>
              <a:t>Rectifiers</a:t>
            </a:r>
            <a:r>
              <a:rPr kumimoji="1" lang="zh-CN" altLang="en-US" sz="2400" b="1" dirty="0">
                <a:solidFill>
                  <a:srgbClr val="0000CC"/>
                </a:solidFill>
                <a:latin typeface="Times New Roman" pitchFamily="18" charset="0"/>
              </a:rPr>
              <a:t>）</a:t>
            </a:r>
            <a:endParaRPr kumimoji="1" lang="en-US" altLang="zh-CN" sz="2400" b="1" dirty="0">
              <a:solidFill>
                <a:srgbClr val="0000CC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4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4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3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7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389784"/>
            <a:ext cx="5472608" cy="592137"/>
          </a:xfrm>
        </p:spPr>
        <p:txBody>
          <a:bodyPr/>
          <a:lstStyle/>
          <a:p>
            <a:pPr algn="l" eaLnBrk="1" hangingPunct="1"/>
            <a:r>
              <a:rPr kumimoji="1" lang="zh-CN" altLang="en-US" sz="2400" b="1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  <a:cs typeface="+mn-cs"/>
              </a:rPr>
              <a:t>一、</a:t>
            </a:r>
            <a:r>
              <a:rPr kumimoji="1" lang="en-US" altLang="en-US" sz="2400" b="1" dirty="0" err="1" smtClean="0">
                <a:solidFill>
                  <a:srgbClr val="990033"/>
                </a:solidFill>
                <a:latin typeface="Times New Roman" pitchFamily="18" charset="0"/>
                <a:ea typeface="宋体" charset="-122"/>
                <a:cs typeface="+mn-cs"/>
              </a:rPr>
              <a:t>半波整流器</a:t>
            </a:r>
            <a:r>
              <a:rPr kumimoji="1" lang="zh-CN" altLang="en-US" sz="2400" b="1" dirty="0">
                <a:solidFill>
                  <a:srgbClr val="0000CC"/>
                </a:solidFill>
                <a:latin typeface="Times New Roman" pitchFamily="18" charset="0"/>
                <a:ea typeface="宋体" charset="-122"/>
                <a:cs typeface="+mn-cs"/>
              </a:rPr>
              <a:t>（</a:t>
            </a:r>
            <a:r>
              <a:rPr kumimoji="1" lang="en-US" altLang="en-US" sz="2400" b="1" dirty="0">
                <a:solidFill>
                  <a:srgbClr val="0000CC"/>
                </a:solidFill>
                <a:latin typeface="Times New Roman" pitchFamily="18" charset="0"/>
                <a:ea typeface="宋体" charset="-122"/>
                <a:cs typeface="+mn-cs"/>
              </a:rPr>
              <a:t>Half </a:t>
            </a:r>
            <a:r>
              <a:rPr kumimoji="1" lang="en-US" altLang="en-US" sz="2400" b="1" dirty="0">
                <a:solidFill>
                  <a:srgbClr val="0000CC"/>
                </a:solidFill>
                <a:latin typeface="Times New Roman" pitchFamily="18" charset="0"/>
                <a:ea typeface="宋体" charset="-122"/>
                <a:cs typeface="+mn-cs"/>
              </a:rPr>
              <a:t>- wave </a:t>
            </a:r>
            <a:r>
              <a:rPr kumimoji="1" lang="en-US" altLang="en-US" sz="2400" b="1" dirty="0">
                <a:solidFill>
                  <a:srgbClr val="0000CC"/>
                </a:solidFill>
                <a:latin typeface="Times New Roman" pitchFamily="18" charset="0"/>
                <a:ea typeface="宋体" charset="-122"/>
                <a:cs typeface="+mn-cs"/>
              </a:rPr>
              <a:t>rectifier</a:t>
            </a:r>
            <a:r>
              <a:rPr kumimoji="1" lang="zh-CN" altLang="en-US" sz="2400" b="1" dirty="0">
                <a:solidFill>
                  <a:srgbClr val="0000CC"/>
                </a:solidFill>
                <a:latin typeface="Times New Roman" pitchFamily="18" charset="0"/>
                <a:ea typeface="宋体" charset="-122"/>
                <a:cs typeface="+mn-cs"/>
              </a:rPr>
              <a:t>）</a:t>
            </a:r>
            <a:endParaRPr kumimoji="1" lang="zh-CN" altLang="en-US" sz="2400" b="1" dirty="0">
              <a:solidFill>
                <a:srgbClr val="0000CC"/>
              </a:solidFill>
              <a:latin typeface="Times New Roman" pitchFamily="18" charset="0"/>
              <a:ea typeface="宋体" charset="-122"/>
              <a:cs typeface="+mn-cs"/>
            </a:endParaRPr>
          </a:p>
        </p:txBody>
      </p:sp>
      <p:graphicFrame>
        <p:nvGraphicFramePr>
          <p:cNvPr id="35871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9627445"/>
              </p:ext>
            </p:extLst>
          </p:nvPr>
        </p:nvGraphicFramePr>
        <p:xfrm>
          <a:off x="1286980" y="3794634"/>
          <a:ext cx="521335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29" name="Equation" r:id="rId3" imgW="2895480" imgH="228600" progId="Equation.DSMT4">
                  <p:embed/>
                </p:oleObj>
              </mc:Choice>
              <mc:Fallback>
                <p:oleObj name="Equation" r:id="rId3" imgW="2895480" imgH="228600" progId="Equation.DSMT4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6980" y="3794634"/>
                        <a:ext cx="5213350" cy="41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85" name="Text Box 103"/>
          <p:cNvSpPr txBox="1">
            <a:spLocks noChangeArrowheads="1"/>
          </p:cNvSpPr>
          <p:nvPr/>
        </p:nvSpPr>
        <p:spPr bwMode="auto">
          <a:xfrm>
            <a:off x="1187624" y="5589240"/>
            <a:ext cx="172354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/>
              <a:t>输出</a:t>
            </a:r>
            <a:r>
              <a:rPr lang="zh-CN" altLang="en-US" sz="2000" dirty="0" smtClean="0"/>
              <a:t>直流电压</a:t>
            </a:r>
            <a:endParaRPr lang="en-US" altLang="zh-CN" sz="2000" dirty="0" smtClean="0"/>
          </a:p>
          <a:p>
            <a:pPr algn="ctr"/>
            <a:r>
              <a:rPr lang="zh-CN" altLang="en-US" sz="2000" dirty="0" smtClean="0"/>
              <a:t>（忽略</a:t>
            </a:r>
            <a:r>
              <a:rPr lang="en-US" altLang="zh-C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zh-CN" altLang="en-US" sz="2000" dirty="0" smtClean="0"/>
              <a:t>）</a:t>
            </a:r>
            <a:endParaRPr lang="zh-CN" altLang="en-US" sz="2000" dirty="0"/>
          </a:p>
        </p:txBody>
      </p:sp>
      <p:graphicFrame>
        <p:nvGraphicFramePr>
          <p:cNvPr id="35872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6012798"/>
              </p:ext>
            </p:extLst>
          </p:nvPr>
        </p:nvGraphicFramePr>
        <p:xfrm>
          <a:off x="3203848" y="5373216"/>
          <a:ext cx="4389120" cy="822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30" name="Equation" r:id="rId5" imgW="2438400" imgH="457200" progId="Equation.DSMT4">
                  <p:embed/>
                </p:oleObj>
              </mc:Choice>
              <mc:Fallback>
                <p:oleObj name="Equation" r:id="rId5" imgW="2438400" imgH="457200" progId="Equation.DSMT4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5373216"/>
                        <a:ext cx="4389120" cy="822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03"/>
          <p:cNvSpPr txBox="1">
            <a:spLocks noChangeArrowheads="1"/>
          </p:cNvSpPr>
          <p:nvPr/>
        </p:nvSpPr>
        <p:spPr bwMode="auto">
          <a:xfrm>
            <a:off x="5927127" y="4736282"/>
            <a:ext cx="170912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 smtClean="0"/>
              <a:t>的峰值电压</a:t>
            </a:r>
            <a:endParaRPr lang="zh-CN" altLang="en-US" sz="2000" dirty="0"/>
          </a:p>
        </p:txBody>
      </p:sp>
      <p:cxnSp>
        <p:nvCxnSpPr>
          <p:cNvPr id="3" name="直接箭头连接符 2"/>
          <p:cNvCxnSpPr/>
          <p:nvPr/>
        </p:nvCxnSpPr>
        <p:spPr>
          <a:xfrm flipH="1" flipV="1">
            <a:off x="6400261" y="4205796"/>
            <a:ext cx="200138" cy="51576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287" y="1714959"/>
            <a:ext cx="3312368" cy="122035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30957" y="996640"/>
            <a:ext cx="5005540" cy="265699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5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5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5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85" grpId="0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00" name="Rectangle 2"/>
          <p:cNvSpPr>
            <a:spLocks noGrp="1" noChangeArrowheads="1"/>
          </p:cNvSpPr>
          <p:nvPr>
            <p:ph type="title"/>
          </p:nvPr>
        </p:nvSpPr>
        <p:spPr>
          <a:xfrm>
            <a:off x="893762" y="544513"/>
            <a:ext cx="5694461" cy="592137"/>
          </a:xfrm>
        </p:spPr>
        <p:txBody>
          <a:bodyPr/>
          <a:lstStyle/>
          <a:p>
            <a:pPr algn="l" eaLnBrk="1" hangingPunct="1"/>
            <a:r>
              <a:rPr kumimoji="1" lang="zh-CN" altLang="en-US" sz="2400" b="1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  <a:cs typeface="+mn-cs"/>
              </a:rPr>
              <a:t>二、</a:t>
            </a:r>
            <a:r>
              <a:rPr kumimoji="1" lang="zh-CN" altLang="en-US" sz="2400" b="1" dirty="0">
                <a:solidFill>
                  <a:srgbClr val="990033"/>
                </a:solidFill>
                <a:latin typeface="Times New Roman" pitchFamily="18" charset="0"/>
                <a:ea typeface="宋体" charset="-122"/>
                <a:cs typeface="+mn-cs"/>
              </a:rPr>
              <a:t>全</a:t>
            </a:r>
            <a:r>
              <a:rPr kumimoji="1" lang="en-US" altLang="en-US" sz="2400" b="1" dirty="0" err="1" smtClean="0">
                <a:solidFill>
                  <a:srgbClr val="990033"/>
                </a:solidFill>
                <a:latin typeface="Times New Roman" pitchFamily="18" charset="0"/>
                <a:ea typeface="宋体" charset="-122"/>
                <a:cs typeface="+mn-cs"/>
              </a:rPr>
              <a:t>波整流器</a:t>
            </a:r>
            <a:r>
              <a:rPr kumimoji="1" lang="zh-CN" altLang="en-US" sz="2400" b="1" dirty="0">
                <a:solidFill>
                  <a:srgbClr val="0000CC"/>
                </a:solidFill>
                <a:latin typeface="Times New Roman" pitchFamily="18" charset="0"/>
                <a:ea typeface="宋体" charset="-122"/>
                <a:cs typeface="+mn-cs"/>
              </a:rPr>
              <a:t>（</a:t>
            </a:r>
            <a:r>
              <a:rPr kumimoji="1" lang="en-US" altLang="en-US" sz="2400" b="1" dirty="0">
                <a:solidFill>
                  <a:srgbClr val="0000CC"/>
                </a:solidFill>
                <a:latin typeface="Times New Roman" pitchFamily="18" charset="0"/>
                <a:ea typeface="宋体" charset="-122"/>
                <a:cs typeface="+mn-cs"/>
              </a:rPr>
              <a:t>Full </a:t>
            </a:r>
            <a:r>
              <a:rPr kumimoji="1" lang="en-US" altLang="en-US" sz="2400" b="1" dirty="0">
                <a:solidFill>
                  <a:srgbClr val="0000CC"/>
                </a:solidFill>
                <a:latin typeface="Times New Roman" pitchFamily="18" charset="0"/>
                <a:ea typeface="宋体" charset="-122"/>
                <a:cs typeface="+mn-cs"/>
              </a:rPr>
              <a:t>- wave </a:t>
            </a:r>
            <a:r>
              <a:rPr kumimoji="1" lang="en-US" altLang="en-US" sz="2400" b="1" dirty="0">
                <a:solidFill>
                  <a:srgbClr val="0000CC"/>
                </a:solidFill>
                <a:latin typeface="Times New Roman" pitchFamily="18" charset="0"/>
                <a:ea typeface="宋体" charset="-122"/>
                <a:cs typeface="+mn-cs"/>
              </a:rPr>
              <a:t>rectifier</a:t>
            </a:r>
            <a:r>
              <a:rPr kumimoji="1" lang="zh-CN" altLang="en-US" sz="2400" b="1" dirty="0">
                <a:solidFill>
                  <a:srgbClr val="0000CC"/>
                </a:solidFill>
                <a:latin typeface="Times New Roman" pitchFamily="18" charset="0"/>
                <a:ea typeface="宋体" charset="-122"/>
                <a:cs typeface="+mn-cs"/>
              </a:rPr>
              <a:t>）</a:t>
            </a:r>
            <a:endParaRPr kumimoji="1" lang="zh-CN" altLang="en-US" sz="2400" b="1" dirty="0">
              <a:solidFill>
                <a:srgbClr val="0000CC"/>
              </a:solidFill>
              <a:latin typeface="Times New Roman" pitchFamily="18" charset="0"/>
              <a:ea typeface="宋体" charset="-122"/>
              <a:cs typeface="+mn-cs"/>
            </a:endParaRPr>
          </a:p>
        </p:txBody>
      </p:sp>
      <p:graphicFrame>
        <p:nvGraphicFramePr>
          <p:cNvPr id="36897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13371"/>
              </p:ext>
            </p:extLst>
          </p:nvPr>
        </p:nvGraphicFramePr>
        <p:xfrm>
          <a:off x="3203848" y="4576723"/>
          <a:ext cx="2354263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54" name="Equation" r:id="rId3" imgW="1307880" imgH="228600" progId="Equation.DSMT4">
                  <p:embed/>
                </p:oleObj>
              </mc:Choice>
              <mc:Fallback>
                <p:oleObj name="Equation" r:id="rId3" imgW="1307880" imgH="228600" progId="Equation.DSMT4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4576723"/>
                        <a:ext cx="2354263" cy="411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99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9474106"/>
              </p:ext>
            </p:extLst>
          </p:nvPr>
        </p:nvGraphicFramePr>
        <p:xfrm>
          <a:off x="2366010" y="5229200"/>
          <a:ext cx="4411980" cy="822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55" name="Equation" r:id="rId5" imgW="2451100" imgH="457200" progId="Equation.DSMT4">
                  <p:embed/>
                </p:oleObj>
              </mc:Choice>
              <mc:Fallback>
                <p:oleObj name="Equation" r:id="rId5" imgW="2451100" imgH="457200" progId="Equation.DSMT4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6010" y="5229200"/>
                        <a:ext cx="4411980" cy="822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536" y="1603852"/>
            <a:ext cx="3483478" cy="18019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5312" y="1373242"/>
            <a:ext cx="4685821" cy="2502137"/>
          </a:xfrm>
          <a:prstGeom prst="rect">
            <a:avLst/>
          </a:prstGeom>
        </p:spPr>
      </p:pic>
      <p:sp>
        <p:nvSpPr>
          <p:cNvPr id="22" name="Text Box 103"/>
          <p:cNvSpPr txBox="1">
            <a:spLocks noChangeArrowheads="1"/>
          </p:cNvSpPr>
          <p:nvPr/>
        </p:nvSpPr>
        <p:spPr bwMode="auto">
          <a:xfrm>
            <a:off x="539552" y="5286737"/>
            <a:ext cx="172354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/>
              <a:t>输出</a:t>
            </a:r>
            <a:r>
              <a:rPr lang="zh-CN" altLang="en-US" sz="2000" dirty="0" smtClean="0"/>
              <a:t>直流电压</a:t>
            </a:r>
            <a:endParaRPr lang="en-US" altLang="zh-CN" sz="2000" dirty="0" smtClean="0"/>
          </a:p>
          <a:p>
            <a:pPr algn="ctr"/>
            <a:r>
              <a:rPr lang="zh-CN" altLang="en-US" sz="2000" dirty="0" smtClean="0"/>
              <a:t>（忽略</a:t>
            </a:r>
            <a:r>
              <a:rPr lang="en-US" altLang="zh-C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zh-CN" altLang="en-US" sz="2000" dirty="0" smtClean="0"/>
              <a:t>）</a:t>
            </a:r>
            <a:endParaRPr lang="zh-CN" altLang="en-US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6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6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27" name="Rectangle 2"/>
          <p:cNvSpPr>
            <a:spLocks noGrp="1" noChangeArrowheads="1"/>
          </p:cNvSpPr>
          <p:nvPr>
            <p:ph type="title"/>
          </p:nvPr>
        </p:nvSpPr>
        <p:spPr>
          <a:xfrm>
            <a:off x="893762" y="544513"/>
            <a:ext cx="4974381" cy="592137"/>
          </a:xfrm>
        </p:spPr>
        <p:txBody>
          <a:bodyPr/>
          <a:lstStyle/>
          <a:p>
            <a:pPr algn="l" eaLnBrk="1" hangingPunct="1"/>
            <a:r>
              <a:rPr kumimoji="1" lang="zh-CN" altLang="en-US" sz="2400" b="1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  <a:cs typeface="+mn-cs"/>
              </a:rPr>
              <a:t>三、</a:t>
            </a:r>
            <a:r>
              <a:rPr kumimoji="1" lang="zh-CN" altLang="en-US" sz="2400" b="1" dirty="0">
                <a:solidFill>
                  <a:srgbClr val="990033"/>
                </a:solidFill>
                <a:latin typeface="Times New Roman" pitchFamily="18" charset="0"/>
                <a:ea typeface="宋体" charset="-122"/>
                <a:cs typeface="+mn-cs"/>
              </a:rPr>
              <a:t>桥式</a:t>
            </a:r>
            <a:r>
              <a:rPr kumimoji="1" lang="en-US" altLang="en-US" sz="2400" b="1" dirty="0" err="1" smtClean="0">
                <a:solidFill>
                  <a:srgbClr val="990033"/>
                </a:solidFill>
                <a:latin typeface="Times New Roman" pitchFamily="18" charset="0"/>
                <a:ea typeface="宋体" charset="-122"/>
                <a:cs typeface="+mn-cs"/>
              </a:rPr>
              <a:t>整流器</a:t>
            </a:r>
            <a:r>
              <a:rPr kumimoji="1" lang="zh-CN" altLang="en-US" sz="2400" b="1" dirty="0">
                <a:solidFill>
                  <a:srgbClr val="0000CC"/>
                </a:solidFill>
                <a:latin typeface="Times New Roman" pitchFamily="18" charset="0"/>
                <a:ea typeface="宋体" charset="-122"/>
                <a:cs typeface="+mn-cs"/>
              </a:rPr>
              <a:t>（</a:t>
            </a:r>
            <a:r>
              <a:rPr kumimoji="1" lang="en-US" altLang="zh-CN" sz="2400" b="1" dirty="0">
                <a:solidFill>
                  <a:srgbClr val="0000CC"/>
                </a:solidFill>
                <a:latin typeface="Times New Roman" pitchFamily="18" charset="0"/>
                <a:ea typeface="宋体" charset="-122"/>
                <a:cs typeface="+mn-cs"/>
              </a:rPr>
              <a:t>Bridge </a:t>
            </a:r>
            <a:r>
              <a:rPr kumimoji="1" lang="en-US" altLang="zh-CN" sz="2400" b="1" dirty="0">
                <a:solidFill>
                  <a:srgbClr val="0000CC"/>
                </a:solidFill>
                <a:latin typeface="Times New Roman" pitchFamily="18" charset="0"/>
                <a:ea typeface="宋体" charset="-122"/>
                <a:cs typeface="+mn-cs"/>
              </a:rPr>
              <a:t>rectifier</a:t>
            </a:r>
            <a:r>
              <a:rPr kumimoji="1" lang="zh-CN" altLang="en-US" sz="2400" b="1" dirty="0">
                <a:solidFill>
                  <a:srgbClr val="0000CC"/>
                </a:solidFill>
                <a:latin typeface="Times New Roman" pitchFamily="18" charset="0"/>
                <a:ea typeface="宋体" charset="-122"/>
                <a:cs typeface="+mn-cs"/>
              </a:rPr>
              <a:t>）</a:t>
            </a:r>
            <a:endParaRPr kumimoji="1" lang="zh-CN" altLang="en-US" sz="2400" b="1" dirty="0">
              <a:solidFill>
                <a:srgbClr val="0000CC"/>
              </a:solidFill>
              <a:latin typeface="Times New Roman" pitchFamily="18" charset="0"/>
              <a:ea typeface="宋体" charset="-122"/>
              <a:cs typeface="+mn-cs"/>
            </a:endParaRPr>
          </a:p>
        </p:txBody>
      </p:sp>
      <p:graphicFrame>
        <p:nvGraphicFramePr>
          <p:cNvPr id="37924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0981634"/>
              </p:ext>
            </p:extLst>
          </p:nvPr>
        </p:nvGraphicFramePr>
        <p:xfrm>
          <a:off x="3554413" y="4611688"/>
          <a:ext cx="207962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84" name="Equation" r:id="rId3" imgW="1155600" imgH="228600" progId="Equation.DSMT4">
                  <p:embed/>
                </p:oleObj>
              </mc:Choice>
              <mc:Fallback>
                <p:oleObj name="Equation" r:id="rId3" imgW="1155600" imgH="228600" progId="Equation.DSMT4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4413" y="4611688"/>
                        <a:ext cx="2079625" cy="41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26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8806070"/>
              </p:ext>
            </p:extLst>
          </p:nvPr>
        </p:nvGraphicFramePr>
        <p:xfrm>
          <a:off x="3275856" y="5346246"/>
          <a:ext cx="4411980" cy="822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85" name="Equation" r:id="rId5" imgW="2451100" imgH="457200" progId="Equation.DSMT4">
                  <p:embed/>
                </p:oleObj>
              </mc:Choice>
              <mc:Fallback>
                <p:oleObj name="Equation" r:id="rId5" imgW="2451100" imgH="457200" progId="Equation.DSMT4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5346246"/>
                        <a:ext cx="4411980" cy="822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569" y="1958049"/>
            <a:ext cx="2860397" cy="150362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6154" y="1338832"/>
            <a:ext cx="5131180" cy="2742059"/>
          </a:xfrm>
          <a:prstGeom prst="rect">
            <a:avLst/>
          </a:prstGeom>
        </p:spPr>
      </p:pic>
      <p:sp>
        <p:nvSpPr>
          <p:cNvPr id="25" name="Text Box 103"/>
          <p:cNvSpPr txBox="1">
            <a:spLocks noChangeArrowheads="1"/>
          </p:cNvSpPr>
          <p:nvPr/>
        </p:nvSpPr>
        <p:spPr bwMode="auto">
          <a:xfrm>
            <a:off x="1331640" y="5517902"/>
            <a:ext cx="172354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/>
              <a:t>输出</a:t>
            </a:r>
            <a:r>
              <a:rPr lang="zh-CN" altLang="en-US" sz="2000" dirty="0" smtClean="0"/>
              <a:t>直流电压</a:t>
            </a:r>
            <a:endParaRPr lang="en-US" altLang="zh-CN" sz="2000" dirty="0" smtClean="0"/>
          </a:p>
          <a:p>
            <a:pPr algn="ctr"/>
            <a:r>
              <a:rPr lang="zh-CN" altLang="en-US" sz="2000" dirty="0" smtClean="0"/>
              <a:t>（忽略</a:t>
            </a:r>
            <a:r>
              <a:rPr lang="en-US" altLang="zh-C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zh-CN" altLang="en-US" sz="2000" dirty="0" smtClean="0"/>
              <a:t>）</a:t>
            </a:r>
            <a:endParaRPr lang="zh-CN" altLang="en-US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7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7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27" name="Rectangle 2"/>
          <p:cNvSpPr>
            <a:spLocks noGrp="1" noChangeArrowheads="1"/>
          </p:cNvSpPr>
          <p:nvPr>
            <p:ph type="title"/>
          </p:nvPr>
        </p:nvSpPr>
        <p:spPr>
          <a:xfrm>
            <a:off x="893762" y="544513"/>
            <a:ext cx="6918598" cy="592137"/>
          </a:xfrm>
        </p:spPr>
        <p:txBody>
          <a:bodyPr/>
          <a:lstStyle/>
          <a:p>
            <a:pPr algn="l" eaLnBrk="1" hangingPunct="1"/>
            <a:r>
              <a:rPr kumimoji="1" lang="zh-CN" altLang="en-US" sz="2400" b="1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  <a:cs typeface="+mn-cs"/>
              </a:rPr>
              <a:t>四、精密半波</a:t>
            </a:r>
            <a:r>
              <a:rPr kumimoji="1" lang="en-US" altLang="en-US" sz="2400" b="1" dirty="0" err="1" smtClean="0">
                <a:solidFill>
                  <a:srgbClr val="990033"/>
                </a:solidFill>
                <a:latin typeface="Times New Roman" pitchFamily="18" charset="0"/>
                <a:ea typeface="宋体" charset="-122"/>
                <a:cs typeface="+mn-cs"/>
              </a:rPr>
              <a:t>整流器</a:t>
            </a:r>
            <a:r>
              <a:rPr kumimoji="1" lang="en-US" altLang="en-US" sz="2400" b="1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  <a:cs typeface="+mn-cs"/>
              </a:rPr>
              <a:t> </a:t>
            </a:r>
            <a:r>
              <a:rPr kumimoji="1" lang="en-US" altLang="zh-CN" sz="2400" b="1" dirty="0">
                <a:solidFill>
                  <a:srgbClr val="0000CC"/>
                </a:solidFill>
                <a:latin typeface="Times New Roman" pitchFamily="18" charset="0"/>
                <a:ea typeface="宋体" charset="-122"/>
                <a:cs typeface="+mn-cs"/>
              </a:rPr>
              <a:t>--- </a:t>
            </a:r>
            <a:r>
              <a:rPr kumimoji="1" lang="en-US" altLang="zh-CN" sz="2400" b="1" dirty="0" err="1">
                <a:solidFill>
                  <a:srgbClr val="0000CC"/>
                </a:solidFill>
                <a:latin typeface="Times New Roman" pitchFamily="18" charset="0"/>
                <a:ea typeface="宋体" charset="-122"/>
                <a:cs typeface="+mn-cs"/>
              </a:rPr>
              <a:t>S</a:t>
            </a:r>
            <a:r>
              <a:rPr kumimoji="1" lang="en-US" altLang="zh-CN" sz="2400" b="1" dirty="0" err="1">
                <a:solidFill>
                  <a:srgbClr val="0000CC"/>
                </a:solidFill>
                <a:latin typeface="Times New Roman" pitchFamily="18" charset="0"/>
                <a:ea typeface="宋体" charset="-122"/>
                <a:cs typeface="+mn-cs"/>
              </a:rPr>
              <a:t>uperdiode</a:t>
            </a:r>
            <a:endParaRPr kumimoji="1" lang="zh-CN" altLang="en-US" sz="2400" b="1" dirty="0">
              <a:solidFill>
                <a:srgbClr val="0000CC"/>
              </a:solidFill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25" name="Text Box 103"/>
          <p:cNvSpPr txBox="1">
            <a:spLocks noChangeArrowheads="1"/>
          </p:cNvSpPr>
          <p:nvPr/>
        </p:nvSpPr>
        <p:spPr bwMode="auto">
          <a:xfrm>
            <a:off x="6088810" y="4231380"/>
            <a:ext cx="17235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 smtClean="0"/>
              <a:t>输出特性曲线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772816"/>
            <a:ext cx="3888432" cy="254647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558" y="1664870"/>
            <a:ext cx="2828925" cy="2438400"/>
          </a:xfrm>
          <a:prstGeom prst="rect">
            <a:avLst/>
          </a:prstGeom>
        </p:spPr>
      </p:pic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0330604"/>
              </p:ext>
            </p:extLst>
          </p:nvPr>
        </p:nvGraphicFramePr>
        <p:xfrm>
          <a:off x="1601019" y="4797152"/>
          <a:ext cx="2341562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0" name="Equation" r:id="rId5" imgW="1180800" imgH="507960" progId="Equation.DSMT4">
                  <p:embed/>
                </p:oleObj>
              </mc:Choice>
              <mc:Fallback>
                <p:oleObj name="Equation" r:id="rId5" imgW="118080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01019" y="4797152"/>
                        <a:ext cx="2341562" cy="1009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409789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50" name="Text Box 2"/>
          <p:cNvSpPr txBox="1">
            <a:spLocks noChangeArrowheads="1"/>
          </p:cNvSpPr>
          <p:nvPr/>
        </p:nvSpPr>
        <p:spPr bwMode="auto">
          <a:xfrm>
            <a:off x="449263" y="633413"/>
            <a:ext cx="6553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 smtClean="0">
                <a:solidFill>
                  <a:srgbClr val="990033"/>
                </a:solidFill>
                <a:latin typeface="Times New Roman" pitchFamily="18" charset="0"/>
              </a:rPr>
              <a:t>6.2.2  </a:t>
            </a:r>
            <a:r>
              <a:rPr kumimoji="1" lang="zh-CN" altLang="en-US" sz="2400" b="1" dirty="0">
                <a:solidFill>
                  <a:srgbClr val="990033"/>
                </a:solidFill>
                <a:latin typeface="Times New Roman" pitchFamily="18" charset="0"/>
              </a:rPr>
              <a:t>限幅和钳位电路</a:t>
            </a:r>
          </a:p>
        </p:txBody>
      </p:sp>
      <p:sp>
        <p:nvSpPr>
          <p:cNvPr id="39953" name="Rectangle 7"/>
          <p:cNvSpPr>
            <a:spLocks noChangeArrowheads="1"/>
          </p:cNvSpPr>
          <p:nvPr/>
        </p:nvSpPr>
        <p:spPr bwMode="auto">
          <a:xfrm>
            <a:off x="704107" y="1795416"/>
            <a:ext cx="200247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indent="266700">
              <a:tabLst>
                <a:tab pos="2952750" algn="l"/>
              </a:tabLst>
            </a:pPr>
            <a:r>
              <a:rPr lang="zh-CN" altLang="en-US" sz="2000" b="1" dirty="0"/>
              <a:t>正向限幅电路</a:t>
            </a:r>
          </a:p>
        </p:txBody>
      </p:sp>
      <p:sp>
        <p:nvSpPr>
          <p:cNvPr id="39955" name="Rectangle 12"/>
          <p:cNvSpPr>
            <a:spLocks noChangeArrowheads="1"/>
          </p:cNvSpPr>
          <p:nvPr/>
        </p:nvSpPr>
        <p:spPr bwMode="auto">
          <a:xfrm>
            <a:off x="733424" y="1052736"/>
            <a:ext cx="6502871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1" lang="zh-CN" altLang="en-US" sz="2400" b="1" dirty="0" smtClean="0">
                <a:solidFill>
                  <a:srgbClr val="990033"/>
                </a:solidFill>
                <a:latin typeface="Times New Roman" pitchFamily="18" charset="0"/>
              </a:rPr>
              <a:t>一、限幅电路</a:t>
            </a:r>
            <a:r>
              <a:rPr kumimoji="1" lang="zh-CN" altLang="en-US" sz="2400" b="1" dirty="0">
                <a:solidFill>
                  <a:srgbClr val="0000CC"/>
                </a:solidFill>
                <a:latin typeface="Times New Roman" pitchFamily="18" charset="0"/>
              </a:rPr>
              <a:t>（</a:t>
            </a:r>
            <a:r>
              <a:rPr kumimoji="1" lang="en-US" altLang="zh-CN" sz="2400" b="1" dirty="0">
                <a:solidFill>
                  <a:srgbClr val="0000CC"/>
                </a:solidFill>
                <a:latin typeface="Times New Roman" pitchFamily="18" charset="0"/>
              </a:rPr>
              <a:t> Limiter </a:t>
            </a:r>
            <a:r>
              <a:rPr kumimoji="1" lang="en-US" altLang="zh-CN" sz="2400" b="1" dirty="0">
                <a:solidFill>
                  <a:srgbClr val="0000CC"/>
                </a:solidFill>
                <a:latin typeface="Times New Roman" pitchFamily="18" charset="0"/>
              </a:rPr>
              <a:t>Circuit</a:t>
            </a:r>
            <a:r>
              <a:rPr kumimoji="1" lang="zh-CN" altLang="en-US" sz="2400" b="1" dirty="0">
                <a:solidFill>
                  <a:srgbClr val="0000CC"/>
                </a:solidFill>
                <a:latin typeface="Times New Roman" pitchFamily="18" charset="0"/>
              </a:rPr>
              <a:t>）</a:t>
            </a:r>
            <a:endParaRPr kumimoji="1" lang="zh-CN" altLang="en-US" sz="2400" b="1" dirty="0">
              <a:solidFill>
                <a:srgbClr val="0000CC"/>
              </a:solidFill>
              <a:latin typeface="Times New Roman" pitchFamily="18" charset="0"/>
            </a:endParaRPr>
          </a:p>
        </p:txBody>
      </p:sp>
      <p:pic>
        <p:nvPicPr>
          <p:cNvPr id="39959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3" y="2301815"/>
            <a:ext cx="3415211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5652120" y="1804754"/>
            <a:ext cx="200247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indent="266700">
              <a:tabLst>
                <a:tab pos="2952750" algn="l"/>
              </a:tabLst>
            </a:pPr>
            <a:r>
              <a:rPr lang="zh-CN" altLang="en-US" sz="2000" b="1" dirty="0"/>
              <a:t>反向限幅电路</a:t>
            </a:r>
          </a:p>
        </p:txBody>
      </p:sp>
      <p:pic>
        <p:nvPicPr>
          <p:cNvPr id="39960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2210658"/>
            <a:ext cx="3346401" cy="1838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3539827" y="4349135"/>
            <a:ext cx="200247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indent="266700">
              <a:tabLst>
                <a:tab pos="2952750" algn="l"/>
              </a:tabLst>
            </a:pPr>
            <a:r>
              <a:rPr lang="zh-CN" altLang="en-US" sz="2000" b="1" dirty="0"/>
              <a:t>双向限幅电路</a:t>
            </a:r>
          </a:p>
        </p:txBody>
      </p:sp>
      <p:pic>
        <p:nvPicPr>
          <p:cNvPr id="39961" name="Picture 2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4809457"/>
            <a:ext cx="3239774" cy="1730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9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9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9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9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9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53" grpId="0"/>
      <p:bldP spid="39955" grpId="0"/>
      <p:bldP spid="10" grpId="0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00" name="Rectangle 6"/>
          <p:cNvSpPr>
            <a:spLocks noChangeArrowheads="1"/>
          </p:cNvSpPr>
          <p:nvPr/>
        </p:nvSpPr>
        <p:spPr bwMode="auto">
          <a:xfrm>
            <a:off x="1021000" y="587375"/>
            <a:ext cx="20224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indent="266700">
              <a:tabLst>
                <a:tab pos="2952750" algn="l"/>
              </a:tabLst>
            </a:pPr>
            <a:r>
              <a:rPr lang="zh-CN" altLang="en-US" b="1" dirty="0"/>
              <a:t>正向限幅电路</a:t>
            </a:r>
          </a:p>
        </p:txBody>
      </p:sp>
      <p:sp>
        <p:nvSpPr>
          <p:cNvPr id="42001" name="Rectangle 7"/>
          <p:cNvSpPr>
            <a:spLocks noChangeArrowheads="1"/>
          </p:cNvSpPr>
          <p:nvPr/>
        </p:nvSpPr>
        <p:spPr bwMode="auto">
          <a:xfrm>
            <a:off x="0" y="26717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2002" name="Rectangle 8"/>
          <p:cNvSpPr>
            <a:spLocks noChangeArrowheads="1"/>
          </p:cNvSpPr>
          <p:nvPr/>
        </p:nvSpPr>
        <p:spPr bwMode="auto">
          <a:xfrm>
            <a:off x="5436096" y="587375"/>
            <a:ext cx="20224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indent="266700">
              <a:tabLst>
                <a:tab pos="2952750" algn="l"/>
              </a:tabLst>
            </a:pPr>
            <a:r>
              <a:rPr lang="zh-CN" altLang="en-US" b="1" dirty="0"/>
              <a:t>双向限幅电路</a:t>
            </a:r>
          </a:p>
        </p:txBody>
      </p:sp>
      <p:sp>
        <p:nvSpPr>
          <p:cNvPr id="42003" name="Rectangle 10"/>
          <p:cNvSpPr>
            <a:spLocks noChangeArrowheads="1"/>
          </p:cNvSpPr>
          <p:nvPr/>
        </p:nvSpPr>
        <p:spPr bwMode="auto">
          <a:xfrm>
            <a:off x="0" y="23717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42006" name="Picture 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103" y="1239517"/>
            <a:ext cx="2751793" cy="1501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007" name="Picture 2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049" y="1228725"/>
            <a:ext cx="3916245" cy="144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539552" y="3429000"/>
            <a:ext cx="7848872" cy="59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1" lang="zh-CN" altLang="en-US" sz="2400" b="1" dirty="0" smtClean="0">
                <a:solidFill>
                  <a:srgbClr val="990033"/>
                </a:solidFill>
                <a:latin typeface="Times New Roman" pitchFamily="18" charset="0"/>
              </a:rPr>
              <a:t>二、箝位</a:t>
            </a:r>
            <a:r>
              <a:rPr kumimoji="1" lang="zh-CN" altLang="en-US" sz="2400" b="1" dirty="0">
                <a:solidFill>
                  <a:srgbClr val="990033"/>
                </a:solidFill>
                <a:latin typeface="Times New Roman" pitchFamily="18" charset="0"/>
              </a:rPr>
              <a:t>电路或直流恢复</a:t>
            </a:r>
            <a:r>
              <a:rPr kumimoji="1" lang="zh-CN" altLang="en-US" sz="2400" b="1" dirty="0" smtClean="0">
                <a:solidFill>
                  <a:srgbClr val="990033"/>
                </a:solidFill>
                <a:latin typeface="Times New Roman" pitchFamily="18" charset="0"/>
              </a:rPr>
              <a:t>器</a:t>
            </a:r>
            <a:r>
              <a:rPr kumimoji="1" lang="zh-CN" altLang="en-US" sz="2400" b="1" dirty="0">
                <a:solidFill>
                  <a:srgbClr val="0000CC"/>
                </a:solidFill>
                <a:latin typeface="Times New Roman" pitchFamily="18" charset="0"/>
              </a:rPr>
              <a:t>（</a:t>
            </a:r>
            <a:r>
              <a:rPr kumimoji="1" lang="en-US" altLang="zh-CN" sz="2400" b="1" dirty="0">
                <a:solidFill>
                  <a:srgbClr val="0000CC"/>
                </a:solidFill>
                <a:latin typeface="Times New Roman" pitchFamily="18" charset="0"/>
              </a:rPr>
              <a:t> </a:t>
            </a:r>
            <a:r>
              <a:rPr kumimoji="1" lang="en-US" altLang="zh-CN" sz="2400" b="1" dirty="0">
                <a:solidFill>
                  <a:srgbClr val="0000CC"/>
                </a:solidFill>
                <a:latin typeface="Times New Roman" pitchFamily="18" charset="0"/>
              </a:rPr>
              <a:t>Clamped </a:t>
            </a:r>
            <a:r>
              <a:rPr kumimoji="1" lang="en-US" altLang="zh-CN" sz="2400" b="1" dirty="0">
                <a:solidFill>
                  <a:srgbClr val="0000CC"/>
                </a:solidFill>
                <a:latin typeface="Times New Roman" pitchFamily="18" charset="0"/>
              </a:rPr>
              <a:t>capacitor </a:t>
            </a:r>
            <a:r>
              <a:rPr kumimoji="1" lang="en-US" altLang="zh-CN" sz="2400" b="1" dirty="0">
                <a:solidFill>
                  <a:srgbClr val="0000CC"/>
                </a:solidFill>
                <a:latin typeface="Times New Roman" pitchFamily="18" charset="0"/>
              </a:rPr>
              <a:t>or DC </a:t>
            </a:r>
            <a:r>
              <a:rPr kumimoji="1" lang="en-US" altLang="zh-CN" sz="2400" b="1" dirty="0">
                <a:solidFill>
                  <a:srgbClr val="0000CC"/>
                </a:solidFill>
                <a:latin typeface="Times New Roman" pitchFamily="18" charset="0"/>
              </a:rPr>
              <a:t>restorer</a:t>
            </a:r>
            <a:r>
              <a:rPr kumimoji="1" lang="zh-CN" altLang="en-US" sz="2400" b="1" dirty="0">
                <a:solidFill>
                  <a:srgbClr val="0000CC"/>
                </a:solidFill>
                <a:latin typeface="Times New Roman" pitchFamily="18" charset="0"/>
              </a:rPr>
              <a:t>）</a:t>
            </a:r>
            <a:endParaRPr kumimoji="1" lang="zh-CN" altLang="en-US" sz="2400" b="1" dirty="0">
              <a:solidFill>
                <a:srgbClr val="0000CC"/>
              </a:solidFill>
              <a:latin typeface="Times New Roman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7002274"/>
              </p:ext>
            </p:extLst>
          </p:nvPr>
        </p:nvGraphicFramePr>
        <p:xfrm>
          <a:off x="3880674" y="6115165"/>
          <a:ext cx="1382652" cy="429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10" name="Equation" r:id="rId5" imgW="736560" imgH="228600" progId="Equation.DSMT4">
                  <p:embed/>
                </p:oleObj>
              </mc:Choice>
              <mc:Fallback>
                <p:oleObj name="Equation" r:id="rId5" imgW="7365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80674" y="6115165"/>
                        <a:ext cx="1382652" cy="4290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8613" y="4690630"/>
            <a:ext cx="2190750" cy="11620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103" y="4264846"/>
            <a:ext cx="1895475" cy="16573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07149" y="4450583"/>
            <a:ext cx="2581275" cy="128587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2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02" grpId="0"/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29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3030" name="Text Box 2"/>
          <p:cNvSpPr txBox="1">
            <a:spLocks noChangeArrowheads="1"/>
          </p:cNvSpPr>
          <p:nvPr/>
        </p:nvSpPr>
        <p:spPr bwMode="auto">
          <a:xfrm>
            <a:off x="395536" y="439552"/>
            <a:ext cx="6553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 smtClean="0">
                <a:solidFill>
                  <a:srgbClr val="990033"/>
                </a:solidFill>
                <a:latin typeface="Times New Roman" pitchFamily="18" charset="0"/>
              </a:rPr>
              <a:t>6.2.3 </a:t>
            </a:r>
            <a:r>
              <a:rPr kumimoji="1" lang="zh-CN" altLang="en-US" sz="2400" b="1" dirty="0" smtClean="0">
                <a:solidFill>
                  <a:srgbClr val="990033"/>
                </a:solidFill>
                <a:latin typeface="Times New Roman" pitchFamily="18" charset="0"/>
              </a:rPr>
              <a:t>电压</a:t>
            </a:r>
            <a:r>
              <a:rPr kumimoji="1" lang="zh-CN" altLang="en-US" sz="2400" b="1" dirty="0">
                <a:solidFill>
                  <a:srgbClr val="990033"/>
                </a:solidFill>
                <a:latin typeface="Times New Roman" pitchFamily="18" charset="0"/>
              </a:rPr>
              <a:t>倍增</a:t>
            </a:r>
            <a:r>
              <a:rPr kumimoji="1" lang="zh-CN" altLang="en-US" sz="2400" b="1" dirty="0" smtClean="0">
                <a:solidFill>
                  <a:srgbClr val="990033"/>
                </a:solidFill>
                <a:latin typeface="Times New Roman" pitchFamily="18" charset="0"/>
              </a:rPr>
              <a:t>器</a:t>
            </a:r>
            <a:r>
              <a:rPr kumimoji="1" lang="zh-CN" altLang="en-US" sz="2400" b="1" dirty="0">
                <a:solidFill>
                  <a:srgbClr val="0000CC"/>
                </a:solidFill>
                <a:latin typeface="Times New Roman" pitchFamily="18" charset="0"/>
              </a:rPr>
              <a:t>（</a:t>
            </a:r>
            <a:r>
              <a:rPr kumimoji="1" lang="en-US" altLang="zh-CN" sz="2400" b="1" dirty="0">
                <a:solidFill>
                  <a:srgbClr val="0000CC"/>
                </a:solidFill>
                <a:latin typeface="Times New Roman" pitchFamily="18" charset="0"/>
              </a:rPr>
              <a:t> Voltage </a:t>
            </a:r>
            <a:r>
              <a:rPr kumimoji="1" lang="en-US" altLang="zh-CN" sz="2400" b="1" dirty="0" err="1">
                <a:solidFill>
                  <a:srgbClr val="0000CC"/>
                </a:solidFill>
                <a:latin typeface="Times New Roman" pitchFamily="18" charset="0"/>
              </a:rPr>
              <a:t>doubler</a:t>
            </a:r>
            <a:r>
              <a:rPr kumimoji="1" lang="zh-CN" altLang="en-US" sz="2400" b="1" dirty="0">
                <a:solidFill>
                  <a:srgbClr val="0000CC"/>
                </a:solidFill>
                <a:latin typeface="Times New Roman" pitchFamily="18" charset="0"/>
              </a:rPr>
              <a:t>）</a:t>
            </a:r>
            <a:endParaRPr kumimoji="1" lang="zh-CN" altLang="en-US" sz="2400" b="1" dirty="0">
              <a:solidFill>
                <a:srgbClr val="0000CC"/>
              </a:solidFill>
              <a:latin typeface="Times New Roman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25" y="2924944"/>
            <a:ext cx="5554563" cy="342918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1152190"/>
            <a:ext cx="4467225" cy="174307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425450" y="476672"/>
            <a:ext cx="6553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 smtClean="0">
                <a:solidFill>
                  <a:srgbClr val="990033"/>
                </a:solidFill>
                <a:latin typeface="Times New Roman" pitchFamily="18" charset="0"/>
              </a:rPr>
              <a:t>6.2.4  </a:t>
            </a:r>
            <a:r>
              <a:rPr kumimoji="1" lang="zh-CN" altLang="en-US" sz="2400" b="1" dirty="0">
                <a:solidFill>
                  <a:srgbClr val="990033"/>
                </a:solidFill>
                <a:latin typeface="Times New Roman" pitchFamily="18" charset="0"/>
              </a:rPr>
              <a:t>逻辑门</a:t>
            </a:r>
          </a:p>
        </p:txBody>
      </p:sp>
      <p:pic>
        <p:nvPicPr>
          <p:cNvPr id="5" name="Picture 4" descr="8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42"/>
          <a:stretch>
            <a:fillRect/>
          </a:stretch>
        </p:blipFill>
        <p:spPr bwMode="auto">
          <a:xfrm>
            <a:off x="6156176" y="2348880"/>
            <a:ext cx="1990725" cy="2195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755576" y="1036662"/>
            <a:ext cx="7848872" cy="59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1" lang="zh-CN" altLang="en-US" sz="2400" b="1" dirty="0" smtClean="0">
                <a:solidFill>
                  <a:srgbClr val="990033"/>
                </a:solidFill>
                <a:latin typeface="Times New Roman" pitchFamily="18" charset="0"/>
              </a:rPr>
              <a:t>一、或门</a:t>
            </a:r>
            <a:endParaRPr kumimoji="1" lang="zh-CN" altLang="en-US" sz="2400" b="1" dirty="0">
              <a:solidFill>
                <a:srgbClr val="990033"/>
              </a:solidFill>
              <a:latin typeface="Times New Roman" pitchFamily="18" charset="0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961256" y="1773039"/>
            <a:ext cx="5050904" cy="3888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 smtClean="0">
                <a:latin typeface="Times New Roman" pitchFamily="18" charset="0"/>
                <a:ea typeface="楷体" pitchFamily="49" charset="-122"/>
              </a:rPr>
              <a:t>高电平表示</a:t>
            </a:r>
            <a:r>
              <a:rPr lang="en-US" altLang="zh-CN" sz="2000" dirty="0" smtClean="0">
                <a:latin typeface="Times New Roman" pitchFamily="18" charset="0"/>
                <a:ea typeface="楷体" pitchFamily="49" charset="-122"/>
              </a:rPr>
              <a:t>1</a:t>
            </a:r>
            <a:r>
              <a:rPr lang="zh-CN" altLang="en-US" sz="2000" dirty="0" smtClean="0">
                <a:latin typeface="Times New Roman" pitchFamily="18" charset="0"/>
                <a:ea typeface="楷体" pitchFamily="49" charset="-122"/>
              </a:rPr>
              <a:t>，低电平表示</a:t>
            </a:r>
            <a:r>
              <a:rPr lang="en-US" altLang="zh-CN" sz="2000" dirty="0" smtClean="0">
                <a:latin typeface="Times New Roman" pitchFamily="18" charset="0"/>
                <a:ea typeface="楷体" pitchFamily="49" charset="-122"/>
              </a:rPr>
              <a:t>0 </a:t>
            </a:r>
          </a:p>
          <a:p>
            <a:endParaRPr lang="zh-CN" altLang="en-US" sz="2000" dirty="0" smtClean="0">
              <a:latin typeface="Times New Roman" pitchFamily="18" charset="0"/>
              <a:ea typeface="楷体" pitchFamily="49" charset="-122"/>
            </a:endParaRPr>
          </a:p>
          <a:p>
            <a:r>
              <a:rPr lang="zh-CN" altLang="en-US" sz="2000" dirty="0" smtClean="0">
                <a:latin typeface="Times New Roman" pitchFamily="18" charset="0"/>
                <a:ea typeface="楷体" pitchFamily="49" charset="-122"/>
              </a:rPr>
              <a:t>若</a:t>
            </a:r>
            <a:r>
              <a:rPr lang="en-US" altLang="zh-CN" sz="2000" i="1" dirty="0" err="1" smtClean="0">
                <a:latin typeface="Times New Roman" pitchFamily="18" charset="0"/>
                <a:ea typeface="楷体" pitchFamily="49" charset="-122"/>
              </a:rPr>
              <a:t>v</a:t>
            </a:r>
            <a:r>
              <a:rPr lang="en-US" altLang="zh-CN" sz="2000" baseline="-25000" dirty="0" err="1" smtClean="0">
                <a:latin typeface="Times New Roman" pitchFamily="18" charset="0"/>
                <a:ea typeface="楷体" pitchFamily="49" charset="-122"/>
              </a:rPr>
              <a:t>A</a:t>
            </a:r>
            <a:r>
              <a:rPr lang="zh-CN" altLang="en-US" sz="2000" dirty="0" smtClean="0">
                <a:latin typeface="Times New Roman" pitchFamily="18" charset="0"/>
                <a:ea typeface="楷体" pitchFamily="49" charset="-122"/>
              </a:rPr>
              <a:t>、</a:t>
            </a:r>
            <a:r>
              <a:rPr lang="en-US" altLang="zh-CN" sz="2000" i="1" dirty="0" err="1" smtClean="0">
                <a:latin typeface="Times New Roman" pitchFamily="18" charset="0"/>
                <a:ea typeface="楷体" pitchFamily="49" charset="-122"/>
              </a:rPr>
              <a:t>v</a:t>
            </a:r>
            <a:r>
              <a:rPr lang="en-US" altLang="zh-CN" sz="2000" baseline="-25000" dirty="0" err="1" smtClean="0">
                <a:latin typeface="Times New Roman" pitchFamily="18" charset="0"/>
                <a:ea typeface="楷体" pitchFamily="49" charset="-122"/>
              </a:rPr>
              <a:t>B</a:t>
            </a:r>
            <a:r>
              <a:rPr lang="zh-CN" altLang="en-US" sz="2000" dirty="0" smtClean="0">
                <a:latin typeface="Times New Roman" pitchFamily="18" charset="0"/>
                <a:ea typeface="楷体" pitchFamily="49" charset="-122"/>
              </a:rPr>
              <a:t>、</a:t>
            </a:r>
            <a:r>
              <a:rPr lang="en-US" altLang="zh-CN" sz="2000" i="1" dirty="0" err="1" smtClean="0">
                <a:latin typeface="Times New Roman" pitchFamily="18" charset="0"/>
                <a:ea typeface="楷体" pitchFamily="49" charset="-122"/>
              </a:rPr>
              <a:t>v</a:t>
            </a:r>
            <a:r>
              <a:rPr lang="en-US" altLang="zh-CN" sz="2000" baseline="-25000" dirty="0" err="1" smtClean="0">
                <a:latin typeface="Times New Roman" pitchFamily="18" charset="0"/>
                <a:ea typeface="楷体" pitchFamily="49" charset="-122"/>
              </a:rPr>
              <a:t>C</a:t>
            </a:r>
            <a:r>
              <a:rPr lang="zh-CN" altLang="en-US" sz="2000" dirty="0" smtClean="0">
                <a:latin typeface="Times New Roman" pitchFamily="18" charset="0"/>
                <a:ea typeface="楷体" pitchFamily="49" charset="-122"/>
              </a:rPr>
              <a:t>中任意一个输入高电平 </a:t>
            </a:r>
          </a:p>
          <a:p>
            <a:pPr lvl="1"/>
            <a:r>
              <a:rPr lang="zh-CN" altLang="en-US" sz="2000" dirty="0" smtClean="0">
                <a:latin typeface="Times New Roman" pitchFamily="18" charset="0"/>
                <a:ea typeface="楷体" pitchFamily="49" charset="-122"/>
              </a:rPr>
              <a:t>对应二极管导通 </a:t>
            </a:r>
          </a:p>
          <a:p>
            <a:pPr lvl="1"/>
            <a:r>
              <a:rPr lang="en-US" altLang="zh-CN" sz="2000" i="1" dirty="0" err="1" smtClean="0">
                <a:latin typeface="Times New Roman" pitchFamily="18" charset="0"/>
                <a:ea typeface="楷体" pitchFamily="49" charset="-122"/>
              </a:rPr>
              <a:t>v</a:t>
            </a:r>
            <a:r>
              <a:rPr lang="en-US" altLang="zh-CN" sz="2000" i="1" baseline="-25000" dirty="0" err="1" smtClean="0">
                <a:latin typeface="Times New Roman" pitchFamily="18" charset="0"/>
                <a:ea typeface="楷体" pitchFamily="49" charset="-122"/>
              </a:rPr>
              <a:t>Y</a:t>
            </a:r>
            <a:r>
              <a:rPr lang="zh-CN" altLang="en-US" sz="2000" dirty="0" smtClean="0">
                <a:latin typeface="Times New Roman" pitchFamily="18" charset="0"/>
                <a:ea typeface="楷体" pitchFamily="49" charset="-122"/>
              </a:rPr>
              <a:t>输出高电平 </a:t>
            </a:r>
          </a:p>
          <a:p>
            <a:endParaRPr lang="zh-CN" altLang="en-US" sz="2000" dirty="0" smtClean="0">
              <a:latin typeface="Times New Roman" pitchFamily="18" charset="0"/>
              <a:ea typeface="楷体" pitchFamily="49" charset="-122"/>
            </a:endParaRPr>
          </a:p>
          <a:p>
            <a:r>
              <a:rPr lang="zh-CN" altLang="en-US" sz="2000" dirty="0" smtClean="0">
                <a:latin typeface="Times New Roman" pitchFamily="18" charset="0"/>
                <a:ea typeface="楷体" pitchFamily="49" charset="-122"/>
              </a:rPr>
              <a:t>若所有输入均为低电平</a:t>
            </a:r>
          </a:p>
          <a:p>
            <a:pPr lvl="1"/>
            <a:r>
              <a:rPr lang="zh-CN" altLang="en-US" sz="2000" dirty="0" smtClean="0">
                <a:latin typeface="Times New Roman" pitchFamily="18" charset="0"/>
                <a:ea typeface="楷体" pitchFamily="49" charset="-122"/>
              </a:rPr>
              <a:t>所有二极管截止</a:t>
            </a:r>
          </a:p>
          <a:p>
            <a:pPr lvl="1"/>
            <a:r>
              <a:rPr lang="zh-CN" altLang="en-US" sz="2000" dirty="0" smtClean="0">
                <a:latin typeface="Times New Roman" pitchFamily="18" charset="0"/>
                <a:ea typeface="楷体" pitchFamily="49" charset="-122"/>
              </a:rPr>
              <a:t> </a:t>
            </a:r>
            <a:r>
              <a:rPr lang="en-US" altLang="zh-CN" sz="2000" i="1" dirty="0" err="1" smtClean="0">
                <a:latin typeface="Times New Roman" pitchFamily="18" charset="0"/>
                <a:ea typeface="楷体" pitchFamily="49" charset="-122"/>
              </a:rPr>
              <a:t>v</a:t>
            </a:r>
            <a:r>
              <a:rPr lang="en-US" altLang="zh-CN" sz="2000" i="1" baseline="-25000" dirty="0" err="1" smtClean="0">
                <a:latin typeface="Times New Roman" pitchFamily="18" charset="0"/>
                <a:ea typeface="楷体" pitchFamily="49" charset="-122"/>
              </a:rPr>
              <a:t>Y</a:t>
            </a:r>
            <a:r>
              <a:rPr lang="zh-CN" altLang="en-US" sz="2000" dirty="0" smtClean="0">
                <a:latin typeface="Times New Roman" pitchFamily="18" charset="0"/>
                <a:ea typeface="楷体" pitchFamily="49" charset="-122"/>
              </a:rPr>
              <a:t>输出低电平</a:t>
            </a:r>
          </a:p>
        </p:txBody>
      </p:sp>
    </p:spTree>
    <p:extLst>
      <p:ext uri="{BB962C8B-B14F-4D97-AF65-F5344CB8AC3E}">
        <p14:creationId xmlns:p14="http://schemas.microsoft.com/office/powerpoint/2010/main" val="2007955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755576" y="692696"/>
            <a:ext cx="7848872" cy="59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1" lang="zh-CN" altLang="en-US" sz="2400" b="1" dirty="0" smtClean="0">
                <a:solidFill>
                  <a:srgbClr val="990033"/>
                </a:solidFill>
                <a:latin typeface="Times New Roman" pitchFamily="18" charset="0"/>
              </a:rPr>
              <a:t>二、与门</a:t>
            </a:r>
            <a:endParaRPr kumimoji="1" lang="zh-CN" altLang="en-US" sz="2400" b="1" dirty="0">
              <a:solidFill>
                <a:srgbClr val="990033"/>
              </a:solidFill>
              <a:latin typeface="Times New Roman" pitchFamily="18" charset="0"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1177280" y="1629023"/>
            <a:ext cx="4834880" cy="4392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 smtClean="0">
                <a:latin typeface="Times New Roman" pitchFamily="18" charset="0"/>
                <a:ea typeface="楷体" pitchFamily="49" charset="-122"/>
              </a:rPr>
              <a:t>高电平表示</a:t>
            </a:r>
            <a:r>
              <a:rPr lang="en-US" altLang="zh-CN" sz="2000" dirty="0" smtClean="0">
                <a:latin typeface="Times New Roman" pitchFamily="18" charset="0"/>
                <a:ea typeface="楷体" pitchFamily="49" charset="-122"/>
              </a:rPr>
              <a:t>1</a:t>
            </a:r>
            <a:r>
              <a:rPr lang="zh-CN" altLang="en-US" sz="2000" dirty="0" smtClean="0">
                <a:latin typeface="Times New Roman" pitchFamily="18" charset="0"/>
                <a:ea typeface="楷体" pitchFamily="49" charset="-122"/>
              </a:rPr>
              <a:t>，低电平表示</a:t>
            </a:r>
            <a:r>
              <a:rPr lang="en-US" altLang="zh-CN" sz="2000" dirty="0" smtClean="0">
                <a:latin typeface="Times New Roman" pitchFamily="18" charset="0"/>
                <a:ea typeface="楷体" pitchFamily="49" charset="-122"/>
              </a:rPr>
              <a:t>0 </a:t>
            </a:r>
          </a:p>
          <a:p>
            <a:endParaRPr lang="zh-CN" altLang="en-US" sz="2000" dirty="0" smtClean="0">
              <a:latin typeface="Times New Roman" pitchFamily="18" charset="0"/>
              <a:ea typeface="楷体" pitchFamily="49" charset="-122"/>
            </a:endParaRPr>
          </a:p>
          <a:p>
            <a:r>
              <a:rPr lang="zh-CN" altLang="en-US" sz="2000" dirty="0" smtClean="0">
                <a:latin typeface="Times New Roman" pitchFamily="18" charset="0"/>
                <a:ea typeface="楷体" pitchFamily="49" charset="-122"/>
              </a:rPr>
              <a:t>若</a:t>
            </a:r>
            <a:r>
              <a:rPr lang="en-US" altLang="zh-CN" sz="2000" i="1" dirty="0" err="1" smtClean="0">
                <a:latin typeface="Times New Roman" pitchFamily="18" charset="0"/>
                <a:ea typeface="楷体" pitchFamily="49" charset="-122"/>
              </a:rPr>
              <a:t>v</a:t>
            </a:r>
            <a:r>
              <a:rPr lang="en-US" altLang="zh-CN" sz="2000" i="1" baseline="-25000" dirty="0" err="1" smtClean="0">
                <a:latin typeface="Times New Roman" pitchFamily="18" charset="0"/>
                <a:ea typeface="楷体" pitchFamily="49" charset="-122"/>
              </a:rPr>
              <a:t>A</a:t>
            </a:r>
            <a:r>
              <a:rPr lang="zh-CN" altLang="en-US" sz="2000" dirty="0" smtClean="0">
                <a:latin typeface="Times New Roman" pitchFamily="18" charset="0"/>
                <a:ea typeface="楷体" pitchFamily="49" charset="-122"/>
              </a:rPr>
              <a:t>、</a:t>
            </a:r>
            <a:r>
              <a:rPr lang="en-US" altLang="zh-CN" sz="2000" i="1" dirty="0" err="1" smtClean="0">
                <a:latin typeface="Times New Roman" pitchFamily="18" charset="0"/>
                <a:ea typeface="楷体" pitchFamily="49" charset="-122"/>
              </a:rPr>
              <a:t>v</a:t>
            </a:r>
            <a:r>
              <a:rPr lang="en-US" altLang="zh-CN" sz="2000" i="1" baseline="-25000" dirty="0" err="1" smtClean="0">
                <a:latin typeface="Times New Roman" pitchFamily="18" charset="0"/>
                <a:ea typeface="楷体" pitchFamily="49" charset="-122"/>
              </a:rPr>
              <a:t>B</a:t>
            </a:r>
            <a:r>
              <a:rPr lang="zh-CN" altLang="en-US" sz="2000" dirty="0" smtClean="0">
                <a:latin typeface="Times New Roman" pitchFamily="18" charset="0"/>
                <a:ea typeface="楷体" pitchFamily="49" charset="-122"/>
              </a:rPr>
              <a:t>、</a:t>
            </a:r>
            <a:r>
              <a:rPr lang="en-US" altLang="zh-CN" sz="2000" i="1" dirty="0" err="1" smtClean="0">
                <a:latin typeface="Times New Roman" pitchFamily="18" charset="0"/>
                <a:ea typeface="楷体" pitchFamily="49" charset="-122"/>
              </a:rPr>
              <a:t>v</a:t>
            </a:r>
            <a:r>
              <a:rPr lang="en-US" altLang="zh-CN" sz="2000" i="1" baseline="-25000" dirty="0" err="1" smtClean="0">
                <a:latin typeface="Times New Roman" pitchFamily="18" charset="0"/>
                <a:ea typeface="楷体" pitchFamily="49" charset="-122"/>
              </a:rPr>
              <a:t>C</a:t>
            </a:r>
            <a:r>
              <a:rPr lang="zh-CN" altLang="en-US" sz="2000" dirty="0" smtClean="0">
                <a:latin typeface="Times New Roman" pitchFamily="18" charset="0"/>
                <a:ea typeface="楷体" pitchFamily="49" charset="-122"/>
              </a:rPr>
              <a:t>中任意一个输入低电平 </a:t>
            </a:r>
          </a:p>
          <a:p>
            <a:pPr lvl="1"/>
            <a:r>
              <a:rPr lang="zh-CN" altLang="en-US" sz="2000" dirty="0" smtClean="0">
                <a:latin typeface="Times New Roman" pitchFamily="18" charset="0"/>
                <a:ea typeface="楷体" pitchFamily="49" charset="-122"/>
              </a:rPr>
              <a:t>对应二极管导通 </a:t>
            </a:r>
          </a:p>
          <a:p>
            <a:pPr lvl="1"/>
            <a:r>
              <a:rPr lang="en-US" altLang="zh-CN" sz="2000" i="1" dirty="0" err="1" smtClean="0">
                <a:latin typeface="Times New Roman" pitchFamily="18" charset="0"/>
                <a:ea typeface="楷体" pitchFamily="49" charset="-122"/>
              </a:rPr>
              <a:t>v</a:t>
            </a:r>
            <a:r>
              <a:rPr lang="en-US" altLang="zh-CN" sz="2000" i="1" baseline="-25000" dirty="0" err="1" smtClean="0">
                <a:latin typeface="Times New Roman" pitchFamily="18" charset="0"/>
                <a:ea typeface="楷体" pitchFamily="49" charset="-122"/>
              </a:rPr>
              <a:t>Y</a:t>
            </a:r>
            <a:r>
              <a:rPr lang="zh-CN" altLang="en-US" sz="2000" dirty="0" smtClean="0">
                <a:latin typeface="Times New Roman" pitchFamily="18" charset="0"/>
                <a:ea typeface="楷体" pitchFamily="49" charset="-122"/>
              </a:rPr>
              <a:t>输出低电平 </a:t>
            </a:r>
          </a:p>
          <a:p>
            <a:endParaRPr lang="zh-CN" altLang="en-US" sz="2000" dirty="0" smtClean="0">
              <a:latin typeface="Times New Roman" pitchFamily="18" charset="0"/>
              <a:ea typeface="楷体" pitchFamily="49" charset="-122"/>
            </a:endParaRPr>
          </a:p>
          <a:p>
            <a:r>
              <a:rPr lang="zh-CN" altLang="en-US" sz="2000" dirty="0" smtClean="0">
                <a:latin typeface="Times New Roman" pitchFamily="18" charset="0"/>
                <a:ea typeface="楷体" pitchFamily="49" charset="-122"/>
              </a:rPr>
              <a:t>若所有输入均为高电平</a:t>
            </a:r>
          </a:p>
          <a:p>
            <a:pPr lvl="1"/>
            <a:r>
              <a:rPr lang="zh-CN" altLang="en-US" sz="2000" dirty="0" smtClean="0">
                <a:latin typeface="Times New Roman" pitchFamily="18" charset="0"/>
                <a:ea typeface="楷体" pitchFamily="49" charset="-122"/>
              </a:rPr>
              <a:t>所有二极管截止</a:t>
            </a:r>
          </a:p>
          <a:p>
            <a:pPr lvl="1"/>
            <a:r>
              <a:rPr lang="zh-CN" altLang="en-US" sz="2000" dirty="0" smtClean="0">
                <a:latin typeface="Times New Roman" pitchFamily="18" charset="0"/>
                <a:ea typeface="楷体" pitchFamily="49" charset="-122"/>
              </a:rPr>
              <a:t> </a:t>
            </a:r>
            <a:r>
              <a:rPr lang="en-US" altLang="zh-CN" sz="2000" i="1" dirty="0" err="1" smtClean="0">
                <a:latin typeface="Times New Roman" pitchFamily="18" charset="0"/>
                <a:ea typeface="楷体" pitchFamily="49" charset="-122"/>
              </a:rPr>
              <a:t>v</a:t>
            </a:r>
            <a:r>
              <a:rPr lang="en-US" altLang="zh-CN" sz="2000" i="1" baseline="-25000" dirty="0" err="1" smtClean="0">
                <a:latin typeface="Times New Roman" pitchFamily="18" charset="0"/>
                <a:ea typeface="楷体" pitchFamily="49" charset="-122"/>
              </a:rPr>
              <a:t>Y</a:t>
            </a:r>
            <a:r>
              <a:rPr lang="zh-CN" altLang="en-US" sz="2000" dirty="0" smtClean="0">
                <a:latin typeface="Times New Roman" pitchFamily="18" charset="0"/>
                <a:ea typeface="楷体" pitchFamily="49" charset="-122"/>
              </a:rPr>
              <a:t>输出高电平</a:t>
            </a:r>
          </a:p>
          <a:p>
            <a:pPr lvl="1"/>
            <a:endParaRPr lang="zh-CN" altLang="en-US" sz="2000" dirty="0" smtClean="0">
              <a:latin typeface="Times New Roman" pitchFamily="18" charset="0"/>
              <a:ea typeface="楷体" pitchFamily="49" charset="-122"/>
            </a:endParaRPr>
          </a:p>
        </p:txBody>
      </p:sp>
      <p:pic>
        <p:nvPicPr>
          <p:cNvPr id="6" name="Picture 5" descr="8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5"/>
          <a:stretch>
            <a:fillRect/>
          </a:stretch>
        </p:blipFill>
        <p:spPr bwMode="auto">
          <a:xfrm>
            <a:off x="6012160" y="2204864"/>
            <a:ext cx="2219325" cy="229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1422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2503</TotalTime>
  <Words>697</Words>
  <Application>Microsoft Office PowerPoint</Application>
  <PresentationFormat>全屏显示(4:3)</PresentationFormat>
  <Paragraphs>130</Paragraphs>
  <Slides>28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28</vt:i4>
      </vt:variant>
    </vt:vector>
  </HeadingPairs>
  <TitlesOfParts>
    <vt:vector size="40" baseType="lpstr">
      <vt:lpstr>楷体</vt:lpstr>
      <vt:lpstr>楷体_GB2312</vt:lpstr>
      <vt:lpstr>隶书</vt:lpstr>
      <vt:lpstr>宋体</vt:lpstr>
      <vt:lpstr>Arial</vt:lpstr>
      <vt:lpstr>Calibri</vt:lpstr>
      <vt:lpstr>Times New Roman</vt:lpstr>
      <vt:lpstr>Wingdings</vt:lpstr>
      <vt:lpstr>Office 主题​​</vt:lpstr>
      <vt:lpstr>Photo Editor 照片</vt:lpstr>
      <vt:lpstr>Visio</vt:lpstr>
      <vt:lpstr>Equation</vt:lpstr>
      <vt:lpstr>第6章  二极管</vt:lpstr>
      <vt:lpstr>PowerPoint 演示文稿</vt:lpstr>
      <vt:lpstr>PowerPoint 演示文稿</vt:lpstr>
      <vt:lpstr>PowerPoint 演示文稿</vt:lpstr>
      <vt:lpstr>二、二极管伏安特性</vt:lpstr>
      <vt:lpstr>PowerPoint 演示文稿</vt:lpstr>
      <vt:lpstr>PowerPoint 演示文稿</vt:lpstr>
      <vt:lpstr>三、二极管的主要参数</vt:lpstr>
      <vt:lpstr>PowerPoint 演示文稿</vt:lpstr>
      <vt:lpstr>二、恒压降模型</vt:lpstr>
      <vt:lpstr>三、小信号模型</vt:lpstr>
      <vt:lpstr>PowerPoint 演示文稿</vt:lpstr>
      <vt:lpstr>PowerPoint 演示文稿</vt:lpstr>
      <vt:lpstr>二、伏安特性</vt:lpstr>
      <vt:lpstr>PowerPoint 演示文稿</vt:lpstr>
      <vt:lpstr>PowerPoint 演示文稿</vt:lpstr>
      <vt:lpstr>PowerPoint 演示文稿</vt:lpstr>
      <vt:lpstr>2、重复分析法（迭代法）</vt:lpstr>
      <vt:lpstr>PowerPoint 演示文稿</vt:lpstr>
      <vt:lpstr>一、半波整流器（Half - wave rectifier）</vt:lpstr>
      <vt:lpstr>二、全波整流器（Full - wave rectifier）</vt:lpstr>
      <vt:lpstr>三、桥式整流器（Bridge rectifier）</vt:lpstr>
      <vt:lpstr>四、精密半波整流器 --- Superdiode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ZJU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第5章  二极管</dc:title>
  <dc:creator>JT</dc:creator>
  <cp:lastModifiedBy>JT</cp:lastModifiedBy>
  <cp:revision>138</cp:revision>
  <dcterms:created xsi:type="dcterms:W3CDTF">2012-11-05T01:53:55Z</dcterms:created>
  <dcterms:modified xsi:type="dcterms:W3CDTF">2024-06-17T07:28:52Z</dcterms:modified>
</cp:coreProperties>
</file>
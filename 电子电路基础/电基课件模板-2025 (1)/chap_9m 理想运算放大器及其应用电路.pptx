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vsd" ContentType="application/vnd.visio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340" r:id="rId2"/>
    <p:sldId id="438" r:id="rId3"/>
    <p:sldId id="439" r:id="rId4"/>
    <p:sldId id="440" r:id="rId5"/>
    <p:sldId id="441" r:id="rId6"/>
    <p:sldId id="442" r:id="rId7"/>
    <p:sldId id="443" r:id="rId8"/>
    <p:sldId id="444" r:id="rId9"/>
    <p:sldId id="445" r:id="rId10"/>
    <p:sldId id="446" r:id="rId11"/>
    <p:sldId id="447" r:id="rId12"/>
    <p:sldId id="448" r:id="rId13"/>
    <p:sldId id="449" r:id="rId14"/>
    <p:sldId id="450" r:id="rId15"/>
    <p:sldId id="451" r:id="rId16"/>
    <p:sldId id="452" r:id="rId17"/>
    <p:sldId id="453" r:id="rId18"/>
    <p:sldId id="454" r:id="rId19"/>
    <p:sldId id="455" r:id="rId20"/>
    <p:sldId id="456" r:id="rId21"/>
    <p:sldId id="457" r:id="rId22"/>
    <p:sldId id="458" r:id="rId23"/>
    <p:sldId id="459" r:id="rId24"/>
    <p:sldId id="460" r:id="rId25"/>
    <p:sldId id="461" r:id="rId26"/>
    <p:sldId id="462" r:id="rId27"/>
    <p:sldId id="463" r:id="rId28"/>
    <p:sldId id="464" r:id="rId29"/>
    <p:sldId id="465" r:id="rId30"/>
    <p:sldId id="466" r:id="rId31"/>
    <p:sldId id="467" r:id="rId32"/>
    <p:sldId id="468" r:id="rId3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3200" b="1" kern="1200">
        <a:solidFill>
          <a:srgbClr val="FFFF00"/>
        </a:solidFill>
        <a:latin typeface="Times New Roman" pitchFamily="18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b="1" kern="1200">
        <a:solidFill>
          <a:srgbClr val="FFFF00"/>
        </a:solidFill>
        <a:latin typeface="Times New Roman" pitchFamily="18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b="1" kern="1200">
        <a:solidFill>
          <a:srgbClr val="FFFF00"/>
        </a:solidFill>
        <a:latin typeface="Times New Roman" pitchFamily="18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b="1" kern="1200">
        <a:solidFill>
          <a:srgbClr val="FFFF00"/>
        </a:solidFill>
        <a:latin typeface="Times New Roman" pitchFamily="18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b="1" kern="1200">
        <a:solidFill>
          <a:srgbClr val="FFFF00"/>
        </a:solidFill>
        <a:latin typeface="Times New Roman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FF00"/>
        </a:solidFill>
        <a:latin typeface="Times New Roman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FF00"/>
        </a:solidFill>
        <a:latin typeface="Times New Roman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FF00"/>
        </a:solidFill>
        <a:latin typeface="Times New Roman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FF00"/>
        </a:solidFill>
        <a:latin typeface="Times New Roman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F1DE"/>
    <a:srgbClr val="CC6600"/>
    <a:srgbClr val="FF9900"/>
    <a:srgbClr val="CCFF99"/>
    <a:srgbClr val="FF3300"/>
    <a:srgbClr val="990000"/>
    <a:srgbClr val="996633"/>
    <a:srgbClr val="CC3300"/>
    <a:srgbClr val="99CC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14" autoAdjust="0"/>
  </p:normalViewPr>
  <p:slideViewPr>
    <p:cSldViewPr>
      <p:cViewPr>
        <p:scale>
          <a:sx n="100" d="100"/>
          <a:sy n="100" d="100"/>
        </p:scale>
        <p:origin x="1914" y="4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-315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3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3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8C07DE62-6BC7-482B-BA23-8412444EB9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1153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F8B95B-602E-4E9C-97A8-91DBF441E5EB}" type="datetimeFigureOut">
              <a:rPr lang="zh-CN" altLang="en-US" smtClean="0"/>
              <a:t>2024-06-26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DC9B5B-CF9A-4F12-8DA9-F8DED5D921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843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DC9B5B-CF9A-4F12-8DA9-F8DED5D921E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528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DC9B5B-CF9A-4F12-8DA9-F8DED5D921E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150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3533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0490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162545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071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3790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962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5569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62149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69933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5971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6345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slide" Target="slide13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studychinese.net/dwhy/eeqx/d4.htm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hyperlink" Target="http://www.centrmus.com/cmetech/showtech.php?id=10121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.png"/><Relationship Id="rId4" Type="http://schemas.openxmlformats.org/officeDocument/2006/relationships/image" Target="../media/image8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9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1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4.png"/><Relationship Id="rId4" Type="http://schemas.openxmlformats.org/officeDocument/2006/relationships/image" Target="../media/image12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4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5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7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8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0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3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6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9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1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image" Target="../media/image36.png"/><Relationship Id="rId7" Type="http://schemas.openxmlformats.org/officeDocument/2006/relationships/image" Target="../media/image3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5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3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32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40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Microsoft_Visio_2003-2010___2.vsd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42.wmf"/><Relationship Id="rId4" Type="http://schemas.openxmlformats.org/officeDocument/2006/relationships/oleObject" Target="../embeddings/Microsoft_Visio_2003-2010___1.vsd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7" Type="http://schemas.openxmlformats.org/officeDocument/2006/relationships/image" Target="../media/image4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44.emf"/><Relationship Id="rId4" Type="http://schemas.openxmlformats.org/officeDocument/2006/relationships/oleObject" Target="../embeddings/Microsoft_Visio_2003-2010___3.vsd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1361331" y="1052736"/>
            <a:ext cx="6418263" cy="1512168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ln/>
          <a:effectLst>
            <a:prstShdw prst="shdw17" dist="17961" dir="2700000">
              <a:srgbClr val="FFFFFF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4800" b="1" kern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第</a:t>
            </a:r>
            <a:r>
              <a:rPr lang="en-US" altLang="zh-CN" sz="4800" b="1" kern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9</a:t>
            </a:r>
            <a:r>
              <a:rPr lang="zh-CN" altLang="en-US" sz="4800" kern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章 理想</a:t>
            </a:r>
            <a:r>
              <a:rPr lang="zh-CN" altLang="en-US" sz="4800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运算放大器及其应用电路</a:t>
            </a:r>
            <a:endParaRPr lang="zh-CN" altLang="en-US" sz="4800" kern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6" name="Text Box 10" descr="蓝色砂纸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691680" y="3429000"/>
            <a:ext cx="5796111" cy="579438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/>
            <a:r>
              <a:rPr lang="zh-CN" altLang="en-US" sz="32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运算放大器基础</a:t>
            </a:r>
            <a:endParaRPr lang="zh-CN" altLang="en-US" sz="32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" name="Text Box 13" descr="蓝色砂纸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1691681" y="4572417"/>
            <a:ext cx="5796111" cy="584775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/>
            <a:r>
              <a:rPr lang="zh-CN" altLang="en-US" sz="3200" dirty="0" smtClean="0">
                <a:solidFill>
                  <a:schemeClr val="tx2"/>
                </a:solidFill>
                <a:ea typeface="楷体_GB2312" pitchFamily="49" charset="-122"/>
              </a:rPr>
              <a:t>运算放大器基本应用电路</a:t>
            </a:r>
            <a:endParaRPr lang="zh-CN" altLang="en-US" sz="3200" dirty="0">
              <a:solidFill>
                <a:schemeClr val="tx2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64"/>
          <p:cNvSpPr>
            <a:spLocks noChangeArrowheads="1"/>
          </p:cNvSpPr>
          <p:nvPr/>
        </p:nvSpPr>
        <p:spPr bwMode="auto">
          <a:xfrm>
            <a:off x="666750" y="651485"/>
            <a:ext cx="7515225" cy="519113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zh-CN" sz="2800" dirty="0" smtClean="0">
                <a:solidFill>
                  <a:schemeClr val="tx2"/>
                </a:solidFill>
              </a:rPr>
              <a:t>9.1 </a:t>
            </a:r>
            <a:r>
              <a:rPr lang="zh-CN" altLang="en-US" sz="2800" smtClean="0">
                <a:solidFill>
                  <a:schemeClr val="tx2"/>
                </a:solidFill>
              </a:rPr>
              <a:t>运算放大器基础</a:t>
            </a:r>
            <a:endParaRPr lang="zh-CN" altLang="en-US" sz="2800" dirty="0">
              <a:solidFill>
                <a:schemeClr val="tx2"/>
              </a:solidFill>
            </a:endParaRPr>
          </a:p>
        </p:txBody>
      </p:sp>
      <p:sp>
        <p:nvSpPr>
          <p:cNvPr id="48" name="Text Box 65"/>
          <p:cNvSpPr txBox="1">
            <a:spLocks noChangeArrowheads="1"/>
          </p:cNvSpPr>
          <p:nvPr/>
        </p:nvSpPr>
        <p:spPr bwMode="auto">
          <a:xfrm>
            <a:off x="388938" y="1481103"/>
            <a:ext cx="82883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0" hangingPunct="0"/>
            <a:r>
              <a:rPr lang="en-US" altLang="zh-CN" sz="2400" dirty="0" smtClean="0">
                <a:solidFill>
                  <a:srgbClr val="990033"/>
                </a:solidFill>
              </a:rPr>
              <a:t>9.1.1 </a:t>
            </a:r>
            <a:r>
              <a:rPr lang="zh-CN" altLang="en-US" sz="2400" dirty="0" smtClean="0">
                <a:solidFill>
                  <a:srgbClr val="990033"/>
                </a:solidFill>
              </a:rPr>
              <a:t>运算放大器</a:t>
            </a:r>
            <a:r>
              <a:rPr lang="zh-CN" altLang="en-US" sz="2400" dirty="0">
                <a:solidFill>
                  <a:srgbClr val="990033"/>
                </a:solidFill>
              </a:rPr>
              <a:t>的结构及其电路符号</a:t>
            </a:r>
            <a:endParaRPr lang="en-US" altLang="zh-CN" sz="2400" dirty="0">
              <a:solidFill>
                <a:srgbClr val="990033"/>
              </a:solidFill>
            </a:endParaRPr>
          </a:p>
        </p:txBody>
      </p:sp>
      <p:sp>
        <p:nvSpPr>
          <p:cNvPr id="49" name="Text Box 3"/>
          <p:cNvSpPr txBox="1">
            <a:spLocks noChangeArrowheads="1"/>
          </p:cNvSpPr>
          <p:nvPr/>
        </p:nvSpPr>
        <p:spPr bwMode="auto">
          <a:xfrm>
            <a:off x="750340" y="2088683"/>
            <a:ext cx="56938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dirty="0" smtClean="0">
                <a:solidFill>
                  <a:srgbClr val="990033"/>
                </a:solidFill>
                <a:ea typeface="宋体" charset="-122"/>
              </a:rPr>
              <a:t>一、概述</a:t>
            </a:r>
            <a:endParaRPr kumimoji="1" lang="zh-CN" altLang="en-US" sz="2400" dirty="0">
              <a:solidFill>
                <a:srgbClr val="990033"/>
              </a:solidFill>
              <a:ea typeface="宋体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55255" y="2786152"/>
            <a:ext cx="699435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/>
                </a:solidFill>
              </a:rPr>
              <a:t>运算放大器（简称运放）是</a:t>
            </a:r>
            <a:r>
              <a:rPr lang="zh-CN" altLang="en-US" sz="2000" dirty="0">
                <a:solidFill>
                  <a:schemeClr val="tx1"/>
                </a:solidFill>
              </a:rPr>
              <a:t>一种有着十分广泛用途的电子器件。最早开始应用于</a:t>
            </a:r>
            <a:r>
              <a:rPr lang="en-US" altLang="zh-CN" sz="2000" dirty="0">
                <a:solidFill>
                  <a:schemeClr val="tx1"/>
                </a:solidFill>
              </a:rPr>
              <a:t>1940</a:t>
            </a:r>
            <a:r>
              <a:rPr lang="zh-CN" altLang="en-US" sz="2000" dirty="0">
                <a:solidFill>
                  <a:schemeClr val="tx1"/>
                </a:solidFill>
              </a:rPr>
              <a:t>年，</a:t>
            </a:r>
            <a:r>
              <a:rPr lang="en-US" altLang="zh-CN" sz="2000" dirty="0">
                <a:solidFill>
                  <a:schemeClr val="tx1"/>
                </a:solidFill>
              </a:rPr>
              <a:t>1960</a:t>
            </a:r>
            <a:r>
              <a:rPr lang="zh-CN" altLang="en-US" sz="2000" dirty="0">
                <a:solidFill>
                  <a:schemeClr val="tx1"/>
                </a:solidFill>
              </a:rPr>
              <a:t>年后，随着集成电路技术的发展，</a:t>
            </a:r>
            <a:r>
              <a:rPr lang="zh-CN" altLang="en-US" sz="2000" dirty="0" smtClean="0">
                <a:solidFill>
                  <a:schemeClr val="tx1"/>
                </a:solidFill>
              </a:rPr>
              <a:t>运放逐步</a:t>
            </a:r>
            <a:r>
              <a:rPr lang="zh-CN" altLang="en-US" sz="2000" dirty="0">
                <a:solidFill>
                  <a:schemeClr val="tx1"/>
                </a:solidFill>
              </a:rPr>
              <a:t>集成化，大大降低了成本，获得了越来越广泛的应用。</a:t>
            </a:r>
          </a:p>
        </p:txBody>
      </p:sp>
    </p:spTree>
    <p:extLst>
      <p:ext uri="{BB962C8B-B14F-4D97-AF65-F5344CB8AC3E}">
        <p14:creationId xmlns:p14="http://schemas.microsoft.com/office/powerpoint/2010/main" val="968478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573683" y="632346"/>
            <a:ext cx="56938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dirty="0" smtClean="0">
                <a:solidFill>
                  <a:srgbClr val="990033"/>
                </a:solidFill>
                <a:ea typeface="宋体" charset="-122"/>
              </a:rPr>
              <a:t>二、应用</a:t>
            </a:r>
            <a:endParaRPr kumimoji="1" lang="zh-CN" altLang="en-US" sz="2400" dirty="0">
              <a:solidFill>
                <a:srgbClr val="990033"/>
              </a:solidFill>
              <a:ea typeface="宋体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806825" y="1469305"/>
            <a:ext cx="26137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circleNumDbPlain"/>
            </a:pPr>
            <a:r>
              <a:rPr kumimoji="1" lang="zh-CN" altLang="en-US" sz="2000" b="1" dirty="0">
                <a:latin typeface="Arial" charset="0"/>
                <a:ea typeface="楷体_GB2312" pitchFamily="49" charset="-122"/>
              </a:rPr>
              <a:t>信号的运算电路</a:t>
            </a:r>
          </a:p>
        </p:txBody>
      </p:sp>
      <p:sp>
        <p:nvSpPr>
          <p:cNvPr id="4" name="Text Box 10"/>
          <p:cNvSpPr txBox="1">
            <a:spLocks noChangeArrowheads="1"/>
          </p:cNvSpPr>
          <p:nvPr/>
        </p:nvSpPr>
        <p:spPr bwMode="auto">
          <a:xfrm>
            <a:off x="4253188" y="1284638"/>
            <a:ext cx="43926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000" b="1" dirty="0">
                <a:latin typeface="Arial" charset="0"/>
                <a:ea typeface="楷体_GB2312" pitchFamily="49" charset="-122"/>
              </a:rPr>
              <a:t>比例、加、减、对数、指数、积分、微分等运算。</a:t>
            </a: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4253187" y="4089776"/>
            <a:ext cx="44640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000" b="1" dirty="0">
                <a:latin typeface="Arial" charset="0"/>
                <a:ea typeface="楷体_GB2312" pitchFamily="49" charset="-122"/>
              </a:rPr>
              <a:t>产生方波、锯齿波等波形</a:t>
            </a:r>
          </a:p>
        </p:txBody>
      </p:sp>
      <p:sp>
        <p:nvSpPr>
          <p:cNvPr id="6" name="Text Box 13"/>
          <p:cNvSpPr txBox="1">
            <a:spLocks noChangeArrowheads="1"/>
          </p:cNvSpPr>
          <p:nvPr/>
        </p:nvSpPr>
        <p:spPr bwMode="auto">
          <a:xfrm>
            <a:off x="806825" y="2837730"/>
            <a:ext cx="26137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circleNumDbPlain" startAt="2"/>
            </a:pPr>
            <a:r>
              <a:rPr kumimoji="1" lang="zh-CN" altLang="en-US" sz="2000" b="1" dirty="0">
                <a:latin typeface="Arial" charset="0"/>
                <a:ea typeface="楷体_GB2312" pitchFamily="49" charset="-122"/>
              </a:rPr>
              <a:t>信号的处理电路</a:t>
            </a:r>
          </a:p>
        </p:txBody>
      </p:sp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853011" y="4067834"/>
            <a:ext cx="26137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circleNumDbPlain" startAt="3"/>
            </a:pPr>
            <a:r>
              <a:rPr kumimoji="1" lang="zh-CN" altLang="en-US" sz="2000" b="1" dirty="0">
                <a:latin typeface="Arial" charset="0"/>
                <a:ea typeface="楷体_GB2312" pitchFamily="49" charset="-122"/>
              </a:rPr>
              <a:t>信号的发生电路</a:t>
            </a:r>
          </a:p>
        </p:txBody>
      </p:sp>
      <p:sp>
        <p:nvSpPr>
          <p:cNvPr id="8" name="Line 15"/>
          <p:cNvSpPr>
            <a:spLocks noChangeShapeType="1"/>
          </p:cNvSpPr>
          <p:nvPr/>
        </p:nvSpPr>
        <p:spPr bwMode="auto">
          <a:xfrm>
            <a:off x="3454201" y="3104108"/>
            <a:ext cx="576263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9" name="Line 16"/>
          <p:cNvSpPr>
            <a:spLocks noChangeShapeType="1"/>
          </p:cNvSpPr>
          <p:nvPr/>
        </p:nvSpPr>
        <p:spPr bwMode="auto">
          <a:xfrm>
            <a:off x="3420617" y="1716633"/>
            <a:ext cx="576263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4181750" y="2706948"/>
            <a:ext cx="4535487" cy="794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000" b="1" dirty="0">
                <a:latin typeface="Arial" charset="0"/>
                <a:ea typeface="楷体_GB2312" pitchFamily="49" charset="-122"/>
              </a:rPr>
              <a:t>有源滤波器、精密整流电路、电压比较器、采样</a:t>
            </a:r>
            <a:r>
              <a:rPr kumimoji="1" lang="en-US" altLang="zh-CN" sz="2000" dirty="0">
                <a:latin typeface="Arial" charset="0"/>
                <a:ea typeface="楷体_GB2312" pitchFamily="49" charset="-122"/>
              </a:rPr>
              <a:t>—</a:t>
            </a:r>
            <a:r>
              <a:rPr kumimoji="1" lang="zh-CN" altLang="en-US" sz="2000" b="1" dirty="0">
                <a:latin typeface="Arial" charset="0"/>
                <a:ea typeface="楷体_GB2312" pitchFamily="49" charset="-122"/>
              </a:rPr>
              <a:t>保持电路。</a:t>
            </a:r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>
            <a:off x="3491880" y="4320609"/>
            <a:ext cx="576263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3829831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 animBg="1"/>
      <p:bldP spid="9" grpId="0" animBg="1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38771" y="1237798"/>
            <a:ext cx="1037653" cy="1004437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000" b="1">
                <a:latin typeface="Arial" charset="0"/>
                <a:ea typeface="楷体_GB2312" pitchFamily="49" charset="-122"/>
              </a:rPr>
              <a:t>输</a:t>
            </a:r>
          </a:p>
          <a:p>
            <a:pPr algn="ctr" eaLnBrk="1" hangingPunct="1"/>
            <a:r>
              <a:rPr lang="zh-CN" altLang="en-US" sz="2000" b="1">
                <a:latin typeface="Arial" charset="0"/>
                <a:ea typeface="楷体_GB2312" pitchFamily="49" charset="-122"/>
              </a:rPr>
              <a:t>入</a:t>
            </a:r>
          </a:p>
          <a:p>
            <a:pPr algn="ctr" eaLnBrk="1" hangingPunct="1"/>
            <a:r>
              <a:rPr lang="zh-CN" altLang="en-US" sz="2000" b="1">
                <a:latin typeface="Arial" charset="0"/>
                <a:ea typeface="楷体_GB2312" pitchFamily="49" charset="-122"/>
              </a:rPr>
              <a:t>级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739872" y="2479339"/>
            <a:ext cx="1037653" cy="1004437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000" b="1" dirty="0">
                <a:latin typeface="Arial" charset="0"/>
                <a:ea typeface="楷体_GB2312" pitchFamily="49" charset="-122"/>
              </a:rPr>
              <a:t>偏置</a:t>
            </a:r>
          </a:p>
          <a:p>
            <a:pPr algn="ctr" eaLnBrk="1" hangingPunct="1"/>
            <a:r>
              <a:rPr lang="zh-CN" altLang="en-US" sz="2000" b="1" dirty="0">
                <a:latin typeface="Arial" charset="0"/>
                <a:ea typeface="楷体_GB2312" pitchFamily="49" charset="-122"/>
              </a:rPr>
              <a:t>电路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737879" y="1179173"/>
            <a:ext cx="1037653" cy="1004437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000" b="1" dirty="0" smtClean="0">
                <a:latin typeface="Arial" charset="0"/>
                <a:ea typeface="楷体_GB2312" pitchFamily="49" charset="-122"/>
              </a:rPr>
              <a:t>中</a:t>
            </a:r>
            <a:endParaRPr lang="en-US" altLang="zh-CN" sz="2000" b="1" dirty="0" smtClean="0">
              <a:latin typeface="Arial" charset="0"/>
              <a:ea typeface="楷体_GB2312" pitchFamily="49" charset="-122"/>
            </a:endParaRPr>
          </a:p>
          <a:p>
            <a:pPr algn="ctr" eaLnBrk="1" hangingPunct="1"/>
            <a:r>
              <a:rPr lang="zh-CN" altLang="en-US" sz="2000" b="1" dirty="0" smtClean="0">
                <a:latin typeface="Arial" charset="0"/>
                <a:ea typeface="楷体_GB2312" pitchFamily="49" charset="-122"/>
              </a:rPr>
              <a:t>间</a:t>
            </a:r>
            <a:endParaRPr lang="en-US" altLang="zh-CN" sz="2000" b="1" dirty="0" smtClean="0">
              <a:latin typeface="Arial" charset="0"/>
              <a:ea typeface="楷体_GB2312" pitchFamily="49" charset="-122"/>
            </a:endParaRPr>
          </a:p>
          <a:p>
            <a:pPr algn="ctr" eaLnBrk="1" hangingPunct="1"/>
            <a:r>
              <a:rPr lang="zh-CN" altLang="en-US" sz="2000" b="1" dirty="0" smtClean="0">
                <a:latin typeface="Arial" charset="0"/>
                <a:ea typeface="楷体_GB2312" pitchFamily="49" charset="-122"/>
              </a:rPr>
              <a:t>级</a:t>
            </a:r>
            <a:endParaRPr lang="zh-CN" altLang="en-US" sz="2000" b="1" dirty="0">
              <a:latin typeface="Arial" charset="0"/>
              <a:ea typeface="楷体_GB2312" pitchFamily="49" charset="-122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814711" y="1179173"/>
            <a:ext cx="1037653" cy="1004437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000" b="1">
                <a:latin typeface="Arial" charset="0"/>
                <a:ea typeface="楷体_GB2312" pitchFamily="49" charset="-122"/>
              </a:rPr>
              <a:t>输</a:t>
            </a:r>
          </a:p>
          <a:p>
            <a:pPr algn="ctr" eaLnBrk="1" hangingPunct="1"/>
            <a:r>
              <a:rPr lang="zh-CN" altLang="en-US" sz="2000" b="1">
                <a:latin typeface="Arial" charset="0"/>
                <a:ea typeface="楷体_GB2312" pitchFamily="49" charset="-122"/>
              </a:rPr>
              <a:t>出</a:t>
            </a:r>
          </a:p>
          <a:p>
            <a:pPr algn="ctr" eaLnBrk="1" hangingPunct="1"/>
            <a:r>
              <a:rPr lang="zh-CN" altLang="en-US" sz="2000" b="1">
                <a:latin typeface="Arial" charset="0"/>
                <a:ea typeface="楷体_GB2312" pitchFamily="49" charset="-122"/>
              </a:rPr>
              <a:t>级</a:t>
            </a:r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1107123" y="1356350"/>
            <a:ext cx="831649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oval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1107123" y="2065058"/>
            <a:ext cx="831649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oval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>
            <a:off x="6852364" y="1592152"/>
            <a:ext cx="90031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2976425" y="1652079"/>
            <a:ext cx="761454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>
            <a:off x="4775532" y="1652079"/>
            <a:ext cx="1039179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>
            <a:off x="2491169" y="2242235"/>
            <a:ext cx="0" cy="71001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>
            <a:off x="2491169" y="2952244"/>
            <a:ext cx="1246710" cy="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 flipV="1">
            <a:off x="4777525" y="2952244"/>
            <a:ext cx="1452247" cy="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7" name="Line 16"/>
          <p:cNvSpPr>
            <a:spLocks noChangeShapeType="1"/>
          </p:cNvSpPr>
          <p:nvPr/>
        </p:nvSpPr>
        <p:spPr bwMode="auto">
          <a:xfrm>
            <a:off x="6229773" y="2183610"/>
            <a:ext cx="0" cy="76863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756152" y="1533527"/>
            <a:ext cx="1078854" cy="399951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>
                <a:latin typeface="Arial" charset="0"/>
                <a:ea typeface="楷体_GB2312" pitchFamily="49" charset="-122"/>
              </a:rPr>
              <a:t>输入端</a:t>
            </a:r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6948500" y="1652079"/>
            <a:ext cx="1080380" cy="399951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latin typeface="Arial" charset="0"/>
                <a:ea typeface="楷体_GB2312" pitchFamily="49" charset="-122"/>
              </a:rPr>
              <a:t>输出端</a:t>
            </a:r>
          </a:p>
        </p:txBody>
      </p:sp>
      <p:sp>
        <p:nvSpPr>
          <p:cNvPr id="20" name="Text Box 25"/>
          <p:cNvSpPr txBox="1">
            <a:spLocks noChangeArrowheads="1"/>
          </p:cNvSpPr>
          <p:nvPr/>
        </p:nvSpPr>
        <p:spPr bwMode="auto">
          <a:xfrm>
            <a:off x="1115616" y="4005064"/>
            <a:ext cx="32400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circleNumDbPlain"/>
            </a:pPr>
            <a:r>
              <a:rPr kumimoji="1" lang="zh-CN" altLang="en-US" sz="2000" b="1">
                <a:latin typeface="Arial" charset="0"/>
                <a:ea typeface="楷体_GB2312" pitchFamily="49" charset="-122"/>
              </a:rPr>
              <a:t>频带过窄</a:t>
            </a:r>
          </a:p>
        </p:txBody>
      </p:sp>
      <p:sp>
        <p:nvSpPr>
          <p:cNvPr id="21" name="Text Box 26"/>
          <p:cNvSpPr txBox="1">
            <a:spLocks noChangeArrowheads="1"/>
          </p:cNvSpPr>
          <p:nvPr/>
        </p:nvSpPr>
        <p:spPr bwMode="auto">
          <a:xfrm>
            <a:off x="1115616" y="4579739"/>
            <a:ext cx="32400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circleNumDbPlain" startAt="2"/>
            </a:pPr>
            <a:r>
              <a:rPr kumimoji="1" lang="zh-CN" altLang="en-US" sz="2000" b="1">
                <a:latin typeface="Arial" charset="0"/>
                <a:ea typeface="楷体_GB2312" pitchFamily="49" charset="-122"/>
              </a:rPr>
              <a:t>线性范围小</a:t>
            </a:r>
          </a:p>
        </p:txBody>
      </p:sp>
      <p:sp>
        <p:nvSpPr>
          <p:cNvPr id="22" name="Text Box 27"/>
          <p:cNvSpPr txBox="1">
            <a:spLocks noChangeArrowheads="1"/>
          </p:cNvSpPr>
          <p:nvPr/>
        </p:nvSpPr>
        <p:spPr bwMode="auto">
          <a:xfrm>
            <a:off x="899170" y="3429000"/>
            <a:ext cx="9365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000" b="1" dirty="0">
                <a:solidFill>
                  <a:srgbClr val="FF0000"/>
                </a:solidFill>
                <a:latin typeface="Arial" charset="0"/>
                <a:ea typeface="楷体_GB2312" pitchFamily="49" charset="-122"/>
              </a:rPr>
              <a:t>缺点：</a:t>
            </a:r>
          </a:p>
        </p:txBody>
      </p:sp>
      <p:grpSp>
        <p:nvGrpSpPr>
          <p:cNvPr id="23" name="Group 28"/>
          <p:cNvGrpSpPr>
            <a:grpSpLocks/>
          </p:cNvGrpSpPr>
          <p:nvPr/>
        </p:nvGrpSpPr>
        <p:grpSpPr bwMode="auto">
          <a:xfrm>
            <a:off x="3176411" y="4146153"/>
            <a:ext cx="2160587" cy="506413"/>
            <a:chOff x="1791" y="2795"/>
            <a:chExt cx="1361" cy="319"/>
          </a:xfrm>
        </p:grpSpPr>
        <p:sp>
          <p:nvSpPr>
            <p:cNvPr id="24" name="Line 29"/>
            <p:cNvSpPr>
              <a:spLocks noChangeShapeType="1"/>
            </p:cNvSpPr>
            <p:nvPr/>
          </p:nvSpPr>
          <p:spPr bwMode="auto">
            <a:xfrm>
              <a:off x="1989" y="3114"/>
              <a:ext cx="1135" cy="0"/>
            </a:xfrm>
            <a:prstGeom prst="line">
              <a:avLst/>
            </a:prstGeom>
            <a:noFill/>
            <a:ln w="76200">
              <a:solidFill>
                <a:srgbClr val="0099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5" name="Text Box 30"/>
            <p:cNvSpPr txBox="1">
              <a:spLocks noChangeArrowheads="1"/>
            </p:cNvSpPr>
            <p:nvPr/>
          </p:nvSpPr>
          <p:spPr bwMode="auto">
            <a:xfrm>
              <a:off x="1791" y="2795"/>
              <a:ext cx="13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000" b="1" dirty="0">
                  <a:latin typeface="Arial" charset="0"/>
                  <a:ea typeface="楷体_GB2312" pitchFamily="49" charset="-122"/>
                </a:rPr>
                <a:t>加入负反馈</a:t>
              </a:r>
            </a:p>
          </p:txBody>
        </p:sp>
      </p:grpSp>
      <p:sp>
        <p:nvSpPr>
          <p:cNvPr id="26" name="Text Box 31"/>
          <p:cNvSpPr txBox="1">
            <a:spLocks noChangeArrowheads="1"/>
          </p:cNvSpPr>
          <p:nvPr/>
        </p:nvSpPr>
        <p:spPr bwMode="auto">
          <a:xfrm>
            <a:off x="5652691" y="4005064"/>
            <a:ext cx="24479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circleNumDbPlain"/>
            </a:pPr>
            <a:r>
              <a:rPr kumimoji="1" lang="zh-CN" altLang="en-US" sz="2000" b="1">
                <a:latin typeface="Arial" charset="0"/>
                <a:ea typeface="楷体_GB2312" pitchFamily="49" charset="-122"/>
              </a:rPr>
              <a:t>扩展频带</a:t>
            </a:r>
          </a:p>
        </p:txBody>
      </p:sp>
      <p:sp>
        <p:nvSpPr>
          <p:cNvPr id="27" name="Text Box 32"/>
          <p:cNvSpPr txBox="1">
            <a:spLocks noChangeArrowheads="1"/>
          </p:cNvSpPr>
          <p:nvPr/>
        </p:nvSpPr>
        <p:spPr bwMode="auto">
          <a:xfrm>
            <a:off x="5652691" y="4579739"/>
            <a:ext cx="32400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circleNumDbPlain" startAt="2"/>
            </a:pPr>
            <a:r>
              <a:rPr kumimoji="1" lang="zh-CN" altLang="en-US" sz="2000" b="1">
                <a:latin typeface="Arial" charset="0"/>
                <a:ea typeface="楷体_GB2312" pitchFamily="49" charset="-122"/>
              </a:rPr>
              <a:t>减小非线性失真</a:t>
            </a:r>
          </a:p>
        </p:txBody>
      </p:sp>
      <p:sp>
        <p:nvSpPr>
          <p:cNvPr id="28" name="Text Box 33" descr="绿色大理石"/>
          <p:cNvSpPr txBox="1">
            <a:spLocks noChangeArrowheads="1"/>
          </p:cNvSpPr>
          <p:nvPr/>
        </p:nvSpPr>
        <p:spPr bwMode="auto">
          <a:xfrm>
            <a:off x="827732" y="5229200"/>
            <a:ext cx="1584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 eaLnBrk="1" hangingPunct="1">
              <a:lnSpc>
                <a:spcPct val="120000"/>
              </a:lnSpc>
              <a:defRPr kumimoji="1" sz="2000">
                <a:solidFill>
                  <a:srgbClr val="FF0000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ea typeface="宋体" charset="-122"/>
              </a:defRPr>
            </a:lvl9pPr>
          </a:lstStyle>
          <a:p>
            <a:r>
              <a:rPr lang="zh-CN" altLang="en-US" dirty="0"/>
              <a:t>优点：</a:t>
            </a:r>
          </a:p>
        </p:txBody>
      </p:sp>
      <p:sp>
        <p:nvSpPr>
          <p:cNvPr id="29" name="Text Box 34"/>
          <p:cNvSpPr txBox="1">
            <a:spLocks noChangeArrowheads="1"/>
          </p:cNvSpPr>
          <p:nvPr/>
        </p:nvSpPr>
        <p:spPr bwMode="auto">
          <a:xfrm>
            <a:off x="1979712" y="5445224"/>
            <a:ext cx="32400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circleNumDbPlain"/>
            </a:pPr>
            <a:r>
              <a:rPr kumimoji="1" lang="zh-CN" altLang="en-US" sz="2000" b="1" dirty="0">
                <a:latin typeface="Arial" charset="0"/>
                <a:ea typeface="楷体_GB2312" pitchFamily="49" charset="-122"/>
              </a:rPr>
              <a:t>高增益</a:t>
            </a:r>
          </a:p>
        </p:txBody>
      </p:sp>
      <p:sp>
        <p:nvSpPr>
          <p:cNvPr id="30" name="Text Box 35"/>
          <p:cNvSpPr txBox="1">
            <a:spLocks noChangeArrowheads="1"/>
          </p:cNvSpPr>
          <p:nvPr/>
        </p:nvSpPr>
        <p:spPr bwMode="auto">
          <a:xfrm>
            <a:off x="1979712" y="6021486"/>
            <a:ext cx="53292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circleNumDbPlain" startAt="2"/>
            </a:pPr>
            <a:r>
              <a:rPr kumimoji="1" lang="zh-CN" altLang="en-US" sz="2000" b="1">
                <a:latin typeface="Arial" charset="0"/>
                <a:ea typeface="楷体_GB2312" pitchFamily="49" charset="-122"/>
              </a:rPr>
              <a:t>输入电阻大，输出电阻小</a:t>
            </a:r>
          </a:p>
        </p:txBody>
      </p:sp>
      <p:sp>
        <p:nvSpPr>
          <p:cNvPr id="31" name="Text Box 3"/>
          <p:cNvSpPr txBox="1">
            <a:spLocks noChangeArrowheads="1"/>
          </p:cNvSpPr>
          <p:nvPr/>
        </p:nvSpPr>
        <p:spPr bwMode="auto">
          <a:xfrm>
            <a:off x="586073" y="548680"/>
            <a:ext cx="56938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dirty="0" smtClean="0">
                <a:solidFill>
                  <a:srgbClr val="990033"/>
                </a:solidFill>
                <a:ea typeface="宋体" charset="-122"/>
              </a:rPr>
              <a:t>三、电路结构及其特性</a:t>
            </a:r>
            <a:endParaRPr kumimoji="1" lang="zh-CN" altLang="en-US" sz="2400" dirty="0">
              <a:solidFill>
                <a:srgbClr val="990033"/>
              </a:solidFill>
              <a:ea typeface="宋体" charset="-122"/>
            </a:endParaRPr>
          </a:p>
        </p:txBody>
      </p:sp>
      <p:sp>
        <p:nvSpPr>
          <p:cNvPr id="32" name="Line 13"/>
          <p:cNvSpPr>
            <a:spLocks noChangeShapeType="1"/>
          </p:cNvSpPr>
          <p:nvPr/>
        </p:nvSpPr>
        <p:spPr bwMode="auto">
          <a:xfrm>
            <a:off x="4256705" y="2178400"/>
            <a:ext cx="0" cy="30094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3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6" grpId="0"/>
      <p:bldP spid="27" grpId="0"/>
      <p:bldP spid="28" grpId="0"/>
      <p:bldP spid="29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/>
          <p:cNvSpPr txBox="1">
            <a:spLocks noChangeArrowheads="1"/>
          </p:cNvSpPr>
          <p:nvPr/>
        </p:nvSpPr>
        <p:spPr bwMode="auto">
          <a:xfrm>
            <a:off x="2843213" y="4581525"/>
            <a:ext cx="36004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集成运算放大器</a:t>
            </a:r>
          </a:p>
        </p:txBody>
      </p:sp>
      <p:pic>
        <p:nvPicPr>
          <p:cNvPr id="3" name="Picture 9" descr="4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59" y="1165325"/>
            <a:ext cx="4033465" cy="31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0" descr="soomal_test_a71f_9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1412776"/>
            <a:ext cx="3910339" cy="292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5332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4346575" y="638175"/>
            <a:ext cx="3887788" cy="3141663"/>
            <a:chOff x="2744" y="391"/>
            <a:chExt cx="2449" cy="1979"/>
          </a:xfrm>
        </p:grpSpPr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2744" y="391"/>
              <a:ext cx="2449" cy="1979"/>
              <a:chOff x="567" y="2341"/>
              <a:chExt cx="2449" cy="1979"/>
            </a:xfrm>
          </p:grpSpPr>
          <p:sp>
            <p:nvSpPr>
              <p:cNvPr id="15" name="Rectangle 5"/>
              <p:cNvSpPr>
                <a:spLocks noChangeArrowheads="1"/>
              </p:cNvSpPr>
              <p:nvPr/>
            </p:nvSpPr>
            <p:spPr bwMode="auto">
              <a:xfrm>
                <a:off x="1338" y="2795"/>
                <a:ext cx="998" cy="1179"/>
              </a:xfrm>
              <a:prstGeom prst="rect">
                <a:avLst/>
              </a:prstGeom>
              <a:gradFill rotWithShape="1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path path="shape">
                  <a:fillToRect l="50000" t="50000" r="50000" b="50000"/>
                </a:path>
              </a:gra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 sz="2000"/>
              </a:p>
            </p:txBody>
          </p:sp>
          <p:sp>
            <p:nvSpPr>
              <p:cNvPr id="16" name="Line 6"/>
              <p:cNvSpPr>
                <a:spLocks noChangeShapeType="1"/>
              </p:cNvSpPr>
              <p:nvPr/>
            </p:nvSpPr>
            <p:spPr bwMode="auto">
              <a:xfrm>
                <a:off x="567" y="2931"/>
                <a:ext cx="77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oval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Line 7"/>
              <p:cNvSpPr>
                <a:spLocks noChangeShapeType="1"/>
              </p:cNvSpPr>
              <p:nvPr/>
            </p:nvSpPr>
            <p:spPr bwMode="auto">
              <a:xfrm>
                <a:off x="567" y="3657"/>
                <a:ext cx="77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oval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Line 8"/>
              <p:cNvSpPr>
                <a:spLocks noChangeShapeType="1"/>
              </p:cNvSpPr>
              <p:nvPr/>
            </p:nvSpPr>
            <p:spPr bwMode="auto">
              <a:xfrm>
                <a:off x="2336" y="3339"/>
                <a:ext cx="6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Line 9"/>
              <p:cNvSpPr>
                <a:spLocks noChangeShapeType="1"/>
              </p:cNvSpPr>
              <p:nvPr/>
            </p:nvSpPr>
            <p:spPr bwMode="auto">
              <a:xfrm>
                <a:off x="1519" y="3974"/>
                <a:ext cx="0" cy="34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Line 10"/>
              <p:cNvSpPr>
                <a:spLocks noChangeShapeType="1"/>
              </p:cNvSpPr>
              <p:nvPr/>
            </p:nvSpPr>
            <p:spPr bwMode="auto">
              <a:xfrm flipV="1">
                <a:off x="1837" y="2341"/>
                <a:ext cx="0" cy="45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Text Box 11"/>
            <p:cNvSpPr txBox="1">
              <a:spLocks noChangeArrowheads="1"/>
            </p:cNvSpPr>
            <p:nvPr/>
          </p:nvSpPr>
          <p:spPr bwMode="auto">
            <a:xfrm>
              <a:off x="3878" y="799"/>
              <a:ext cx="22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solidFill>
                    <a:schemeClr val="bg1"/>
                  </a:solidFill>
                  <a:ea typeface="仿宋_GB2312" pitchFamily="49" charset="-122"/>
                </a:rPr>
                <a:t>7</a:t>
              </a:r>
            </a:p>
          </p:txBody>
        </p:sp>
        <p:sp>
          <p:nvSpPr>
            <p:cNvPr id="6" name="Text Box 12"/>
            <p:cNvSpPr txBox="1">
              <a:spLocks noChangeArrowheads="1"/>
            </p:cNvSpPr>
            <p:nvPr/>
          </p:nvSpPr>
          <p:spPr bwMode="auto">
            <a:xfrm>
              <a:off x="4286" y="1208"/>
              <a:ext cx="22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solidFill>
                    <a:schemeClr val="bg1"/>
                  </a:solidFill>
                  <a:ea typeface="仿宋_GB2312" pitchFamily="49" charset="-122"/>
                </a:rPr>
                <a:t>6</a:t>
              </a:r>
            </a:p>
          </p:txBody>
        </p:sp>
        <p:sp>
          <p:nvSpPr>
            <p:cNvPr id="7" name="Text Box 13"/>
            <p:cNvSpPr txBox="1">
              <a:spLocks noChangeArrowheads="1"/>
            </p:cNvSpPr>
            <p:nvPr/>
          </p:nvSpPr>
          <p:spPr bwMode="auto">
            <a:xfrm>
              <a:off x="4286" y="1752"/>
              <a:ext cx="22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solidFill>
                    <a:schemeClr val="bg1"/>
                  </a:solidFill>
                  <a:ea typeface="仿宋_GB2312" pitchFamily="49" charset="-122"/>
                </a:rPr>
                <a:t>5</a:t>
              </a:r>
            </a:p>
          </p:txBody>
        </p:sp>
        <p:sp>
          <p:nvSpPr>
            <p:cNvPr id="8" name="Text Box 14"/>
            <p:cNvSpPr txBox="1">
              <a:spLocks noChangeArrowheads="1"/>
            </p:cNvSpPr>
            <p:nvPr/>
          </p:nvSpPr>
          <p:spPr bwMode="auto">
            <a:xfrm>
              <a:off x="3606" y="1752"/>
              <a:ext cx="22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solidFill>
                    <a:schemeClr val="bg1"/>
                  </a:solidFill>
                  <a:ea typeface="仿宋_GB2312" pitchFamily="49" charset="-122"/>
                </a:rPr>
                <a:t>4</a:t>
              </a:r>
            </a:p>
          </p:txBody>
        </p:sp>
        <p:sp>
          <p:nvSpPr>
            <p:cNvPr id="9" name="Text Box 15"/>
            <p:cNvSpPr txBox="1">
              <a:spLocks noChangeArrowheads="1"/>
            </p:cNvSpPr>
            <p:nvPr/>
          </p:nvSpPr>
          <p:spPr bwMode="auto">
            <a:xfrm>
              <a:off x="3470" y="1571"/>
              <a:ext cx="22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solidFill>
                    <a:schemeClr val="bg1"/>
                  </a:solidFill>
                  <a:ea typeface="仿宋_GB2312" pitchFamily="49" charset="-122"/>
                </a:rPr>
                <a:t>3</a:t>
              </a:r>
            </a:p>
          </p:txBody>
        </p:sp>
        <p:sp>
          <p:nvSpPr>
            <p:cNvPr id="10" name="Text Box 16"/>
            <p:cNvSpPr txBox="1">
              <a:spLocks noChangeArrowheads="1"/>
            </p:cNvSpPr>
            <p:nvPr/>
          </p:nvSpPr>
          <p:spPr bwMode="auto">
            <a:xfrm>
              <a:off x="3470" y="845"/>
              <a:ext cx="22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solidFill>
                    <a:schemeClr val="bg1"/>
                  </a:solidFill>
                  <a:ea typeface="仿宋_GB2312" pitchFamily="49" charset="-122"/>
                </a:rPr>
                <a:t>2</a:t>
              </a:r>
            </a:p>
          </p:txBody>
        </p:sp>
        <p:sp>
          <p:nvSpPr>
            <p:cNvPr id="11" name="Text Box 17"/>
            <p:cNvSpPr txBox="1">
              <a:spLocks noChangeArrowheads="1"/>
            </p:cNvSpPr>
            <p:nvPr/>
          </p:nvSpPr>
          <p:spPr bwMode="auto">
            <a:xfrm>
              <a:off x="3969" y="1752"/>
              <a:ext cx="22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solidFill>
                    <a:schemeClr val="bg1"/>
                  </a:solidFill>
                  <a:ea typeface="仿宋_GB2312" pitchFamily="49" charset="-122"/>
                </a:rPr>
                <a:t>1</a:t>
              </a:r>
            </a:p>
          </p:txBody>
        </p:sp>
        <p:sp>
          <p:nvSpPr>
            <p:cNvPr id="12" name="AutoShape 18"/>
            <p:cNvSpPr>
              <a:spLocks noChangeArrowheads="1"/>
            </p:cNvSpPr>
            <p:nvPr/>
          </p:nvSpPr>
          <p:spPr bwMode="auto">
            <a:xfrm rot="5400000">
              <a:off x="3878" y="1117"/>
              <a:ext cx="249" cy="250"/>
            </a:xfrm>
            <a:prstGeom prst="triangle">
              <a:avLst>
                <a:gd name="adj" fmla="val 47134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</p:grp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755649" y="1735108"/>
            <a:ext cx="20161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ea typeface="楷体_GB2312" pitchFamily="49" charset="-122"/>
                <a:cs typeface="Times New Roman" panose="02020603050405020304" pitchFamily="18" charset="0"/>
              </a:rPr>
              <a:t>8</a:t>
            </a:r>
            <a:r>
              <a:rPr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个管脚：</a:t>
            </a:r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1043607" y="2625676"/>
            <a:ext cx="322994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000" b="1" dirty="0"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 smtClean="0">
                <a:ea typeface="楷体_GB2312" pitchFamily="49" charset="-122"/>
                <a:cs typeface="Times New Roman" panose="02020603050405020304" pitchFamily="18" charset="0"/>
              </a:rPr>
              <a:t>：反相输入</a:t>
            </a:r>
            <a:r>
              <a:rPr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端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b="1" dirty="0">
                <a:ea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dirty="0" smtClean="0">
                <a:ea typeface="楷体_GB2312" pitchFamily="49" charset="-122"/>
                <a:cs typeface="Times New Roman" panose="02020603050405020304" pitchFamily="18" charset="0"/>
              </a:rPr>
              <a:t>：同相输入</a:t>
            </a:r>
            <a:r>
              <a:rPr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端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b="1" dirty="0">
                <a:ea typeface="楷体_GB2312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1" dirty="0">
                <a:ea typeface="楷体_GB2312" pitchFamily="49" charset="-122"/>
                <a:cs typeface="Times New Roman" panose="02020603050405020304" pitchFamily="18" charset="0"/>
              </a:rPr>
              <a:t>7</a:t>
            </a:r>
            <a:r>
              <a:rPr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：电源端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b="1" dirty="0">
                <a:ea typeface="楷体_GB2312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：输出端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b="1" dirty="0"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1" dirty="0">
                <a:ea typeface="楷体_GB2312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：外接调零电位器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b="1" dirty="0">
                <a:ea typeface="楷体_GB2312" pitchFamily="49" charset="-122"/>
                <a:cs typeface="Times New Roman" panose="02020603050405020304" pitchFamily="18" charset="0"/>
              </a:rPr>
              <a:t>8</a:t>
            </a:r>
            <a:r>
              <a:rPr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：空脚</a:t>
            </a:r>
          </a:p>
        </p:txBody>
      </p:sp>
      <p:sp>
        <p:nvSpPr>
          <p:cNvPr id="23" name="AutoShape 23" descr="羊皮纸"/>
          <p:cNvSpPr>
            <a:spLocks noChangeArrowheads="1"/>
          </p:cNvSpPr>
          <p:nvPr/>
        </p:nvSpPr>
        <p:spPr bwMode="auto">
          <a:xfrm>
            <a:off x="7937501" y="2679651"/>
            <a:ext cx="323850" cy="1348562"/>
          </a:xfrm>
          <a:prstGeom prst="wedgeRoundRectCallout">
            <a:avLst>
              <a:gd name="adj1" fmla="val -510786"/>
              <a:gd name="adj2" fmla="val -89657"/>
              <a:gd name="adj3" fmla="val 16667"/>
            </a:avLst>
          </a:prstGeom>
          <a:solidFill>
            <a:srgbClr val="99CCFF"/>
          </a:solidFill>
          <a:ln>
            <a:noFill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000" b="1" dirty="0">
                <a:latin typeface="Arial" charset="0"/>
                <a:ea typeface="楷体_GB2312" pitchFamily="49" charset="-122"/>
              </a:rPr>
              <a:t>单向放大</a:t>
            </a:r>
          </a:p>
        </p:txBody>
      </p:sp>
      <p:sp>
        <p:nvSpPr>
          <p:cNvPr id="24" name="Text Box 3"/>
          <p:cNvSpPr txBox="1">
            <a:spLocks noChangeArrowheads="1"/>
          </p:cNvSpPr>
          <p:nvPr/>
        </p:nvSpPr>
        <p:spPr bwMode="auto">
          <a:xfrm>
            <a:off x="452932" y="756692"/>
            <a:ext cx="33989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dirty="0" smtClean="0">
                <a:solidFill>
                  <a:srgbClr val="990033"/>
                </a:solidFill>
                <a:ea typeface="宋体" charset="-122"/>
              </a:rPr>
              <a:t>四、符号</a:t>
            </a:r>
            <a:endParaRPr kumimoji="1" lang="zh-CN" altLang="en-US" sz="2400" dirty="0">
              <a:solidFill>
                <a:srgbClr val="990033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4100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4478859" y="1700808"/>
            <a:ext cx="41542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000" b="1" dirty="0" smtClean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000" b="1" dirty="0" smtClean="0">
                <a:ea typeface="楷体_GB2312" pitchFamily="49" charset="-122"/>
                <a:cs typeface="Times New Roman" panose="02020603050405020304" pitchFamily="18" charset="0"/>
              </a:rPr>
              <a:t>反相</a:t>
            </a:r>
            <a:r>
              <a:rPr kumimoji="1" lang="zh-CN" altLang="zh-CN" sz="2000" b="1" dirty="0" smtClean="0">
                <a:ea typeface="楷体_GB2312" pitchFamily="49" charset="-122"/>
                <a:cs typeface="Times New Roman" panose="02020603050405020304" pitchFamily="18" charset="0"/>
              </a:rPr>
              <a:t>输入</a:t>
            </a:r>
            <a:r>
              <a:rPr kumimoji="1" lang="zh-CN" altLang="zh-CN" sz="2000" b="1" dirty="0">
                <a:ea typeface="楷体_GB2312" pitchFamily="49" charset="-122"/>
                <a:cs typeface="Times New Roman" panose="02020603050405020304" pitchFamily="18" charset="0"/>
              </a:rPr>
              <a:t>端，</a:t>
            </a:r>
            <a:r>
              <a:rPr kumimoji="1" lang="zh-CN" altLang="zh-CN" sz="2000" b="1" dirty="0" smtClean="0">
                <a:ea typeface="楷体_GB2312" pitchFamily="49" charset="-122"/>
                <a:cs typeface="Times New Roman" panose="02020603050405020304" pitchFamily="18" charset="0"/>
              </a:rPr>
              <a:t>输入电压</a:t>
            </a:r>
            <a:r>
              <a:rPr kumimoji="1" lang="en-US" altLang="zh-CN" sz="2000" b="1" dirty="0" smtClean="0"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000" i="1" dirty="0" smtClean="0">
                <a:ea typeface="楷体_GB2312" pitchFamily="49" charset="-122"/>
                <a:cs typeface="Times New Roman" panose="02020603050405020304" pitchFamily="18" charset="0"/>
              </a:rPr>
              <a:t>v</a:t>
            </a:r>
            <a:r>
              <a:rPr kumimoji="1" lang="zh-CN" altLang="en-US" sz="2000" i="1" baseline="-25000" dirty="0">
                <a:ea typeface="楷体_GB2312" pitchFamily="49" charset="-122"/>
                <a:cs typeface="Times New Roman" panose="02020603050405020304" pitchFamily="18" charset="0"/>
              </a:rPr>
              <a:t>－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499009" y="2507028"/>
            <a:ext cx="424945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000" dirty="0" smtClean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000" b="1" dirty="0" smtClean="0">
                <a:ea typeface="楷体_GB2312" pitchFamily="49" charset="-122"/>
                <a:cs typeface="Times New Roman" panose="02020603050405020304" pitchFamily="18" charset="0"/>
              </a:rPr>
              <a:t>同相</a:t>
            </a:r>
            <a:r>
              <a:rPr kumimoji="1" lang="zh-CN" altLang="zh-CN" sz="2000" b="1" dirty="0" smtClean="0">
                <a:ea typeface="楷体_GB2312" pitchFamily="49" charset="-122"/>
                <a:cs typeface="Times New Roman" panose="02020603050405020304" pitchFamily="18" charset="0"/>
              </a:rPr>
              <a:t>输入</a:t>
            </a:r>
            <a:r>
              <a:rPr kumimoji="1" lang="zh-CN" altLang="zh-CN" sz="2000" b="1" dirty="0">
                <a:ea typeface="楷体_GB2312" pitchFamily="49" charset="-122"/>
                <a:cs typeface="Times New Roman" panose="02020603050405020304" pitchFamily="18" charset="0"/>
              </a:rPr>
              <a:t>端，输入</a:t>
            </a:r>
            <a:r>
              <a:rPr kumimoji="1" lang="zh-CN" altLang="zh-CN" sz="2000" b="1" dirty="0" smtClean="0">
                <a:ea typeface="楷体_GB2312" pitchFamily="49" charset="-122"/>
                <a:cs typeface="Times New Roman" panose="02020603050405020304" pitchFamily="18" charset="0"/>
              </a:rPr>
              <a:t>电压</a:t>
            </a:r>
            <a:r>
              <a:rPr kumimoji="1" lang="en-US" altLang="zh-CN" sz="2000" b="1" dirty="0" smtClean="0"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000" i="1" dirty="0" smtClean="0">
                <a:ea typeface="楷体_GB2312" pitchFamily="49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000" baseline="-25000" dirty="0">
                <a:ea typeface="楷体_GB2312" pitchFamily="49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524244" y="3316922"/>
            <a:ext cx="36050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o</a:t>
            </a:r>
            <a:r>
              <a:rPr kumimoji="1" lang="zh-CN" altLang="en-US" sz="2000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输出</a:t>
            </a:r>
            <a:r>
              <a:rPr kumimoji="1" lang="zh-CN" altLang="en-US" sz="2000" b="1" dirty="0" smtClean="0">
                <a:ea typeface="楷体_GB2312" pitchFamily="49" charset="-122"/>
                <a:cs typeface="Times New Roman" panose="02020603050405020304" pitchFamily="18" charset="0"/>
              </a:rPr>
              <a:t>端</a:t>
            </a:r>
            <a:r>
              <a:rPr kumimoji="1" lang="zh-CN" altLang="en-US" sz="2000" dirty="0">
                <a:ea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000" b="1" dirty="0" smtClean="0">
                <a:ea typeface="楷体_GB2312" pitchFamily="49" charset="-122"/>
                <a:cs typeface="Times New Roman" panose="02020603050405020304" pitchFamily="18" charset="0"/>
              </a:rPr>
              <a:t>输出</a:t>
            </a:r>
            <a:r>
              <a:rPr kumimoji="1"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电压 </a:t>
            </a:r>
            <a:r>
              <a:rPr kumimoji="1" lang="en-US" altLang="zh-CN" sz="2000" b="1" i="1" dirty="0" err="1">
                <a:ea typeface="楷体_GB2312" pitchFamily="49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000" b="1" baseline="-25000" dirty="0" err="1">
                <a:ea typeface="楷体_GB2312" pitchFamily="49" charset="-122"/>
                <a:cs typeface="Times New Roman" panose="02020603050405020304" pitchFamily="18" charset="0"/>
              </a:rPr>
              <a:t>o</a:t>
            </a:r>
            <a:endParaRPr kumimoji="1" lang="en-US" altLang="zh-CN" sz="2000" b="1" baseline="-25000" dirty="0"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355976" y="836613"/>
            <a:ext cx="439248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kumimoji="1"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在电路符号图中一般不画出直流电源端，而只有</a:t>
            </a:r>
            <a:r>
              <a:rPr kumimoji="1" lang="en-US" altLang="zh-CN" sz="2000" dirty="0"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000" dirty="0" smtClean="0">
                <a:ea typeface="楷体_GB2312" pitchFamily="49" charset="-122"/>
                <a:cs typeface="Times New Roman" panose="02020603050405020304" pitchFamily="18" charset="0"/>
              </a:rPr>
              <a:t>, b, o</a:t>
            </a:r>
            <a:r>
              <a:rPr kumimoji="1"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三端和接地端。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545033" y="5847655"/>
            <a:ext cx="80880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kumimoji="1"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    图中参考方向表示每一点对地的电压，在接地端未画出时尤需注意。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272904" y="4831757"/>
            <a:ext cx="447556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/>
            <a:r>
              <a:rPr kumimoji="1" lang="en-US" altLang="zh-CN" sz="2000" b="1" i="1" dirty="0"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：开环电压放大倍数，可达十几万倍。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5068559" y="4157971"/>
            <a:ext cx="211628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b="1" dirty="0">
                <a:ea typeface="楷体_GB2312" pitchFamily="49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公共端</a:t>
            </a:r>
            <a:r>
              <a:rPr kumimoji="1" lang="en-US" altLang="zh-CN" sz="2000" b="1" dirty="0"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接地端</a:t>
            </a:r>
            <a:r>
              <a:rPr kumimoji="1" lang="en-US" altLang="zh-CN" sz="2000" b="1" dirty="0"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000" dirty="0"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4509437" y="4111934"/>
            <a:ext cx="414337" cy="431800"/>
            <a:chOff x="1416" y="2436"/>
            <a:chExt cx="261" cy="240"/>
          </a:xfrm>
        </p:grpSpPr>
        <p:grpSp>
          <p:nvGrpSpPr>
            <p:cNvPr id="11" name="Group 11"/>
            <p:cNvGrpSpPr>
              <a:grpSpLocks/>
            </p:cNvGrpSpPr>
            <p:nvPr/>
          </p:nvGrpSpPr>
          <p:grpSpPr bwMode="auto">
            <a:xfrm>
              <a:off x="1416" y="2556"/>
              <a:ext cx="261" cy="120"/>
              <a:chOff x="720" y="1824"/>
              <a:chExt cx="261" cy="120"/>
            </a:xfrm>
          </p:grpSpPr>
          <p:sp>
            <p:nvSpPr>
              <p:cNvPr id="13" name="Line 12"/>
              <p:cNvSpPr>
                <a:spLocks noChangeShapeType="1"/>
              </p:cNvSpPr>
              <p:nvPr/>
            </p:nvSpPr>
            <p:spPr bwMode="auto">
              <a:xfrm>
                <a:off x="720" y="1824"/>
                <a:ext cx="26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Line 13"/>
              <p:cNvSpPr>
                <a:spLocks noChangeShapeType="1"/>
              </p:cNvSpPr>
              <p:nvPr/>
            </p:nvSpPr>
            <p:spPr bwMode="auto">
              <a:xfrm>
                <a:off x="778" y="1883"/>
                <a:ext cx="14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Line 14"/>
              <p:cNvSpPr>
                <a:spLocks noChangeShapeType="1"/>
              </p:cNvSpPr>
              <p:nvPr/>
            </p:nvSpPr>
            <p:spPr bwMode="auto">
              <a:xfrm>
                <a:off x="802" y="1944"/>
                <a:ext cx="8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Line 15"/>
            <p:cNvSpPr>
              <a:spLocks noChangeShapeType="1"/>
            </p:cNvSpPr>
            <p:nvPr/>
          </p:nvSpPr>
          <p:spPr bwMode="auto">
            <a:xfrm>
              <a:off x="1536" y="2436"/>
              <a:ext cx="0" cy="1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22"/>
          <p:cNvGrpSpPr>
            <a:grpSpLocks/>
          </p:cNvGrpSpPr>
          <p:nvPr/>
        </p:nvGrpSpPr>
        <p:grpSpPr bwMode="auto">
          <a:xfrm>
            <a:off x="386283" y="4972048"/>
            <a:ext cx="1447801" cy="850900"/>
            <a:chOff x="385" y="3022"/>
            <a:chExt cx="912" cy="536"/>
          </a:xfrm>
        </p:grpSpPr>
        <p:pic>
          <p:nvPicPr>
            <p:cNvPr id="17" name="Picture 23" descr="12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24"/>
            <p:cNvSpPr txBox="1">
              <a:spLocks noChangeArrowheads="1"/>
            </p:cNvSpPr>
            <p:nvPr/>
          </p:nvSpPr>
          <p:spPr bwMode="auto">
            <a:xfrm>
              <a:off x="793" y="3182"/>
              <a:ext cx="50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zh-CN" altLang="en-US" b="0" dirty="0">
                  <a:solidFill>
                    <a:srgbClr val="FF0000"/>
                  </a:solidFill>
                  <a:ea typeface="华文行楷" pitchFamily="2" charset="-122"/>
                  <a:cs typeface="Times New Roman" panose="02020603050405020304" pitchFamily="18" charset="0"/>
                </a:rPr>
                <a:t>注意</a:t>
              </a:r>
            </a:p>
          </p:txBody>
        </p:sp>
      </p:grpSp>
      <p:grpSp>
        <p:nvGrpSpPr>
          <p:cNvPr id="19" name="Group 25"/>
          <p:cNvGrpSpPr>
            <a:grpSpLocks/>
          </p:cNvGrpSpPr>
          <p:nvPr/>
        </p:nvGrpSpPr>
        <p:grpSpPr bwMode="auto">
          <a:xfrm>
            <a:off x="113234" y="1487389"/>
            <a:ext cx="3581401" cy="2608263"/>
            <a:chOff x="2925" y="1423"/>
            <a:chExt cx="2256" cy="1643"/>
          </a:xfrm>
        </p:grpSpPr>
        <p:sp>
          <p:nvSpPr>
            <p:cNvPr id="20" name="Line 26"/>
            <p:cNvSpPr>
              <a:spLocks noChangeShapeType="1"/>
            </p:cNvSpPr>
            <p:nvPr/>
          </p:nvSpPr>
          <p:spPr bwMode="auto">
            <a:xfrm>
              <a:off x="3277" y="2826"/>
              <a:ext cx="17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1" name="Text Box 27"/>
            <p:cNvSpPr txBox="1">
              <a:spLocks noChangeArrowheads="1"/>
            </p:cNvSpPr>
            <p:nvPr/>
          </p:nvSpPr>
          <p:spPr bwMode="auto">
            <a:xfrm>
              <a:off x="3327" y="2180"/>
              <a:ext cx="20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2" name="Text Box 28"/>
            <p:cNvSpPr txBox="1">
              <a:spLocks noChangeArrowheads="1"/>
            </p:cNvSpPr>
            <p:nvPr/>
          </p:nvSpPr>
          <p:spPr bwMode="auto">
            <a:xfrm>
              <a:off x="3315" y="2504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cs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23" name="Text Box 29"/>
            <p:cNvSpPr txBox="1">
              <a:spLocks noChangeArrowheads="1"/>
            </p:cNvSpPr>
            <p:nvPr/>
          </p:nvSpPr>
          <p:spPr bwMode="auto">
            <a:xfrm>
              <a:off x="2943" y="2540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cs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24" name="Text Box 30"/>
            <p:cNvSpPr txBox="1">
              <a:spLocks noChangeArrowheads="1"/>
            </p:cNvSpPr>
            <p:nvPr/>
          </p:nvSpPr>
          <p:spPr bwMode="auto">
            <a:xfrm>
              <a:off x="2967" y="1556"/>
              <a:ext cx="20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5" name="Text Box 31"/>
            <p:cNvSpPr txBox="1">
              <a:spLocks noChangeArrowheads="1"/>
            </p:cNvSpPr>
            <p:nvPr/>
          </p:nvSpPr>
          <p:spPr bwMode="auto">
            <a:xfrm>
              <a:off x="3303" y="2348"/>
              <a:ext cx="25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>
                  <a:cs typeface="Times New Roman" panose="02020603050405020304" pitchFamily="18" charset="0"/>
                </a:rPr>
                <a:t>v</a:t>
              </a:r>
              <a:r>
                <a:rPr kumimoji="1" lang="en-US" altLang="zh-CN" sz="2000" baseline="-25000"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6" name="Text Box 32"/>
            <p:cNvSpPr txBox="1">
              <a:spLocks noChangeArrowheads="1"/>
            </p:cNvSpPr>
            <p:nvPr/>
          </p:nvSpPr>
          <p:spPr bwMode="auto">
            <a:xfrm>
              <a:off x="2925" y="2006"/>
              <a:ext cx="22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>
                  <a:cs typeface="Times New Roman" panose="02020603050405020304" pitchFamily="18" charset="0"/>
                </a:rPr>
                <a:t>v</a:t>
              </a:r>
              <a:r>
                <a:rPr kumimoji="1" lang="en-US" altLang="zh-CN" sz="2000" i="1" baseline="-25000">
                  <a:cs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27" name="Text Box 33"/>
            <p:cNvSpPr txBox="1">
              <a:spLocks noChangeArrowheads="1"/>
            </p:cNvSpPr>
            <p:nvPr/>
          </p:nvSpPr>
          <p:spPr bwMode="auto">
            <a:xfrm>
              <a:off x="4923" y="2012"/>
              <a:ext cx="20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8" name="Text Box 34"/>
            <p:cNvSpPr txBox="1">
              <a:spLocks noChangeArrowheads="1"/>
            </p:cNvSpPr>
            <p:nvPr/>
          </p:nvSpPr>
          <p:spPr bwMode="auto">
            <a:xfrm>
              <a:off x="4923" y="2480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cs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29" name="Text Box 35"/>
            <p:cNvSpPr txBox="1">
              <a:spLocks noChangeArrowheads="1"/>
            </p:cNvSpPr>
            <p:nvPr/>
          </p:nvSpPr>
          <p:spPr bwMode="auto">
            <a:xfrm>
              <a:off x="4887" y="2300"/>
              <a:ext cx="24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>
                  <a:cs typeface="Times New Roman" panose="02020603050405020304" pitchFamily="18" charset="0"/>
                </a:rPr>
                <a:t>v</a:t>
              </a:r>
              <a:r>
                <a:rPr kumimoji="1" lang="en-US" altLang="zh-CN" sz="2000" baseline="-25000">
                  <a:cs typeface="Times New Roman" panose="02020603050405020304" pitchFamily="18" charset="0"/>
                </a:rPr>
                <a:t>o</a:t>
              </a:r>
              <a:endParaRPr kumimoji="1" lang="en-US" altLang="zh-CN" sz="2000">
                <a:cs typeface="Times New Roman" panose="02020603050405020304" pitchFamily="18" charset="0"/>
              </a:endParaRPr>
            </a:p>
          </p:txBody>
        </p:sp>
        <p:sp>
          <p:nvSpPr>
            <p:cNvPr id="30" name="Text Box 36"/>
            <p:cNvSpPr txBox="1">
              <a:spLocks noChangeArrowheads="1"/>
            </p:cNvSpPr>
            <p:nvPr/>
          </p:nvSpPr>
          <p:spPr bwMode="auto">
            <a:xfrm>
              <a:off x="3278" y="1423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dirty="0">
                  <a:solidFill>
                    <a:srgbClr val="FF0000"/>
                  </a:solidFill>
                  <a:ea typeface="楷体_GB2312" pitchFamily="49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1" name="Line 37"/>
            <p:cNvSpPr>
              <a:spLocks noChangeShapeType="1"/>
            </p:cNvSpPr>
            <p:nvPr/>
          </p:nvSpPr>
          <p:spPr bwMode="auto">
            <a:xfrm>
              <a:off x="4045" y="2946"/>
              <a:ext cx="26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 sz="200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2" name="Line 38"/>
            <p:cNvSpPr>
              <a:spLocks noChangeShapeType="1"/>
            </p:cNvSpPr>
            <p:nvPr/>
          </p:nvSpPr>
          <p:spPr bwMode="auto">
            <a:xfrm>
              <a:off x="4103" y="3005"/>
              <a:ext cx="1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 sz="200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3" name="Line 39"/>
            <p:cNvSpPr>
              <a:spLocks noChangeShapeType="1"/>
            </p:cNvSpPr>
            <p:nvPr/>
          </p:nvSpPr>
          <p:spPr bwMode="auto">
            <a:xfrm>
              <a:off x="4127" y="3066"/>
              <a:ext cx="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 sz="200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4" name="Text Box 40"/>
            <p:cNvSpPr txBox="1">
              <a:spLocks noChangeArrowheads="1"/>
            </p:cNvSpPr>
            <p:nvPr/>
          </p:nvSpPr>
          <p:spPr bwMode="auto">
            <a:xfrm>
              <a:off x="4984" y="1694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dirty="0">
                  <a:solidFill>
                    <a:srgbClr val="FF0000"/>
                  </a:solidFill>
                  <a:ea typeface="楷体_GB2312" pitchFamily="49" charset="-122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35" name="Line 41"/>
            <p:cNvSpPr>
              <a:spLocks noChangeShapeType="1"/>
            </p:cNvSpPr>
            <p:nvPr/>
          </p:nvSpPr>
          <p:spPr bwMode="auto">
            <a:xfrm>
              <a:off x="4177" y="2310"/>
              <a:ext cx="0" cy="6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6" name="Oval 42"/>
            <p:cNvSpPr>
              <a:spLocks noChangeArrowheads="1"/>
            </p:cNvSpPr>
            <p:nvPr/>
          </p:nvSpPr>
          <p:spPr bwMode="auto">
            <a:xfrm>
              <a:off x="4153" y="2802"/>
              <a:ext cx="45" cy="45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/>
              <a:endParaRPr lang="zh-CN" altLang="en-US" sz="2000">
                <a:ea typeface="仿宋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Line 43"/>
            <p:cNvSpPr>
              <a:spLocks noChangeShapeType="1"/>
            </p:cNvSpPr>
            <p:nvPr/>
          </p:nvSpPr>
          <p:spPr bwMode="auto">
            <a:xfrm flipH="1">
              <a:off x="3385" y="1674"/>
              <a:ext cx="4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8" name="Line 44"/>
            <p:cNvSpPr>
              <a:spLocks noChangeShapeType="1"/>
            </p:cNvSpPr>
            <p:nvPr/>
          </p:nvSpPr>
          <p:spPr bwMode="auto">
            <a:xfrm flipH="1">
              <a:off x="3385" y="2190"/>
              <a:ext cx="4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9" name="Text Box 45"/>
            <p:cNvSpPr txBox="1">
              <a:spLocks noChangeArrowheads="1"/>
            </p:cNvSpPr>
            <p:nvPr/>
          </p:nvSpPr>
          <p:spPr bwMode="auto">
            <a:xfrm>
              <a:off x="3471" y="1964"/>
              <a:ext cx="20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0" name="Text Box 46"/>
            <p:cNvSpPr txBox="1">
              <a:spLocks noChangeArrowheads="1"/>
            </p:cNvSpPr>
            <p:nvPr/>
          </p:nvSpPr>
          <p:spPr bwMode="auto">
            <a:xfrm>
              <a:off x="3483" y="1508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cs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1" name="Line 47"/>
            <p:cNvSpPr>
              <a:spLocks noChangeShapeType="1"/>
            </p:cNvSpPr>
            <p:nvPr/>
          </p:nvSpPr>
          <p:spPr bwMode="auto">
            <a:xfrm>
              <a:off x="4489" y="1950"/>
              <a:ext cx="5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42" name="Text Box 48"/>
            <p:cNvSpPr txBox="1">
              <a:spLocks noChangeArrowheads="1"/>
            </p:cNvSpPr>
            <p:nvPr/>
          </p:nvSpPr>
          <p:spPr bwMode="auto">
            <a:xfrm>
              <a:off x="3469" y="1785"/>
              <a:ext cx="24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>
                  <a:cs typeface="Times New Roman" panose="02020603050405020304" pitchFamily="18" charset="0"/>
                </a:rPr>
                <a:t>v</a:t>
              </a:r>
              <a:r>
                <a:rPr kumimoji="1" lang="en-US" altLang="zh-CN" sz="2000" baseline="-25000">
                  <a:cs typeface="Times New Roman" panose="02020603050405020304" pitchFamily="18" charset="0"/>
                </a:rPr>
                <a:t>d</a:t>
              </a:r>
              <a:endParaRPr kumimoji="1" lang="en-US" altLang="zh-CN" sz="2000">
                <a:cs typeface="Times New Roman" panose="02020603050405020304" pitchFamily="18" charset="0"/>
              </a:endParaRPr>
            </a:p>
          </p:txBody>
        </p:sp>
        <p:sp>
          <p:nvSpPr>
            <p:cNvPr id="43" name="Text Box 49"/>
            <p:cNvSpPr txBox="1">
              <a:spLocks noChangeArrowheads="1"/>
            </p:cNvSpPr>
            <p:nvPr/>
          </p:nvSpPr>
          <p:spPr bwMode="auto">
            <a:xfrm>
              <a:off x="3265" y="1943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dirty="0">
                  <a:solidFill>
                    <a:srgbClr val="FF0000"/>
                  </a:solidFill>
                  <a:ea typeface="楷体_GB2312" pitchFamily="49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4" name="Oval 50"/>
            <p:cNvSpPr>
              <a:spLocks noChangeArrowheads="1"/>
            </p:cNvSpPr>
            <p:nvPr/>
          </p:nvSpPr>
          <p:spPr bwMode="auto">
            <a:xfrm>
              <a:off x="5050" y="1919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>
                <a:cs typeface="Times New Roman" panose="02020603050405020304" pitchFamily="18" charset="0"/>
              </a:endParaRPr>
            </a:p>
          </p:txBody>
        </p:sp>
        <p:sp>
          <p:nvSpPr>
            <p:cNvPr id="45" name="Oval 51"/>
            <p:cNvSpPr>
              <a:spLocks noChangeArrowheads="1"/>
            </p:cNvSpPr>
            <p:nvPr/>
          </p:nvSpPr>
          <p:spPr bwMode="auto">
            <a:xfrm>
              <a:off x="3321" y="1643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>
                <a:cs typeface="Times New Roman" panose="02020603050405020304" pitchFamily="18" charset="0"/>
              </a:endParaRPr>
            </a:p>
          </p:txBody>
        </p:sp>
        <p:sp>
          <p:nvSpPr>
            <p:cNvPr id="46" name="Oval 52"/>
            <p:cNvSpPr>
              <a:spLocks noChangeArrowheads="1"/>
            </p:cNvSpPr>
            <p:nvPr/>
          </p:nvSpPr>
          <p:spPr bwMode="auto">
            <a:xfrm>
              <a:off x="3321" y="2154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>
                <a:cs typeface="Times New Roman" panose="02020603050405020304" pitchFamily="18" charset="0"/>
              </a:endParaRPr>
            </a:p>
          </p:txBody>
        </p:sp>
        <p:sp>
          <p:nvSpPr>
            <p:cNvPr id="47" name="Oval 53"/>
            <p:cNvSpPr>
              <a:spLocks noChangeArrowheads="1"/>
            </p:cNvSpPr>
            <p:nvPr/>
          </p:nvSpPr>
          <p:spPr bwMode="auto">
            <a:xfrm>
              <a:off x="5057" y="2795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>
                <a:cs typeface="Times New Roman" panose="02020603050405020304" pitchFamily="18" charset="0"/>
              </a:endParaRPr>
            </a:p>
          </p:txBody>
        </p:sp>
        <p:sp>
          <p:nvSpPr>
            <p:cNvPr id="48" name="Oval 54"/>
            <p:cNvSpPr>
              <a:spLocks noChangeArrowheads="1"/>
            </p:cNvSpPr>
            <p:nvPr/>
          </p:nvSpPr>
          <p:spPr bwMode="auto">
            <a:xfrm>
              <a:off x="3202" y="2792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>
                <a:cs typeface="Times New Roman" panose="02020603050405020304" pitchFamily="18" charset="0"/>
              </a:endParaRPr>
            </a:p>
          </p:txBody>
        </p:sp>
        <p:grpSp>
          <p:nvGrpSpPr>
            <p:cNvPr id="49" name="Group 55"/>
            <p:cNvGrpSpPr>
              <a:grpSpLocks/>
            </p:cNvGrpSpPr>
            <p:nvPr/>
          </p:nvGrpSpPr>
          <p:grpSpPr bwMode="auto">
            <a:xfrm>
              <a:off x="3833" y="1557"/>
              <a:ext cx="658" cy="746"/>
              <a:chOff x="883" y="1533"/>
              <a:chExt cx="658" cy="746"/>
            </a:xfrm>
          </p:grpSpPr>
          <p:sp>
            <p:nvSpPr>
              <p:cNvPr id="50" name="Rectangle 56"/>
              <p:cNvSpPr>
                <a:spLocks noChangeArrowheads="1"/>
              </p:cNvSpPr>
              <p:nvPr/>
            </p:nvSpPr>
            <p:spPr bwMode="auto">
              <a:xfrm>
                <a:off x="883" y="1553"/>
                <a:ext cx="658" cy="726"/>
              </a:xfrm>
              <a:prstGeom prst="rect">
                <a:avLst/>
              </a:prstGeom>
              <a:gradFill rotWithShape="1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path path="shape">
                  <a:fillToRect l="50000" t="50000" r="50000" b="50000"/>
                </a:path>
              </a:gra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 sz="2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Text Box 57"/>
              <p:cNvSpPr txBox="1">
                <a:spLocks noChangeArrowheads="1"/>
              </p:cNvSpPr>
              <p:nvPr/>
            </p:nvSpPr>
            <p:spPr bwMode="auto">
              <a:xfrm>
                <a:off x="927" y="1533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kumimoji="1" lang="en-US" altLang="zh-CN" sz="20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_</a:t>
                </a:r>
              </a:p>
            </p:txBody>
          </p:sp>
          <p:sp>
            <p:nvSpPr>
              <p:cNvPr id="52" name="Text Box 58"/>
              <p:cNvSpPr txBox="1">
                <a:spLocks noChangeArrowheads="1"/>
              </p:cNvSpPr>
              <p:nvPr/>
            </p:nvSpPr>
            <p:spPr bwMode="auto">
              <a:xfrm>
                <a:off x="915" y="2001"/>
                <a:ext cx="208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kumimoji="1" lang="en-US" altLang="zh-CN" sz="20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53" name="AutoShape 59"/>
              <p:cNvSpPr>
                <a:spLocks noChangeArrowheads="1"/>
              </p:cNvSpPr>
              <p:nvPr/>
            </p:nvSpPr>
            <p:spPr bwMode="auto">
              <a:xfrm rot="5400000">
                <a:off x="1150" y="1605"/>
                <a:ext cx="144" cy="132"/>
              </a:xfrm>
              <a:prstGeom prst="triangle">
                <a:avLst>
                  <a:gd name="adj" fmla="val 56245"/>
                </a:avLst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rgbClr val="FF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 sz="2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Text Box 60"/>
              <p:cNvSpPr txBox="1">
                <a:spLocks noChangeArrowheads="1"/>
              </p:cNvSpPr>
              <p:nvPr/>
            </p:nvSpPr>
            <p:spPr bwMode="auto">
              <a:xfrm>
                <a:off x="1263" y="1557"/>
                <a:ext cx="224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kumimoji="1" lang="en-US" altLang="zh-CN" sz="2000" i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A</a:t>
                </a:r>
                <a:endParaRPr kumimoji="1" lang="en-US" altLang="zh-CN" sz="200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Text Box 61"/>
              <p:cNvSpPr txBox="1">
                <a:spLocks noChangeArrowheads="1"/>
              </p:cNvSpPr>
              <p:nvPr/>
            </p:nvSpPr>
            <p:spPr bwMode="auto">
              <a:xfrm>
                <a:off x="1323" y="1797"/>
                <a:ext cx="208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kumimoji="1" lang="en-US" altLang="zh-CN" sz="200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+</a:t>
                </a:r>
              </a:p>
            </p:txBody>
          </p:sp>
        </p:grpSp>
      </p:grpSp>
      <p:sp>
        <p:nvSpPr>
          <p:cNvPr id="56" name="Text Box 3"/>
          <p:cNvSpPr txBox="1">
            <a:spLocks noChangeArrowheads="1"/>
          </p:cNvSpPr>
          <p:nvPr/>
        </p:nvSpPr>
        <p:spPr bwMode="auto">
          <a:xfrm>
            <a:off x="358627" y="605780"/>
            <a:ext cx="33989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990033"/>
                </a:solidFill>
                <a:ea typeface="宋体" charset="-122"/>
              </a:rPr>
              <a:t>五、国家标准电路符号</a:t>
            </a:r>
          </a:p>
        </p:txBody>
      </p:sp>
    </p:spTree>
    <p:extLst>
      <p:ext uri="{BB962C8B-B14F-4D97-AF65-F5344CB8AC3E}">
        <p14:creationId xmlns:p14="http://schemas.microsoft.com/office/powerpoint/2010/main" val="3855489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75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7" grpId="0"/>
      <p:bldP spid="8" grpId="0" autoUpdateAnimBg="0"/>
      <p:bldP spid="9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5"/>
          <p:cNvSpPr txBox="1">
            <a:spLocks noChangeArrowheads="1"/>
          </p:cNvSpPr>
          <p:nvPr/>
        </p:nvSpPr>
        <p:spPr bwMode="auto">
          <a:xfrm>
            <a:off x="6443663" y="1771725"/>
            <a:ext cx="3834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/>
              <a:t>v</a:t>
            </a:r>
            <a:r>
              <a:rPr kumimoji="1" lang="en-US" altLang="zh-CN" sz="2000" baseline="-25000"/>
              <a:t>o</a:t>
            </a:r>
            <a:endParaRPr kumimoji="1" lang="en-US" altLang="zh-CN" sz="2000"/>
          </a:p>
        </p:txBody>
      </p:sp>
      <p:sp>
        <p:nvSpPr>
          <p:cNvPr id="4" name="Line 43"/>
          <p:cNvSpPr>
            <a:spLocks noChangeShapeType="1"/>
          </p:cNvSpPr>
          <p:nvPr/>
        </p:nvSpPr>
        <p:spPr bwMode="auto">
          <a:xfrm flipH="1">
            <a:off x="2998788" y="1593925"/>
            <a:ext cx="7810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5" name="Line 44"/>
          <p:cNvSpPr>
            <a:spLocks noChangeShapeType="1"/>
          </p:cNvSpPr>
          <p:nvPr/>
        </p:nvSpPr>
        <p:spPr bwMode="auto">
          <a:xfrm flipH="1">
            <a:off x="2998788" y="2413075"/>
            <a:ext cx="7810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6" name="Text Box 48"/>
          <p:cNvSpPr txBox="1">
            <a:spLocks noChangeArrowheads="1"/>
          </p:cNvSpPr>
          <p:nvPr/>
        </p:nvSpPr>
        <p:spPr bwMode="auto">
          <a:xfrm>
            <a:off x="2484438" y="1717750"/>
            <a:ext cx="3834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/>
              <a:t>v</a:t>
            </a:r>
            <a:r>
              <a:rPr kumimoji="1" lang="en-US" altLang="zh-CN" sz="2000" i="1" baseline="-25000"/>
              <a:t>d</a:t>
            </a:r>
            <a:endParaRPr kumimoji="1" lang="en-US" altLang="zh-CN" sz="2000" i="1"/>
          </a:p>
        </p:txBody>
      </p:sp>
      <p:grpSp>
        <p:nvGrpSpPr>
          <p:cNvPr id="7" name="Group 65"/>
          <p:cNvGrpSpPr>
            <a:grpSpLocks/>
          </p:cNvGrpSpPr>
          <p:nvPr/>
        </p:nvGrpSpPr>
        <p:grpSpPr bwMode="auto">
          <a:xfrm>
            <a:off x="5381634" y="1944763"/>
            <a:ext cx="995364" cy="107950"/>
            <a:chOff x="3198" y="2042"/>
            <a:chExt cx="627" cy="68"/>
          </a:xfrm>
        </p:grpSpPr>
        <p:sp>
          <p:nvSpPr>
            <p:cNvPr id="8" name="Line 47"/>
            <p:cNvSpPr>
              <a:spLocks noChangeShapeType="1"/>
            </p:cNvSpPr>
            <p:nvPr/>
          </p:nvSpPr>
          <p:spPr bwMode="auto">
            <a:xfrm>
              <a:off x="3198" y="2081"/>
              <a:ext cx="5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3757" y="2042"/>
              <a:ext cx="68" cy="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</p:grp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2904750" y="1545088"/>
            <a:ext cx="107950" cy="10795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11" name="Oval 52"/>
          <p:cNvSpPr>
            <a:spLocks noChangeArrowheads="1"/>
          </p:cNvSpPr>
          <p:nvPr/>
        </p:nvSpPr>
        <p:spPr bwMode="auto">
          <a:xfrm>
            <a:off x="2904750" y="2364238"/>
            <a:ext cx="107950" cy="10795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12" name="AutoShape 59"/>
          <p:cNvSpPr>
            <a:spLocks noChangeArrowheads="1"/>
          </p:cNvSpPr>
          <p:nvPr/>
        </p:nvSpPr>
        <p:spPr bwMode="auto">
          <a:xfrm rot="5400000">
            <a:off x="3941763" y="1160537"/>
            <a:ext cx="1296987" cy="1655763"/>
          </a:xfrm>
          <a:prstGeom prst="triangle">
            <a:avLst>
              <a:gd name="adj" fmla="val 51023"/>
            </a:avLst>
          </a:prstGeom>
          <a:gradFill rotWithShape="1">
            <a:gsLst>
              <a:gs pos="0">
                <a:srgbClr val="764700"/>
              </a:gs>
              <a:gs pos="50000">
                <a:srgbClr val="FF9900"/>
              </a:gs>
              <a:gs pos="100000">
                <a:srgbClr val="764700"/>
              </a:gs>
            </a:gsLst>
            <a:lin ang="5400000" scaled="1"/>
          </a:gra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13" name="Text Box 60"/>
          <p:cNvSpPr txBox="1">
            <a:spLocks noChangeArrowheads="1"/>
          </p:cNvSpPr>
          <p:nvPr/>
        </p:nvSpPr>
        <p:spPr bwMode="auto">
          <a:xfrm>
            <a:off x="4211638" y="1789187"/>
            <a:ext cx="3561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>
                <a:solidFill>
                  <a:schemeClr val="bg1"/>
                </a:solidFill>
              </a:rPr>
              <a:t>A</a:t>
            </a:r>
            <a:endParaRPr kumimoji="1" lang="en-US" altLang="zh-CN" sz="2000">
              <a:solidFill>
                <a:schemeClr val="bg1"/>
              </a:solidFill>
            </a:endParaRPr>
          </a:p>
        </p:txBody>
      </p:sp>
      <p:sp>
        <p:nvSpPr>
          <p:cNvPr id="14" name="Text Box 46"/>
          <p:cNvSpPr txBox="1">
            <a:spLocks noChangeArrowheads="1"/>
          </p:cNvSpPr>
          <p:nvPr/>
        </p:nvSpPr>
        <p:spPr bwMode="auto">
          <a:xfrm>
            <a:off x="3779838" y="1267371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dirty="0">
                <a:solidFill>
                  <a:schemeClr val="bg1"/>
                </a:solidFill>
              </a:rPr>
              <a:t>_</a:t>
            </a:r>
          </a:p>
        </p:txBody>
      </p:sp>
      <p:sp>
        <p:nvSpPr>
          <p:cNvPr id="15" name="Text Box 27"/>
          <p:cNvSpPr txBox="1">
            <a:spLocks noChangeArrowheads="1"/>
          </p:cNvSpPr>
          <p:nvPr/>
        </p:nvSpPr>
        <p:spPr bwMode="auto">
          <a:xfrm>
            <a:off x="3779838" y="2203475"/>
            <a:ext cx="3305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16" name="Rectangle 66"/>
          <p:cNvSpPr>
            <a:spLocks noChangeArrowheads="1"/>
          </p:cNvSpPr>
          <p:nvPr/>
        </p:nvSpPr>
        <p:spPr bwMode="auto">
          <a:xfrm>
            <a:off x="944563" y="4208779"/>
            <a:ext cx="283527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kumimoji="1" lang="zh-CN" altLang="en-US" sz="2000" b="1" dirty="0">
                <a:ea typeface="楷体_GB2312" pitchFamily="49" charset="-122"/>
              </a:rPr>
              <a:t>连接了双电源直流供电的运算放大器</a:t>
            </a:r>
            <a:r>
              <a:rPr lang="zh-CN" altLang="en-US" sz="2000" dirty="0"/>
              <a:t> </a:t>
            </a:r>
          </a:p>
        </p:txBody>
      </p:sp>
      <p:graphicFrame>
        <p:nvGraphicFramePr>
          <p:cNvPr id="18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4635702"/>
              </p:ext>
            </p:extLst>
          </p:nvPr>
        </p:nvGraphicFramePr>
        <p:xfrm>
          <a:off x="4076700" y="2999631"/>
          <a:ext cx="3781425" cy="374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26" name="Visio" r:id="rId4" imgW="4186965" imgH="3718843" progId="Visio.Drawing.11">
                  <p:embed/>
                </p:oleObj>
              </mc:Choice>
              <mc:Fallback>
                <p:oleObj name="Visio" r:id="rId4" imgW="4186965" imgH="371884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6700" y="2999631"/>
                        <a:ext cx="3781425" cy="3741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3"/>
          <p:cNvSpPr txBox="1">
            <a:spLocks noChangeArrowheads="1"/>
          </p:cNvSpPr>
          <p:nvPr/>
        </p:nvSpPr>
        <p:spPr bwMode="auto">
          <a:xfrm>
            <a:off x="358627" y="605780"/>
            <a:ext cx="33989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990033"/>
                </a:solidFill>
                <a:ea typeface="宋体" charset="-122"/>
              </a:rPr>
              <a:t>六、简化电路</a:t>
            </a:r>
            <a:r>
              <a:rPr kumimoji="1" lang="zh-CN" altLang="en-US" sz="2400" dirty="0" smtClean="0">
                <a:solidFill>
                  <a:srgbClr val="990033"/>
                </a:solidFill>
                <a:ea typeface="宋体" charset="-122"/>
              </a:rPr>
              <a:t>符号</a:t>
            </a:r>
            <a:endParaRPr kumimoji="1" lang="zh-CN" altLang="en-US" sz="2400" dirty="0">
              <a:solidFill>
                <a:srgbClr val="990033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761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/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266105" y="591071"/>
            <a:ext cx="45757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dirty="0" smtClean="0">
                <a:solidFill>
                  <a:srgbClr val="990033"/>
                </a:solidFill>
              </a:rPr>
              <a:t>9.1.2  </a:t>
            </a:r>
            <a:r>
              <a:rPr kumimoji="1" lang="zh-CN" altLang="en-US" dirty="0" smtClean="0">
                <a:solidFill>
                  <a:srgbClr val="990033"/>
                </a:solidFill>
              </a:rPr>
              <a:t>运算放大器的理想模型</a:t>
            </a:r>
            <a:endParaRPr kumimoji="1" lang="zh-CN" altLang="en-US" dirty="0">
              <a:solidFill>
                <a:srgbClr val="990033"/>
              </a:solidFill>
            </a:endParaRPr>
          </a:p>
        </p:txBody>
      </p:sp>
      <p:sp>
        <p:nvSpPr>
          <p:cNvPr id="3" name="AutoShape 55" descr="羊皮纸"/>
          <p:cNvSpPr>
            <a:spLocks noChangeArrowheads="1"/>
          </p:cNvSpPr>
          <p:nvPr/>
        </p:nvSpPr>
        <p:spPr bwMode="auto">
          <a:xfrm>
            <a:off x="4949825" y="1184822"/>
            <a:ext cx="1252537" cy="390202"/>
          </a:xfrm>
          <a:prstGeom prst="wedgeRoundRectCallout">
            <a:avLst>
              <a:gd name="adj1" fmla="val 36441"/>
              <a:gd name="adj2" fmla="val 264513"/>
              <a:gd name="adj3" fmla="val 16667"/>
            </a:avLst>
          </a:prstGeom>
          <a:solidFill>
            <a:srgbClr val="99CCFF"/>
          </a:solidFill>
          <a:ln>
            <a:noFill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1800" b="1" dirty="0">
                <a:latin typeface="Arial" charset="0"/>
                <a:ea typeface="楷体_GB2312" pitchFamily="49" charset="-122"/>
              </a:rPr>
              <a:t>输入电阻</a:t>
            </a:r>
          </a:p>
        </p:txBody>
      </p:sp>
      <p:sp>
        <p:nvSpPr>
          <p:cNvPr id="4" name="AutoShape 56" descr="羊皮纸"/>
          <p:cNvSpPr>
            <a:spLocks noChangeArrowheads="1"/>
          </p:cNvSpPr>
          <p:nvPr/>
        </p:nvSpPr>
        <p:spPr bwMode="auto">
          <a:xfrm>
            <a:off x="7245350" y="1184820"/>
            <a:ext cx="1176338" cy="345753"/>
          </a:xfrm>
          <a:prstGeom prst="wedgeRoundRectCallout">
            <a:avLst>
              <a:gd name="adj1" fmla="val -76762"/>
              <a:gd name="adj2" fmla="val 240505"/>
              <a:gd name="adj3" fmla="val 16667"/>
            </a:avLst>
          </a:prstGeom>
          <a:solidFill>
            <a:srgbClr val="99CCFF"/>
          </a:solidFill>
          <a:ln>
            <a:noFill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1800" b="1" dirty="0">
                <a:latin typeface="Arial" charset="0"/>
                <a:ea typeface="楷体_GB2312" pitchFamily="49" charset="-122"/>
              </a:rPr>
              <a:t>输出电阻</a:t>
            </a:r>
          </a:p>
        </p:txBody>
      </p:sp>
      <p:sp>
        <p:nvSpPr>
          <p:cNvPr id="5" name="Text Box 57"/>
          <p:cNvSpPr txBox="1">
            <a:spLocks noChangeArrowheads="1"/>
          </p:cNvSpPr>
          <p:nvPr/>
        </p:nvSpPr>
        <p:spPr bwMode="auto">
          <a:xfrm>
            <a:off x="250825" y="1916832"/>
            <a:ext cx="45910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(1)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差模增益趋于无穷大（</a:t>
            </a:r>
            <a:r>
              <a:rPr kumimoji="1" lang="en-US" altLang="zh-CN" sz="2000" i="1" dirty="0"/>
              <a:t>A</a:t>
            </a:r>
            <a:r>
              <a:rPr kumimoji="1" lang="en-US" altLang="zh-CN" sz="2000" dirty="0">
                <a:sym typeface="Symbol" pitchFamily="18" charset="2"/>
              </a:rPr>
              <a:t>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）</a:t>
            </a:r>
          </a:p>
        </p:txBody>
      </p:sp>
      <p:sp>
        <p:nvSpPr>
          <p:cNvPr id="6" name="Rectangle 94"/>
          <p:cNvSpPr>
            <a:spLocks noChangeArrowheads="1"/>
          </p:cNvSpPr>
          <p:nvPr/>
        </p:nvSpPr>
        <p:spPr bwMode="auto">
          <a:xfrm>
            <a:off x="792163" y="2502619"/>
            <a:ext cx="39608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000" i="1" dirty="0" err="1" smtClean="0">
                <a:ea typeface="楷体_GB2312" pitchFamily="49" charset="-122"/>
              </a:rPr>
              <a:t>v</a:t>
            </a:r>
            <a:r>
              <a:rPr kumimoji="1" lang="en-US" altLang="zh-CN" sz="2000" baseline="-25000" dirty="0" err="1" smtClean="0">
                <a:ea typeface="楷体_GB2312" pitchFamily="49" charset="-122"/>
              </a:rPr>
              <a:t>o</a:t>
            </a:r>
            <a:r>
              <a:rPr kumimoji="1" lang="en-US" altLang="zh-CN" sz="2000" baseline="-25000" dirty="0" smtClean="0">
                <a:ea typeface="楷体_GB2312" pitchFamily="49" charset="-122"/>
              </a:rPr>
              <a:t> 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  <a:sym typeface="Wingdings 3" pitchFamily="18" charset="2"/>
              </a:rPr>
              <a:t>为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  <a:sym typeface="Wingdings 3" pitchFamily="18" charset="2"/>
              </a:rPr>
              <a:t>有限值，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  <a:sym typeface="Wingdings 3" pitchFamily="18" charset="2"/>
              </a:rPr>
              <a:t>则 </a:t>
            </a:r>
            <a:r>
              <a:rPr kumimoji="1" lang="en-US" altLang="zh-CN" sz="2000" i="1" dirty="0" smtClean="0">
                <a:ea typeface="楷体_GB2312" pitchFamily="49" charset="-122"/>
                <a:sym typeface="Wingdings 3" pitchFamily="18" charset="2"/>
              </a:rPr>
              <a:t>v</a:t>
            </a:r>
            <a:r>
              <a:rPr kumimoji="1" lang="en-US" altLang="zh-CN" sz="2000" baseline="-25000" dirty="0" smtClean="0">
                <a:ea typeface="楷体_GB2312" pitchFamily="49" charset="-122"/>
                <a:sym typeface="Wingdings 3" pitchFamily="18" charset="2"/>
              </a:rPr>
              <a:t>+ </a:t>
            </a:r>
            <a:r>
              <a:rPr kumimoji="1" lang="en-US" altLang="zh-CN" sz="2000" dirty="0" smtClean="0">
                <a:sym typeface="Symbol" pitchFamily="18" charset="2"/>
              </a:rPr>
              <a:t> </a:t>
            </a:r>
            <a:r>
              <a:rPr kumimoji="1" lang="en-US" altLang="zh-CN" sz="2000" i="1" dirty="0" smtClean="0">
                <a:ea typeface="楷体_GB2312" pitchFamily="49" charset="-122"/>
                <a:sym typeface="Wingdings 3" pitchFamily="18" charset="2"/>
              </a:rPr>
              <a:t>v</a:t>
            </a:r>
            <a:r>
              <a:rPr kumimoji="1" lang="en-US" altLang="zh-CN" sz="2000" baseline="-25000" dirty="0" smtClean="0">
                <a:latin typeface="宋体" charset="-122"/>
                <a:sym typeface="Wingdings 3" pitchFamily="18" charset="2"/>
              </a:rPr>
              <a:t>-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  <a:sym typeface="Wingdings 3" pitchFamily="18" charset="2"/>
              </a:rPr>
              <a:t>，两个输入端之间相当于短路</a:t>
            </a:r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  <a:sym typeface="Wingdings 3" pitchFamily="18" charset="2"/>
              </a:rPr>
              <a:t>(</a:t>
            </a:r>
            <a:r>
              <a:rPr kumimoji="1"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Wingdings 3" pitchFamily="18" charset="2"/>
              </a:rPr>
              <a:t>虚短</a:t>
            </a:r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  <a:sym typeface="Wingdings 3" pitchFamily="18" charset="2"/>
              </a:rPr>
              <a:t>)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  <a:sym typeface="Wingdings 3" pitchFamily="18" charset="2"/>
              </a:rPr>
              <a:t>。</a:t>
            </a:r>
          </a:p>
        </p:txBody>
      </p:sp>
      <p:sp>
        <p:nvSpPr>
          <p:cNvPr id="7" name="Rectangle 95"/>
          <p:cNvSpPr>
            <a:spLocks noChangeArrowheads="1"/>
          </p:cNvSpPr>
          <p:nvPr/>
        </p:nvSpPr>
        <p:spPr bwMode="auto">
          <a:xfrm>
            <a:off x="341313" y="3816598"/>
            <a:ext cx="50863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000" b="1" dirty="0"/>
              <a:t>(2) </a:t>
            </a:r>
            <a:r>
              <a:rPr lang="zh-CN" altLang="en-US" sz="2000" b="1" dirty="0"/>
              <a:t>输入阻抗趋于无穷大 （</a:t>
            </a:r>
            <a:r>
              <a:rPr kumimoji="1" lang="zh-CN" altLang="en-US" sz="2000" b="1" dirty="0">
                <a:latin typeface="Arial" charset="0"/>
                <a:ea typeface="仿宋_GB2312" pitchFamily="49" charset="-122"/>
              </a:rPr>
              <a:t> </a:t>
            </a:r>
            <a:r>
              <a:rPr kumimoji="1" lang="en-US" altLang="zh-CN" sz="2000" i="1" dirty="0" err="1">
                <a:ea typeface="仿宋_GB2312" pitchFamily="49" charset="-122"/>
              </a:rPr>
              <a:t>R</a:t>
            </a:r>
            <a:r>
              <a:rPr kumimoji="1" lang="en-US" altLang="zh-CN" sz="2000" i="1" baseline="-25000" dirty="0" err="1">
                <a:ea typeface="仿宋_GB2312" pitchFamily="49" charset="-122"/>
              </a:rPr>
              <a:t>i</a:t>
            </a:r>
            <a:r>
              <a:rPr kumimoji="1" lang="en-US" altLang="zh-CN" sz="2000" i="1" baseline="-25000" dirty="0">
                <a:ea typeface="仿宋_GB2312" pitchFamily="49" charset="-122"/>
              </a:rPr>
              <a:t> </a:t>
            </a:r>
            <a:r>
              <a:rPr kumimoji="1" lang="en-US" altLang="zh-CN" sz="2000" dirty="0" smtClean="0">
                <a:ea typeface="仿宋_GB2312" pitchFamily="49" charset="-122"/>
                <a:sym typeface="Symbol" pitchFamily="18" charset="2"/>
              </a:rPr>
              <a:t> </a:t>
            </a:r>
            <a:r>
              <a:rPr lang="zh-CN" altLang="en-US" sz="2000" b="1" dirty="0"/>
              <a:t>）</a:t>
            </a:r>
            <a:endParaRPr lang="en-US" altLang="en-US" sz="2000" b="1" dirty="0"/>
          </a:p>
        </p:txBody>
      </p:sp>
      <p:sp>
        <p:nvSpPr>
          <p:cNvPr id="8" name="Rectangle 97"/>
          <p:cNvSpPr>
            <a:spLocks noChangeArrowheads="1"/>
          </p:cNvSpPr>
          <p:nvPr/>
        </p:nvSpPr>
        <p:spPr bwMode="auto">
          <a:xfrm>
            <a:off x="864345" y="4362669"/>
            <a:ext cx="75168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 dirty="0" err="1">
                <a:ea typeface="仿宋_GB2312" pitchFamily="49" charset="-122"/>
              </a:rPr>
              <a:t>i</a:t>
            </a:r>
            <a:r>
              <a:rPr kumimoji="1" lang="en-US" altLang="zh-CN" sz="2000" i="1" baseline="-25000" dirty="0">
                <a:ea typeface="仿宋_GB2312" pitchFamily="49" charset="-122"/>
              </a:rPr>
              <a:t>+ </a:t>
            </a:r>
            <a:r>
              <a:rPr kumimoji="1" lang="en-US" altLang="zh-CN" sz="2000" dirty="0">
                <a:sym typeface="Symbol" pitchFamily="18" charset="2"/>
              </a:rPr>
              <a:t></a:t>
            </a:r>
            <a:r>
              <a:rPr kumimoji="1" lang="en-US" altLang="zh-CN" sz="2000" dirty="0"/>
              <a:t> </a:t>
            </a:r>
            <a:r>
              <a:rPr kumimoji="1" lang="en-US" altLang="zh-CN" sz="2000" dirty="0">
                <a:ea typeface="仿宋_GB2312" pitchFamily="49" charset="-122"/>
              </a:rPr>
              <a:t>0 , </a:t>
            </a:r>
            <a:r>
              <a:rPr kumimoji="1" lang="en-US" altLang="zh-CN" sz="2000" i="1" dirty="0" err="1">
                <a:ea typeface="仿宋_GB2312" pitchFamily="49" charset="-122"/>
              </a:rPr>
              <a:t>i</a:t>
            </a:r>
            <a:r>
              <a:rPr kumimoji="1" lang="zh-CN" altLang="en-US" sz="2000" i="1" baseline="-25000" dirty="0">
                <a:ea typeface="仿宋_GB2312" pitchFamily="49" charset="-122"/>
              </a:rPr>
              <a:t>－ </a:t>
            </a:r>
            <a:r>
              <a:rPr kumimoji="1" lang="en-US" altLang="zh-CN" sz="2000" dirty="0">
                <a:sym typeface="Symbol" pitchFamily="18" charset="2"/>
              </a:rPr>
              <a:t></a:t>
            </a:r>
            <a:r>
              <a:rPr kumimoji="1" lang="en-US" altLang="zh-CN" sz="2000" dirty="0"/>
              <a:t> </a:t>
            </a:r>
            <a:r>
              <a:rPr kumimoji="1" lang="en-US" altLang="zh-CN" sz="2000" dirty="0">
                <a:ea typeface="仿宋_GB2312" pitchFamily="49" charset="-122"/>
              </a:rPr>
              <a:t>0</a:t>
            </a:r>
            <a:r>
              <a:rPr kumimoji="1" lang="zh-CN" altLang="en-US" sz="2000" dirty="0">
                <a:ea typeface="仿宋_GB2312" pitchFamily="49" charset="-122"/>
              </a:rPr>
              <a:t>。</a:t>
            </a:r>
            <a:r>
              <a:rPr kumimoji="1" lang="zh-CN" altLang="en-US" sz="2000" b="1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即从输入端看进去，元件相当于开路</a:t>
            </a:r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20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虚断</a:t>
            </a:r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grpSp>
        <p:nvGrpSpPr>
          <p:cNvPr id="9" name="Group 102"/>
          <p:cNvGrpSpPr>
            <a:grpSpLocks/>
          </p:cNvGrpSpPr>
          <p:nvPr/>
        </p:nvGrpSpPr>
        <p:grpSpPr bwMode="auto">
          <a:xfrm>
            <a:off x="4889501" y="1557561"/>
            <a:ext cx="4148138" cy="2476500"/>
            <a:chOff x="2927" y="890"/>
            <a:chExt cx="2613" cy="1560"/>
          </a:xfrm>
        </p:grpSpPr>
        <p:sp>
          <p:nvSpPr>
            <p:cNvPr id="10" name="Text Box 54"/>
            <p:cNvSpPr txBox="1">
              <a:spLocks noChangeArrowheads="1"/>
            </p:cNvSpPr>
            <p:nvPr/>
          </p:nvSpPr>
          <p:spPr bwMode="auto">
            <a:xfrm>
              <a:off x="5222" y="1071"/>
              <a:ext cx="318" cy="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zh-CN" altLang="en-US" sz="2000" b="1" dirty="0">
                  <a:latin typeface="楷体_GB2312" pitchFamily="49" charset="-122"/>
                  <a:ea typeface="楷体_GB2312" pitchFamily="49" charset="-122"/>
                </a:rPr>
                <a:t>电</a:t>
              </a:r>
            </a:p>
            <a:p>
              <a:pPr eaLnBrk="1" hangingPunct="1"/>
              <a:r>
                <a:rPr kumimoji="1" lang="zh-CN" altLang="en-US" sz="2000" b="1" dirty="0">
                  <a:latin typeface="楷体_GB2312" pitchFamily="49" charset="-122"/>
                  <a:ea typeface="楷体_GB2312" pitchFamily="49" charset="-122"/>
                </a:rPr>
                <a:t>路</a:t>
              </a:r>
            </a:p>
            <a:p>
              <a:pPr eaLnBrk="1" hangingPunct="1"/>
              <a:r>
                <a:rPr kumimoji="1" lang="zh-CN" altLang="en-US" sz="2000" b="1" dirty="0">
                  <a:latin typeface="楷体_GB2312" pitchFamily="49" charset="-122"/>
                  <a:ea typeface="楷体_GB2312" pitchFamily="49" charset="-122"/>
                </a:rPr>
                <a:t>模</a:t>
              </a:r>
            </a:p>
            <a:p>
              <a:pPr eaLnBrk="1" hangingPunct="1"/>
              <a:r>
                <a:rPr kumimoji="1" lang="zh-CN" altLang="en-US" sz="2000" b="1" dirty="0">
                  <a:latin typeface="楷体_GB2312" pitchFamily="49" charset="-122"/>
                  <a:ea typeface="楷体_GB2312" pitchFamily="49" charset="-122"/>
                </a:rPr>
                <a:t>型</a:t>
              </a:r>
            </a:p>
          </p:txBody>
        </p:sp>
        <p:sp>
          <p:nvSpPr>
            <p:cNvPr id="11" name="Text Box 80"/>
            <p:cNvSpPr txBox="1">
              <a:spLocks noChangeArrowheads="1"/>
            </p:cNvSpPr>
            <p:nvPr/>
          </p:nvSpPr>
          <p:spPr bwMode="auto">
            <a:xfrm>
              <a:off x="4876" y="890"/>
              <a:ext cx="2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>
                  <a:latin typeface="Arial" charset="0"/>
                  <a:ea typeface="仿宋_GB2312" pitchFamily="49" charset="-122"/>
                </a:rPr>
                <a:t>＋</a:t>
              </a:r>
            </a:p>
          </p:txBody>
        </p:sp>
        <p:sp>
          <p:nvSpPr>
            <p:cNvPr id="12" name="Line 61"/>
            <p:cNvSpPr>
              <a:spLocks noChangeShapeType="1"/>
            </p:cNvSpPr>
            <p:nvPr/>
          </p:nvSpPr>
          <p:spPr bwMode="auto">
            <a:xfrm flipH="1">
              <a:off x="4111" y="1059"/>
              <a:ext cx="8" cy="11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3" name="Text Box 62"/>
            <p:cNvSpPr txBox="1">
              <a:spLocks noChangeArrowheads="1"/>
            </p:cNvSpPr>
            <p:nvPr/>
          </p:nvSpPr>
          <p:spPr bwMode="auto">
            <a:xfrm>
              <a:off x="4195" y="1452"/>
              <a:ext cx="20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/>
                <a:t>+</a:t>
              </a:r>
            </a:p>
          </p:txBody>
        </p:sp>
        <p:sp>
          <p:nvSpPr>
            <p:cNvPr id="14" name="Text Box 63"/>
            <p:cNvSpPr txBox="1">
              <a:spLocks noChangeArrowheads="1"/>
            </p:cNvSpPr>
            <p:nvPr/>
          </p:nvSpPr>
          <p:spPr bwMode="auto">
            <a:xfrm>
              <a:off x="4224" y="181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dirty="0"/>
                <a:t>_</a:t>
              </a:r>
            </a:p>
          </p:txBody>
        </p:sp>
        <p:sp>
          <p:nvSpPr>
            <p:cNvPr id="15" name="Text Box 64"/>
            <p:cNvSpPr txBox="1">
              <a:spLocks noChangeArrowheads="1"/>
            </p:cNvSpPr>
            <p:nvPr/>
          </p:nvSpPr>
          <p:spPr bwMode="auto">
            <a:xfrm>
              <a:off x="4269" y="1726"/>
              <a:ext cx="67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A</a:t>
              </a:r>
              <a:r>
                <a:rPr kumimoji="1" lang="en-US" altLang="zh-CN" sz="2000" dirty="0"/>
                <a:t>(</a:t>
              </a:r>
              <a:r>
                <a:rPr kumimoji="1" lang="en-US" altLang="zh-CN" sz="2000" i="1" dirty="0"/>
                <a:t>v</a:t>
              </a:r>
              <a:r>
                <a:rPr kumimoji="1" lang="en-US" altLang="zh-CN" sz="2000" baseline="-25000" dirty="0"/>
                <a:t>+</a:t>
              </a:r>
              <a:r>
                <a:rPr kumimoji="1" lang="en-US" altLang="zh-CN" sz="2000" dirty="0">
                  <a:latin typeface="宋体" charset="-122"/>
                </a:rPr>
                <a:t>-</a:t>
              </a:r>
              <a:r>
                <a:rPr kumimoji="1" lang="en-US" altLang="zh-CN" sz="2000" i="1" dirty="0"/>
                <a:t>v</a:t>
              </a:r>
              <a:r>
                <a:rPr kumimoji="1" lang="en-US" altLang="zh-CN" sz="2000" baseline="-25000" dirty="0">
                  <a:latin typeface="宋体" charset="-122"/>
                </a:rPr>
                <a:t>-</a:t>
              </a:r>
              <a:r>
                <a:rPr kumimoji="1" lang="en-US" altLang="zh-CN" sz="2000" dirty="0"/>
                <a:t>)</a:t>
              </a:r>
            </a:p>
          </p:txBody>
        </p:sp>
        <p:sp>
          <p:nvSpPr>
            <p:cNvPr id="16" name="Line 65"/>
            <p:cNvSpPr>
              <a:spLocks noChangeShapeType="1"/>
            </p:cNvSpPr>
            <p:nvPr/>
          </p:nvSpPr>
          <p:spPr bwMode="auto">
            <a:xfrm>
              <a:off x="4113" y="1059"/>
              <a:ext cx="7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7" name="Line 66"/>
            <p:cNvSpPr>
              <a:spLocks noChangeShapeType="1"/>
            </p:cNvSpPr>
            <p:nvPr/>
          </p:nvSpPr>
          <p:spPr bwMode="auto">
            <a:xfrm flipH="1">
              <a:off x="3742" y="1071"/>
              <a:ext cx="0" cy="11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8" name="Line 67"/>
            <p:cNvSpPr>
              <a:spLocks noChangeShapeType="1"/>
            </p:cNvSpPr>
            <p:nvPr/>
          </p:nvSpPr>
          <p:spPr bwMode="auto">
            <a:xfrm flipH="1">
              <a:off x="3288" y="1072"/>
              <a:ext cx="4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" name="Text Box 68"/>
            <p:cNvSpPr txBox="1">
              <a:spLocks noChangeArrowheads="1"/>
            </p:cNvSpPr>
            <p:nvPr/>
          </p:nvSpPr>
          <p:spPr bwMode="auto">
            <a:xfrm>
              <a:off x="4241" y="1225"/>
              <a:ext cx="27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R</a:t>
              </a:r>
              <a:r>
                <a:rPr kumimoji="1" lang="en-US" altLang="zh-CN" sz="2000" i="1" baseline="-25000"/>
                <a:t>o</a:t>
              </a:r>
              <a:endParaRPr kumimoji="1" lang="en-US" altLang="zh-CN" sz="2000" i="1"/>
            </a:p>
          </p:txBody>
        </p:sp>
        <p:sp>
          <p:nvSpPr>
            <p:cNvPr id="20" name="Text Box 69"/>
            <p:cNvSpPr txBox="1">
              <a:spLocks noChangeArrowheads="1"/>
            </p:cNvSpPr>
            <p:nvPr/>
          </p:nvSpPr>
          <p:spPr bwMode="auto">
            <a:xfrm>
              <a:off x="3390" y="1480"/>
              <a:ext cx="25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R</a:t>
              </a:r>
              <a:r>
                <a:rPr kumimoji="1" lang="en-US" altLang="zh-CN" sz="2000" i="1" baseline="-25000"/>
                <a:t>i</a:t>
              </a:r>
              <a:endParaRPr kumimoji="1" lang="en-US" altLang="zh-CN" sz="2000" i="1"/>
            </a:p>
          </p:txBody>
        </p:sp>
        <p:sp>
          <p:nvSpPr>
            <p:cNvPr id="21" name="Text Box 70"/>
            <p:cNvSpPr txBox="1">
              <a:spLocks noChangeArrowheads="1"/>
            </p:cNvSpPr>
            <p:nvPr/>
          </p:nvSpPr>
          <p:spPr bwMode="auto">
            <a:xfrm>
              <a:off x="2927" y="1962"/>
              <a:ext cx="24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v</a:t>
              </a:r>
              <a:r>
                <a:rPr kumimoji="1" lang="en-US" altLang="zh-CN" sz="2000" baseline="-25000">
                  <a:ea typeface="楷体_GB2312" pitchFamily="49" charset="-122"/>
                </a:rPr>
                <a:t>+</a:t>
              </a:r>
            </a:p>
          </p:txBody>
        </p:sp>
        <p:sp>
          <p:nvSpPr>
            <p:cNvPr id="22" name="Text Box 71"/>
            <p:cNvSpPr txBox="1">
              <a:spLocks noChangeArrowheads="1"/>
            </p:cNvSpPr>
            <p:nvPr/>
          </p:nvSpPr>
          <p:spPr bwMode="auto">
            <a:xfrm>
              <a:off x="2965" y="1054"/>
              <a:ext cx="32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v</a:t>
              </a:r>
              <a:r>
                <a:rPr kumimoji="1" lang="en-US" altLang="zh-CN" sz="2000" baseline="-25000">
                  <a:ea typeface="楷体_GB2312" pitchFamily="49" charset="-122"/>
                </a:rPr>
                <a:t>-</a:t>
              </a:r>
            </a:p>
          </p:txBody>
        </p:sp>
        <p:grpSp>
          <p:nvGrpSpPr>
            <p:cNvPr id="23" name="Group 72"/>
            <p:cNvGrpSpPr>
              <a:grpSpLocks/>
            </p:cNvGrpSpPr>
            <p:nvPr/>
          </p:nvGrpSpPr>
          <p:grpSpPr bwMode="auto">
            <a:xfrm>
              <a:off x="3987" y="2209"/>
              <a:ext cx="269" cy="241"/>
              <a:chOff x="1416" y="2436"/>
              <a:chExt cx="261" cy="240"/>
            </a:xfrm>
          </p:grpSpPr>
          <p:grpSp>
            <p:nvGrpSpPr>
              <p:cNvPr id="36" name="Group 73"/>
              <p:cNvGrpSpPr>
                <a:grpSpLocks/>
              </p:cNvGrpSpPr>
              <p:nvPr/>
            </p:nvGrpSpPr>
            <p:grpSpPr bwMode="auto">
              <a:xfrm>
                <a:off x="1416" y="2556"/>
                <a:ext cx="261" cy="120"/>
                <a:chOff x="720" y="1824"/>
                <a:chExt cx="261" cy="120"/>
              </a:xfrm>
            </p:grpSpPr>
            <p:sp>
              <p:nvSpPr>
                <p:cNvPr id="38" name="Line 74"/>
                <p:cNvSpPr>
                  <a:spLocks noChangeShapeType="1"/>
                </p:cNvSpPr>
                <p:nvPr/>
              </p:nvSpPr>
              <p:spPr bwMode="auto">
                <a:xfrm>
                  <a:off x="720" y="1824"/>
                  <a:ext cx="26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" name="Line 75"/>
                <p:cNvSpPr>
                  <a:spLocks noChangeShapeType="1"/>
                </p:cNvSpPr>
                <p:nvPr/>
              </p:nvSpPr>
              <p:spPr bwMode="auto">
                <a:xfrm>
                  <a:off x="778" y="1883"/>
                  <a:ext cx="1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Line 76"/>
                <p:cNvSpPr>
                  <a:spLocks noChangeShapeType="1"/>
                </p:cNvSpPr>
                <p:nvPr/>
              </p:nvSpPr>
              <p:spPr bwMode="auto">
                <a:xfrm>
                  <a:off x="802" y="1944"/>
                  <a:ext cx="8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 sz="200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7" name="Line 77"/>
              <p:cNvSpPr>
                <a:spLocks noChangeShapeType="1"/>
              </p:cNvSpPr>
              <p:nvPr/>
            </p:nvSpPr>
            <p:spPr bwMode="auto">
              <a:xfrm>
                <a:off x="1536" y="2436"/>
                <a:ext cx="0" cy="12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4" name="Line 78"/>
            <p:cNvSpPr>
              <a:spLocks noChangeShapeType="1"/>
            </p:cNvSpPr>
            <p:nvPr/>
          </p:nvSpPr>
          <p:spPr bwMode="auto">
            <a:xfrm>
              <a:off x="3220" y="2196"/>
              <a:ext cx="18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5" name="Text Box 81"/>
            <p:cNvSpPr txBox="1">
              <a:spLocks noChangeArrowheads="1"/>
            </p:cNvSpPr>
            <p:nvPr/>
          </p:nvSpPr>
          <p:spPr bwMode="auto">
            <a:xfrm>
              <a:off x="4921" y="1888"/>
              <a:ext cx="2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>
                  <a:latin typeface="Arial" charset="0"/>
                  <a:ea typeface="仿宋_GB2312" pitchFamily="49" charset="-122"/>
                </a:rPr>
                <a:t>－</a:t>
              </a:r>
            </a:p>
          </p:txBody>
        </p:sp>
        <p:sp>
          <p:nvSpPr>
            <p:cNvPr id="26" name="Text Box 82"/>
            <p:cNvSpPr txBox="1">
              <a:spLocks noChangeArrowheads="1"/>
            </p:cNvSpPr>
            <p:nvPr/>
          </p:nvSpPr>
          <p:spPr bwMode="auto">
            <a:xfrm>
              <a:off x="4864" y="1451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ea typeface="仿宋_GB2312" pitchFamily="49" charset="-122"/>
                </a:rPr>
                <a:t>v</a:t>
              </a:r>
              <a:r>
                <a:rPr lang="en-US" altLang="zh-CN" sz="2000" i="1" baseline="-25000">
                  <a:ea typeface="仿宋_GB2312" pitchFamily="49" charset="-122"/>
                </a:rPr>
                <a:t>o</a:t>
              </a:r>
              <a:endParaRPr lang="en-US" altLang="zh-CN" sz="2000" i="1" baseline="30000">
                <a:ea typeface="仿宋_GB2312" pitchFamily="49" charset="-122"/>
              </a:endParaRPr>
            </a:p>
          </p:txBody>
        </p:sp>
        <p:sp>
          <p:nvSpPr>
            <p:cNvPr id="27" name="Rectangle 83"/>
            <p:cNvSpPr>
              <a:spLocks noChangeArrowheads="1"/>
            </p:cNvSpPr>
            <p:nvPr/>
          </p:nvSpPr>
          <p:spPr bwMode="auto">
            <a:xfrm>
              <a:off x="4066" y="120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8" name="Rectangle 84"/>
            <p:cNvSpPr>
              <a:spLocks noChangeArrowheads="1"/>
            </p:cNvSpPr>
            <p:nvPr/>
          </p:nvSpPr>
          <p:spPr bwMode="auto">
            <a:xfrm>
              <a:off x="3686" y="148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9" name="Oval 85"/>
            <p:cNvSpPr>
              <a:spLocks noChangeArrowheads="1"/>
            </p:cNvSpPr>
            <p:nvPr/>
          </p:nvSpPr>
          <p:spPr bwMode="auto">
            <a:xfrm>
              <a:off x="5012" y="2160"/>
              <a:ext cx="91" cy="91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0" name="Oval 86"/>
            <p:cNvSpPr>
              <a:spLocks noChangeArrowheads="1"/>
            </p:cNvSpPr>
            <p:nvPr/>
          </p:nvSpPr>
          <p:spPr bwMode="auto">
            <a:xfrm>
              <a:off x="3152" y="2160"/>
              <a:ext cx="91" cy="91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1" name="Oval 87"/>
            <p:cNvSpPr>
              <a:spLocks noChangeArrowheads="1"/>
            </p:cNvSpPr>
            <p:nvPr/>
          </p:nvSpPr>
          <p:spPr bwMode="auto">
            <a:xfrm>
              <a:off x="3198" y="1026"/>
              <a:ext cx="91" cy="91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2" name="AutoShape 89"/>
            <p:cNvSpPr>
              <a:spLocks noChangeArrowheads="1"/>
            </p:cNvSpPr>
            <p:nvPr/>
          </p:nvSpPr>
          <p:spPr bwMode="auto">
            <a:xfrm rot="5400000">
              <a:off x="3963" y="1672"/>
              <a:ext cx="310" cy="370"/>
            </a:xfrm>
            <a:prstGeom prst="flowChartSort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3" name="Oval 90"/>
            <p:cNvSpPr>
              <a:spLocks noChangeArrowheads="1"/>
            </p:cNvSpPr>
            <p:nvPr/>
          </p:nvSpPr>
          <p:spPr bwMode="auto">
            <a:xfrm>
              <a:off x="4830" y="1026"/>
              <a:ext cx="91" cy="91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4" name="Oval 99"/>
            <p:cNvSpPr>
              <a:spLocks noChangeArrowheads="1"/>
            </p:cNvSpPr>
            <p:nvPr/>
          </p:nvSpPr>
          <p:spPr bwMode="auto">
            <a:xfrm>
              <a:off x="3714" y="2172"/>
              <a:ext cx="45" cy="45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5" name="Oval 100"/>
            <p:cNvSpPr>
              <a:spLocks noChangeArrowheads="1"/>
            </p:cNvSpPr>
            <p:nvPr/>
          </p:nvSpPr>
          <p:spPr bwMode="auto">
            <a:xfrm>
              <a:off x="4088" y="2172"/>
              <a:ext cx="45" cy="45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</p:grpSp>
      <p:sp>
        <p:nvSpPr>
          <p:cNvPr id="41" name="Rectangle 103"/>
          <p:cNvSpPr>
            <a:spLocks noChangeArrowheads="1"/>
          </p:cNvSpPr>
          <p:nvPr/>
        </p:nvSpPr>
        <p:spPr bwMode="auto">
          <a:xfrm>
            <a:off x="341313" y="5121523"/>
            <a:ext cx="50863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000" b="1" dirty="0"/>
              <a:t>(3) </a:t>
            </a:r>
            <a:r>
              <a:rPr lang="zh-CN" altLang="en-US" sz="2000" b="1" dirty="0"/>
              <a:t>输出阻抗趋于零 （</a:t>
            </a:r>
            <a:r>
              <a:rPr kumimoji="1" lang="zh-CN" altLang="en-US" sz="2000" b="1" dirty="0">
                <a:latin typeface="Arial" charset="0"/>
                <a:ea typeface="仿宋_GB2312" pitchFamily="49" charset="-122"/>
              </a:rPr>
              <a:t> </a:t>
            </a:r>
            <a:r>
              <a:rPr kumimoji="1" lang="en-US" altLang="zh-CN" sz="2000" i="1" dirty="0">
                <a:ea typeface="仿宋_GB2312" pitchFamily="49" charset="-122"/>
              </a:rPr>
              <a:t>R</a:t>
            </a:r>
            <a:r>
              <a:rPr kumimoji="1" lang="en-US" altLang="zh-CN" sz="2000" i="1" baseline="-25000" dirty="0">
                <a:ea typeface="仿宋_GB2312" pitchFamily="49" charset="-122"/>
              </a:rPr>
              <a:t>o </a:t>
            </a:r>
            <a:r>
              <a:rPr kumimoji="1" lang="en-US" altLang="zh-CN" sz="2000" dirty="0" smtClean="0">
                <a:ea typeface="仿宋_GB2312" pitchFamily="49" charset="-122"/>
                <a:sym typeface="Symbol" pitchFamily="18" charset="2"/>
              </a:rPr>
              <a:t> 0</a:t>
            </a:r>
            <a:r>
              <a:rPr lang="zh-CN" altLang="en-US" sz="2000" b="1" dirty="0"/>
              <a:t>）</a:t>
            </a:r>
            <a:endParaRPr lang="en-US" altLang="en-US" sz="2000" b="1" dirty="0"/>
          </a:p>
        </p:txBody>
      </p:sp>
      <p:sp>
        <p:nvSpPr>
          <p:cNvPr id="42" name="Rectangle 104"/>
          <p:cNvSpPr>
            <a:spLocks noChangeArrowheads="1"/>
          </p:cNvSpPr>
          <p:nvPr/>
        </p:nvSpPr>
        <p:spPr bwMode="auto">
          <a:xfrm>
            <a:off x="881063" y="5693186"/>
            <a:ext cx="756126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输出电压与负载无关， </a:t>
            </a:r>
            <a:r>
              <a:rPr kumimoji="1" lang="en-US" altLang="zh-CN" sz="2000" i="1" dirty="0" err="1" smtClean="0">
                <a:ea typeface="仿宋_GB2312" pitchFamily="49" charset="-122"/>
              </a:rPr>
              <a:t>v</a:t>
            </a:r>
            <a:r>
              <a:rPr kumimoji="1" lang="en-US" altLang="zh-CN" sz="2000" i="1" baseline="-25000" dirty="0" err="1" smtClean="0">
                <a:ea typeface="仿宋_GB2312" pitchFamily="49" charset="-122"/>
              </a:rPr>
              <a:t>o</a:t>
            </a:r>
            <a:r>
              <a:rPr kumimoji="1" lang="en-US" altLang="zh-CN" sz="2000" i="1" baseline="-25000" dirty="0" smtClean="0">
                <a:ea typeface="仿宋_GB2312" pitchFamily="49" charset="-122"/>
              </a:rPr>
              <a:t> 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= </a:t>
            </a:r>
            <a:r>
              <a:rPr kumimoji="1" lang="en-US" altLang="zh-CN" sz="2000" i="1" dirty="0" smtClean="0"/>
              <a:t>A</a:t>
            </a:r>
            <a:r>
              <a:rPr kumimoji="1" lang="en-US" altLang="zh-CN" sz="2000" dirty="0" smtClean="0"/>
              <a:t>(</a:t>
            </a:r>
            <a:r>
              <a:rPr kumimoji="1" lang="en-US" altLang="zh-CN" sz="2000" i="1" dirty="0" smtClean="0"/>
              <a:t>v</a:t>
            </a:r>
            <a:r>
              <a:rPr kumimoji="1" lang="en-US" altLang="zh-CN" sz="2000" baseline="-25000" dirty="0"/>
              <a:t>+</a:t>
            </a:r>
            <a:r>
              <a:rPr kumimoji="1" lang="en-US" altLang="zh-CN" sz="2000" dirty="0"/>
              <a:t>-</a:t>
            </a:r>
            <a:r>
              <a:rPr kumimoji="1" lang="en-US" altLang="zh-CN" sz="2000" i="1" dirty="0"/>
              <a:t>v</a:t>
            </a:r>
            <a:r>
              <a:rPr kumimoji="1" lang="en-US" altLang="zh-CN" sz="2000" baseline="-25000" dirty="0"/>
              <a:t>-</a:t>
            </a:r>
            <a:r>
              <a:rPr kumimoji="1" lang="en-US" altLang="zh-CN" sz="2000" dirty="0"/>
              <a:t>)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40294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10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4"/>
          <p:cNvSpPr txBox="1">
            <a:spLocks noChangeArrowheads="1"/>
          </p:cNvSpPr>
          <p:nvPr/>
        </p:nvSpPr>
        <p:spPr bwMode="auto">
          <a:xfrm>
            <a:off x="250825" y="862013"/>
            <a:ext cx="55816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sz="2000" b="1" dirty="0">
                <a:ea typeface="楷体_GB2312" pitchFamily="49" charset="-122"/>
              </a:rPr>
              <a:t>4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共模抑制比趋于无穷大（</a:t>
            </a:r>
            <a:r>
              <a:rPr kumimoji="1" lang="en-US" altLang="zh-CN" sz="2000" i="1" dirty="0" smtClean="0"/>
              <a:t>CMRR </a:t>
            </a:r>
            <a:r>
              <a:rPr kumimoji="1" lang="en-US" altLang="zh-CN" sz="2000" dirty="0" smtClean="0">
                <a:sym typeface="Symbol" pitchFamily="18" charset="2"/>
              </a:rPr>
              <a:t> 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）</a:t>
            </a:r>
          </a:p>
        </p:txBody>
      </p:sp>
      <p:sp>
        <p:nvSpPr>
          <p:cNvPr id="3" name="Rectangle 16"/>
          <p:cNvSpPr>
            <a:spLocks noChangeArrowheads="1"/>
          </p:cNvSpPr>
          <p:nvPr/>
        </p:nvSpPr>
        <p:spPr bwMode="auto">
          <a:xfrm>
            <a:off x="341313" y="4613066"/>
            <a:ext cx="50863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000" b="1" dirty="0"/>
              <a:t>(5) </a:t>
            </a:r>
            <a:r>
              <a:rPr lang="zh-CN" altLang="en-US" sz="2000" b="1" dirty="0"/>
              <a:t>带宽无穷大</a:t>
            </a:r>
            <a:endParaRPr lang="en-US" altLang="en-US" sz="2000" b="1" dirty="0"/>
          </a:p>
        </p:txBody>
      </p:sp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792163" y="1556792"/>
            <a:ext cx="69481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000" i="1" dirty="0" err="1" smtClean="0">
                <a:ea typeface="楷体_GB2312" pitchFamily="49" charset="-122"/>
              </a:rPr>
              <a:t>v</a:t>
            </a:r>
            <a:r>
              <a:rPr kumimoji="1" lang="en-US" altLang="zh-CN" sz="2000" baseline="-25000" dirty="0" err="1" smtClean="0">
                <a:ea typeface="楷体_GB2312" pitchFamily="49" charset="-122"/>
              </a:rPr>
              <a:t>o</a:t>
            </a:r>
            <a:r>
              <a:rPr kumimoji="1" lang="en-US" altLang="zh-CN" sz="2000" baseline="-25000" dirty="0" smtClean="0">
                <a:ea typeface="楷体_GB2312" pitchFamily="49" charset="-122"/>
              </a:rPr>
              <a:t> 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  <a:sym typeface="Wingdings 3" pitchFamily="18" charset="2"/>
              </a:rPr>
              <a:t>为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  <a:sym typeface="Wingdings 3" pitchFamily="18" charset="2"/>
              </a:rPr>
              <a:t>有限值，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  <a:sym typeface="Wingdings 3" pitchFamily="18" charset="2"/>
              </a:rPr>
              <a:t>则 </a:t>
            </a:r>
            <a:r>
              <a:rPr kumimoji="1" lang="en-US" altLang="zh-CN" sz="2000" i="1" dirty="0" smtClean="0">
                <a:ea typeface="楷体_GB2312" pitchFamily="49" charset="-122"/>
                <a:sym typeface="Wingdings 3" pitchFamily="18" charset="2"/>
              </a:rPr>
              <a:t>v</a:t>
            </a:r>
            <a:r>
              <a:rPr kumimoji="1" lang="en-US" altLang="zh-CN" sz="2000" baseline="-25000" dirty="0" smtClean="0">
                <a:ea typeface="楷体_GB2312" pitchFamily="49" charset="-122"/>
                <a:sym typeface="Wingdings 3" pitchFamily="18" charset="2"/>
              </a:rPr>
              <a:t>+ </a:t>
            </a:r>
            <a:r>
              <a:rPr kumimoji="1" lang="en-US" altLang="zh-CN" sz="2000" dirty="0" smtClean="0">
                <a:sym typeface="Symbol" pitchFamily="18" charset="2"/>
              </a:rPr>
              <a:t> </a:t>
            </a:r>
            <a:r>
              <a:rPr kumimoji="1" lang="en-US" altLang="zh-CN" sz="2000" i="1" dirty="0" smtClean="0">
                <a:ea typeface="楷体_GB2312" pitchFamily="49" charset="-122"/>
                <a:sym typeface="Wingdings 3" pitchFamily="18" charset="2"/>
              </a:rPr>
              <a:t>v</a:t>
            </a:r>
            <a:r>
              <a:rPr kumimoji="1" lang="en-US" altLang="zh-CN" sz="2000" baseline="-25000" dirty="0" smtClean="0">
                <a:latin typeface="宋体" charset="-122"/>
                <a:sym typeface="Wingdings 3" pitchFamily="18" charset="2"/>
              </a:rPr>
              <a:t>-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  <a:sym typeface="Wingdings 3" pitchFamily="18" charset="2"/>
              </a:rPr>
              <a:t>，两个输入端之间相当于短路</a:t>
            </a:r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  <a:sym typeface="Wingdings 3" pitchFamily="18" charset="2"/>
              </a:rPr>
              <a:t>(</a:t>
            </a:r>
            <a:r>
              <a:rPr kumimoji="1" lang="zh-CN" altLang="en-US" sz="20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Wingdings 3" pitchFamily="18" charset="2"/>
              </a:rPr>
              <a:t>虚短</a:t>
            </a:r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  <a:sym typeface="Wingdings 3" pitchFamily="18" charset="2"/>
              </a:rPr>
              <a:t>)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  <a:sym typeface="Wingdings 3" pitchFamily="18" charset="2"/>
              </a:rPr>
              <a:t>。</a:t>
            </a:r>
          </a:p>
        </p:txBody>
      </p:sp>
      <p:graphicFrame>
        <p:nvGraphicFramePr>
          <p:cNvPr id="6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6804515"/>
              </p:ext>
            </p:extLst>
          </p:nvPr>
        </p:nvGraphicFramePr>
        <p:xfrm>
          <a:off x="2809875" y="2420938"/>
          <a:ext cx="4410075" cy="179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47" name="Equation" r:id="rId3" imgW="2184120" imgH="888840" progId="Equation.DSMT4">
                  <p:embed/>
                </p:oleObj>
              </mc:Choice>
              <mc:Fallback>
                <p:oleObj name="Equation" r:id="rId3" imgW="218412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75" y="2420938"/>
                        <a:ext cx="4410075" cy="179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6742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50825" y="684213"/>
            <a:ext cx="55816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理想运算放大器的等效电路</a:t>
            </a:r>
            <a:endParaRPr lang="zh-CN" altLang="en-US" sz="2000" b="1">
              <a:latin typeface="楷体_GB2312" pitchFamily="49" charset="-122"/>
              <a:ea typeface="楷体_GB2312" pitchFamily="49" charset="-122"/>
              <a:sym typeface="Symbol" pitchFamily="18" charset="2"/>
            </a:endParaRPr>
          </a:p>
        </p:txBody>
      </p:sp>
      <p:graphicFrame>
        <p:nvGraphicFramePr>
          <p:cNvPr id="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6199446"/>
              </p:ext>
            </p:extLst>
          </p:nvPr>
        </p:nvGraphicFramePr>
        <p:xfrm>
          <a:off x="2366963" y="1854200"/>
          <a:ext cx="4284662" cy="287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70" name="Visio" r:id="rId3" imgW="3871782" imgH="2854951" progId="Visio.Drawing.11">
                  <p:embed/>
                </p:oleObj>
              </mc:Choice>
              <mc:Fallback>
                <p:oleObj name="Visio" r:id="rId3" imgW="3871782" imgH="285495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963" y="1854200"/>
                        <a:ext cx="4284662" cy="287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704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64"/>
          <p:cNvSpPr>
            <a:spLocks noChangeArrowheads="1"/>
          </p:cNvSpPr>
          <p:nvPr/>
        </p:nvSpPr>
        <p:spPr bwMode="auto">
          <a:xfrm>
            <a:off x="666750" y="651485"/>
            <a:ext cx="7515225" cy="519113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zh-CN" sz="2800" dirty="0" smtClean="0">
                <a:solidFill>
                  <a:schemeClr val="tx2"/>
                </a:solidFill>
              </a:rPr>
              <a:t>9.2 </a:t>
            </a:r>
            <a:r>
              <a:rPr lang="zh-CN" altLang="en-US" sz="2800" dirty="0" smtClean="0">
                <a:solidFill>
                  <a:schemeClr val="tx2"/>
                </a:solidFill>
              </a:rPr>
              <a:t>运算放大器</a:t>
            </a:r>
            <a:r>
              <a:rPr lang="zh-CN" altLang="en-US" sz="2800" dirty="0">
                <a:solidFill>
                  <a:schemeClr val="tx2"/>
                </a:solidFill>
              </a:rPr>
              <a:t>基本应用</a:t>
            </a:r>
            <a:r>
              <a:rPr lang="zh-CN" altLang="en-US" sz="2800" dirty="0" smtClean="0">
                <a:solidFill>
                  <a:schemeClr val="tx2"/>
                </a:solidFill>
              </a:rPr>
              <a:t>电路</a:t>
            </a:r>
            <a:endParaRPr lang="zh-CN" altLang="en-US" sz="2800" dirty="0">
              <a:solidFill>
                <a:schemeClr val="tx2"/>
              </a:solidFill>
            </a:endParaRPr>
          </a:p>
        </p:txBody>
      </p:sp>
      <p:sp>
        <p:nvSpPr>
          <p:cNvPr id="48" name="Text Box 65"/>
          <p:cNvSpPr txBox="1">
            <a:spLocks noChangeArrowheads="1"/>
          </p:cNvSpPr>
          <p:nvPr/>
        </p:nvSpPr>
        <p:spPr bwMode="auto">
          <a:xfrm>
            <a:off x="388938" y="1481103"/>
            <a:ext cx="82883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0" hangingPunct="0"/>
            <a:r>
              <a:rPr lang="en-US" altLang="zh-CN" sz="2400" dirty="0" smtClean="0">
                <a:solidFill>
                  <a:srgbClr val="990033"/>
                </a:solidFill>
              </a:rPr>
              <a:t>9.2.1 </a:t>
            </a:r>
            <a:r>
              <a:rPr lang="zh-CN" altLang="en-US" sz="2400" dirty="0" smtClean="0">
                <a:solidFill>
                  <a:srgbClr val="990033"/>
                </a:solidFill>
              </a:rPr>
              <a:t>反相</a:t>
            </a:r>
            <a:r>
              <a:rPr lang="zh-CN" altLang="en-US" sz="2400" dirty="0">
                <a:solidFill>
                  <a:srgbClr val="990033"/>
                </a:solidFill>
              </a:rPr>
              <a:t>和同相接法</a:t>
            </a:r>
            <a:r>
              <a:rPr lang="zh-CN" altLang="en-US" sz="2400" dirty="0" smtClean="0">
                <a:solidFill>
                  <a:srgbClr val="990033"/>
                </a:solidFill>
              </a:rPr>
              <a:t>电路</a:t>
            </a:r>
            <a:endParaRPr lang="en-US" altLang="zh-CN" sz="2400" dirty="0">
              <a:solidFill>
                <a:srgbClr val="990033"/>
              </a:solidFill>
            </a:endParaRPr>
          </a:p>
        </p:txBody>
      </p:sp>
      <p:sp>
        <p:nvSpPr>
          <p:cNvPr id="49" name="Text Box 3"/>
          <p:cNvSpPr txBox="1">
            <a:spLocks noChangeArrowheads="1"/>
          </p:cNvSpPr>
          <p:nvPr/>
        </p:nvSpPr>
        <p:spPr bwMode="auto">
          <a:xfrm>
            <a:off x="750340" y="1945476"/>
            <a:ext cx="56938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dirty="0" smtClean="0">
                <a:solidFill>
                  <a:srgbClr val="990033"/>
                </a:solidFill>
                <a:ea typeface="宋体" charset="-122"/>
              </a:rPr>
              <a:t>一</a:t>
            </a:r>
            <a:r>
              <a:rPr kumimoji="1" lang="zh-CN" altLang="en-US" sz="2400" dirty="0">
                <a:solidFill>
                  <a:srgbClr val="990033"/>
                </a:solidFill>
                <a:ea typeface="宋体" charset="-122"/>
              </a:rPr>
              <a:t>、运放</a:t>
            </a:r>
            <a:r>
              <a:rPr kumimoji="1" lang="zh-CN" altLang="en-US" sz="2400" dirty="0" smtClean="0">
                <a:solidFill>
                  <a:srgbClr val="990033"/>
                </a:solidFill>
                <a:ea typeface="宋体" charset="-122"/>
              </a:rPr>
              <a:t>的反相接</a:t>
            </a:r>
            <a:r>
              <a:rPr kumimoji="1" lang="zh-CN" altLang="en-US" sz="2400" dirty="0">
                <a:solidFill>
                  <a:srgbClr val="990033"/>
                </a:solidFill>
                <a:ea typeface="宋体" charset="-122"/>
              </a:rPr>
              <a:t>法</a:t>
            </a:r>
            <a:r>
              <a:rPr kumimoji="1" lang="zh-CN" altLang="en-US" sz="2400" dirty="0" smtClean="0">
                <a:solidFill>
                  <a:srgbClr val="990033"/>
                </a:solidFill>
                <a:ea typeface="宋体" charset="-122"/>
              </a:rPr>
              <a:t>电路及其分析</a:t>
            </a:r>
            <a:endParaRPr kumimoji="1" lang="zh-CN" altLang="en-US" sz="2400" dirty="0">
              <a:solidFill>
                <a:srgbClr val="990033"/>
              </a:solidFill>
              <a:ea typeface="宋体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76250" y="2407141"/>
            <a:ext cx="7991475" cy="78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715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运放开环工作极不稳定，一般外部接若干元件</a:t>
            </a:r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en-US" altLang="zh-CN" sz="2000" i="1" dirty="0">
                <a:ea typeface="楷体_GB2312" pitchFamily="49" charset="-122"/>
              </a:rPr>
              <a:t>R</a:t>
            </a:r>
            <a:r>
              <a:rPr kumimoji="1" lang="zh-CN" altLang="en-US" sz="2000" dirty="0">
                <a:ea typeface="楷体_GB2312" pitchFamily="49" charset="-122"/>
              </a:rPr>
              <a:t>、</a:t>
            </a:r>
            <a:r>
              <a:rPr kumimoji="1" lang="en-US" altLang="zh-CN" sz="2000" i="1" dirty="0">
                <a:ea typeface="楷体_GB2312" pitchFamily="49" charset="-122"/>
              </a:rPr>
              <a:t>C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等</a:t>
            </a:r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，使其工作在闭环状态。</a:t>
            </a:r>
          </a:p>
        </p:txBody>
      </p:sp>
      <p:grpSp>
        <p:nvGrpSpPr>
          <p:cNvPr id="7" name="Group 95"/>
          <p:cNvGrpSpPr>
            <a:grpSpLocks/>
          </p:cNvGrpSpPr>
          <p:nvPr/>
        </p:nvGrpSpPr>
        <p:grpSpPr bwMode="auto">
          <a:xfrm>
            <a:off x="2546350" y="3428571"/>
            <a:ext cx="3970338" cy="2736850"/>
            <a:chOff x="158" y="2050"/>
            <a:chExt cx="2501" cy="1724"/>
          </a:xfrm>
        </p:grpSpPr>
        <p:sp>
          <p:nvSpPr>
            <p:cNvPr id="8" name="AutoShape 94"/>
            <p:cNvSpPr>
              <a:spLocks noChangeArrowheads="1"/>
            </p:cNvSpPr>
            <p:nvPr/>
          </p:nvSpPr>
          <p:spPr bwMode="auto">
            <a:xfrm rot="5400000">
              <a:off x="1179" y="2585"/>
              <a:ext cx="652" cy="652"/>
            </a:xfrm>
            <a:prstGeom prst="triangle">
              <a:avLst>
                <a:gd name="adj" fmla="val 51023"/>
              </a:avLst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9" name="Line 13"/>
            <p:cNvSpPr>
              <a:spLocks noChangeShapeType="1"/>
            </p:cNvSpPr>
            <p:nvPr/>
          </p:nvSpPr>
          <p:spPr bwMode="auto">
            <a:xfrm flipH="1">
              <a:off x="1065" y="3114"/>
              <a:ext cx="1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" name="Oval 14"/>
            <p:cNvSpPr>
              <a:spLocks noChangeArrowheads="1"/>
            </p:cNvSpPr>
            <p:nvPr/>
          </p:nvSpPr>
          <p:spPr bwMode="auto">
            <a:xfrm>
              <a:off x="394" y="297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/>
              <a:endParaRPr lang="zh-CN" altLang="en-US" sz="2000">
                <a:latin typeface="Arial" charset="0"/>
                <a:ea typeface="仿宋_GB2312" pitchFamily="49" charset="-122"/>
              </a:endParaRPr>
            </a:p>
          </p:txBody>
        </p:sp>
        <p:sp>
          <p:nvSpPr>
            <p:cNvPr id="11" name="Line 15"/>
            <p:cNvSpPr>
              <a:spLocks noChangeShapeType="1"/>
            </p:cNvSpPr>
            <p:nvPr/>
          </p:nvSpPr>
          <p:spPr bwMode="auto">
            <a:xfrm flipH="1">
              <a:off x="573" y="2740"/>
              <a:ext cx="6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2" name="Line 16"/>
            <p:cNvSpPr>
              <a:spLocks noChangeShapeType="1"/>
            </p:cNvSpPr>
            <p:nvPr/>
          </p:nvSpPr>
          <p:spPr bwMode="auto">
            <a:xfrm>
              <a:off x="573" y="3580"/>
              <a:ext cx="17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3" name="Line 17"/>
            <p:cNvSpPr>
              <a:spLocks noChangeShapeType="1"/>
            </p:cNvSpPr>
            <p:nvPr/>
          </p:nvSpPr>
          <p:spPr bwMode="auto">
            <a:xfrm flipV="1">
              <a:off x="1797" y="2920"/>
              <a:ext cx="5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4" name="Text Box 18"/>
            <p:cNvSpPr txBox="1">
              <a:spLocks noChangeArrowheads="1"/>
            </p:cNvSpPr>
            <p:nvPr/>
          </p:nvSpPr>
          <p:spPr bwMode="auto">
            <a:xfrm>
              <a:off x="2363" y="2794"/>
              <a:ext cx="20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/>
                <a:t>+</a:t>
              </a:r>
            </a:p>
          </p:txBody>
        </p:sp>
        <p:sp>
          <p:nvSpPr>
            <p:cNvPr id="15" name="Text Box 19"/>
            <p:cNvSpPr txBox="1">
              <a:spLocks noChangeArrowheads="1"/>
            </p:cNvSpPr>
            <p:nvPr/>
          </p:nvSpPr>
          <p:spPr bwMode="auto">
            <a:xfrm>
              <a:off x="2363" y="3238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/>
                <a:t>_</a:t>
              </a:r>
            </a:p>
          </p:txBody>
        </p:sp>
        <p:sp>
          <p:nvSpPr>
            <p:cNvPr id="16" name="Text Box 20"/>
            <p:cNvSpPr txBox="1">
              <a:spLocks noChangeArrowheads="1"/>
            </p:cNvSpPr>
            <p:nvPr/>
          </p:nvSpPr>
          <p:spPr bwMode="auto">
            <a:xfrm>
              <a:off x="2417" y="3068"/>
              <a:ext cx="24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 err="1"/>
                <a:t>v</a:t>
              </a:r>
              <a:r>
                <a:rPr kumimoji="1" lang="en-US" altLang="zh-CN" sz="2000" i="1" baseline="-25000" dirty="0" err="1"/>
                <a:t>o</a:t>
              </a:r>
              <a:endParaRPr kumimoji="1" lang="en-US" altLang="zh-CN" sz="2000" i="1" dirty="0"/>
            </a:p>
          </p:txBody>
        </p:sp>
        <p:sp>
          <p:nvSpPr>
            <p:cNvPr id="17" name="Line 21"/>
            <p:cNvSpPr>
              <a:spLocks noChangeShapeType="1"/>
            </p:cNvSpPr>
            <p:nvPr/>
          </p:nvSpPr>
          <p:spPr bwMode="auto">
            <a:xfrm>
              <a:off x="1065" y="2358"/>
              <a:ext cx="9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8" name="Line 22"/>
            <p:cNvSpPr>
              <a:spLocks noChangeShapeType="1"/>
            </p:cNvSpPr>
            <p:nvPr/>
          </p:nvSpPr>
          <p:spPr bwMode="auto">
            <a:xfrm>
              <a:off x="2025" y="2358"/>
              <a:ext cx="0" cy="5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" name="Line 23"/>
            <p:cNvSpPr>
              <a:spLocks noChangeShapeType="1"/>
            </p:cNvSpPr>
            <p:nvPr/>
          </p:nvSpPr>
          <p:spPr bwMode="auto">
            <a:xfrm>
              <a:off x="1065" y="3114"/>
              <a:ext cx="0" cy="4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0" name="Line 24"/>
            <p:cNvSpPr>
              <a:spLocks noChangeShapeType="1"/>
            </p:cNvSpPr>
            <p:nvPr/>
          </p:nvSpPr>
          <p:spPr bwMode="auto">
            <a:xfrm>
              <a:off x="573" y="2742"/>
              <a:ext cx="0" cy="8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1" name="Text Box 25"/>
            <p:cNvSpPr txBox="1">
              <a:spLocks noChangeArrowheads="1"/>
            </p:cNvSpPr>
            <p:nvPr/>
          </p:nvSpPr>
          <p:spPr bwMode="auto">
            <a:xfrm>
              <a:off x="356" y="2697"/>
              <a:ext cx="20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000">
                  <a:sym typeface="Symbol" pitchFamily="18" charset="2"/>
                </a:rPr>
                <a:t>+</a:t>
              </a:r>
            </a:p>
          </p:txBody>
        </p:sp>
        <p:sp>
          <p:nvSpPr>
            <p:cNvPr id="22" name="Text Box 26"/>
            <p:cNvSpPr txBox="1">
              <a:spLocks noChangeArrowheads="1"/>
            </p:cNvSpPr>
            <p:nvPr/>
          </p:nvSpPr>
          <p:spPr bwMode="auto">
            <a:xfrm>
              <a:off x="360" y="3195"/>
              <a:ext cx="21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000" dirty="0">
                  <a:sym typeface="Symbol" pitchFamily="18" charset="2"/>
                </a:rPr>
                <a:t>_</a:t>
              </a:r>
            </a:p>
          </p:txBody>
        </p:sp>
        <p:sp>
          <p:nvSpPr>
            <p:cNvPr id="23" name="Text Box 27"/>
            <p:cNvSpPr txBox="1">
              <a:spLocks noChangeArrowheads="1"/>
            </p:cNvSpPr>
            <p:nvPr/>
          </p:nvSpPr>
          <p:spPr bwMode="auto">
            <a:xfrm>
              <a:off x="158" y="2988"/>
              <a:ext cx="21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v</a:t>
              </a:r>
              <a:r>
                <a:rPr kumimoji="1" lang="en-US" altLang="zh-CN" sz="2000" i="1" baseline="-25000"/>
                <a:t>i</a:t>
              </a:r>
              <a:endParaRPr kumimoji="1" lang="en-US" altLang="zh-CN" sz="2000" i="1"/>
            </a:p>
          </p:txBody>
        </p:sp>
        <p:sp>
          <p:nvSpPr>
            <p:cNvPr id="24" name="Text Box 28"/>
            <p:cNvSpPr txBox="1">
              <a:spLocks noChangeArrowheads="1"/>
            </p:cNvSpPr>
            <p:nvPr/>
          </p:nvSpPr>
          <p:spPr bwMode="auto">
            <a:xfrm>
              <a:off x="656" y="2433"/>
              <a:ext cx="27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1</a:t>
              </a:r>
              <a:endParaRPr kumimoji="1" lang="en-US" altLang="zh-CN" sz="2000" i="1" dirty="0"/>
            </a:p>
          </p:txBody>
        </p:sp>
        <p:sp>
          <p:nvSpPr>
            <p:cNvPr id="25" name="Text Box 29"/>
            <p:cNvSpPr txBox="1">
              <a:spLocks noChangeArrowheads="1"/>
            </p:cNvSpPr>
            <p:nvPr/>
          </p:nvSpPr>
          <p:spPr bwMode="auto">
            <a:xfrm>
              <a:off x="1351" y="2050"/>
              <a:ext cx="27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2</a:t>
              </a:r>
              <a:endParaRPr kumimoji="1" lang="en-US" altLang="zh-CN" sz="2000" i="1" dirty="0"/>
            </a:p>
          </p:txBody>
        </p:sp>
        <p:sp>
          <p:nvSpPr>
            <p:cNvPr id="26" name="Line 30"/>
            <p:cNvSpPr>
              <a:spLocks noChangeShapeType="1"/>
            </p:cNvSpPr>
            <p:nvPr/>
          </p:nvSpPr>
          <p:spPr bwMode="auto">
            <a:xfrm flipH="1">
              <a:off x="2335" y="2922"/>
              <a:ext cx="14" cy="6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7" name="Text Box 31"/>
            <p:cNvSpPr txBox="1">
              <a:spLocks noChangeArrowheads="1"/>
            </p:cNvSpPr>
            <p:nvPr/>
          </p:nvSpPr>
          <p:spPr bwMode="auto">
            <a:xfrm>
              <a:off x="2024" y="3068"/>
              <a:ext cx="29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L</a:t>
              </a:r>
              <a:endParaRPr kumimoji="1" lang="en-US" altLang="zh-CN" sz="2000" i="1" dirty="0"/>
            </a:p>
          </p:txBody>
        </p:sp>
        <p:grpSp>
          <p:nvGrpSpPr>
            <p:cNvPr id="28" name="Group 32"/>
            <p:cNvGrpSpPr>
              <a:grpSpLocks/>
            </p:cNvGrpSpPr>
            <p:nvPr/>
          </p:nvGrpSpPr>
          <p:grpSpPr bwMode="auto">
            <a:xfrm>
              <a:off x="952" y="3582"/>
              <a:ext cx="252" cy="192"/>
              <a:chOff x="1224" y="3588"/>
              <a:chExt cx="210" cy="198"/>
            </a:xfrm>
          </p:grpSpPr>
          <p:sp>
            <p:nvSpPr>
              <p:cNvPr id="38" name="Line 33"/>
              <p:cNvSpPr>
                <a:spLocks noChangeShapeType="1"/>
              </p:cNvSpPr>
              <p:nvPr/>
            </p:nvSpPr>
            <p:spPr bwMode="auto">
              <a:xfrm>
                <a:off x="1224" y="3684"/>
                <a:ext cx="21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Line 34"/>
              <p:cNvSpPr>
                <a:spLocks noChangeShapeType="1"/>
              </p:cNvSpPr>
              <p:nvPr/>
            </p:nvSpPr>
            <p:spPr bwMode="auto">
              <a:xfrm>
                <a:off x="1266" y="3738"/>
                <a:ext cx="12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Line 35"/>
              <p:cNvSpPr>
                <a:spLocks noChangeShapeType="1"/>
              </p:cNvSpPr>
              <p:nvPr/>
            </p:nvSpPr>
            <p:spPr bwMode="auto">
              <a:xfrm>
                <a:off x="1296" y="3786"/>
                <a:ext cx="5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Line 36"/>
              <p:cNvSpPr>
                <a:spLocks noChangeShapeType="1"/>
              </p:cNvSpPr>
              <p:nvPr/>
            </p:nvSpPr>
            <p:spPr bwMode="auto">
              <a:xfrm>
                <a:off x="1326" y="3588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0" name="Rectangle 39"/>
            <p:cNvSpPr>
              <a:spLocks noChangeArrowheads="1"/>
            </p:cNvSpPr>
            <p:nvPr/>
          </p:nvSpPr>
          <p:spPr bwMode="auto">
            <a:xfrm>
              <a:off x="656" y="267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1" name="Rectangle 40"/>
            <p:cNvSpPr>
              <a:spLocks noChangeArrowheads="1"/>
            </p:cNvSpPr>
            <p:nvPr/>
          </p:nvSpPr>
          <p:spPr bwMode="auto">
            <a:xfrm>
              <a:off x="1337" y="229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2" name="Rectangle 41"/>
            <p:cNvSpPr>
              <a:spLocks noChangeArrowheads="1"/>
            </p:cNvSpPr>
            <p:nvPr/>
          </p:nvSpPr>
          <p:spPr bwMode="auto">
            <a:xfrm>
              <a:off x="2289" y="306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4" name="Text Box 44"/>
            <p:cNvSpPr txBox="1">
              <a:spLocks noChangeArrowheads="1"/>
            </p:cNvSpPr>
            <p:nvPr/>
          </p:nvSpPr>
          <p:spPr bwMode="auto">
            <a:xfrm>
              <a:off x="1179" y="2524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35" name="Text Box 45"/>
            <p:cNvSpPr txBox="1">
              <a:spLocks noChangeArrowheads="1"/>
            </p:cNvSpPr>
            <p:nvPr/>
          </p:nvSpPr>
          <p:spPr bwMode="auto">
            <a:xfrm>
              <a:off x="1164" y="2978"/>
              <a:ext cx="20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dirty="0">
                  <a:solidFill>
                    <a:schemeClr val="bg1"/>
                  </a:solidFill>
                </a:rPr>
                <a:t>+</a:t>
              </a:r>
            </a:p>
          </p:txBody>
        </p:sp>
        <p:sp>
          <p:nvSpPr>
            <p:cNvPr id="36" name="Text Box 47"/>
            <p:cNvSpPr txBox="1">
              <a:spLocks noChangeArrowheads="1"/>
            </p:cNvSpPr>
            <p:nvPr/>
          </p:nvSpPr>
          <p:spPr bwMode="auto">
            <a:xfrm>
              <a:off x="1321" y="2776"/>
              <a:ext cx="22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>
                  <a:solidFill>
                    <a:schemeClr val="bg1"/>
                  </a:solidFill>
                </a:rPr>
                <a:t>A</a:t>
              </a:r>
              <a:endParaRPr kumimoji="1" lang="en-US" altLang="zh-CN" sz="2000" dirty="0">
                <a:solidFill>
                  <a:schemeClr val="bg1"/>
                </a:solidFill>
              </a:endParaRPr>
            </a:p>
          </p:txBody>
        </p:sp>
        <p:sp>
          <p:nvSpPr>
            <p:cNvPr id="37" name="Line 49"/>
            <p:cNvSpPr>
              <a:spLocks noChangeShapeType="1"/>
            </p:cNvSpPr>
            <p:nvPr/>
          </p:nvSpPr>
          <p:spPr bwMode="auto">
            <a:xfrm>
              <a:off x="1065" y="235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5435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3854141"/>
              </p:ext>
            </p:extLst>
          </p:nvPr>
        </p:nvGraphicFramePr>
        <p:xfrm>
          <a:off x="1884512" y="3639780"/>
          <a:ext cx="1691280" cy="776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93" name="Equation" r:id="rId3" imgW="939600" imgH="431640" progId="Equation.DSMT4">
                  <p:embed/>
                </p:oleObj>
              </mc:Choice>
              <mc:Fallback>
                <p:oleObj name="Equation" r:id="rId3" imgW="939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4512" y="3639780"/>
                        <a:ext cx="1691280" cy="7769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385763" y="5190291"/>
            <a:ext cx="843470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5715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000" i="1" dirty="0">
                <a:ea typeface="楷体_GB2312" pitchFamily="49" charset="-122"/>
              </a:rPr>
              <a:t>A</a:t>
            </a:r>
            <a:r>
              <a:rPr kumimoji="1" lang="en-US" altLang="zh-CN" sz="2000" i="1" baseline="-25000" dirty="0">
                <a:ea typeface="楷体_GB2312" pitchFamily="49" charset="-122"/>
              </a:rPr>
              <a:t>v</a:t>
            </a:r>
            <a:r>
              <a:rPr kumimoji="1" lang="en-US" altLang="zh-CN" sz="2000" dirty="0">
                <a:ea typeface="楷体_GB2312" pitchFamily="49" charset="-122"/>
              </a:rPr>
              <a:t> 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只取决于反馈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电阻 </a:t>
            </a:r>
            <a:r>
              <a:rPr kumimoji="1" lang="en-US" altLang="zh-CN" sz="2000" i="1" dirty="0" smtClean="0">
                <a:ea typeface="楷体_GB2312" pitchFamily="49" charset="-122"/>
              </a:rPr>
              <a:t>R</a:t>
            </a:r>
            <a:r>
              <a:rPr kumimoji="1" lang="en-US" altLang="zh-CN" sz="2000" baseline="-25000" dirty="0" smtClean="0">
                <a:ea typeface="楷体_GB2312" pitchFamily="49" charset="-122"/>
              </a:rPr>
              <a:t>2 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与 </a:t>
            </a:r>
            <a:r>
              <a:rPr kumimoji="1" lang="en-US" altLang="zh-CN" sz="2000" i="1" dirty="0" smtClean="0">
                <a:ea typeface="楷体_GB2312" pitchFamily="49" charset="-122"/>
              </a:rPr>
              <a:t>R</a:t>
            </a:r>
            <a:r>
              <a:rPr kumimoji="1" lang="en-US" altLang="zh-CN" sz="2000" baseline="-25000" dirty="0" smtClean="0">
                <a:ea typeface="楷体_GB2312" pitchFamily="49" charset="-122"/>
              </a:rPr>
              <a:t>1 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比值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，而与放大器本身的参数无关。负号表明</a:t>
            </a:r>
            <a:r>
              <a:rPr kumimoji="1" lang="en-US" altLang="zh-CN" sz="2000" i="1" dirty="0" err="1">
                <a:ea typeface="楷体_GB2312" pitchFamily="49" charset="-122"/>
              </a:rPr>
              <a:t>v</a:t>
            </a:r>
            <a:r>
              <a:rPr kumimoji="1" lang="en-US" altLang="zh-CN" sz="2000" baseline="-25000" dirty="0" err="1">
                <a:ea typeface="楷体_GB2312" pitchFamily="49" charset="-122"/>
              </a:rPr>
              <a:t>o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和</a:t>
            </a:r>
            <a:r>
              <a:rPr kumimoji="1" lang="en-US" altLang="zh-CN" sz="2000" i="1" dirty="0">
                <a:ea typeface="楷体_GB2312" pitchFamily="49" charset="-122"/>
              </a:rPr>
              <a:t>v</a:t>
            </a:r>
            <a:r>
              <a:rPr kumimoji="1" lang="en-US" altLang="zh-CN" sz="2000" i="1" baseline="-25000" dirty="0">
                <a:ea typeface="楷体_GB2312" pitchFamily="49" charset="-122"/>
              </a:rPr>
              <a:t>i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总是符号相反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反相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比例器</a:t>
            </a:r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250825" y="4425116"/>
            <a:ext cx="1447800" cy="850900"/>
            <a:chOff x="385" y="3022"/>
            <a:chExt cx="912" cy="536"/>
          </a:xfrm>
        </p:grpSpPr>
        <p:pic>
          <p:nvPicPr>
            <p:cNvPr id="5" name="Picture 14" descr="12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15"/>
            <p:cNvSpPr txBox="1">
              <a:spLocks noChangeArrowheads="1"/>
            </p:cNvSpPr>
            <p:nvPr/>
          </p:nvSpPr>
          <p:spPr bwMode="auto">
            <a:xfrm>
              <a:off x="793" y="3125"/>
              <a:ext cx="50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zh-CN" altLang="en-US" b="0" dirty="0">
                  <a:solidFill>
                    <a:srgbClr val="FF0000"/>
                  </a:solidFill>
                  <a:ea typeface="华文行楷" pitchFamily="2" charset="-122"/>
                  <a:cs typeface="Times New Roman" panose="02020603050405020304" pitchFamily="18" charset="0"/>
                </a:rPr>
                <a:t>表明</a:t>
              </a:r>
            </a:p>
          </p:txBody>
        </p:sp>
      </p:grpSp>
      <p:sp>
        <p:nvSpPr>
          <p:cNvPr id="7" name="Text Box 19"/>
          <p:cNvSpPr txBox="1">
            <a:spLocks noChangeArrowheads="1"/>
          </p:cNvSpPr>
          <p:nvPr/>
        </p:nvSpPr>
        <p:spPr bwMode="auto">
          <a:xfrm>
            <a:off x="296863" y="599241"/>
            <a:ext cx="38163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FontTx/>
              <a:buAutoNum type="circleNumDbPlain"/>
            </a:pPr>
            <a:r>
              <a:rPr kumimoji="1" lang="zh-CN" altLang="en-US" sz="2000" b="1">
                <a:ea typeface="楷体_GB2312" pitchFamily="49" charset="-122"/>
              </a:rPr>
              <a:t> 根据“虚短”：</a:t>
            </a:r>
            <a:endParaRPr kumimoji="1" lang="zh-CN" altLang="en-US" sz="2000" b="1" baseline="-25000">
              <a:ea typeface="楷体_GB2312" pitchFamily="49" charset="-122"/>
            </a:endParaRPr>
          </a:p>
        </p:txBody>
      </p:sp>
      <p:sp>
        <p:nvSpPr>
          <p:cNvPr id="8" name="Text Box 20"/>
          <p:cNvSpPr txBox="1">
            <a:spLocks noChangeArrowheads="1"/>
          </p:cNvSpPr>
          <p:nvPr/>
        </p:nvSpPr>
        <p:spPr bwMode="auto">
          <a:xfrm>
            <a:off x="250825" y="2399466"/>
            <a:ext cx="38163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FontTx/>
              <a:buAutoNum type="circleNumDbPlain" startAt="2"/>
            </a:pPr>
            <a:r>
              <a:rPr kumimoji="1" lang="zh-CN" altLang="en-US" sz="2000" b="1">
                <a:ea typeface="楷体_GB2312" pitchFamily="49" charset="-122"/>
              </a:rPr>
              <a:t> 根据“虚断”：</a:t>
            </a:r>
          </a:p>
        </p:txBody>
      </p:sp>
      <p:sp>
        <p:nvSpPr>
          <p:cNvPr id="9" name="Text Box 21"/>
          <p:cNvSpPr txBox="1">
            <a:spLocks noChangeArrowheads="1"/>
          </p:cNvSpPr>
          <p:nvPr/>
        </p:nvSpPr>
        <p:spPr bwMode="auto">
          <a:xfrm>
            <a:off x="250825" y="1229479"/>
            <a:ext cx="66246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 dirty="0"/>
              <a:t>v</a:t>
            </a:r>
            <a:r>
              <a:rPr kumimoji="1" lang="en-US" altLang="zh-CN" sz="2000" baseline="-25000" dirty="0"/>
              <a:t>+</a:t>
            </a:r>
            <a:r>
              <a:rPr kumimoji="1" lang="en-US" altLang="zh-CN" sz="2000" dirty="0"/>
              <a:t> = </a:t>
            </a:r>
            <a:r>
              <a:rPr kumimoji="1" lang="en-US" altLang="zh-CN" sz="2000" i="1" dirty="0"/>
              <a:t>v</a:t>
            </a:r>
            <a:r>
              <a:rPr kumimoji="1" lang="en-US" altLang="zh-CN" sz="2000" baseline="-25000" dirty="0">
                <a:latin typeface="宋体" charset="-122"/>
              </a:rPr>
              <a:t>-</a:t>
            </a:r>
            <a:r>
              <a:rPr kumimoji="1" lang="en-US" altLang="zh-CN" sz="2000" i="1" dirty="0"/>
              <a:t> </a:t>
            </a:r>
            <a:r>
              <a:rPr kumimoji="1" lang="en-US" altLang="zh-CN" sz="2000" dirty="0" smtClean="0"/>
              <a:t>= 0</a:t>
            </a:r>
            <a:r>
              <a:rPr kumimoji="1" lang="zh-CN" altLang="en-US" sz="2000" dirty="0"/>
              <a:t>，   </a:t>
            </a:r>
            <a:r>
              <a:rPr kumimoji="1" lang="en-US" altLang="zh-CN" sz="2000" i="1" dirty="0"/>
              <a:t>i</a:t>
            </a:r>
            <a:r>
              <a:rPr kumimoji="1" lang="en-US" altLang="zh-CN" sz="2000" baseline="-25000" dirty="0"/>
              <a:t>1</a:t>
            </a:r>
            <a:r>
              <a:rPr kumimoji="1" lang="en-US" altLang="zh-CN" sz="2000" dirty="0"/>
              <a:t>= </a:t>
            </a:r>
            <a:r>
              <a:rPr kumimoji="1" lang="en-US" altLang="zh-CN" sz="2000" i="1" dirty="0" smtClean="0"/>
              <a:t>v</a:t>
            </a:r>
            <a:r>
              <a:rPr kumimoji="1" lang="en-US" altLang="zh-CN" sz="2000" i="1" baseline="-25000" dirty="0" smtClean="0"/>
              <a:t>i </a:t>
            </a:r>
            <a:r>
              <a:rPr kumimoji="1" lang="en-US" altLang="zh-CN" sz="2000" dirty="0" smtClean="0"/>
              <a:t>/</a:t>
            </a:r>
            <a:r>
              <a:rPr kumimoji="1" lang="en-US" altLang="zh-CN" sz="2000" i="1" dirty="0"/>
              <a:t>R</a:t>
            </a:r>
            <a:r>
              <a:rPr kumimoji="1" lang="en-US" altLang="zh-CN" sz="2000" baseline="-25000" dirty="0"/>
              <a:t>1         </a:t>
            </a:r>
            <a:r>
              <a:rPr kumimoji="1" lang="en-US" altLang="zh-CN" sz="2000" i="1" dirty="0"/>
              <a:t> i</a:t>
            </a:r>
            <a:r>
              <a:rPr kumimoji="1" lang="en-US" altLang="zh-CN" sz="2000" baseline="-25000" dirty="0"/>
              <a:t>2</a:t>
            </a:r>
            <a:r>
              <a:rPr kumimoji="1" lang="en-US" altLang="zh-CN" sz="2000" dirty="0"/>
              <a:t>= </a:t>
            </a:r>
            <a:r>
              <a:rPr kumimoji="1" lang="en-US" altLang="zh-CN" sz="2000" dirty="0">
                <a:latin typeface="宋体" charset="-122"/>
              </a:rPr>
              <a:t>-</a:t>
            </a:r>
            <a:r>
              <a:rPr kumimoji="1" lang="en-US" altLang="zh-CN" sz="2000" i="1" dirty="0" err="1"/>
              <a:t>v</a:t>
            </a:r>
            <a:r>
              <a:rPr kumimoji="1" lang="en-US" altLang="zh-CN" sz="2000" baseline="-25000" dirty="0" err="1"/>
              <a:t>o</a:t>
            </a:r>
            <a:r>
              <a:rPr kumimoji="1" lang="en-US" altLang="zh-CN" sz="2000" i="1" baseline="-25000" dirty="0"/>
              <a:t> </a:t>
            </a:r>
            <a:r>
              <a:rPr kumimoji="1" lang="en-US" altLang="zh-CN" sz="2000" dirty="0"/>
              <a:t>/</a:t>
            </a:r>
            <a:r>
              <a:rPr kumimoji="1" lang="en-US" altLang="zh-CN" sz="2000" i="1" dirty="0"/>
              <a:t>R</a:t>
            </a:r>
            <a:r>
              <a:rPr kumimoji="1" lang="en-US" altLang="zh-CN" sz="2000" baseline="-25000" dirty="0"/>
              <a:t>2</a:t>
            </a:r>
          </a:p>
        </p:txBody>
      </p:sp>
      <p:sp>
        <p:nvSpPr>
          <p:cNvPr id="10" name="Text Box 22"/>
          <p:cNvSpPr txBox="1">
            <a:spLocks noChangeArrowheads="1"/>
          </p:cNvSpPr>
          <p:nvPr/>
        </p:nvSpPr>
        <p:spPr bwMode="auto">
          <a:xfrm>
            <a:off x="1916113" y="3029704"/>
            <a:ext cx="25209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 dirty="0" err="1"/>
              <a:t>i</a:t>
            </a:r>
            <a:r>
              <a:rPr kumimoji="1" lang="en-US" altLang="zh-CN" sz="2000" baseline="-25000" dirty="0">
                <a:latin typeface="宋体" charset="-122"/>
              </a:rPr>
              <a:t>-</a:t>
            </a:r>
            <a:r>
              <a:rPr kumimoji="1" lang="en-US" altLang="zh-CN" sz="2000" dirty="0"/>
              <a:t>= 0</a:t>
            </a:r>
            <a:r>
              <a:rPr kumimoji="1" lang="zh-CN" altLang="en-US" sz="2000" dirty="0"/>
              <a:t>，</a:t>
            </a:r>
            <a:r>
              <a:rPr kumimoji="1" lang="en-US" altLang="zh-CN" sz="2000" i="1" dirty="0" smtClean="0"/>
              <a:t>i</a:t>
            </a:r>
            <a:r>
              <a:rPr kumimoji="1" lang="en-US" altLang="zh-CN" sz="2000" baseline="-25000" dirty="0" smtClean="0"/>
              <a:t>2 </a:t>
            </a:r>
            <a:r>
              <a:rPr kumimoji="1" lang="en-US" altLang="zh-CN" sz="2000" dirty="0" smtClean="0"/>
              <a:t>= </a:t>
            </a:r>
            <a:r>
              <a:rPr kumimoji="1" lang="en-US" altLang="zh-CN" sz="2000" i="1" dirty="0"/>
              <a:t>i</a:t>
            </a:r>
            <a:r>
              <a:rPr kumimoji="1" lang="en-US" altLang="zh-CN" sz="2000" baseline="-25000" dirty="0"/>
              <a:t>1</a:t>
            </a:r>
            <a:endParaRPr kumimoji="1" lang="en-US" altLang="zh-CN" sz="2000" dirty="0"/>
          </a:p>
        </p:txBody>
      </p:sp>
      <p:grpSp>
        <p:nvGrpSpPr>
          <p:cNvPr id="52" name="Group 95"/>
          <p:cNvGrpSpPr>
            <a:grpSpLocks/>
          </p:cNvGrpSpPr>
          <p:nvPr/>
        </p:nvGrpSpPr>
        <p:grpSpPr bwMode="auto">
          <a:xfrm>
            <a:off x="4437065" y="1779341"/>
            <a:ext cx="3970338" cy="2736850"/>
            <a:chOff x="158" y="2050"/>
            <a:chExt cx="2501" cy="1724"/>
          </a:xfrm>
        </p:grpSpPr>
        <p:sp>
          <p:nvSpPr>
            <p:cNvPr id="53" name="AutoShape 94"/>
            <p:cNvSpPr>
              <a:spLocks noChangeArrowheads="1"/>
            </p:cNvSpPr>
            <p:nvPr/>
          </p:nvSpPr>
          <p:spPr bwMode="auto">
            <a:xfrm rot="5400000">
              <a:off x="1179" y="2585"/>
              <a:ext cx="652" cy="652"/>
            </a:xfrm>
            <a:prstGeom prst="triangle">
              <a:avLst>
                <a:gd name="adj" fmla="val 51023"/>
              </a:avLst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54" name="Line 13"/>
            <p:cNvSpPr>
              <a:spLocks noChangeShapeType="1"/>
            </p:cNvSpPr>
            <p:nvPr/>
          </p:nvSpPr>
          <p:spPr bwMode="auto">
            <a:xfrm flipH="1">
              <a:off x="1065" y="3114"/>
              <a:ext cx="1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5" name="Oval 14"/>
            <p:cNvSpPr>
              <a:spLocks noChangeArrowheads="1"/>
            </p:cNvSpPr>
            <p:nvPr/>
          </p:nvSpPr>
          <p:spPr bwMode="auto">
            <a:xfrm>
              <a:off x="394" y="297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/>
              <a:endParaRPr lang="zh-CN" altLang="en-US" sz="2000">
                <a:latin typeface="Arial" charset="0"/>
                <a:ea typeface="仿宋_GB2312" pitchFamily="49" charset="-122"/>
              </a:endParaRPr>
            </a:p>
          </p:txBody>
        </p:sp>
        <p:sp>
          <p:nvSpPr>
            <p:cNvPr id="56" name="Line 15"/>
            <p:cNvSpPr>
              <a:spLocks noChangeShapeType="1"/>
            </p:cNvSpPr>
            <p:nvPr/>
          </p:nvSpPr>
          <p:spPr bwMode="auto">
            <a:xfrm flipH="1">
              <a:off x="573" y="2740"/>
              <a:ext cx="6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7" name="Line 16"/>
            <p:cNvSpPr>
              <a:spLocks noChangeShapeType="1"/>
            </p:cNvSpPr>
            <p:nvPr/>
          </p:nvSpPr>
          <p:spPr bwMode="auto">
            <a:xfrm>
              <a:off x="573" y="3580"/>
              <a:ext cx="17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8" name="Line 17"/>
            <p:cNvSpPr>
              <a:spLocks noChangeShapeType="1"/>
            </p:cNvSpPr>
            <p:nvPr/>
          </p:nvSpPr>
          <p:spPr bwMode="auto">
            <a:xfrm flipV="1">
              <a:off x="1797" y="2920"/>
              <a:ext cx="5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9" name="Text Box 18"/>
            <p:cNvSpPr txBox="1">
              <a:spLocks noChangeArrowheads="1"/>
            </p:cNvSpPr>
            <p:nvPr/>
          </p:nvSpPr>
          <p:spPr bwMode="auto">
            <a:xfrm>
              <a:off x="2363" y="2794"/>
              <a:ext cx="20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/>
                <a:t>+</a:t>
              </a:r>
            </a:p>
          </p:txBody>
        </p:sp>
        <p:sp>
          <p:nvSpPr>
            <p:cNvPr id="60" name="Text Box 19"/>
            <p:cNvSpPr txBox="1">
              <a:spLocks noChangeArrowheads="1"/>
            </p:cNvSpPr>
            <p:nvPr/>
          </p:nvSpPr>
          <p:spPr bwMode="auto">
            <a:xfrm>
              <a:off x="2363" y="3238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/>
                <a:t>_</a:t>
              </a:r>
            </a:p>
          </p:txBody>
        </p:sp>
        <p:sp>
          <p:nvSpPr>
            <p:cNvPr id="61" name="Text Box 20"/>
            <p:cNvSpPr txBox="1">
              <a:spLocks noChangeArrowheads="1"/>
            </p:cNvSpPr>
            <p:nvPr/>
          </p:nvSpPr>
          <p:spPr bwMode="auto">
            <a:xfrm>
              <a:off x="2417" y="3068"/>
              <a:ext cx="24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 err="1"/>
                <a:t>v</a:t>
              </a:r>
              <a:r>
                <a:rPr kumimoji="1" lang="en-US" altLang="zh-CN" sz="2000" i="1" baseline="-25000" dirty="0" err="1"/>
                <a:t>o</a:t>
              </a:r>
              <a:endParaRPr kumimoji="1" lang="en-US" altLang="zh-CN" sz="2000" i="1" dirty="0"/>
            </a:p>
          </p:txBody>
        </p:sp>
        <p:sp>
          <p:nvSpPr>
            <p:cNvPr id="62" name="Line 21"/>
            <p:cNvSpPr>
              <a:spLocks noChangeShapeType="1"/>
            </p:cNvSpPr>
            <p:nvPr/>
          </p:nvSpPr>
          <p:spPr bwMode="auto">
            <a:xfrm>
              <a:off x="1065" y="2358"/>
              <a:ext cx="9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3" name="Line 22"/>
            <p:cNvSpPr>
              <a:spLocks noChangeShapeType="1"/>
            </p:cNvSpPr>
            <p:nvPr/>
          </p:nvSpPr>
          <p:spPr bwMode="auto">
            <a:xfrm>
              <a:off x="2025" y="2358"/>
              <a:ext cx="0" cy="5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4" name="Line 23"/>
            <p:cNvSpPr>
              <a:spLocks noChangeShapeType="1"/>
            </p:cNvSpPr>
            <p:nvPr/>
          </p:nvSpPr>
          <p:spPr bwMode="auto">
            <a:xfrm>
              <a:off x="1065" y="3114"/>
              <a:ext cx="0" cy="4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5" name="Line 24"/>
            <p:cNvSpPr>
              <a:spLocks noChangeShapeType="1"/>
            </p:cNvSpPr>
            <p:nvPr/>
          </p:nvSpPr>
          <p:spPr bwMode="auto">
            <a:xfrm>
              <a:off x="573" y="2742"/>
              <a:ext cx="0" cy="8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6" name="Text Box 25"/>
            <p:cNvSpPr txBox="1">
              <a:spLocks noChangeArrowheads="1"/>
            </p:cNvSpPr>
            <p:nvPr/>
          </p:nvSpPr>
          <p:spPr bwMode="auto">
            <a:xfrm>
              <a:off x="356" y="2697"/>
              <a:ext cx="20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000">
                  <a:sym typeface="Symbol" pitchFamily="18" charset="2"/>
                </a:rPr>
                <a:t>+</a:t>
              </a:r>
            </a:p>
          </p:txBody>
        </p:sp>
        <p:sp>
          <p:nvSpPr>
            <p:cNvPr id="67" name="Text Box 26"/>
            <p:cNvSpPr txBox="1">
              <a:spLocks noChangeArrowheads="1"/>
            </p:cNvSpPr>
            <p:nvPr/>
          </p:nvSpPr>
          <p:spPr bwMode="auto">
            <a:xfrm>
              <a:off x="360" y="3195"/>
              <a:ext cx="21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000" dirty="0">
                  <a:sym typeface="Symbol" pitchFamily="18" charset="2"/>
                </a:rPr>
                <a:t>_</a:t>
              </a:r>
            </a:p>
          </p:txBody>
        </p:sp>
        <p:sp>
          <p:nvSpPr>
            <p:cNvPr id="68" name="Text Box 27"/>
            <p:cNvSpPr txBox="1">
              <a:spLocks noChangeArrowheads="1"/>
            </p:cNvSpPr>
            <p:nvPr/>
          </p:nvSpPr>
          <p:spPr bwMode="auto">
            <a:xfrm>
              <a:off x="158" y="2988"/>
              <a:ext cx="21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v</a:t>
              </a:r>
              <a:r>
                <a:rPr kumimoji="1" lang="en-US" altLang="zh-CN" sz="2000" i="1" baseline="-25000"/>
                <a:t>i</a:t>
              </a:r>
              <a:endParaRPr kumimoji="1" lang="en-US" altLang="zh-CN" sz="2000" i="1"/>
            </a:p>
          </p:txBody>
        </p:sp>
        <p:sp>
          <p:nvSpPr>
            <p:cNvPr id="69" name="Text Box 28"/>
            <p:cNvSpPr txBox="1">
              <a:spLocks noChangeArrowheads="1"/>
            </p:cNvSpPr>
            <p:nvPr/>
          </p:nvSpPr>
          <p:spPr bwMode="auto">
            <a:xfrm>
              <a:off x="656" y="2433"/>
              <a:ext cx="27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1</a:t>
              </a:r>
              <a:endParaRPr kumimoji="1" lang="en-US" altLang="zh-CN" sz="2000" i="1" dirty="0"/>
            </a:p>
          </p:txBody>
        </p:sp>
        <p:sp>
          <p:nvSpPr>
            <p:cNvPr id="70" name="Text Box 29"/>
            <p:cNvSpPr txBox="1">
              <a:spLocks noChangeArrowheads="1"/>
            </p:cNvSpPr>
            <p:nvPr/>
          </p:nvSpPr>
          <p:spPr bwMode="auto">
            <a:xfrm>
              <a:off x="1351" y="2050"/>
              <a:ext cx="27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2</a:t>
              </a:r>
              <a:endParaRPr kumimoji="1" lang="en-US" altLang="zh-CN" sz="2000" i="1" dirty="0"/>
            </a:p>
          </p:txBody>
        </p:sp>
        <p:sp>
          <p:nvSpPr>
            <p:cNvPr id="71" name="Line 30"/>
            <p:cNvSpPr>
              <a:spLocks noChangeShapeType="1"/>
            </p:cNvSpPr>
            <p:nvPr/>
          </p:nvSpPr>
          <p:spPr bwMode="auto">
            <a:xfrm flipH="1">
              <a:off x="2335" y="2922"/>
              <a:ext cx="14" cy="6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2" name="Text Box 31"/>
            <p:cNvSpPr txBox="1">
              <a:spLocks noChangeArrowheads="1"/>
            </p:cNvSpPr>
            <p:nvPr/>
          </p:nvSpPr>
          <p:spPr bwMode="auto">
            <a:xfrm>
              <a:off x="2024" y="3068"/>
              <a:ext cx="29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L</a:t>
              </a:r>
              <a:endParaRPr kumimoji="1" lang="en-US" altLang="zh-CN" sz="2000" i="1" dirty="0"/>
            </a:p>
          </p:txBody>
        </p:sp>
        <p:grpSp>
          <p:nvGrpSpPr>
            <p:cNvPr id="73" name="Group 32"/>
            <p:cNvGrpSpPr>
              <a:grpSpLocks/>
            </p:cNvGrpSpPr>
            <p:nvPr/>
          </p:nvGrpSpPr>
          <p:grpSpPr bwMode="auto">
            <a:xfrm>
              <a:off x="952" y="3582"/>
              <a:ext cx="252" cy="192"/>
              <a:chOff x="1224" y="3588"/>
              <a:chExt cx="210" cy="198"/>
            </a:xfrm>
          </p:grpSpPr>
          <p:sp>
            <p:nvSpPr>
              <p:cNvPr id="83" name="Line 33"/>
              <p:cNvSpPr>
                <a:spLocks noChangeShapeType="1"/>
              </p:cNvSpPr>
              <p:nvPr/>
            </p:nvSpPr>
            <p:spPr bwMode="auto">
              <a:xfrm>
                <a:off x="1224" y="3684"/>
                <a:ext cx="21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Line 34"/>
              <p:cNvSpPr>
                <a:spLocks noChangeShapeType="1"/>
              </p:cNvSpPr>
              <p:nvPr/>
            </p:nvSpPr>
            <p:spPr bwMode="auto">
              <a:xfrm>
                <a:off x="1266" y="3738"/>
                <a:ext cx="12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Line 35"/>
              <p:cNvSpPr>
                <a:spLocks noChangeShapeType="1"/>
              </p:cNvSpPr>
              <p:nvPr/>
            </p:nvSpPr>
            <p:spPr bwMode="auto">
              <a:xfrm>
                <a:off x="1296" y="3786"/>
                <a:ext cx="5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86" name="Line 36"/>
              <p:cNvSpPr>
                <a:spLocks noChangeShapeType="1"/>
              </p:cNvSpPr>
              <p:nvPr/>
            </p:nvSpPr>
            <p:spPr bwMode="auto">
              <a:xfrm>
                <a:off x="1326" y="3588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4" name="Oval 37"/>
            <p:cNvSpPr>
              <a:spLocks noChangeArrowheads="1"/>
            </p:cNvSpPr>
            <p:nvPr/>
          </p:nvSpPr>
          <p:spPr bwMode="auto">
            <a:xfrm>
              <a:off x="2058" y="2713"/>
              <a:ext cx="204" cy="199"/>
            </a:xfrm>
            <a:prstGeom prst="ellips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1800" dirty="0">
                  <a:ea typeface="仿宋_GB2312" pitchFamily="49" charset="-122"/>
                </a:rPr>
                <a:t>2</a:t>
              </a:r>
            </a:p>
          </p:txBody>
        </p:sp>
        <p:sp>
          <p:nvSpPr>
            <p:cNvPr id="75" name="Rectangle 39"/>
            <p:cNvSpPr>
              <a:spLocks noChangeArrowheads="1"/>
            </p:cNvSpPr>
            <p:nvPr/>
          </p:nvSpPr>
          <p:spPr bwMode="auto">
            <a:xfrm>
              <a:off x="656" y="267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76" name="Rectangle 40"/>
            <p:cNvSpPr>
              <a:spLocks noChangeArrowheads="1"/>
            </p:cNvSpPr>
            <p:nvPr/>
          </p:nvSpPr>
          <p:spPr bwMode="auto">
            <a:xfrm>
              <a:off x="1337" y="229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77" name="Rectangle 41"/>
            <p:cNvSpPr>
              <a:spLocks noChangeArrowheads="1"/>
            </p:cNvSpPr>
            <p:nvPr/>
          </p:nvSpPr>
          <p:spPr bwMode="auto">
            <a:xfrm>
              <a:off x="2289" y="306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78" name="Oval 42"/>
            <p:cNvSpPr>
              <a:spLocks noChangeArrowheads="1"/>
            </p:cNvSpPr>
            <p:nvPr/>
          </p:nvSpPr>
          <p:spPr bwMode="auto">
            <a:xfrm>
              <a:off x="964" y="2777"/>
              <a:ext cx="204" cy="199"/>
            </a:xfrm>
            <a:prstGeom prst="ellips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1800" dirty="0">
                  <a:ea typeface="仿宋_GB2312" pitchFamily="49" charset="-122"/>
                </a:rPr>
                <a:t>1</a:t>
              </a:r>
            </a:p>
          </p:txBody>
        </p:sp>
        <p:sp>
          <p:nvSpPr>
            <p:cNvPr id="79" name="Text Box 44"/>
            <p:cNvSpPr txBox="1">
              <a:spLocks noChangeArrowheads="1"/>
            </p:cNvSpPr>
            <p:nvPr/>
          </p:nvSpPr>
          <p:spPr bwMode="auto">
            <a:xfrm>
              <a:off x="1179" y="2524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80" name="Text Box 45"/>
            <p:cNvSpPr txBox="1">
              <a:spLocks noChangeArrowheads="1"/>
            </p:cNvSpPr>
            <p:nvPr/>
          </p:nvSpPr>
          <p:spPr bwMode="auto">
            <a:xfrm>
              <a:off x="1164" y="2978"/>
              <a:ext cx="20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dirty="0">
                  <a:solidFill>
                    <a:schemeClr val="bg1"/>
                  </a:solidFill>
                </a:rPr>
                <a:t>+</a:t>
              </a:r>
            </a:p>
          </p:txBody>
        </p:sp>
        <p:sp>
          <p:nvSpPr>
            <p:cNvPr id="81" name="Text Box 47"/>
            <p:cNvSpPr txBox="1">
              <a:spLocks noChangeArrowheads="1"/>
            </p:cNvSpPr>
            <p:nvPr/>
          </p:nvSpPr>
          <p:spPr bwMode="auto">
            <a:xfrm>
              <a:off x="1321" y="2776"/>
              <a:ext cx="22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>
                  <a:solidFill>
                    <a:schemeClr val="bg1"/>
                  </a:solidFill>
                </a:rPr>
                <a:t>A</a:t>
              </a:r>
              <a:endParaRPr kumimoji="1" lang="en-US" altLang="zh-CN" sz="2000" dirty="0">
                <a:solidFill>
                  <a:schemeClr val="bg1"/>
                </a:solidFill>
              </a:endParaRPr>
            </a:p>
          </p:txBody>
        </p:sp>
        <p:sp>
          <p:nvSpPr>
            <p:cNvPr id="82" name="Line 49"/>
            <p:cNvSpPr>
              <a:spLocks noChangeShapeType="1"/>
            </p:cNvSpPr>
            <p:nvPr/>
          </p:nvSpPr>
          <p:spPr bwMode="auto">
            <a:xfrm>
              <a:off x="1065" y="235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87" name="Group 96"/>
          <p:cNvGrpSpPr>
            <a:grpSpLocks/>
          </p:cNvGrpSpPr>
          <p:nvPr/>
        </p:nvGrpSpPr>
        <p:grpSpPr bwMode="auto">
          <a:xfrm>
            <a:off x="4706940" y="2284028"/>
            <a:ext cx="748308" cy="431959"/>
            <a:chOff x="385" y="725"/>
            <a:chExt cx="419" cy="256"/>
          </a:xfrm>
        </p:grpSpPr>
        <p:sp>
          <p:nvSpPr>
            <p:cNvPr id="88" name="Line 97"/>
            <p:cNvSpPr>
              <a:spLocks noChangeShapeType="1"/>
            </p:cNvSpPr>
            <p:nvPr/>
          </p:nvSpPr>
          <p:spPr bwMode="auto">
            <a:xfrm>
              <a:off x="385" y="981"/>
              <a:ext cx="272" cy="0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9" name="Text Box 98"/>
            <p:cNvSpPr txBox="1">
              <a:spLocks noChangeArrowheads="1"/>
            </p:cNvSpPr>
            <p:nvPr/>
          </p:nvSpPr>
          <p:spPr bwMode="auto">
            <a:xfrm>
              <a:off x="396" y="725"/>
              <a:ext cx="408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 dirty="0">
                  <a:ea typeface="仿宋_GB2312" pitchFamily="49" charset="-122"/>
                </a:rPr>
                <a:t>i</a:t>
              </a:r>
              <a:r>
                <a:rPr lang="en-US" altLang="zh-CN" sz="2000" baseline="-25000" dirty="0">
                  <a:latin typeface="Arial" charset="0"/>
                  <a:ea typeface="仿宋_GB2312" pitchFamily="49" charset="-122"/>
                </a:rPr>
                <a:t>1</a:t>
              </a:r>
            </a:p>
          </p:txBody>
        </p:sp>
      </p:grpSp>
      <p:grpSp>
        <p:nvGrpSpPr>
          <p:cNvPr id="90" name="Group 99"/>
          <p:cNvGrpSpPr>
            <a:grpSpLocks/>
          </p:cNvGrpSpPr>
          <p:nvPr/>
        </p:nvGrpSpPr>
        <p:grpSpPr bwMode="auto">
          <a:xfrm>
            <a:off x="6911978" y="1707762"/>
            <a:ext cx="775096" cy="438708"/>
            <a:chOff x="385" y="721"/>
            <a:chExt cx="434" cy="260"/>
          </a:xfrm>
        </p:grpSpPr>
        <p:sp>
          <p:nvSpPr>
            <p:cNvPr id="91" name="Line 100"/>
            <p:cNvSpPr>
              <a:spLocks noChangeShapeType="1"/>
            </p:cNvSpPr>
            <p:nvPr/>
          </p:nvSpPr>
          <p:spPr bwMode="auto">
            <a:xfrm>
              <a:off x="385" y="981"/>
              <a:ext cx="272" cy="0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 Box 101"/>
            <p:cNvSpPr txBox="1">
              <a:spLocks noChangeArrowheads="1"/>
            </p:cNvSpPr>
            <p:nvPr/>
          </p:nvSpPr>
          <p:spPr bwMode="auto">
            <a:xfrm>
              <a:off x="411" y="721"/>
              <a:ext cx="408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 dirty="0">
                  <a:ea typeface="仿宋_GB2312" pitchFamily="49" charset="-122"/>
                </a:rPr>
                <a:t>i</a:t>
              </a:r>
              <a:r>
                <a:rPr lang="en-US" altLang="zh-CN" sz="2000" baseline="-25000" dirty="0">
                  <a:latin typeface="Arial" charset="0"/>
                  <a:ea typeface="仿宋_GB2312" pitchFamily="49" charset="-122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5140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0563170"/>
              </p:ext>
            </p:extLst>
          </p:nvPr>
        </p:nvGraphicFramePr>
        <p:xfrm>
          <a:off x="1763688" y="3845224"/>
          <a:ext cx="799632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54" name="Equation" r:id="rId3" imgW="444240" imgH="228600" progId="Equation.DSMT4">
                  <p:embed/>
                </p:oleObj>
              </mc:Choice>
              <mc:Fallback>
                <p:oleObj name="Equation" r:id="rId3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845224"/>
                        <a:ext cx="799632" cy="411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6"/>
          <p:cNvSpPr txBox="1">
            <a:spLocks noChangeArrowheads="1"/>
          </p:cNvSpPr>
          <p:nvPr/>
        </p:nvSpPr>
        <p:spPr bwMode="auto">
          <a:xfrm>
            <a:off x="460673" y="1124744"/>
            <a:ext cx="38163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 eaLnBrk="1" hangingPunct="1"/>
            <a:r>
              <a:rPr kumimoji="1" lang="zh-CN" altLang="en-US" sz="2000" b="1" dirty="0" smtClean="0">
                <a:ea typeface="楷体_GB2312" pitchFamily="49" charset="-122"/>
              </a:rPr>
              <a:t>输入电阻</a:t>
            </a:r>
            <a:endParaRPr kumimoji="1" lang="zh-CN" altLang="en-US" sz="2000" b="1" baseline="-25000" dirty="0">
              <a:ea typeface="楷体_GB2312" pitchFamily="49" charset="-122"/>
            </a:endParaRPr>
          </a:p>
        </p:txBody>
      </p:sp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460673" y="2868306"/>
            <a:ext cx="38163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 eaLnBrk="1" hangingPunct="1"/>
            <a:r>
              <a:rPr kumimoji="1" lang="zh-CN" altLang="en-US" sz="2000" b="1" dirty="0" smtClean="0">
                <a:ea typeface="楷体_GB2312" pitchFamily="49" charset="-122"/>
              </a:rPr>
              <a:t>输出电阻</a:t>
            </a:r>
            <a:endParaRPr kumimoji="1" lang="zh-CN" altLang="en-US" sz="2000" b="1" dirty="0">
              <a:ea typeface="楷体_GB2312" pitchFamily="49" charset="-122"/>
            </a:endParaRPr>
          </a:p>
        </p:txBody>
      </p:sp>
      <p:graphicFrame>
        <p:nvGraphicFramePr>
          <p:cNvPr id="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2425094"/>
              </p:ext>
            </p:extLst>
          </p:nvPr>
        </p:nvGraphicFramePr>
        <p:xfrm>
          <a:off x="1691680" y="1907711"/>
          <a:ext cx="82296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55" name="Equation" r:id="rId5" imgW="457200" imgH="228600" progId="Equation.DSMT4">
                  <p:embed/>
                </p:oleObj>
              </mc:Choice>
              <mc:Fallback>
                <p:oleObj name="Equation" r:id="rId5" imgW="457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1907711"/>
                        <a:ext cx="822960" cy="411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95"/>
          <p:cNvGrpSpPr>
            <a:grpSpLocks/>
          </p:cNvGrpSpPr>
          <p:nvPr/>
        </p:nvGrpSpPr>
        <p:grpSpPr bwMode="auto">
          <a:xfrm>
            <a:off x="4437065" y="1779341"/>
            <a:ext cx="3943350" cy="2736850"/>
            <a:chOff x="158" y="2050"/>
            <a:chExt cx="2484" cy="1724"/>
          </a:xfrm>
        </p:grpSpPr>
        <p:sp>
          <p:nvSpPr>
            <p:cNvPr id="7" name="AutoShape 94"/>
            <p:cNvSpPr>
              <a:spLocks noChangeArrowheads="1"/>
            </p:cNvSpPr>
            <p:nvPr/>
          </p:nvSpPr>
          <p:spPr bwMode="auto">
            <a:xfrm rot="5400000">
              <a:off x="1179" y="2585"/>
              <a:ext cx="652" cy="652"/>
            </a:xfrm>
            <a:prstGeom prst="triangle">
              <a:avLst>
                <a:gd name="adj" fmla="val 51023"/>
              </a:avLst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8" name="Line 13"/>
            <p:cNvSpPr>
              <a:spLocks noChangeShapeType="1"/>
            </p:cNvSpPr>
            <p:nvPr/>
          </p:nvSpPr>
          <p:spPr bwMode="auto">
            <a:xfrm flipH="1">
              <a:off x="1065" y="3114"/>
              <a:ext cx="1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" name="Oval 14"/>
            <p:cNvSpPr>
              <a:spLocks noChangeArrowheads="1"/>
            </p:cNvSpPr>
            <p:nvPr/>
          </p:nvSpPr>
          <p:spPr bwMode="auto">
            <a:xfrm>
              <a:off x="394" y="297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/>
              <a:endParaRPr lang="zh-CN" altLang="en-US" sz="2000">
                <a:latin typeface="Arial" charset="0"/>
                <a:ea typeface="仿宋_GB2312" pitchFamily="49" charset="-122"/>
              </a:endParaRPr>
            </a:p>
          </p:txBody>
        </p:sp>
        <p:sp>
          <p:nvSpPr>
            <p:cNvPr id="10" name="Line 15"/>
            <p:cNvSpPr>
              <a:spLocks noChangeShapeType="1"/>
            </p:cNvSpPr>
            <p:nvPr/>
          </p:nvSpPr>
          <p:spPr bwMode="auto">
            <a:xfrm flipH="1">
              <a:off x="573" y="2740"/>
              <a:ext cx="6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" name="Line 16"/>
            <p:cNvSpPr>
              <a:spLocks noChangeShapeType="1"/>
            </p:cNvSpPr>
            <p:nvPr/>
          </p:nvSpPr>
          <p:spPr bwMode="auto">
            <a:xfrm>
              <a:off x="573" y="3580"/>
              <a:ext cx="17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2" name="Line 17"/>
            <p:cNvSpPr>
              <a:spLocks noChangeShapeType="1"/>
            </p:cNvSpPr>
            <p:nvPr/>
          </p:nvSpPr>
          <p:spPr bwMode="auto">
            <a:xfrm flipV="1">
              <a:off x="1797" y="2920"/>
              <a:ext cx="5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3" name="Text Box 18"/>
            <p:cNvSpPr txBox="1">
              <a:spLocks noChangeArrowheads="1"/>
            </p:cNvSpPr>
            <p:nvPr/>
          </p:nvSpPr>
          <p:spPr bwMode="auto">
            <a:xfrm>
              <a:off x="2363" y="2794"/>
              <a:ext cx="20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/>
                <a:t>+</a:t>
              </a:r>
            </a:p>
          </p:txBody>
        </p:sp>
        <p:sp>
          <p:nvSpPr>
            <p:cNvPr id="14" name="Text Box 19"/>
            <p:cNvSpPr txBox="1">
              <a:spLocks noChangeArrowheads="1"/>
            </p:cNvSpPr>
            <p:nvPr/>
          </p:nvSpPr>
          <p:spPr bwMode="auto">
            <a:xfrm>
              <a:off x="2363" y="3238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/>
                <a:t>_</a:t>
              </a:r>
            </a:p>
          </p:txBody>
        </p:sp>
        <p:sp>
          <p:nvSpPr>
            <p:cNvPr id="15" name="Text Box 20"/>
            <p:cNvSpPr txBox="1">
              <a:spLocks noChangeArrowheads="1"/>
            </p:cNvSpPr>
            <p:nvPr/>
          </p:nvSpPr>
          <p:spPr bwMode="auto">
            <a:xfrm>
              <a:off x="2400" y="3074"/>
              <a:ext cx="24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 err="1"/>
                <a:t>v</a:t>
              </a:r>
              <a:r>
                <a:rPr kumimoji="1" lang="en-US" altLang="zh-CN" sz="2000" i="1" baseline="-25000" dirty="0" err="1"/>
                <a:t>o</a:t>
              </a:r>
              <a:endParaRPr kumimoji="1" lang="en-US" altLang="zh-CN" sz="2000" i="1" dirty="0"/>
            </a:p>
          </p:txBody>
        </p:sp>
        <p:sp>
          <p:nvSpPr>
            <p:cNvPr id="16" name="Line 21"/>
            <p:cNvSpPr>
              <a:spLocks noChangeShapeType="1"/>
            </p:cNvSpPr>
            <p:nvPr/>
          </p:nvSpPr>
          <p:spPr bwMode="auto">
            <a:xfrm>
              <a:off x="1065" y="2358"/>
              <a:ext cx="9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7" name="Line 22"/>
            <p:cNvSpPr>
              <a:spLocks noChangeShapeType="1"/>
            </p:cNvSpPr>
            <p:nvPr/>
          </p:nvSpPr>
          <p:spPr bwMode="auto">
            <a:xfrm>
              <a:off x="2025" y="2358"/>
              <a:ext cx="0" cy="5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8" name="Line 23"/>
            <p:cNvSpPr>
              <a:spLocks noChangeShapeType="1"/>
            </p:cNvSpPr>
            <p:nvPr/>
          </p:nvSpPr>
          <p:spPr bwMode="auto">
            <a:xfrm>
              <a:off x="1065" y="3114"/>
              <a:ext cx="0" cy="4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" name="Line 24"/>
            <p:cNvSpPr>
              <a:spLocks noChangeShapeType="1"/>
            </p:cNvSpPr>
            <p:nvPr/>
          </p:nvSpPr>
          <p:spPr bwMode="auto">
            <a:xfrm>
              <a:off x="573" y="2742"/>
              <a:ext cx="0" cy="8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0" name="Text Box 25"/>
            <p:cNvSpPr txBox="1">
              <a:spLocks noChangeArrowheads="1"/>
            </p:cNvSpPr>
            <p:nvPr/>
          </p:nvSpPr>
          <p:spPr bwMode="auto">
            <a:xfrm>
              <a:off x="356" y="2697"/>
              <a:ext cx="20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000">
                  <a:sym typeface="Symbol" pitchFamily="18" charset="2"/>
                </a:rPr>
                <a:t>+</a:t>
              </a:r>
            </a:p>
          </p:txBody>
        </p:sp>
        <p:sp>
          <p:nvSpPr>
            <p:cNvPr id="21" name="Text Box 26"/>
            <p:cNvSpPr txBox="1">
              <a:spLocks noChangeArrowheads="1"/>
            </p:cNvSpPr>
            <p:nvPr/>
          </p:nvSpPr>
          <p:spPr bwMode="auto">
            <a:xfrm>
              <a:off x="360" y="3195"/>
              <a:ext cx="21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000" dirty="0">
                  <a:sym typeface="Symbol" pitchFamily="18" charset="2"/>
                </a:rPr>
                <a:t>_</a:t>
              </a:r>
            </a:p>
          </p:txBody>
        </p:sp>
        <p:sp>
          <p:nvSpPr>
            <p:cNvPr id="22" name="Text Box 27"/>
            <p:cNvSpPr txBox="1">
              <a:spLocks noChangeArrowheads="1"/>
            </p:cNvSpPr>
            <p:nvPr/>
          </p:nvSpPr>
          <p:spPr bwMode="auto">
            <a:xfrm>
              <a:off x="158" y="2988"/>
              <a:ext cx="21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v</a:t>
              </a:r>
              <a:r>
                <a:rPr kumimoji="1" lang="en-US" altLang="zh-CN" sz="2000" i="1" baseline="-25000"/>
                <a:t>i</a:t>
              </a:r>
              <a:endParaRPr kumimoji="1" lang="en-US" altLang="zh-CN" sz="2000" i="1"/>
            </a:p>
          </p:txBody>
        </p:sp>
        <p:sp>
          <p:nvSpPr>
            <p:cNvPr id="23" name="Text Box 28"/>
            <p:cNvSpPr txBox="1">
              <a:spLocks noChangeArrowheads="1"/>
            </p:cNvSpPr>
            <p:nvPr/>
          </p:nvSpPr>
          <p:spPr bwMode="auto">
            <a:xfrm>
              <a:off x="671" y="2432"/>
              <a:ext cx="27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1</a:t>
              </a:r>
              <a:endParaRPr kumimoji="1" lang="en-US" altLang="zh-CN" sz="2000" i="1" dirty="0"/>
            </a:p>
          </p:txBody>
        </p:sp>
        <p:sp>
          <p:nvSpPr>
            <p:cNvPr id="24" name="Text Box 29"/>
            <p:cNvSpPr txBox="1">
              <a:spLocks noChangeArrowheads="1"/>
            </p:cNvSpPr>
            <p:nvPr/>
          </p:nvSpPr>
          <p:spPr bwMode="auto">
            <a:xfrm>
              <a:off x="1351" y="2050"/>
              <a:ext cx="27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2</a:t>
              </a:r>
              <a:endParaRPr kumimoji="1" lang="en-US" altLang="zh-CN" sz="2000" i="1" dirty="0"/>
            </a:p>
          </p:txBody>
        </p:sp>
        <p:sp>
          <p:nvSpPr>
            <p:cNvPr id="25" name="Line 30"/>
            <p:cNvSpPr>
              <a:spLocks noChangeShapeType="1"/>
            </p:cNvSpPr>
            <p:nvPr/>
          </p:nvSpPr>
          <p:spPr bwMode="auto">
            <a:xfrm flipH="1">
              <a:off x="2335" y="2922"/>
              <a:ext cx="14" cy="6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6" name="Text Box 31"/>
            <p:cNvSpPr txBox="1">
              <a:spLocks noChangeArrowheads="1"/>
            </p:cNvSpPr>
            <p:nvPr/>
          </p:nvSpPr>
          <p:spPr bwMode="auto">
            <a:xfrm>
              <a:off x="2024" y="3068"/>
              <a:ext cx="29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L</a:t>
              </a:r>
              <a:endParaRPr kumimoji="1" lang="en-US" altLang="zh-CN" sz="2000" i="1" dirty="0"/>
            </a:p>
          </p:txBody>
        </p:sp>
        <p:grpSp>
          <p:nvGrpSpPr>
            <p:cNvPr id="27" name="Group 32"/>
            <p:cNvGrpSpPr>
              <a:grpSpLocks/>
            </p:cNvGrpSpPr>
            <p:nvPr/>
          </p:nvGrpSpPr>
          <p:grpSpPr bwMode="auto">
            <a:xfrm>
              <a:off x="952" y="3582"/>
              <a:ext cx="252" cy="192"/>
              <a:chOff x="1224" y="3588"/>
              <a:chExt cx="210" cy="198"/>
            </a:xfrm>
          </p:grpSpPr>
          <p:sp>
            <p:nvSpPr>
              <p:cNvPr id="37" name="Line 33"/>
              <p:cNvSpPr>
                <a:spLocks noChangeShapeType="1"/>
              </p:cNvSpPr>
              <p:nvPr/>
            </p:nvSpPr>
            <p:spPr bwMode="auto">
              <a:xfrm>
                <a:off x="1224" y="3684"/>
                <a:ext cx="21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Line 34"/>
              <p:cNvSpPr>
                <a:spLocks noChangeShapeType="1"/>
              </p:cNvSpPr>
              <p:nvPr/>
            </p:nvSpPr>
            <p:spPr bwMode="auto">
              <a:xfrm>
                <a:off x="1266" y="3738"/>
                <a:ext cx="12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Line 35"/>
              <p:cNvSpPr>
                <a:spLocks noChangeShapeType="1"/>
              </p:cNvSpPr>
              <p:nvPr/>
            </p:nvSpPr>
            <p:spPr bwMode="auto">
              <a:xfrm>
                <a:off x="1296" y="3786"/>
                <a:ext cx="5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Line 36"/>
              <p:cNvSpPr>
                <a:spLocks noChangeShapeType="1"/>
              </p:cNvSpPr>
              <p:nvPr/>
            </p:nvSpPr>
            <p:spPr bwMode="auto">
              <a:xfrm>
                <a:off x="1326" y="3588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8" name="Oval 37"/>
            <p:cNvSpPr>
              <a:spLocks noChangeArrowheads="1"/>
            </p:cNvSpPr>
            <p:nvPr/>
          </p:nvSpPr>
          <p:spPr bwMode="auto">
            <a:xfrm>
              <a:off x="2058" y="2713"/>
              <a:ext cx="204" cy="199"/>
            </a:xfrm>
            <a:prstGeom prst="ellips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1800" dirty="0">
                  <a:ea typeface="仿宋_GB2312" pitchFamily="49" charset="-122"/>
                </a:rPr>
                <a:t>2</a:t>
              </a:r>
            </a:p>
          </p:txBody>
        </p:sp>
        <p:sp>
          <p:nvSpPr>
            <p:cNvPr id="29" name="Rectangle 39"/>
            <p:cNvSpPr>
              <a:spLocks noChangeArrowheads="1"/>
            </p:cNvSpPr>
            <p:nvPr/>
          </p:nvSpPr>
          <p:spPr bwMode="auto">
            <a:xfrm>
              <a:off x="656" y="267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0" name="Rectangle 40"/>
            <p:cNvSpPr>
              <a:spLocks noChangeArrowheads="1"/>
            </p:cNvSpPr>
            <p:nvPr/>
          </p:nvSpPr>
          <p:spPr bwMode="auto">
            <a:xfrm>
              <a:off x="1337" y="229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1" name="Rectangle 41"/>
            <p:cNvSpPr>
              <a:spLocks noChangeArrowheads="1"/>
            </p:cNvSpPr>
            <p:nvPr/>
          </p:nvSpPr>
          <p:spPr bwMode="auto">
            <a:xfrm>
              <a:off x="2289" y="306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2" name="Oval 42"/>
            <p:cNvSpPr>
              <a:spLocks noChangeArrowheads="1"/>
            </p:cNvSpPr>
            <p:nvPr/>
          </p:nvSpPr>
          <p:spPr bwMode="auto">
            <a:xfrm>
              <a:off x="964" y="2777"/>
              <a:ext cx="204" cy="199"/>
            </a:xfrm>
            <a:prstGeom prst="ellips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1800" dirty="0">
                  <a:ea typeface="仿宋_GB2312" pitchFamily="49" charset="-122"/>
                </a:rPr>
                <a:t>1</a:t>
              </a:r>
            </a:p>
          </p:txBody>
        </p:sp>
        <p:sp>
          <p:nvSpPr>
            <p:cNvPr id="33" name="Text Box 44"/>
            <p:cNvSpPr txBox="1">
              <a:spLocks noChangeArrowheads="1"/>
            </p:cNvSpPr>
            <p:nvPr/>
          </p:nvSpPr>
          <p:spPr bwMode="auto">
            <a:xfrm>
              <a:off x="1179" y="2524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34" name="Text Box 45"/>
            <p:cNvSpPr txBox="1">
              <a:spLocks noChangeArrowheads="1"/>
            </p:cNvSpPr>
            <p:nvPr/>
          </p:nvSpPr>
          <p:spPr bwMode="auto">
            <a:xfrm>
              <a:off x="1164" y="2978"/>
              <a:ext cx="20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dirty="0">
                  <a:solidFill>
                    <a:schemeClr val="bg1"/>
                  </a:solidFill>
                </a:rPr>
                <a:t>+</a:t>
              </a:r>
            </a:p>
          </p:txBody>
        </p:sp>
        <p:sp>
          <p:nvSpPr>
            <p:cNvPr id="35" name="Text Box 47"/>
            <p:cNvSpPr txBox="1">
              <a:spLocks noChangeArrowheads="1"/>
            </p:cNvSpPr>
            <p:nvPr/>
          </p:nvSpPr>
          <p:spPr bwMode="auto">
            <a:xfrm>
              <a:off x="1321" y="2776"/>
              <a:ext cx="22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>
                  <a:solidFill>
                    <a:schemeClr val="bg1"/>
                  </a:solidFill>
                </a:rPr>
                <a:t>A</a:t>
              </a:r>
              <a:endParaRPr kumimoji="1" lang="en-US" altLang="zh-CN" sz="2000" dirty="0">
                <a:solidFill>
                  <a:schemeClr val="bg1"/>
                </a:solidFill>
              </a:endParaRPr>
            </a:p>
          </p:txBody>
        </p:sp>
        <p:sp>
          <p:nvSpPr>
            <p:cNvPr id="36" name="Line 49"/>
            <p:cNvSpPr>
              <a:spLocks noChangeShapeType="1"/>
            </p:cNvSpPr>
            <p:nvPr/>
          </p:nvSpPr>
          <p:spPr bwMode="auto">
            <a:xfrm>
              <a:off x="1065" y="235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41" name="Group 96"/>
          <p:cNvGrpSpPr>
            <a:grpSpLocks/>
          </p:cNvGrpSpPr>
          <p:nvPr/>
        </p:nvGrpSpPr>
        <p:grpSpPr bwMode="auto">
          <a:xfrm>
            <a:off x="4706940" y="2284028"/>
            <a:ext cx="748308" cy="431959"/>
            <a:chOff x="385" y="725"/>
            <a:chExt cx="419" cy="256"/>
          </a:xfrm>
        </p:grpSpPr>
        <p:sp>
          <p:nvSpPr>
            <p:cNvPr id="42" name="Line 97"/>
            <p:cNvSpPr>
              <a:spLocks noChangeShapeType="1"/>
            </p:cNvSpPr>
            <p:nvPr/>
          </p:nvSpPr>
          <p:spPr bwMode="auto">
            <a:xfrm>
              <a:off x="385" y="981"/>
              <a:ext cx="272" cy="0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Text Box 98"/>
            <p:cNvSpPr txBox="1">
              <a:spLocks noChangeArrowheads="1"/>
            </p:cNvSpPr>
            <p:nvPr/>
          </p:nvSpPr>
          <p:spPr bwMode="auto">
            <a:xfrm>
              <a:off x="396" y="725"/>
              <a:ext cx="408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 dirty="0">
                  <a:ea typeface="仿宋_GB2312" pitchFamily="49" charset="-122"/>
                </a:rPr>
                <a:t>i</a:t>
              </a:r>
              <a:r>
                <a:rPr lang="en-US" altLang="zh-CN" sz="2000" baseline="-25000" dirty="0">
                  <a:latin typeface="Arial" charset="0"/>
                  <a:ea typeface="仿宋_GB2312" pitchFamily="49" charset="-122"/>
                </a:rPr>
                <a:t>1</a:t>
              </a:r>
            </a:p>
          </p:txBody>
        </p:sp>
      </p:grpSp>
      <p:grpSp>
        <p:nvGrpSpPr>
          <p:cNvPr id="44" name="Group 99"/>
          <p:cNvGrpSpPr>
            <a:grpSpLocks/>
          </p:cNvGrpSpPr>
          <p:nvPr/>
        </p:nvGrpSpPr>
        <p:grpSpPr bwMode="auto">
          <a:xfrm>
            <a:off x="6911978" y="1707762"/>
            <a:ext cx="775096" cy="438708"/>
            <a:chOff x="385" y="721"/>
            <a:chExt cx="434" cy="260"/>
          </a:xfrm>
        </p:grpSpPr>
        <p:sp>
          <p:nvSpPr>
            <p:cNvPr id="45" name="Line 100"/>
            <p:cNvSpPr>
              <a:spLocks noChangeShapeType="1"/>
            </p:cNvSpPr>
            <p:nvPr/>
          </p:nvSpPr>
          <p:spPr bwMode="auto">
            <a:xfrm>
              <a:off x="385" y="981"/>
              <a:ext cx="272" cy="0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Text Box 101"/>
            <p:cNvSpPr txBox="1">
              <a:spLocks noChangeArrowheads="1"/>
            </p:cNvSpPr>
            <p:nvPr/>
          </p:nvSpPr>
          <p:spPr bwMode="auto">
            <a:xfrm>
              <a:off x="411" y="721"/>
              <a:ext cx="408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 dirty="0">
                  <a:ea typeface="仿宋_GB2312" pitchFamily="49" charset="-122"/>
                </a:rPr>
                <a:t>i</a:t>
              </a:r>
              <a:r>
                <a:rPr lang="en-US" altLang="zh-CN" sz="2000" baseline="-25000" dirty="0">
                  <a:latin typeface="Arial" charset="0"/>
                  <a:ea typeface="仿宋_GB2312" pitchFamily="49" charset="-122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8889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582861" y="1333530"/>
            <a:ext cx="499586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反相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放大电路的电路模型</a:t>
            </a:r>
          </a:p>
        </p:txBody>
      </p:sp>
      <p:sp>
        <p:nvSpPr>
          <p:cNvPr id="3" name="Line 84"/>
          <p:cNvSpPr>
            <a:spLocks noChangeShapeType="1"/>
          </p:cNvSpPr>
          <p:nvPr/>
        </p:nvSpPr>
        <p:spPr bwMode="auto">
          <a:xfrm>
            <a:off x="5021263" y="3114675"/>
            <a:ext cx="0" cy="172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4" name="AutoShape 95"/>
          <p:cNvSpPr>
            <a:spLocks noChangeArrowheads="1"/>
          </p:cNvSpPr>
          <p:nvPr/>
        </p:nvSpPr>
        <p:spPr bwMode="auto">
          <a:xfrm>
            <a:off x="4706938" y="3608388"/>
            <a:ext cx="628650" cy="765175"/>
          </a:xfrm>
          <a:prstGeom prst="diamond">
            <a:avLst/>
          </a:prstGeom>
          <a:gradFill rotWithShape="1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38100">
            <a:solidFill>
              <a:srgbClr val="FF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5" name="Text Box 56"/>
          <p:cNvSpPr txBox="1">
            <a:spLocks noChangeArrowheads="1"/>
          </p:cNvSpPr>
          <p:nvPr/>
        </p:nvSpPr>
        <p:spPr bwMode="auto">
          <a:xfrm>
            <a:off x="3495259" y="3586896"/>
            <a:ext cx="4411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 dirty="0"/>
              <a:t>R</a:t>
            </a:r>
            <a:r>
              <a:rPr kumimoji="1" lang="en-US" altLang="zh-CN" sz="2000" baseline="-25000" dirty="0"/>
              <a:t>1</a:t>
            </a:r>
            <a:endParaRPr kumimoji="1" lang="en-US" altLang="zh-CN" sz="2000" i="1" dirty="0"/>
          </a:p>
        </p:txBody>
      </p:sp>
      <p:sp>
        <p:nvSpPr>
          <p:cNvPr id="6" name="Text Box 61"/>
          <p:cNvSpPr txBox="1">
            <a:spLocks noChangeArrowheads="1"/>
          </p:cNvSpPr>
          <p:nvPr/>
        </p:nvSpPr>
        <p:spPr bwMode="auto">
          <a:xfrm>
            <a:off x="4852818" y="3639314"/>
            <a:ext cx="3305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827E4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000">
                <a:sym typeface="Symbol" pitchFamily="18" charset="2"/>
              </a:rPr>
              <a:t>+</a:t>
            </a:r>
          </a:p>
        </p:txBody>
      </p:sp>
      <p:sp>
        <p:nvSpPr>
          <p:cNvPr id="7" name="Text Box 63"/>
          <p:cNvSpPr txBox="1">
            <a:spLocks noChangeArrowheads="1"/>
          </p:cNvSpPr>
          <p:nvPr/>
        </p:nvSpPr>
        <p:spPr bwMode="auto">
          <a:xfrm>
            <a:off x="6597650" y="2933700"/>
            <a:ext cx="3305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/>
              <a:t>+</a:t>
            </a:r>
          </a:p>
        </p:txBody>
      </p:sp>
      <p:sp>
        <p:nvSpPr>
          <p:cNvPr id="8" name="Text Box 64"/>
          <p:cNvSpPr txBox="1">
            <a:spLocks noChangeArrowheads="1"/>
          </p:cNvSpPr>
          <p:nvPr/>
        </p:nvSpPr>
        <p:spPr bwMode="auto">
          <a:xfrm>
            <a:off x="6597650" y="4373563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/>
              <a:t>_</a:t>
            </a:r>
          </a:p>
        </p:txBody>
      </p:sp>
      <p:sp>
        <p:nvSpPr>
          <p:cNvPr id="9" name="Text Box 65"/>
          <p:cNvSpPr txBox="1">
            <a:spLocks noChangeArrowheads="1"/>
          </p:cNvSpPr>
          <p:nvPr/>
        </p:nvSpPr>
        <p:spPr bwMode="auto">
          <a:xfrm>
            <a:off x="6686550" y="3698875"/>
            <a:ext cx="3834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/>
              <a:t>v</a:t>
            </a:r>
            <a:r>
              <a:rPr kumimoji="1" lang="en-US" altLang="zh-CN" sz="2000" baseline="-25000"/>
              <a:t>o</a:t>
            </a:r>
            <a:endParaRPr kumimoji="1" lang="en-US" altLang="zh-CN" sz="2000"/>
          </a:p>
        </p:txBody>
      </p:sp>
      <p:sp>
        <p:nvSpPr>
          <p:cNvPr id="10" name="Line 67"/>
          <p:cNvSpPr>
            <a:spLocks noChangeShapeType="1"/>
          </p:cNvSpPr>
          <p:nvPr/>
        </p:nvSpPr>
        <p:spPr bwMode="auto">
          <a:xfrm>
            <a:off x="5021263" y="3114675"/>
            <a:ext cx="14398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1" name="Rectangle 72"/>
          <p:cNvSpPr>
            <a:spLocks noChangeArrowheads="1"/>
          </p:cNvSpPr>
          <p:nvPr/>
        </p:nvSpPr>
        <p:spPr bwMode="auto">
          <a:xfrm>
            <a:off x="3851275" y="2889250"/>
            <a:ext cx="1584325" cy="2160588"/>
          </a:xfrm>
          <a:prstGeom prst="rect">
            <a:avLst/>
          </a:prstGeom>
          <a:noFill/>
          <a:ln w="28575">
            <a:solidFill>
              <a:srgbClr val="66FFFF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12" name="Line 75"/>
          <p:cNvSpPr>
            <a:spLocks noChangeShapeType="1"/>
          </p:cNvSpPr>
          <p:nvPr/>
        </p:nvSpPr>
        <p:spPr bwMode="auto">
          <a:xfrm>
            <a:off x="4392613" y="5208588"/>
            <a:ext cx="4000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3" name="Line 76"/>
          <p:cNvSpPr>
            <a:spLocks noChangeShapeType="1"/>
          </p:cNvSpPr>
          <p:nvPr/>
        </p:nvSpPr>
        <p:spPr bwMode="auto">
          <a:xfrm>
            <a:off x="4471988" y="5291138"/>
            <a:ext cx="241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4" name="Line 77"/>
          <p:cNvSpPr>
            <a:spLocks noChangeShapeType="1"/>
          </p:cNvSpPr>
          <p:nvPr/>
        </p:nvSpPr>
        <p:spPr bwMode="auto">
          <a:xfrm>
            <a:off x="4529138" y="5365750"/>
            <a:ext cx="1031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5" name="Line 78"/>
          <p:cNvSpPr>
            <a:spLocks noChangeShapeType="1"/>
          </p:cNvSpPr>
          <p:nvPr/>
        </p:nvSpPr>
        <p:spPr bwMode="auto">
          <a:xfrm>
            <a:off x="4572000" y="4824413"/>
            <a:ext cx="0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6" name="Line 79"/>
          <p:cNvSpPr>
            <a:spLocks noChangeShapeType="1"/>
          </p:cNvSpPr>
          <p:nvPr/>
        </p:nvSpPr>
        <p:spPr bwMode="auto">
          <a:xfrm>
            <a:off x="2862263" y="4826000"/>
            <a:ext cx="36004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7" name="Text Box 80"/>
          <p:cNvSpPr txBox="1">
            <a:spLocks noChangeArrowheads="1"/>
          </p:cNvSpPr>
          <p:nvPr/>
        </p:nvSpPr>
        <p:spPr bwMode="auto">
          <a:xfrm>
            <a:off x="2438231" y="3039239"/>
            <a:ext cx="3305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827E4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000">
                <a:sym typeface="Symbol" pitchFamily="18" charset="2"/>
              </a:rPr>
              <a:t>+</a:t>
            </a:r>
          </a:p>
        </p:txBody>
      </p:sp>
      <p:sp>
        <p:nvSpPr>
          <p:cNvPr id="18" name="Text Box 81"/>
          <p:cNvSpPr txBox="1">
            <a:spLocks noChangeArrowheads="1"/>
          </p:cNvSpPr>
          <p:nvPr/>
        </p:nvSpPr>
        <p:spPr bwMode="auto">
          <a:xfrm>
            <a:off x="2411413" y="4455289"/>
            <a:ext cx="3365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827E4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000">
                <a:sym typeface="Symbol" pitchFamily="18" charset="2"/>
              </a:rPr>
              <a:t>_</a:t>
            </a:r>
          </a:p>
        </p:txBody>
      </p:sp>
      <p:sp>
        <p:nvSpPr>
          <p:cNvPr id="19" name="Text Box 82"/>
          <p:cNvSpPr txBox="1">
            <a:spLocks noChangeArrowheads="1"/>
          </p:cNvSpPr>
          <p:nvPr/>
        </p:nvSpPr>
        <p:spPr bwMode="auto">
          <a:xfrm>
            <a:off x="2322513" y="3654425"/>
            <a:ext cx="3465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/>
              <a:t>v</a:t>
            </a:r>
            <a:r>
              <a:rPr kumimoji="1" lang="en-US" altLang="zh-CN" sz="2000" baseline="-25000"/>
              <a:t>i</a:t>
            </a:r>
            <a:endParaRPr kumimoji="1" lang="en-US" altLang="zh-CN" sz="2000"/>
          </a:p>
        </p:txBody>
      </p:sp>
      <p:sp>
        <p:nvSpPr>
          <p:cNvPr id="20" name="Line 83"/>
          <p:cNvSpPr>
            <a:spLocks noChangeShapeType="1"/>
          </p:cNvSpPr>
          <p:nvPr/>
        </p:nvSpPr>
        <p:spPr bwMode="auto">
          <a:xfrm>
            <a:off x="4086225" y="3114675"/>
            <a:ext cx="0" cy="172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21" name="Line 85"/>
          <p:cNvSpPr>
            <a:spLocks noChangeShapeType="1"/>
          </p:cNvSpPr>
          <p:nvPr/>
        </p:nvSpPr>
        <p:spPr bwMode="auto">
          <a:xfrm>
            <a:off x="2862263" y="3114675"/>
            <a:ext cx="12239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22" name="Rectangle 90"/>
          <p:cNvSpPr>
            <a:spLocks noChangeArrowheads="1"/>
          </p:cNvSpPr>
          <p:nvPr/>
        </p:nvSpPr>
        <p:spPr bwMode="auto">
          <a:xfrm>
            <a:off x="3986411" y="3563938"/>
            <a:ext cx="201613" cy="504825"/>
          </a:xfrm>
          <a:prstGeom prst="rect">
            <a:avLst/>
          </a:prstGeom>
          <a:gradFill rotWithShape="1">
            <a:gsLst>
              <a:gs pos="0">
                <a:srgbClr val="764700"/>
              </a:gs>
              <a:gs pos="50000">
                <a:srgbClr val="FF9900"/>
              </a:gs>
              <a:gs pos="100000">
                <a:srgbClr val="76470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23" name="Text Box 96"/>
          <p:cNvSpPr txBox="1">
            <a:spLocks noChangeArrowheads="1"/>
          </p:cNvSpPr>
          <p:nvPr/>
        </p:nvSpPr>
        <p:spPr bwMode="auto">
          <a:xfrm>
            <a:off x="4845174" y="3786951"/>
            <a:ext cx="3365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827E4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000" dirty="0">
                <a:sym typeface="Symbol" pitchFamily="18" charset="2"/>
              </a:rPr>
              <a:t>_</a:t>
            </a:r>
          </a:p>
        </p:txBody>
      </p:sp>
      <p:sp>
        <p:nvSpPr>
          <p:cNvPr id="24" name="Oval 97"/>
          <p:cNvSpPr>
            <a:spLocks noChangeArrowheads="1"/>
          </p:cNvSpPr>
          <p:nvPr/>
        </p:nvSpPr>
        <p:spPr bwMode="auto">
          <a:xfrm>
            <a:off x="6462713" y="3068638"/>
            <a:ext cx="88900" cy="889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25" name="Oval 98"/>
          <p:cNvSpPr>
            <a:spLocks noChangeArrowheads="1"/>
          </p:cNvSpPr>
          <p:nvPr/>
        </p:nvSpPr>
        <p:spPr bwMode="auto">
          <a:xfrm>
            <a:off x="6462713" y="4778375"/>
            <a:ext cx="88900" cy="889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graphicFrame>
        <p:nvGraphicFramePr>
          <p:cNvPr id="26" name="Object 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8011974"/>
              </p:ext>
            </p:extLst>
          </p:nvPr>
        </p:nvGraphicFramePr>
        <p:xfrm>
          <a:off x="5435600" y="3611662"/>
          <a:ext cx="799632" cy="776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9" name="Equation" r:id="rId3" imgW="444240" imgH="431640" progId="Equation.DSMT4">
                  <p:embed/>
                </p:oleObj>
              </mc:Choice>
              <mc:Fallback>
                <p:oleObj name="Equation" r:id="rId3" imgW="4442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3611662"/>
                        <a:ext cx="799632" cy="7769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Oval 102"/>
          <p:cNvSpPr>
            <a:spLocks noChangeArrowheads="1"/>
          </p:cNvSpPr>
          <p:nvPr/>
        </p:nvSpPr>
        <p:spPr bwMode="auto">
          <a:xfrm>
            <a:off x="2771775" y="3068638"/>
            <a:ext cx="88900" cy="889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28" name="Oval 103"/>
          <p:cNvSpPr>
            <a:spLocks noChangeArrowheads="1"/>
          </p:cNvSpPr>
          <p:nvPr/>
        </p:nvSpPr>
        <p:spPr bwMode="auto">
          <a:xfrm>
            <a:off x="2771775" y="4778375"/>
            <a:ext cx="88900" cy="889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414061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7" grpId="0"/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 animBg="1"/>
      <p:bldP spid="21" grpId="0" animBg="1"/>
      <p:bldP spid="22" grpId="0" animBg="1"/>
      <p:bldP spid="23" grpId="0"/>
      <p:bldP spid="24" grpId="0" animBg="1"/>
      <p:bldP spid="25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Box 3"/>
          <p:cNvSpPr txBox="1">
            <a:spLocks noChangeArrowheads="1"/>
          </p:cNvSpPr>
          <p:nvPr/>
        </p:nvSpPr>
        <p:spPr bwMode="auto">
          <a:xfrm>
            <a:off x="750340" y="548680"/>
            <a:ext cx="56938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990033"/>
                </a:solidFill>
                <a:ea typeface="宋体" charset="-122"/>
              </a:rPr>
              <a:t>二、运放的同相接法</a:t>
            </a:r>
            <a:r>
              <a:rPr kumimoji="1" lang="zh-CN" altLang="en-US" sz="2400" dirty="0" smtClean="0">
                <a:solidFill>
                  <a:srgbClr val="990033"/>
                </a:solidFill>
                <a:ea typeface="宋体" charset="-122"/>
              </a:rPr>
              <a:t>电路及其分析</a:t>
            </a:r>
            <a:endParaRPr kumimoji="1" lang="zh-CN" altLang="en-US" sz="2400" dirty="0">
              <a:solidFill>
                <a:srgbClr val="990033"/>
              </a:solidFill>
              <a:ea typeface="宋体" charset="-122"/>
            </a:endParaRPr>
          </a:p>
        </p:txBody>
      </p:sp>
      <p:sp>
        <p:nvSpPr>
          <p:cNvPr id="51" name="Text Box 4"/>
          <p:cNvSpPr txBox="1">
            <a:spLocks noChangeArrowheads="1"/>
          </p:cNvSpPr>
          <p:nvPr/>
        </p:nvSpPr>
        <p:spPr bwMode="auto">
          <a:xfrm>
            <a:off x="845344" y="1430635"/>
            <a:ext cx="5103812" cy="41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5715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基本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电路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997200" y="2420169"/>
            <a:ext cx="3714013" cy="3025055"/>
            <a:chOff x="2997200" y="2420169"/>
            <a:chExt cx="3714013" cy="3025055"/>
          </a:xfrm>
        </p:grpSpPr>
        <p:sp>
          <p:nvSpPr>
            <p:cNvPr id="52" name="AutoShape 12"/>
            <p:cNvSpPr>
              <a:spLocks noChangeArrowheads="1"/>
            </p:cNvSpPr>
            <p:nvPr/>
          </p:nvSpPr>
          <p:spPr bwMode="auto">
            <a:xfrm rot="5400000">
              <a:off x="4348163" y="3262411"/>
              <a:ext cx="1035050" cy="1035050"/>
            </a:xfrm>
            <a:prstGeom prst="triangle">
              <a:avLst>
                <a:gd name="adj" fmla="val 51023"/>
              </a:avLst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53" name="Line 13"/>
            <p:cNvSpPr>
              <a:spLocks noChangeShapeType="1"/>
            </p:cNvSpPr>
            <p:nvPr/>
          </p:nvSpPr>
          <p:spPr bwMode="auto">
            <a:xfrm flipH="1">
              <a:off x="4167188" y="4102199"/>
              <a:ext cx="1905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4" name="Line 15"/>
            <p:cNvSpPr>
              <a:spLocks noChangeShapeType="1"/>
            </p:cNvSpPr>
            <p:nvPr/>
          </p:nvSpPr>
          <p:spPr bwMode="auto">
            <a:xfrm flipH="1">
              <a:off x="3176588" y="3532286"/>
              <a:ext cx="11969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5" name="Line 17"/>
            <p:cNvSpPr>
              <a:spLocks noChangeShapeType="1"/>
            </p:cNvSpPr>
            <p:nvPr/>
          </p:nvSpPr>
          <p:spPr bwMode="auto">
            <a:xfrm flipV="1">
              <a:off x="5329238" y="3794224"/>
              <a:ext cx="8763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6" name="Text Box 20"/>
            <p:cNvSpPr txBox="1">
              <a:spLocks noChangeArrowheads="1"/>
            </p:cNvSpPr>
            <p:nvPr/>
          </p:nvSpPr>
          <p:spPr bwMode="auto">
            <a:xfrm>
              <a:off x="6327775" y="3441799"/>
              <a:ext cx="38343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v</a:t>
              </a:r>
              <a:r>
                <a:rPr kumimoji="1" lang="en-US" altLang="zh-CN" sz="2000" baseline="-25000"/>
                <a:t>o</a:t>
              </a:r>
              <a:endParaRPr kumimoji="1" lang="en-US" altLang="zh-CN" sz="2000"/>
            </a:p>
          </p:txBody>
        </p:sp>
        <p:sp>
          <p:nvSpPr>
            <p:cNvPr id="57" name="Line 21"/>
            <p:cNvSpPr>
              <a:spLocks noChangeShapeType="1"/>
            </p:cNvSpPr>
            <p:nvPr/>
          </p:nvSpPr>
          <p:spPr bwMode="auto">
            <a:xfrm>
              <a:off x="4167188" y="2902049"/>
              <a:ext cx="15144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8" name="Line 22"/>
            <p:cNvSpPr>
              <a:spLocks noChangeShapeType="1"/>
            </p:cNvSpPr>
            <p:nvPr/>
          </p:nvSpPr>
          <p:spPr bwMode="auto">
            <a:xfrm>
              <a:off x="5691188" y="2902049"/>
              <a:ext cx="0" cy="8953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9" name="Line 24"/>
            <p:cNvSpPr>
              <a:spLocks noChangeShapeType="1"/>
            </p:cNvSpPr>
            <p:nvPr/>
          </p:nvSpPr>
          <p:spPr bwMode="auto">
            <a:xfrm>
              <a:off x="3176588" y="3532286"/>
              <a:ext cx="0" cy="3143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0" name="Text Box 27"/>
            <p:cNvSpPr txBox="1">
              <a:spLocks noChangeArrowheads="1"/>
            </p:cNvSpPr>
            <p:nvPr/>
          </p:nvSpPr>
          <p:spPr bwMode="auto">
            <a:xfrm>
              <a:off x="3446463" y="4387949"/>
              <a:ext cx="34657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v</a:t>
              </a:r>
              <a:r>
                <a:rPr kumimoji="1" lang="en-US" altLang="zh-CN" sz="2000" baseline="-25000"/>
                <a:t>i</a:t>
              </a:r>
              <a:endParaRPr kumimoji="1" lang="en-US" altLang="zh-CN" sz="2000"/>
            </a:p>
          </p:txBody>
        </p:sp>
        <p:sp>
          <p:nvSpPr>
            <p:cNvPr id="61" name="Text Box 28"/>
            <p:cNvSpPr txBox="1">
              <a:spLocks noChangeArrowheads="1"/>
            </p:cNvSpPr>
            <p:nvPr/>
          </p:nvSpPr>
          <p:spPr bwMode="auto">
            <a:xfrm>
              <a:off x="3503881" y="3041689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1</a:t>
              </a:r>
              <a:endParaRPr kumimoji="1" lang="en-US" altLang="zh-CN" sz="2000" i="1" dirty="0"/>
            </a:p>
          </p:txBody>
        </p:sp>
        <p:sp>
          <p:nvSpPr>
            <p:cNvPr id="62" name="Text Box 29"/>
            <p:cNvSpPr txBox="1">
              <a:spLocks noChangeArrowheads="1"/>
            </p:cNvSpPr>
            <p:nvPr/>
          </p:nvSpPr>
          <p:spPr bwMode="auto">
            <a:xfrm>
              <a:off x="4630033" y="2420169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2</a:t>
              </a:r>
              <a:endParaRPr kumimoji="1" lang="en-US" altLang="zh-CN" sz="2000" i="1" dirty="0"/>
            </a:p>
          </p:txBody>
        </p:sp>
        <p:sp>
          <p:nvSpPr>
            <p:cNvPr id="63" name="Rectangle 38"/>
            <p:cNvSpPr>
              <a:spLocks noChangeArrowheads="1"/>
            </p:cNvSpPr>
            <p:nvPr/>
          </p:nvSpPr>
          <p:spPr bwMode="auto">
            <a:xfrm>
              <a:off x="3446463" y="3429124"/>
              <a:ext cx="503237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64" name="Rectangle 39"/>
            <p:cNvSpPr>
              <a:spLocks noChangeArrowheads="1"/>
            </p:cNvSpPr>
            <p:nvPr/>
          </p:nvSpPr>
          <p:spPr bwMode="auto">
            <a:xfrm>
              <a:off x="4598988" y="2803624"/>
              <a:ext cx="503237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65" name="Text Box 42"/>
            <p:cNvSpPr txBox="1">
              <a:spLocks noChangeArrowheads="1"/>
            </p:cNvSpPr>
            <p:nvPr/>
          </p:nvSpPr>
          <p:spPr bwMode="auto">
            <a:xfrm>
              <a:off x="4350427" y="3172906"/>
              <a:ext cx="31290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66" name="Text Box 43"/>
            <p:cNvSpPr txBox="1">
              <a:spLocks noChangeArrowheads="1"/>
            </p:cNvSpPr>
            <p:nvPr/>
          </p:nvSpPr>
          <p:spPr bwMode="auto">
            <a:xfrm>
              <a:off x="4328202" y="3892986"/>
              <a:ext cx="33054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solidFill>
                    <a:schemeClr val="bg1"/>
                  </a:solidFill>
                </a:rPr>
                <a:t>+</a:t>
              </a:r>
            </a:p>
          </p:txBody>
        </p:sp>
        <p:sp>
          <p:nvSpPr>
            <p:cNvPr id="67" name="Text Box 44"/>
            <p:cNvSpPr txBox="1">
              <a:spLocks noChangeArrowheads="1"/>
            </p:cNvSpPr>
            <p:nvPr/>
          </p:nvSpPr>
          <p:spPr bwMode="auto">
            <a:xfrm>
              <a:off x="4566327" y="3550270"/>
              <a:ext cx="356188" cy="3637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>
                  <a:solidFill>
                    <a:schemeClr val="bg1"/>
                  </a:solidFill>
                </a:rPr>
                <a:t>A</a:t>
              </a:r>
              <a:endParaRPr kumimoji="1" lang="en-US" altLang="zh-CN" sz="2000" dirty="0">
                <a:solidFill>
                  <a:schemeClr val="bg1"/>
                </a:solidFill>
              </a:endParaRPr>
            </a:p>
          </p:txBody>
        </p:sp>
        <p:sp>
          <p:nvSpPr>
            <p:cNvPr id="68" name="Line 45"/>
            <p:cNvSpPr>
              <a:spLocks noChangeShapeType="1"/>
            </p:cNvSpPr>
            <p:nvPr/>
          </p:nvSpPr>
          <p:spPr bwMode="auto">
            <a:xfrm>
              <a:off x="4167188" y="2902049"/>
              <a:ext cx="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73" name="Group 60"/>
            <p:cNvGrpSpPr>
              <a:grpSpLocks/>
            </p:cNvGrpSpPr>
            <p:nvPr/>
          </p:nvGrpSpPr>
          <p:grpSpPr bwMode="auto">
            <a:xfrm>
              <a:off x="2997200" y="3846611"/>
              <a:ext cx="400050" cy="157163"/>
              <a:chOff x="1888" y="3082"/>
              <a:chExt cx="252" cy="99"/>
            </a:xfrm>
          </p:grpSpPr>
          <p:sp>
            <p:nvSpPr>
              <p:cNvPr id="74" name="Line 56"/>
              <p:cNvSpPr>
                <a:spLocks noChangeShapeType="1"/>
              </p:cNvSpPr>
              <p:nvPr/>
            </p:nvSpPr>
            <p:spPr bwMode="auto">
              <a:xfrm>
                <a:off x="1888" y="3082"/>
                <a:ext cx="25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Line 57"/>
              <p:cNvSpPr>
                <a:spLocks noChangeShapeType="1"/>
              </p:cNvSpPr>
              <p:nvPr/>
            </p:nvSpPr>
            <p:spPr bwMode="auto">
              <a:xfrm>
                <a:off x="1938" y="3134"/>
                <a:ext cx="15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Line 58"/>
              <p:cNvSpPr>
                <a:spLocks noChangeShapeType="1"/>
              </p:cNvSpPr>
              <p:nvPr/>
            </p:nvSpPr>
            <p:spPr bwMode="auto">
              <a:xfrm>
                <a:off x="1974" y="3181"/>
                <a:ext cx="6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7" name="Oval 63"/>
            <p:cNvSpPr>
              <a:spLocks noChangeArrowheads="1"/>
            </p:cNvSpPr>
            <p:nvPr/>
          </p:nvSpPr>
          <p:spPr bwMode="auto">
            <a:xfrm>
              <a:off x="6192838" y="3757711"/>
              <a:ext cx="88900" cy="889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78" name="Line 64"/>
            <p:cNvSpPr>
              <a:spLocks noChangeShapeType="1"/>
            </p:cNvSpPr>
            <p:nvPr/>
          </p:nvSpPr>
          <p:spPr bwMode="auto">
            <a:xfrm>
              <a:off x="4178300" y="4116486"/>
              <a:ext cx="0" cy="11715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79" name="Group 65"/>
            <p:cNvGrpSpPr>
              <a:grpSpLocks/>
            </p:cNvGrpSpPr>
            <p:nvPr/>
          </p:nvGrpSpPr>
          <p:grpSpPr bwMode="auto">
            <a:xfrm>
              <a:off x="3979863" y="5288061"/>
              <a:ext cx="400050" cy="157163"/>
              <a:chOff x="1888" y="3082"/>
              <a:chExt cx="252" cy="99"/>
            </a:xfrm>
          </p:grpSpPr>
          <p:sp>
            <p:nvSpPr>
              <p:cNvPr id="80" name="Line 66"/>
              <p:cNvSpPr>
                <a:spLocks noChangeShapeType="1"/>
              </p:cNvSpPr>
              <p:nvPr/>
            </p:nvSpPr>
            <p:spPr bwMode="auto">
              <a:xfrm>
                <a:off x="1888" y="3082"/>
                <a:ext cx="25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Line 67"/>
              <p:cNvSpPr>
                <a:spLocks noChangeShapeType="1"/>
              </p:cNvSpPr>
              <p:nvPr/>
            </p:nvSpPr>
            <p:spPr bwMode="auto">
              <a:xfrm>
                <a:off x="1938" y="3134"/>
                <a:ext cx="15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Line 68"/>
              <p:cNvSpPr>
                <a:spLocks noChangeShapeType="1"/>
              </p:cNvSpPr>
              <p:nvPr/>
            </p:nvSpPr>
            <p:spPr bwMode="auto">
              <a:xfrm>
                <a:off x="1974" y="3181"/>
                <a:ext cx="6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3" name="Oval 14"/>
            <p:cNvSpPr>
              <a:spLocks noChangeArrowheads="1"/>
            </p:cNvSpPr>
            <p:nvPr/>
          </p:nvSpPr>
          <p:spPr bwMode="auto">
            <a:xfrm>
              <a:off x="3890963" y="4387949"/>
              <a:ext cx="576262" cy="576262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/>
              <a:endParaRPr lang="zh-CN" altLang="en-US" sz="2000">
                <a:latin typeface="Arial" charset="0"/>
                <a:ea typeface="仿宋_GB2312" pitchFamily="49" charset="-122"/>
              </a:endParaRPr>
            </a:p>
          </p:txBody>
        </p:sp>
        <p:sp>
          <p:nvSpPr>
            <p:cNvPr id="84" name="Text Box 25"/>
            <p:cNvSpPr txBox="1">
              <a:spLocks noChangeArrowheads="1"/>
            </p:cNvSpPr>
            <p:nvPr/>
          </p:nvSpPr>
          <p:spPr bwMode="auto">
            <a:xfrm>
              <a:off x="4013031" y="4356962"/>
              <a:ext cx="33053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000">
                  <a:sym typeface="Symbol" pitchFamily="18" charset="2"/>
                </a:rPr>
                <a:t>+</a:t>
              </a:r>
            </a:p>
          </p:txBody>
        </p:sp>
        <p:sp>
          <p:nvSpPr>
            <p:cNvPr id="85" name="Text Box 26"/>
            <p:cNvSpPr txBox="1">
              <a:spLocks noChangeArrowheads="1"/>
            </p:cNvSpPr>
            <p:nvPr/>
          </p:nvSpPr>
          <p:spPr bwMode="auto">
            <a:xfrm>
              <a:off x="4019426" y="4447450"/>
              <a:ext cx="33655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000" dirty="0">
                  <a:sym typeface="Symbol" pitchFamily="18" charset="2"/>
                </a:rPr>
                <a:t>_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166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9057201"/>
              </p:ext>
            </p:extLst>
          </p:nvPr>
        </p:nvGraphicFramePr>
        <p:xfrm>
          <a:off x="674687" y="3638370"/>
          <a:ext cx="1828656" cy="776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94" name="Equation" r:id="rId3" imgW="1015920" imgH="431640" progId="Equation.DSMT4">
                  <p:embed/>
                </p:oleObj>
              </mc:Choice>
              <mc:Fallback>
                <p:oleObj name="Equation" r:id="rId3" imgW="10159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687" y="3638370"/>
                        <a:ext cx="1828656" cy="7769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385764" y="5478323"/>
            <a:ext cx="810540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5715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同样，</a:t>
            </a:r>
            <a:r>
              <a:rPr kumimoji="1" lang="en-US" altLang="zh-CN" sz="2000" i="1" dirty="0">
                <a:ea typeface="楷体_GB2312" pitchFamily="49" charset="-122"/>
              </a:rPr>
              <a:t>A</a:t>
            </a:r>
            <a:r>
              <a:rPr kumimoji="1" lang="en-US" altLang="zh-CN" sz="2000" i="1" baseline="-25000" dirty="0">
                <a:ea typeface="楷体_GB2312" pitchFamily="49" charset="-122"/>
              </a:rPr>
              <a:t>v</a:t>
            </a:r>
            <a:r>
              <a:rPr kumimoji="1" lang="en-US" altLang="zh-CN" sz="2000" dirty="0">
                <a:ea typeface="楷体_GB2312" pitchFamily="49" charset="-122"/>
              </a:rPr>
              <a:t> 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只取决于反馈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电阻 </a:t>
            </a:r>
            <a:r>
              <a:rPr kumimoji="1" lang="en-US" altLang="zh-CN" sz="2000" i="1" dirty="0" smtClean="0">
                <a:ea typeface="楷体_GB2312" pitchFamily="49" charset="-122"/>
              </a:rPr>
              <a:t>R</a:t>
            </a:r>
            <a:r>
              <a:rPr kumimoji="1" lang="en-US" altLang="zh-CN" sz="2000" baseline="-25000" dirty="0" smtClean="0">
                <a:ea typeface="楷体_GB2312" pitchFamily="49" charset="-122"/>
              </a:rPr>
              <a:t>2 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与 </a:t>
            </a:r>
            <a:r>
              <a:rPr kumimoji="1" lang="en-US" altLang="zh-CN" sz="2000" i="1" dirty="0" smtClean="0">
                <a:ea typeface="楷体_GB2312" pitchFamily="49" charset="-122"/>
              </a:rPr>
              <a:t>R</a:t>
            </a:r>
            <a:r>
              <a:rPr kumimoji="1" lang="en-US" altLang="zh-CN" sz="2000" baseline="-25000" dirty="0" smtClean="0">
                <a:ea typeface="楷体_GB2312" pitchFamily="49" charset="-122"/>
              </a:rPr>
              <a:t>1 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比值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，而与放大器本身的参数无关。</a:t>
            </a:r>
          </a:p>
        </p:txBody>
      </p: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206375" y="4668698"/>
            <a:ext cx="1447801" cy="850900"/>
            <a:chOff x="385" y="3022"/>
            <a:chExt cx="912" cy="536"/>
          </a:xfrm>
        </p:grpSpPr>
        <p:pic>
          <p:nvPicPr>
            <p:cNvPr id="5" name="Picture 11" descr="12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12"/>
            <p:cNvSpPr txBox="1">
              <a:spLocks noChangeArrowheads="1"/>
            </p:cNvSpPr>
            <p:nvPr/>
          </p:nvSpPr>
          <p:spPr bwMode="auto">
            <a:xfrm>
              <a:off x="793" y="3125"/>
              <a:ext cx="50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zh-CN" altLang="en-US" b="0" dirty="0">
                  <a:solidFill>
                    <a:srgbClr val="FF0000"/>
                  </a:solidFill>
                  <a:ea typeface="华文行楷" pitchFamily="2" charset="-122"/>
                  <a:cs typeface="Times New Roman" panose="02020603050405020304" pitchFamily="18" charset="0"/>
                </a:rPr>
                <a:t>表明</a:t>
              </a:r>
            </a:p>
          </p:txBody>
        </p:sp>
      </p:grpSp>
      <p:sp>
        <p:nvSpPr>
          <p:cNvPr id="7" name="Text Box 16"/>
          <p:cNvSpPr txBox="1">
            <a:spLocks noChangeArrowheads="1"/>
          </p:cNvSpPr>
          <p:nvPr/>
        </p:nvSpPr>
        <p:spPr bwMode="auto">
          <a:xfrm>
            <a:off x="385763" y="566598"/>
            <a:ext cx="38163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FontTx/>
              <a:buAutoNum type="circleNumDbPlain"/>
            </a:pPr>
            <a:r>
              <a:rPr kumimoji="1" lang="zh-CN" altLang="en-US" sz="2000" b="1">
                <a:ea typeface="楷体_GB2312" pitchFamily="49" charset="-122"/>
              </a:rPr>
              <a:t> 根据“虚短”：</a:t>
            </a:r>
            <a:endParaRPr kumimoji="1" lang="zh-CN" altLang="en-US" sz="2000" b="1" baseline="-25000">
              <a:ea typeface="楷体_GB2312" pitchFamily="49" charset="-122"/>
            </a:endParaRPr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424185" y="1810334"/>
            <a:ext cx="38163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FontTx/>
              <a:buAutoNum type="circleNumDbPlain" startAt="2"/>
            </a:pPr>
            <a:r>
              <a:rPr kumimoji="1" lang="zh-CN" altLang="en-US" sz="2000" b="1" dirty="0">
                <a:ea typeface="楷体_GB2312" pitchFamily="49" charset="-122"/>
              </a:rPr>
              <a:t> 根据“虚断”：</a:t>
            </a:r>
          </a:p>
        </p:txBody>
      </p:sp>
      <p:sp>
        <p:nvSpPr>
          <p:cNvPr id="9" name="Text Box 18"/>
          <p:cNvSpPr txBox="1">
            <a:spLocks noChangeArrowheads="1"/>
          </p:cNvSpPr>
          <p:nvPr/>
        </p:nvSpPr>
        <p:spPr bwMode="auto">
          <a:xfrm>
            <a:off x="1241425" y="1106348"/>
            <a:ext cx="49498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 dirty="0"/>
              <a:t>v</a:t>
            </a:r>
            <a:r>
              <a:rPr kumimoji="1" lang="en-US" altLang="zh-CN" sz="2000" baseline="-25000" dirty="0"/>
              <a:t>+</a:t>
            </a:r>
            <a:r>
              <a:rPr kumimoji="1" lang="en-US" altLang="zh-CN" sz="2000" dirty="0"/>
              <a:t> = </a:t>
            </a:r>
            <a:r>
              <a:rPr kumimoji="1" lang="en-US" altLang="zh-CN" sz="2000" i="1" dirty="0"/>
              <a:t>v</a:t>
            </a:r>
            <a:r>
              <a:rPr kumimoji="1" lang="en-US" altLang="zh-CN" sz="2000" baseline="-25000" dirty="0">
                <a:latin typeface="宋体" charset="-122"/>
              </a:rPr>
              <a:t>-</a:t>
            </a:r>
            <a:r>
              <a:rPr kumimoji="1" lang="en-US" altLang="zh-CN" sz="2000" i="1" dirty="0"/>
              <a:t> </a:t>
            </a:r>
            <a:r>
              <a:rPr kumimoji="1" lang="en-US" altLang="zh-CN" sz="2000" dirty="0" smtClean="0"/>
              <a:t>= </a:t>
            </a:r>
            <a:r>
              <a:rPr kumimoji="1" lang="en-US" altLang="zh-CN" sz="2000" i="1" dirty="0" smtClean="0"/>
              <a:t>v</a:t>
            </a:r>
            <a:r>
              <a:rPr kumimoji="1" lang="en-US" altLang="zh-CN" sz="2000" i="1" baseline="-25000" dirty="0" smtClean="0"/>
              <a:t>i</a:t>
            </a:r>
            <a:r>
              <a:rPr kumimoji="1" lang="zh-CN" altLang="en-US" sz="2000" dirty="0"/>
              <a:t>，   </a:t>
            </a:r>
            <a:r>
              <a:rPr kumimoji="1" lang="en-US" altLang="zh-CN" sz="2000" i="1" dirty="0"/>
              <a:t>i</a:t>
            </a:r>
            <a:r>
              <a:rPr kumimoji="1" lang="en-US" altLang="zh-CN" sz="2000" baseline="-25000" dirty="0"/>
              <a:t>1</a:t>
            </a:r>
            <a:r>
              <a:rPr kumimoji="1" lang="en-US" altLang="zh-CN" sz="2000" dirty="0"/>
              <a:t>= </a:t>
            </a:r>
            <a:r>
              <a:rPr kumimoji="1" lang="en-US" altLang="zh-CN" sz="2000" i="1" dirty="0"/>
              <a:t>v</a:t>
            </a:r>
            <a:r>
              <a:rPr kumimoji="1" lang="en-US" altLang="zh-CN" sz="2000" i="1" baseline="-25000" dirty="0"/>
              <a:t>i</a:t>
            </a:r>
            <a:r>
              <a:rPr kumimoji="1" lang="en-US" altLang="zh-CN" sz="2000" dirty="0"/>
              <a:t>/</a:t>
            </a:r>
            <a:r>
              <a:rPr kumimoji="1" lang="en-US" altLang="zh-CN" sz="2000" i="1" dirty="0"/>
              <a:t>R</a:t>
            </a:r>
            <a:r>
              <a:rPr kumimoji="1" lang="en-US" altLang="zh-CN" sz="2000" baseline="-25000" dirty="0"/>
              <a:t>1</a:t>
            </a:r>
          </a:p>
        </p:txBody>
      </p:sp>
      <p:sp>
        <p:nvSpPr>
          <p:cNvPr id="10" name="Text Box 19"/>
          <p:cNvSpPr txBox="1">
            <a:spLocks noChangeArrowheads="1"/>
          </p:cNvSpPr>
          <p:nvPr/>
        </p:nvSpPr>
        <p:spPr bwMode="auto">
          <a:xfrm>
            <a:off x="657225" y="2366823"/>
            <a:ext cx="25209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 dirty="0" smtClean="0"/>
              <a:t>i</a:t>
            </a:r>
            <a:r>
              <a:rPr kumimoji="1" lang="en-US" altLang="zh-CN" sz="2000" baseline="-25000" dirty="0" smtClean="0"/>
              <a:t>2 </a:t>
            </a:r>
            <a:r>
              <a:rPr kumimoji="1" lang="en-US" altLang="zh-CN" sz="2000" dirty="0" smtClean="0"/>
              <a:t>= </a:t>
            </a:r>
            <a:r>
              <a:rPr kumimoji="1" lang="en-US" altLang="zh-CN" sz="2000" i="1" dirty="0"/>
              <a:t>i</a:t>
            </a:r>
            <a:r>
              <a:rPr kumimoji="1" lang="en-US" altLang="zh-CN" sz="2000" baseline="-25000" dirty="0"/>
              <a:t>1</a:t>
            </a:r>
            <a:endParaRPr kumimoji="1" lang="en-US" altLang="zh-CN" sz="2000" dirty="0"/>
          </a:p>
        </p:txBody>
      </p:sp>
      <p:graphicFrame>
        <p:nvGraphicFramePr>
          <p:cNvPr id="1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7499876"/>
              </p:ext>
            </p:extLst>
          </p:nvPr>
        </p:nvGraphicFramePr>
        <p:xfrm>
          <a:off x="673646" y="2770930"/>
          <a:ext cx="3017088" cy="776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95" name="Equation" r:id="rId6" imgW="1676160" imgH="431640" progId="Equation.DSMT4">
                  <p:embed/>
                </p:oleObj>
              </mc:Choice>
              <mc:Fallback>
                <p:oleObj name="Equation" r:id="rId6" imgW="1676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646" y="2770930"/>
                        <a:ext cx="3017088" cy="7769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AutoShape 12"/>
          <p:cNvSpPr>
            <a:spLocks noChangeArrowheads="1"/>
          </p:cNvSpPr>
          <p:nvPr/>
        </p:nvSpPr>
        <p:spPr bwMode="auto">
          <a:xfrm rot="5400000">
            <a:off x="6319838" y="2253276"/>
            <a:ext cx="1035050" cy="1035050"/>
          </a:xfrm>
          <a:prstGeom prst="triangle">
            <a:avLst>
              <a:gd name="adj" fmla="val 51023"/>
            </a:avLst>
          </a:prstGeom>
          <a:gradFill rotWithShape="1">
            <a:gsLst>
              <a:gs pos="0">
                <a:srgbClr val="764700"/>
              </a:gs>
              <a:gs pos="5000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47" name="Line 13"/>
          <p:cNvSpPr>
            <a:spLocks noChangeShapeType="1"/>
          </p:cNvSpPr>
          <p:nvPr/>
        </p:nvSpPr>
        <p:spPr bwMode="auto">
          <a:xfrm flipH="1">
            <a:off x="6138863" y="3093064"/>
            <a:ext cx="190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48" name="Line 15"/>
          <p:cNvSpPr>
            <a:spLocks noChangeShapeType="1"/>
          </p:cNvSpPr>
          <p:nvPr/>
        </p:nvSpPr>
        <p:spPr bwMode="auto">
          <a:xfrm flipH="1">
            <a:off x="5148263" y="2523151"/>
            <a:ext cx="1196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49" name="Line 17"/>
          <p:cNvSpPr>
            <a:spLocks noChangeShapeType="1"/>
          </p:cNvSpPr>
          <p:nvPr/>
        </p:nvSpPr>
        <p:spPr bwMode="auto">
          <a:xfrm flipV="1">
            <a:off x="7300913" y="2785089"/>
            <a:ext cx="876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50" name="Text Box 20"/>
          <p:cNvSpPr txBox="1">
            <a:spLocks noChangeArrowheads="1"/>
          </p:cNvSpPr>
          <p:nvPr/>
        </p:nvSpPr>
        <p:spPr bwMode="auto">
          <a:xfrm>
            <a:off x="8299450" y="2432664"/>
            <a:ext cx="3834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/>
              <a:t>v</a:t>
            </a:r>
            <a:r>
              <a:rPr kumimoji="1" lang="en-US" altLang="zh-CN" sz="2000" baseline="-25000"/>
              <a:t>o</a:t>
            </a:r>
            <a:endParaRPr kumimoji="1" lang="en-US" altLang="zh-CN" sz="2000"/>
          </a:p>
        </p:txBody>
      </p:sp>
      <p:sp>
        <p:nvSpPr>
          <p:cNvPr id="51" name="Line 21"/>
          <p:cNvSpPr>
            <a:spLocks noChangeShapeType="1"/>
          </p:cNvSpPr>
          <p:nvPr/>
        </p:nvSpPr>
        <p:spPr bwMode="auto">
          <a:xfrm>
            <a:off x="6138863" y="1892914"/>
            <a:ext cx="15144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52" name="Line 22"/>
          <p:cNvSpPr>
            <a:spLocks noChangeShapeType="1"/>
          </p:cNvSpPr>
          <p:nvPr/>
        </p:nvSpPr>
        <p:spPr bwMode="auto">
          <a:xfrm>
            <a:off x="7662863" y="1892914"/>
            <a:ext cx="0" cy="895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53" name="Line 24"/>
          <p:cNvSpPr>
            <a:spLocks noChangeShapeType="1"/>
          </p:cNvSpPr>
          <p:nvPr/>
        </p:nvSpPr>
        <p:spPr bwMode="auto">
          <a:xfrm>
            <a:off x="5148263" y="2523151"/>
            <a:ext cx="0" cy="314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54" name="Text Box 27"/>
          <p:cNvSpPr txBox="1">
            <a:spLocks noChangeArrowheads="1"/>
          </p:cNvSpPr>
          <p:nvPr/>
        </p:nvSpPr>
        <p:spPr bwMode="auto">
          <a:xfrm>
            <a:off x="5418138" y="3378814"/>
            <a:ext cx="3465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/>
              <a:t>v</a:t>
            </a:r>
            <a:r>
              <a:rPr kumimoji="1" lang="en-US" altLang="zh-CN" sz="2000" baseline="-25000"/>
              <a:t>i</a:t>
            </a:r>
            <a:endParaRPr kumimoji="1" lang="en-US" altLang="zh-CN" sz="2000"/>
          </a:p>
        </p:txBody>
      </p:sp>
      <p:sp>
        <p:nvSpPr>
          <p:cNvPr id="55" name="Text Box 28"/>
          <p:cNvSpPr txBox="1">
            <a:spLocks noChangeArrowheads="1"/>
          </p:cNvSpPr>
          <p:nvPr/>
        </p:nvSpPr>
        <p:spPr bwMode="auto">
          <a:xfrm>
            <a:off x="5455838" y="2019060"/>
            <a:ext cx="4411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 dirty="0"/>
              <a:t>R</a:t>
            </a:r>
            <a:r>
              <a:rPr kumimoji="1" lang="en-US" altLang="zh-CN" sz="2000" baseline="-25000" dirty="0"/>
              <a:t>1</a:t>
            </a:r>
            <a:endParaRPr kumimoji="1" lang="en-US" altLang="zh-CN" sz="2000" i="1" dirty="0"/>
          </a:p>
        </p:txBody>
      </p:sp>
      <p:sp>
        <p:nvSpPr>
          <p:cNvPr id="56" name="Text Box 29"/>
          <p:cNvSpPr txBox="1">
            <a:spLocks noChangeArrowheads="1"/>
          </p:cNvSpPr>
          <p:nvPr/>
        </p:nvSpPr>
        <p:spPr bwMode="auto">
          <a:xfrm>
            <a:off x="6587420" y="1388743"/>
            <a:ext cx="4411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 dirty="0"/>
              <a:t>R</a:t>
            </a:r>
            <a:r>
              <a:rPr kumimoji="1" lang="en-US" altLang="zh-CN" sz="2000" baseline="-25000" dirty="0"/>
              <a:t>2</a:t>
            </a:r>
            <a:endParaRPr kumimoji="1" lang="en-US" altLang="zh-CN" sz="2000" i="1" dirty="0"/>
          </a:p>
        </p:txBody>
      </p:sp>
      <p:sp>
        <p:nvSpPr>
          <p:cNvPr id="57" name="Rectangle 38"/>
          <p:cNvSpPr>
            <a:spLocks noChangeArrowheads="1"/>
          </p:cNvSpPr>
          <p:nvPr/>
        </p:nvSpPr>
        <p:spPr bwMode="auto">
          <a:xfrm>
            <a:off x="5418138" y="2419989"/>
            <a:ext cx="503237" cy="215900"/>
          </a:xfrm>
          <a:prstGeom prst="rect">
            <a:avLst/>
          </a:prstGeom>
          <a:gradFill rotWithShape="1">
            <a:gsLst>
              <a:gs pos="0">
                <a:srgbClr val="764700"/>
              </a:gs>
              <a:gs pos="5000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58" name="Rectangle 39"/>
          <p:cNvSpPr>
            <a:spLocks noChangeArrowheads="1"/>
          </p:cNvSpPr>
          <p:nvPr/>
        </p:nvSpPr>
        <p:spPr bwMode="auto">
          <a:xfrm>
            <a:off x="6570663" y="1794489"/>
            <a:ext cx="503237" cy="215900"/>
          </a:xfrm>
          <a:prstGeom prst="rect">
            <a:avLst/>
          </a:prstGeom>
          <a:gradFill rotWithShape="1">
            <a:gsLst>
              <a:gs pos="0">
                <a:srgbClr val="764700"/>
              </a:gs>
              <a:gs pos="5000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59" name="Text Box 42"/>
          <p:cNvSpPr txBox="1">
            <a:spLocks noChangeArrowheads="1"/>
          </p:cNvSpPr>
          <p:nvPr/>
        </p:nvSpPr>
        <p:spPr bwMode="auto">
          <a:xfrm>
            <a:off x="6322102" y="2163771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dirty="0">
                <a:solidFill>
                  <a:schemeClr val="bg1"/>
                </a:solidFill>
              </a:rPr>
              <a:t>_</a:t>
            </a:r>
          </a:p>
        </p:txBody>
      </p:sp>
      <p:sp>
        <p:nvSpPr>
          <p:cNvPr id="60" name="Text Box 43"/>
          <p:cNvSpPr txBox="1">
            <a:spLocks noChangeArrowheads="1"/>
          </p:cNvSpPr>
          <p:nvPr/>
        </p:nvSpPr>
        <p:spPr bwMode="auto">
          <a:xfrm>
            <a:off x="6299877" y="2883851"/>
            <a:ext cx="3305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61" name="Text Box 44"/>
          <p:cNvSpPr txBox="1">
            <a:spLocks noChangeArrowheads="1"/>
          </p:cNvSpPr>
          <p:nvPr/>
        </p:nvSpPr>
        <p:spPr bwMode="auto">
          <a:xfrm>
            <a:off x="6538002" y="2541135"/>
            <a:ext cx="356188" cy="363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 dirty="0">
                <a:solidFill>
                  <a:schemeClr val="bg1"/>
                </a:solidFill>
              </a:rPr>
              <a:t>A</a:t>
            </a:r>
            <a:endParaRPr kumimoji="1" lang="en-US" altLang="zh-CN" sz="2000" dirty="0">
              <a:solidFill>
                <a:schemeClr val="bg1"/>
              </a:solidFill>
            </a:endParaRPr>
          </a:p>
        </p:txBody>
      </p:sp>
      <p:sp>
        <p:nvSpPr>
          <p:cNvPr id="62" name="Line 45"/>
          <p:cNvSpPr>
            <a:spLocks noChangeShapeType="1"/>
          </p:cNvSpPr>
          <p:nvPr/>
        </p:nvSpPr>
        <p:spPr bwMode="auto">
          <a:xfrm>
            <a:off x="6138863" y="1892914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63" name="Line 50"/>
          <p:cNvSpPr>
            <a:spLocks noChangeShapeType="1"/>
          </p:cNvSpPr>
          <p:nvPr/>
        </p:nvSpPr>
        <p:spPr bwMode="auto">
          <a:xfrm flipH="1">
            <a:off x="4878388" y="2432664"/>
            <a:ext cx="485775" cy="0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64" name="Text Box 51"/>
          <p:cNvSpPr txBox="1">
            <a:spLocks noChangeArrowheads="1"/>
          </p:cNvSpPr>
          <p:nvPr/>
        </p:nvSpPr>
        <p:spPr bwMode="auto">
          <a:xfrm flipH="1">
            <a:off x="4999831" y="1994544"/>
            <a:ext cx="72866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i="1" dirty="0">
                <a:ea typeface="仿宋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000" baseline="-25000" dirty="0">
                <a:ea typeface="仿宋_GB2312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5" name="Line 53"/>
          <p:cNvSpPr>
            <a:spLocks noChangeShapeType="1"/>
          </p:cNvSpPr>
          <p:nvPr/>
        </p:nvSpPr>
        <p:spPr bwMode="auto">
          <a:xfrm flipH="1">
            <a:off x="7308850" y="1802426"/>
            <a:ext cx="485775" cy="0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66" name="Text Box 54"/>
          <p:cNvSpPr txBox="1">
            <a:spLocks noChangeArrowheads="1"/>
          </p:cNvSpPr>
          <p:nvPr/>
        </p:nvSpPr>
        <p:spPr bwMode="auto">
          <a:xfrm>
            <a:off x="7424737" y="1372343"/>
            <a:ext cx="72866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i="1" dirty="0">
                <a:ea typeface="仿宋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000" baseline="-25000" dirty="0">
                <a:ea typeface="仿宋_GB2312" pitchFamily="49" charset="-122"/>
                <a:cs typeface="Times New Roman" panose="02020603050405020304" pitchFamily="18" charset="0"/>
              </a:rPr>
              <a:t>2</a:t>
            </a:r>
          </a:p>
        </p:txBody>
      </p:sp>
      <p:grpSp>
        <p:nvGrpSpPr>
          <p:cNvPr id="67" name="Group 60"/>
          <p:cNvGrpSpPr>
            <a:grpSpLocks/>
          </p:cNvGrpSpPr>
          <p:nvPr/>
        </p:nvGrpSpPr>
        <p:grpSpPr bwMode="auto">
          <a:xfrm>
            <a:off x="4968875" y="2837476"/>
            <a:ext cx="400050" cy="157163"/>
            <a:chOff x="1888" y="3082"/>
            <a:chExt cx="252" cy="99"/>
          </a:xfrm>
        </p:grpSpPr>
        <p:sp>
          <p:nvSpPr>
            <p:cNvPr id="68" name="Line 56"/>
            <p:cNvSpPr>
              <a:spLocks noChangeShapeType="1"/>
            </p:cNvSpPr>
            <p:nvPr/>
          </p:nvSpPr>
          <p:spPr bwMode="auto">
            <a:xfrm>
              <a:off x="1888" y="3082"/>
              <a:ext cx="2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9" name="Line 57"/>
            <p:cNvSpPr>
              <a:spLocks noChangeShapeType="1"/>
            </p:cNvSpPr>
            <p:nvPr/>
          </p:nvSpPr>
          <p:spPr bwMode="auto">
            <a:xfrm>
              <a:off x="1938" y="3134"/>
              <a:ext cx="1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0" name="Line 58"/>
            <p:cNvSpPr>
              <a:spLocks noChangeShapeType="1"/>
            </p:cNvSpPr>
            <p:nvPr/>
          </p:nvSpPr>
          <p:spPr bwMode="auto">
            <a:xfrm>
              <a:off x="1974" y="3181"/>
              <a:ext cx="6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sp>
        <p:nvSpPr>
          <p:cNvPr id="71" name="Oval 63"/>
          <p:cNvSpPr>
            <a:spLocks noChangeArrowheads="1"/>
          </p:cNvSpPr>
          <p:nvPr/>
        </p:nvSpPr>
        <p:spPr bwMode="auto">
          <a:xfrm>
            <a:off x="8164513" y="2748576"/>
            <a:ext cx="88900" cy="889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72" name="Line 64"/>
          <p:cNvSpPr>
            <a:spLocks noChangeShapeType="1"/>
          </p:cNvSpPr>
          <p:nvPr/>
        </p:nvSpPr>
        <p:spPr bwMode="auto">
          <a:xfrm>
            <a:off x="6149975" y="3107351"/>
            <a:ext cx="0" cy="1171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73" name="Group 65"/>
          <p:cNvGrpSpPr>
            <a:grpSpLocks/>
          </p:cNvGrpSpPr>
          <p:nvPr/>
        </p:nvGrpSpPr>
        <p:grpSpPr bwMode="auto">
          <a:xfrm>
            <a:off x="5951538" y="4278926"/>
            <a:ext cx="400050" cy="157163"/>
            <a:chOff x="1888" y="3082"/>
            <a:chExt cx="252" cy="99"/>
          </a:xfrm>
        </p:grpSpPr>
        <p:sp>
          <p:nvSpPr>
            <p:cNvPr id="74" name="Line 66"/>
            <p:cNvSpPr>
              <a:spLocks noChangeShapeType="1"/>
            </p:cNvSpPr>
            <p:nvPr/>
          </p:nvSpPr>
          <p:spPr bwMode="auto">
            <a:xfrm>
              <a:off x="1888" y="3082"/>
              <a:ext cx="2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5" name="Line 67"/>
            <p:cNvSpPr>
              <a:spLocks noChangeShapeType="1"/>
            </p:cNvSpPr>
            <p:nvPr/>
          </p:nvSpPr>
          <p:spPr bwMode="auto">
            <a:xfrm>
              <a:off x="1938" y="3134"/>
              <a:ext cx="1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6" name="Line 68"/>
            <p:cNvSpPr>
              <a:spLocks noChangeShapeType="1"/>
            </p:cNvSpPr>
            <p:nvPr/>
          </p:nvSpPr>
          <p:spPr bwMode="auto">
            <a:xfrm>
              <a:off x="1974" y="3181"/>
              <a:ext cx="6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sp>
        <p:nvSpPr>
          <p:cNvPr id="77" name="Oval 14"/>
          <p:cNvSpPr>
            <a:spLocks noChangeArrowheads="1"/>
          </p:cNvSpPr>
          <p:nvPr/>
        </p:nvSpPr>
        <p:spPr bwMode="auto">
          <a:xfrm>
            <a:off x="5862638" y="3378814"/>
            <a:ext cx="576262" cy="576262"/>
          </a:xfrm>
          <a:prstGeom prst="ellipse">
            <a:avLst/>
          </a:prstGeom>
          <a:gradFill rotWithShape="1">
            <a:gsLst>
              <a:gs pos="0">
                <a:srgbClr val="0099FF"/>
              </a:gs>
              <a:gs pos="100000">
                <a:srgbClr val="004776"/>
              </a:gs>
            </a:gsLst>
            <a:path path="shape">
              <a:fillToRect l="50000" t="50000" r="50000" b="50000"/>
            </a:path>
          </a:gradFill>
          <a:ln w="38100">
            <a:solidFill>
              <a:srgbClr val="FF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/>
            <a:endParaRPr lang="zh-CN" altLang="en-US" sz="2000">
              <a:latin typeface="Arial" charset="0"/>
              <a:ea typeface="仿宋_GB2312" pitchFamily="49" charset="-122"/>
            </a:endParaRPr>
          </a:p>
        </p:txBody>
      </p:sp>
      <p:sp>
        <p:nvSpPr>
          <p:cNvPr id="78" name="Text Box 25"/>
          <p:cNvSpPr txBox="1">
            <a:spLocks noChangeArrowheads="1"/>
          </p:cNvSpPr>
          <p:nvPr/>
        </p:nvSpPr>
        <p:spPr bwMode="auto">
          <a:xfrm>
            <a:off x="5984706" y="3347827"/>
            <a:ext cx="3305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827E4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000">
                <a:sym typeface="Symbol" pitchFamily="18" charset="2"/>
              </a:rPr>
              <a:t>+</a:t>
            </a:r>
          </a:p>
        </p:txBody>
      </p:sp>
      <p:sp>
        <p:nvSpPr>
          <p:cNvPr id="79" name="Text Box 26"/>
          <p:cNvSpPr txBox="1">
            <a:spLocks noChangeArrowheads="1"/>
          </p:cNvSpPr>
          <p:nvPr/>
        </p:nvSpPr>
        <p:spPr bwMode="auto">
          <a:xfrm>
            <a:off x="5991101" y="3438315"/>
            <a:ext cx="3365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827E4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000" dirty="0">
                <a:sym typeface="Symbol" pitchFamily="18" charset="2"/>
              </a:rPr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3096385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606425" y="5326063"/>
            <a:ext cx="77549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715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该电路称为</a:t>
            </a:r>
            <a:r>
              <a:rPr kumimoji="1"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电压跟随器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3" name="Text Box 16"/>
          <p:cNvSpPr txBox="1">
            <a:spLocks noChangeArrowheads="1"/>
          </p:cNvSpPr>
          <p:nvPr/>
        </p:nvSpPr>
        <p:spPr bwMode="auto">
          <a:xfrm>
            <a:off x="396875" y="839788"/>
            <a:ext cx="38163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b="1" dirty="0">
                <a:solidFill>
                  <a:srgbClr val="FF0000"/>
                </a:solidFill>
                <a:ea typeface="华文新魏" pitchFamily="2" charset="-122"/>
              </a:rPr>
              <a:t>特殊情况</a:t>
            </a:r>
          </a:p>
        </p:txBody>
      </p:sp>
      <p:sp>
        <p:nvSpPr>
          <p:cNvPr id="4" name="Text Box 19"/>
          <p:cNvSpPr txBox="1">
            <a:spLocks noChangeArrowheads="1"/>
          </p:cNvSpPr>
          <p:nvPr/>
        </p:nvSpPr>
        <p:spPr bwMode="auto">
          <a:xfrm>
            <a:off x="1195388" y="2095560"/>
            <a:ext cx="25209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 dirty="0"/>
              <a:t>R</a:t>
            </a:r>
            <a:r>
              <a:rPr kumimoji="1" lang="en-US" altLang="zh-CN" sz="2000" baseline="-25000" dirty="0"/>
              <a:t>1 </a:t>
            </a:r>
            <a:r>
              <a:rPr kumimoji="1" lang="en-US" altLang="zh-CN" sz="2000" baseline="-25000" dirty="0" smtClean="0"/>
              <a:t>                  </a:t>
            </a:r>
            <a:r>
              <a:rPr kumimoji="1" lang="en-US" altLang="zh-CN" sz="2000" dirty="0">
                <a:sym typeface="Symbol" pitchFamily="18" charset="2"/>
              </a:rPr>
              <a:t></a:t>
            </a:r>
            <a:endParaRPr kumimoji="1" lang="en-US" altLang="zh-CN" sz="2000" dirty="0"/>
          </a:p>
        </p:txBody>
      </p:sp>
      <p:sp>
        <p:nvSpPr>
          <p:cNvPr id="5" name="AutoShape 21"/>
          <p:cNvSpPr>
            <a:spLocks noChangeArrowheads="1"/>
          </p:cNvSpPr>
          <p:nvPr/>
        </p:nvSpPr>
        <p:spPr bwMode="auto">
          <a:xfrm rot="5400000">
            <a:off x="5699125" y="1920875"/>
            <a:ext cx="1035050" cy="1035050"/>
          </a:xfrm>
          <a:prstGeom prst="triangle">
            <a:avLst>
              <a:gd name="adj" fmla="val 51023"/>
            </a:avLst>
          </a:prstGeom>
          <a:gradFill rotWithShape="1">
            <a:gsLst>
              <a:gs pos="0">
                <a:srgbClr val="764700"/>
              </a:gs>
              <a:gs pos="5000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7" name="Line 23"/>
          <p:cNvSpPr>
            <a:spLocks noChangeShapeType="1"/>
          </p:cNvSpPr>
          <p:nvPr/>
        </p:nvSpPr>
        <p:spPr bwMode="auto">
          <a:xfrm flipH="1">
            <a:off x="5394242" y="2190750"/>
            <a:ext cx="31298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8" name="Line 24"/>
          <p:cNvSpPr>
            <a:spLocks noChangeShapeType="1"/>
          </p:cNvSpPr>
          <p:nvPr/>
        </p:nvSpPr>
        <p:spPr bwMode="auto">
          <a:xfrm flipV="1">
            <a:off x="6680200" y="2452688"/>
            <a:ext cx="876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9" name="Text Box 25"/>
          <p:cNvSpPr txBox="1">
            <a:spLocks noChangeArrowheads="1"/>
          </p:cNvSpPr>
          <p:nvPr/>
        </p:nvSpPr>
        <p:spPr bwMode="auto">
          <a:xfrm>
            <a:off x="7678738" y="2100263"/>
            <a:ext cx="3834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/>
              <a:t>v</a:t>
            </a:r>
            <a:r>
              <a:rPr kumimoji="1" lang="en-US" altLang="zh-CN" sz="2000" baseline="-25000"/>
              <a:t>o</a:t>
            </a:r>
            <a:endParaRPr kumimoji="1" lang="en-US" altLang="zh-CN" sz="2000"/>
          </a:p>
        </p:txBody>
      </p:sp>
      <p:sp>
        <p:nvSpPr>
          <p:cNvPr id="10" name="Line 26"/>
          <p:cNvSpPr>
            <a:spLocks noChangeShapeType="1"/>
          </p:cNvSpPr>
          <p:nvPr/>
        </p:nvSpPr>
        <p:spPr bwMode="auto">
          <a:xfrm>
            <a:off x="5400214" y="1560513"/>
            <a:ext cx="16324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1" name="Line 27"/>
          <p:cNvSpPr>
            <a:spLocks noChangeShapeType="1"/>
          </p:cNvSpPr>
          <p:nvPr/>
        </p:nvSpPr>
        <p:spPr bwMode="auto">
          <a:xfrm>
            <a:off x="7042150" y="1560513"/>
            <a:ext cx="0" cy="895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2" name="Line 28"/>
          <p:cNvSpPr>
            <a:spLocks noChangeShapeType="1"/>
          </p:cNvSpPr>
          <p:nvPr/>
        </p:nvSpPr>
        <p:spPr bwMode="auto">
          <a:xfrm>
            <a:off x="5400212" y="1560513"/>
            <a:ext cx="1" cy="6302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3" name="Text Box 29"/>
          <p:cNvSpPr txBox="1">
            <a:spLocks noChangeArrowheads="1"/>
          </p:cNvSpPr>
          <p:nvPr/>
        </p:nvSpPr>
        <p:spPr bwMode="auto">
          <a:xfrm>
            <a:off x="4766567" y="3046413"/>
            <a:ext cx="3465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 dirty="0"/>
              <a:t>v</a:t>
            </a:r>
            <a:r>
              <a:rPr kumimoji="1" lang="en-US" altLang="zh-CN" sz="2000" baseline="-25000" dirty="0"/>
              <a:t>i</a:t>
            </a:r>
            <a:endParaRPr kumimoji="1" lang="en-US" altLang="zh-CN" sz="2000" dirty="0"/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5699254" y="1844824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dirty="0">
                <a:solidFill>
                  <a:schemeClr val="bg1"/>
                </a:solidFill>
              </a:rPr>
              <a:t>_</a:t>
            </a:r>
          </a:p>
        </p:txBody>
      </p:sp>
      <p:sp>
        <p:nvSpPr>
          <p:cNvPr id="15" name="Text Box 35"/>
          <p:cNvSpPr txBox="1">
            <a:spLocks noChangeArrowheads="1"/>
          </p:cNvSpPr>
          <p:nvPr/>
        </p:nvSpPr>
        <p:spPr bwMode="auto">
          <a:xfrm>
            <a:off x="5675313" y="2524834"/>
            <a:ext cx="3305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16" name="Text Box 36"/>
          <p:cNvSpPr txBox="1">
            <a:spLocks noChangeArrowheads="1"/>
          </p:cNvSpPr>
          <p:nvPr/>
        </p:nvSpPr>
        <p:spPr bwMode="auto">
          <a:xfrm>
            <a:off x="5922963" y="2232759"/>
            <a:ext cx="3561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 dirty="0">
                <a:solidFill>
                  <a:schemeClr val="bg1"/>
                </a:solidFill>
              </a:rPr>
              <a:t>A</a:t>
            </a:r>
            <a:endParaRPr kumimoji="1" lang="en-US" altLang="zh-CN" sz="2000" dirty="0">
              <a:solidFill>
                <a:schemeClr val="bg1"/>
              </a:solidFill>
            </a:endParaRPr>
          </a:p>
        </p:txBody>
      </p:sp>
      <p:sp>
        <p:nvSpPr>
          <p:cNvPr id="22" name="Oval 46"/>
          <p:cNvSpPr>
            <a:spLocks noChangeArrowheads="1"/>
          </p:cNvSpPr>
          <p:nvPr/>
        </p:nvSpPr>
        <p:spPr bwMode="auto">
          <a:xfrm>
            <a:off x="7543800" y="2416175"/>
            <a:ext cx="88900" cy="889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23" name="Line 47"/>
          <p:cNvSpPr>
            <a:spLocks noChangeShapeType="1"/>
          </p:cNvSpPr>
          <p:nvPr/>
        </p:nvSpPr>
        <p:spPr bwMode="auto">
          <a:xfrm>
            <a:off x="5405501" y="2748334"/>
            <a:ext cx="0" cy="1171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24" name="Group 48"/>
          <p:cNvGrpSpPr>
            <a:grpSpLocks/>
          </p:cNvGrpSpPr>
          <p:nvPr/>
        </p:nvGrpSpPr>
        <p:grpSpPr bwMode="auto">
          <a:xfrm>
            <a:off x="5216588" y="3919909"/>
            <a:ext cx="400050" cy="157163"/>
            <a:chOff x="1888" y="3082"/>
            <a:chExt cx="252" cy="99"/>
          </a:xfrm>
        </p:grpSpPr>
        <p:sp>
          <p:nvSpPr>
            <p:cNvPr id="25" name="Line 49"/>
            <p:cNvSpPr>
              <a:spLocks noChangeShapeType="1"/>
            </p:cNvSpPr>
            <p:nvPr/>
          </p:nvSpPr>
          <p:spPr bwMode="auto">
            <a:xfrm>
              <a:off x="1888" y="3082"/>
              <a:ext cx="2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6" name="Line 50"/>
            <p:cNvSpPr>
              <a:spLocks noChangeShapeType="1"/>
            </p:cNvSpPr>
            <p:nvPr/>
          </p:nvSpPr>
          <p:spPr bwMode="auto">
            <a:xfrm>
              <a:off x="1938" y="3134"/>
              <a:ext cx="1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7" name="Line 51"/>
            <p:cNvSpPr>
              <a:spLocks noChangeShapeType="1"/>
            </p:cNvSpPr>
            <p:nvPr/>
          </p:nvSpPr>
          <p:spPr bwMode="auto">
            <a:xfrm>
              <a:off x="1974" y="3181"/>
              <a:ext cx="6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sp>
        <p:nvSpPr>
          <p:cNvPr id="28" name="Oval 52"/>
          <p:cNvSpPr>
            <a:spLocks noChangeArrowheads="1"/>
          </p:cNvSpPr>
          <p:nvPr/>
        </p:nvSpPr>
        <p:spPr bwMode="auto">
          <a:xfrm>
            <a:off x="5118163" y="3019797"/>
            <a:ext cx="576263" cy="576262"/>
          </a:xfrm>
          <a:prstGeom prst="ellipse">
            <a:avLst/>
          </a:prstGeom>
          <a:gradFill rotWithShape="1">
            <a:gsLst>
              <a:gs pos="0">
                <a:srgbClr val="0099FF"/>
              </a:gs>
              <a:gs pos="100000">
                <a:srgbClr val="004776"/>
              </a:gs>
            </a:gsLst>
            <a:path path="shape">
              <a:fillToRect l="50000" t="50000" r="50000" b="50000"/>
            </a:path>
          </a:gradFill>
          <a:ln w="38100">
            <a:solidFill>
              <a:srgbClr val="FF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/>
            <a:endParaRPr lang="zh-CN" altLang="en-US" sz="2000">
              <a:latin typeface="Arial" charset="0"/>
              <a:ea typeface="仿宋_GB2312" pitchFamily="49" charset="-122"/>
            </a:endParaRPr>
          </a:p>
        </p:txBody>
      </p:sp>
      <p:sp>
        <p:nvSpPr>
          <p:cNvPr id="29" name="Text Box 53"/>
          <p:cNvSpPr txBox="1">
            <a:spLocks noChangeArrowheads="1"/>
          </p:cNvSpPr>
          <p:nvPr/>
        </p:nvSpPr>
        <p:spPr bwMode="auto">
          <a:xfrm>
            <a:off x="5240231" y="2988810"/>
            <a:ext cx="3305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827E4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000">
                <a:sym typeface="Symbol" pitchFamily="18" charset="2"/>
              </a:rPr>
              <a:t>+</a:t>
            </a:r>
          </a:p>
        </p:txBody>
      </p:sp>
      <p:sp>
        <p:nvSpPr>
          <p:cNvPr id="30" name="Text Box 54"/>
          <p:cNvSpPr txBox="1">
            <a:spLocks noChangeArrowheads="1"/>
          </p:cNvSpPr>
          <p:nvPr/>
        </p:nvSpPr>
        <p:spPr bwMode="auto">
          <a:xfrm>
            <a:off x="5244766" y="3107873"/>
            <a:ext cx="3365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827E4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000" dirty="0">
                <a:sym typeface="Symbol" pitchFamily="18" charset="2"/>
              </a:rPr>
              <a:t>_</a:t>
            </a:r>
          </a:p>
        </p:txBody>
      </p:sp>
      <p:cxnSp>
        <p:nvCxnSpPr>
          <p:cNvPr id="31" name="直接箭头连接符 30"/>
          <p:cNvCxnSpPr/>
          <p:nvPr/>
        </p:nvCxnSpPr>
        <p:spPr>
          <a:xfrm flipV="1">
            <a:off x="1704976" y="2306728"/>
            <a:ext cx="574675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9"/>
          <p:cNvSpPr txBox="1">
            <a:spLocks noChangeArrowheads="1"/>
          </p:cNvSpPr>
          <p:nvPr/>
        </p:nvSpPr>
        <p:spPr bwMode="auto">
          <a:xfrm>
            <a:off x="1192213" y="2754313"/>
            <a:ext cx="25209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/>
              <a:t>R</a:t>
            </a:r>
            <a:r>
              <a:rPr kumimoji="1" lang="en-US" altLang="zh-CN" sz="2000" baseline="-25000"/>
              <a:t>2 </a:t>
            </a:r>
            <a:r>
              <a:rPr kumimoji="1" lang="en-US" altLang="zh-CN" sz="2000"/>
              <a:t>= 0</a:t>
            </a:r>
            <a:r>
              <a:rPr kumimoji="1" lang="en-US" altLang="zh-CN" sz="2000" baseline="-25000"/>
              <a:t>  </a:t>
            </a:r>
            <a:endParaRPr kumimoji="1" lang="en-US" altLang="zh-CN" sz="2000"/>
          </a:p>
        </p:txBody>
      </p:sp>
      <p:sp>
        <p:nvSpPr>
          <p:cNvPr id="33" name="右大括号 32"/>
          <p:cNvSpPr/>
          <p:nvPr/>
        </p:nvSpPr>
        <p:spPr>
          <a:xfrm>
            <a:off x="2771800" y="2212975"/>
            <a:ext cx="202407" cy="833438"/>
          </a:xfrm>
          <a:prstGeom prst="rightBrace">
            <a:avLst>
              <a:gd name="adj1" fmla="val 8333"/>
              <a:gd name="adj2" fmla="val 53141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000"/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3913475"/>
              </p:ext>
            </p:extLst>
          </p:nvPr>
        </p:nvGraphicFramePr>
        <p:xfrm>
          <a:off x="1198464" y="3715212"/>
          <a:ext cx="2171448" cy="776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82" name="Equation" r:id="rId3" imgW="1206360" imgH="431640" progId="Equation.DSMT4">
                  <p:embed/>
                </p:oleObj>
              </mc:Choice>
              <mc:Fallback>
                <p:oleObj name="Equation" r:id="rId3" imgW="12063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8464" y="3715212"/>
                        <a:ext cx="2171448" cy="7769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Line 23"/>
          <p:cNvSpPr>
            <a:spLocks noChangeShapeType="1"/>
          </p:cNvSpPr>
          <p:nvPr/>
        </p:nvSpPr>
        <p:spPr bwMode="auto">
          <a:xfrm flipH="1">
            <a:off x="5395449" y="2762621"/>
            <a:ext cx="31298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168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32" grpId="0"/>
      <p:bldP spid="3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6252062"/>
              </p:ext>
            </p:extLst>
          </p:nvPr>
        </p:nvGraphicFramePr>
        <p:xfrm>
          <a:off x="2148564" y="4155736"/>
          <a:ext cx="799632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32" name="Equation" r:id="rId3" imgW="444240" imgH="228600" progId="Equation.DSMT4">
                  <p:embed/>
                </p:oleObj>
              </mc:Choice>
              <mc:Fallback>
                <p:oleObj name="Equation" r:id="rId3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8564" y="4155736"/>
                        <a:ext cx="799632" cy="411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755576" y="1628800"/>
            <a:ext cx="38163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FontTx/>
              <a:buAutoNum type="circleNumDbPlain"/>
            </a:pPr>
            <a:r>
              <a:rPr kumimoji="1" lang="zh-CN" altLang="en-US" sz="2000" b="1" dirty="0">
                <a:ea typeface="楷体_GB2312" pitchFamily="49" charset="-122"/>
              </a:rPr>
              <a:t>  输入电阻</a:t>
            </a:r>
            <a:endParaRPr kumimoji="1" lang="zh-CN" altLang="en-US" sz="2000" b="1" baseline="-25000" dirty="0">
              <a:ea typeface="楷体_GB2312" pitchFamily="49" charset="-122"/>
            </a:endParaRPr>
          </a:p>
        </p:txBody>
      </p:sp>
      <p:sp>
        <p:nvSpPr>
          <p:cNvPr id="4" name="Text Box 13"/>
          <p:cNvSpPr txBox="1">
            <a:spLocks noChangeArrowheads="1"/>
          </p:cNvSpPr>
          <p:nvPr/>
        </p:nvSpPr>
        <p:spPr bwMode="auto">
          <a:xfrm>
            <a:off x="755576" y="3248050"/>
            <a:ext cx="38163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FontTx/>
              <a:buAutoNum type="circleNumDbPlain" startAt="2"/>
            </a:pPr>
            <a:r>
              <a:rPr kumimoji="1" lang="zh-CN" altLang="en-US" sz="2000" b="1" dirty="0">
                <a:ea typeface="楷体_GB2312" pitchFamily="49" charset="-122"/>
              </a:rPr>
              <a:t>  输出电阻</a:t>
            </a:r>
          </a:p>
        </p:txBody>
      </p:sp>
      <p:graphicFrame>
        <p:nvGraphicFramePr>
          <p:cNvPr id="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465352"/>
              </p:ext>
            </p:extLst>
          </p:nvPr>
        </p:nvGraphicFramePr>
        <p:xfrm>
          <a:off x="2148564" y="2296774"/>
          <a:ext cx="799632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33" name="Equation" r:id="rId5" imgW="444240" imgH="228600" progId="Equation.DSMT4">
                  <p:embed/>
                </p:oleObj>
              </mc:Choice>
              <mc:Fallback>
                <p:oleObj name="Equation" r:id="rId5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8564" y="2296774"/>
                        <a:ext cx="799632" cy="411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AutoShape 12"/>
          <p:cNvSpPr>
            <a:spLocks noChangeArrowheads="1"/>
          </p:cNvSpPr>
          <p:nvPr/>
        </p:nvSpPr>
        <p:spPr bwMode="auto">
          <a:xfrm rot="5400000">
            <a:off x="6319838" y="2253276"/>
            <a:ext cx="1035050" cy="1035050"/>
          </a:xfrm>
          <a:prstGeom prst="triangle">
            <a:avLst>
              <a:gd name="adj" fmla="val 51023"/>
            </a:avLst>
          </a:prstGeom>
          <a:gradFill rotWithShape="1">
            <a:gsLst>
              <a:gs pos="0">
                <a:srgbClr val="764700"/>
              </a:gs>
              <a:gs pos="5000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41" name="Line 13"/>
          <p:cNvSpPr>
            <a:spLocks noChangeShapeType="1"/>
          </p:cNvSpPr>
          <p:nvPr/>
        </p:nvSpPr>
        <p:spPr bwMode="auto">
          <a:xfrm flipH="1">
            <a:off x="6138863" y="3093064"/>
            <a:ext cx="190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42" name="Line 15"/>
          <p:cNvSpPr>
            <a:spLocks noChangeShapeType="1"/>
          </p:cNvSpPr>
          <p:nvPr/>
        </p:nvSpPr>
        <p:spPr bwMode="auto">
          <a:xfrm flipH="1">
            <a:off x="5148263" y="2523151"/>
            <a:ext cx="1196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43" name="Line 17"/>
          <p:cNvSpPr>
            <a:spLocks noChangeShapeType="1"/>
          </p:cNvSpPr>
          <p:nvPr/>
        </p:nvSpPr>
        <p:spPr bwMode="auto">
          <a:xfrm flipV="1">
            <a:off x="7300913" y="2785089"/>
            <a:ext cx="876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44" name="Text Box 20"/>
          <p:cNvSpPr txBox="1">
            <a:spLocks noChangeArrowheads="1"/>
          </p:cNvSpPr>
          <p:nvPr/>
        </p:nvSpPr>
        <p:spPr bwMode="auto">
          <a:xfrm>
            <a:off x="8299450" y="2432664"/>
            <a:ext cx="3834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/>
              <a:t>v</a:t>
            </a:r>
            <a:r>
              <a:rPr kumimoji="1" lang="en-US" altLang="zh-CN" sz="2000" baseline="-25000"/>
              <a:t>o</a:t>
            </a:r>
            <a:endParaRPr kumimoji="1" lang="en-US" altLang="zh-CN" sz="2000"/>
          </a:p>
        </p:txBody>
      </p:sp>
      <p:sp>
        <p:nvSpPr>
          <p:cNvPr id="45" name="Line 21"/>
          <p:cNvSpPr>
            <a:spLocks noChangeShapeType="1"/>
          </p:cNvSpPr>
          <p:nvPr/>
        </p:nvSpPr>
        <p:spPr bwMode="auto">
          <a:xfrm>
            <a:off x="6138863" y="1892914"/>
            <a:ext cx="15144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46" name="Line 22"/>
          <p:cNvSpPr>
            <a:spLocks noChangeShapeType="1"/>
          </p:cNvSpPr>
          <p:nvPr/>
        </p:nvSpPr>
        <p:spPr bwMode="auto">
          <a:xfrm>
            <a:off x="7662863" y="1892914"/>
            <a:ext cx="0" cy="895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47" name="Line 24"/>
          <p:cNvSpPr>
            <a:spLocks noChangeShapeType="1"/>
          </p:cNvSpPr>
          <p:nvPr/>
        </p:nvSpPr>
        <p:spPr bwMode="auto">
          <a:xfrm>
            <a:off x="5148263" y="2523151"/>
            <a:ext cx="0" cy="314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48" name="Text Box 27"/>
          <p:cNvSpPr txBox="1">
            <a:spLocks noChangeArrowheads="1"/>
          </p:cNvSpPr>
          <p:nvPr/>
        </p:nvSpPr>
        <p:spPr bwMode="auto">
          <a:xfrm>
            <a:off x="5418138" y="3378814"/>
            <a:ext cx="3465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/>
              <a:t>v</a:t>
            </a:r>
            <a:r>
              <a:rPr kumimoji="1" lang="en-US" altLang="zh-CN" sz="2000" baseline="-25000"/>
              <a:t>i</a:t>
            </a:r>
            <a:endParaRPr kumimoji="1" lang="en-US" altLang="zh-CN" sz="2000"/>
          </a:p>
        </p:txBody>
      </p:sp>
      <p:sp>
        <p:nvSpPr>
          <p:cNvPr id="49" name="Text Box 28"/>
          <p:cNvSpPr txBox="1">
            <a:spLocks noChangeArrowheads="1"/>
          </p:cNvSpPr>
          <p:nvPr/>
        </p:nvSpPr>
        <p:spPr bwMode="auto">
          <a:xfrm>
            <a:off x="5489575" y="1794489"/>
            <a:ext cx="4411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/>
              <a:t>R</a:t>
            </a:r>
            <a:r>
              <a:rPr kumimoji="1" lang="en-US" altLang="zh-CN" sz="2000" baseline="-25000"/>
              <a:t>1</a:t>
            </a:r>
            <a:endParaRPr kumimoji="1" lang="en-US" altLang="zh-CN" sz="2000" i="1"/>
          </a:p>
        </p:txBody>
      </p:sp>
      <p:sp>
        <p:nvSpPr>
          <p:cNvPr id="50" name="Text Box 29"/>
          <p:cNvSpPr txBox="1">
            <a:spLocks noChangeArrowheads="1"/>
          </p:cNvSpPr>
          <p:nvPr/>
        </p:nvSpPr>
        <p:spPr bwMode="auto">
          <a:xfrm>
            <a:off x="6642100" y="1218226"/>
            <a:ext cx="4411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/>
              <a:t>R</a:t>
            </a:r>
            <a:r>
              <a:rPr kumimoji="1" lang="en-US" altLang="zh-CN" sz="2000" baseline="-25000"/>
              <a:t>2</a:t>
            </a:r>
            <a:endParaRPr kumimoji="1" lang="en-US" altLang="zh-CN" sz="2000" i="1"/>
          </a:p>
        </p:txBody>
      </p:sp>
      <p:sp>
        <p:nvSpPr>
          <p:cNvPr id="51" name="Rectangle 38"/>
          <p:cNvSpPr>
            <a:spLocks noChangeArrowheads="1"/>
          </p:cNvSpPr>
          <p:nvPr/>
        </p:nvSpPr>
        <p:spPr bwMode="auto">
          <a:xfrm>
            <a:off x="5418138" y="2419989"/>
            <a:ext cx="503237" cy="215900"/>
          </a:xfrm>
          <a:prstGeom prst="rect">
            <a:avLst/>
          </a:prstGeom>
          <a:gradFill rotWithShape="1">
            <a:gsLst>
              <a:gs pos="0">
                <a:srgbClr val="764700"/>
              </a:gs>
              <a:gs pos="5000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52" name="Rectangle 39"/>
          <p:cNvSpPr>
            <a:spLocks noChangeArrowheads="1"/>
          </p:cNvSpPr>
          <p:nvPr/>
        </p:nvSpPr>
        <p:spPr bwMode="auto">
          <a:xfrm>
            <a:off x="6570663" y="1794489"/>
            <a:ext cx="503237" cy="215900"/>
          </a:xfrm>
          <a:prstGeom prst="rect">
            <a:avLst/>
          </a:prstGeom>
          <a:gradFill rotWithShape="1">
            <a:gsLst>
              <a:gs pos="0">
                <a:srgbClr val="764700"/>
              </a:gs>
              <a:gs pos="5000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53" name="Text Box 42"/>
          <p:cNvSpPr txBox="1">
            <a:spLocks noChangeArrowheads="1"/>
          </p:cNvSpPr>
          <p:nvPr/>
        </p:nvSpPr>
        <p:spPr bwMode="auto">
          <a:xfrm>
            <a:off x="6322102" y="2163771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dirty="0">
                <a:solidFill>
                  <a:schemeClr val="bg1"/>
                </a:solidFill>
              </a:rPr>
              <a:t>_</a:t>
            </a:r>
          </a:p>
        </p:txBody>
      </p:sp>
      <p:sp>
        <p:nvSpPr>
          <p:cNvPr id="54" name="Text Box 43"/>
          <p:cNvSpPr txBox="1">
            <a:spLocks noChangeArrowheads="1"/>
          </p:cNvSpPr>
          <p:nvPr/>
        </p:nvSpPr>
        <p:spPr bwMode="auto">
          <a:xfrm>
            <a:off x="6299877" y="2883851"/>
            <a:ext cx="3305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55" name="Text Box 44"/>
          <p:cNvSpPr txBox="1">
            <a:spLocks noChangeArrowheads="1"/>
          </p:cNvSpPr>
          <p:nvPr/>
        </p:nvSpPr>
        <p:spPr bwMode="auto">
          <a:xfrm>
            <a:off x="6538002" y="2541135"/>
            <a:ext cx="356188" cy="363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 dirty="0">
                <a:solidFill>
                  <a:schemeClr val="bg1"/>
                </a:solidFill>
              </a:rPr>
              <a:t>A</a:t>
            </a:r>
            <a:endParaRPr kumimoji="1" lang="en-US" altLang="zh-CN" sz="2000" dirty="0">
              <a:solidFill>
                <a:schemeClr val="bg1"/>
              </a:solidFill>
            </a:endParaRPr>
          </a:p>
        </p:txBody>
      </p:sp>
      <p:sp>
        <p:nvSpPr>
          <p:cNvPr id="56" name="Line 45"/>
          <p:cNvSpPr>
            <a:spLocks noChangeShapeType="1"/>
          </p:cNvSpPr>
          <p:nvPr/>
        </p:nvSpPr>
        <p:spPr bwMode="auto">
          <a:xfrm>
            <a:off x="6138863" y="1892914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57" name="Line 50"/>
          <p:cNvSpPr>
            <a:spLocks noChangeShapeType="1"/>
          </p:cNvSpPr>
          <p:nvPr/>
        </p:nvSpPr>
        <p:spPr bwMode="auto">
          <a:xfrm flipH="1">
            <a:off x="4878388" y="2432664"/>
            <a:ext cx="485775" cy="0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58" name="Text Box 51"/>
          <p:cNvSpPr txBox="1">
            <a:spLocks noChangeArrowheads="1"/>
          </p:cNvSpPr>
          <p:nvPr/>
        </p:nvSpPr>
        <p:spPr bwMode="auto">
          <a:xfrm flipH="1">
            <a:off x="4999831" y="1994544"/>
            <a:ext cx="72866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i="1" dirty="0">
                <a:ea typeface="仿宋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000" baseline="-25000" dirty="0">
                <a:ea typeface="仿宋_GB2312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9" name="Line 53"/>
          <p:cNvSpPr>
            <a:spLocks noChangeShapeType="1"/>
          </p:cNvSpPr>
          <p:nvPr/>
        </p:nvSpPr>
        <p:spPr bwMode="auto">
          <a:xfrm flipH="1">
            <a:off x="7308850" y="1802426"/>
            <a:ext cx="485775" cy="0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60" name="Text Box 54"/>
          <p:cNvSpPr txBox="1">
            <a:spLocks noChangeArrowheads="1"/>
          </p:cNvSpPr>
          <p:nvPr/>
        </p:nvSpPr>
        <p:spPr bwMode="auto">
          <a:xfrm>
            <a:off x="7424737" y="1372343"/>
            <a:ext cx="72866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i="1" dirty="0">
                <a:ea typeface="仿宋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000" baseline="-25000" dirty="0">
                <a:ea typeface="仿宋_GB2312" pitchFamily="49" charset="-122"/>
                <a:cs typeface="Times New Roman" panose="02020603050405020304" pitchFamily="18" charset="0"/>
              </a:rPr>
              <a:t>2</a:t>
            </a:r>
          </a:p>
        </p:txBody>
      </p:sp>
      <p:grpSp>
        <p:nvGrpSpPr>
          <p:cNvPr id="61" name="Group 60"/>
          <p:cNvGrpSpPr>
            <a:grpSpLocks/>
          </p:cNvGrpSpPr>
          <p:nvPr/>
        </p:nvGrpSpPr>
        <p:grpSpPr bwMode="auto">
          <a:xfrm>
            <a:off x="4968875" y="2837476"/>
            <a:ext cx="400050" cy="157163"/>
            <a:chOff x="1888" y="3082"/>
            <a:chExt cx="252" cy="99"/>
          </a:xfrm>
        </p:grpSpPr>
        <p:sp>
          <p:nvSpPr>
            <p:cNvPr id="62" name="Line 56"/>
            <p:cNvSpPr>
              <a:spLocks noChangeShapeType="1"/>
            </p:cNvSpPr>
            <p:nvPr/>
          </p:nvSpPr>
          <p:spPr bwMode="auto">
            <a:xfrm>
              <a:off x="1888" y="3082"/>
              <a:ext cx="2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3" name="Line 57"/>
            <p:cNvSpPr>
              <a:spLocks noChangeShapeType="1"/>
            </p:cNvSpPr>
            <p:nvPr/>
          </p:nvSpPr>
          <p:spPr bwMode="auto">
            <a:xfrm>
              <a:off x="1938" y="3134"/>
              <a:ext cx="1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4" name="Line 58"/>
            <p:cNvSpPr>
              <a:spLocks noChangeShapeType="1"/>
            </p:cNvSpPr>
            <p:nvPr/>
          </p:nvSpPr>
          <p:spPr bwMode="auto">
            <a:xfrm>
              <a:off x="1974" y="3181"/>
              <a:ext cx="6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sp>
        <p:nvSpPr>
          <p:cNvPr id="65" name="Oval 63"/>
          <p:cNvSpPr>
            <a:spLocks noChangeArrowheads="1"/>
          </p:cNvSpPr>
          <p:nvPr/>
        </p:nvSpPr>
        <p:spPr bwMode="auto">
          <a:xfrm>
            <a:off x="8164513" y="2748576"/>
            <a:ext cx="88900" cy="889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66" name="Line 64"/>
          <p:cNvSpPr>
            <a:spLocks noChangeShapeType="1"/>
          </p:cNvSpPr>
          <p:nvPr/>
        </p:nvSpPr>
        <p:spPr bwMode="auto">
          <a:xfrm>
            <a:off x="6149975" y="3107351"/>
            <a:ext cx="0" cy="1171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67" name="Group 65"/>
          <p:cNvGrpSpPr>
            <a:grpSpLocks/>
          </p:cNvGrpSpPr>
          <p:nvPr/>
        </p:nvGrpSpPr>
        <p:grpSpPr bwMode="auto">
          <a:xfrm>
            <a:off x="5951538" y="4278926"/>
            <a:ext cx="400050" cy="157163"/>
            <a:chOff x="1888" y="3082"/>
            <a:chExt cx="252" cy="99"/>
          </a:xfrm>
        </p:grpSpPr>
        <p:sp>
          <p:nvSpPr>
            <p:cNvPr id="68" name="Line 66"/>
            <p:cNvSpPr>
              <a:spLocks noChangeShapeType="1"/>
            </p:cNvSpPr>
            <p:nvPr/>
          </p:nvSpPr>
          <p:spPr bwMode="auto">
            <a:xfrm>
              <a:off x="1888" y="3082"/>
              <a:ext cx="2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9" name="Line 67"/>
            <p:cNvSpPr>
              <a:spLocks noChangeShapeType="1"/>
            </p:cNvSpPr>
            <p:nvPr/>
          </p:nvSpPr>
          <p:spPr bwMode="auto">
            <a:xfrm>
              <a:off x="1938" y="3134"/>
              <a:ext cx="1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0" name="Line 68"/>
            <p:cNvSpPr>
              <a:spLocks noChangeShapeType="1"/>
            </p:cNvSpPr>
            <p:nvPr/>
          </p:nvSpPr>
          <p:spPr bwMode="auto">
            <a:xfrm>
              <a:off x="1974" y="3181"/>
              <a:ext cx="6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sp>
        <p:nvSpPr>
          <p:cNvPr id="71" name="Oval 14"/>
          <p:cNvSpPr>
            <a:spLocks noChangeArrowheads="1"/>
          </p:cNvSpPr>
          <p:nvPr/>
        </p:nvSpPr>
        <p:spPr bwMode="auto">
          <a:xfrm>
            <a:off x="5862638" y="3378814"/>
            <a:ext cx="576262" cy="576262"/>
          </a:xfrm>
          <a:prstGeom prst="ellipse">
            <a:avLst/>
          </a:prstGeom>
          <a:gradFill rotWithShape="1">
            <a:gsLst>
              <a:gs pos="0">
                <a:srgbClr val="0099FF"/>
              </a:gs>
              <a:gs pos="100000">
                <a:srgbClr val="004776"/>
              </a:gs>
            </a:gsLst>
            <a:path path="shape">
              <a:fillToRect l="50000" t="50000" r="50000" b="50000"/>
            </a:path>
          </a:gradFill>
          <a:ln w="38100">
            <a:solidFill>
              <a:srgbClr val="FF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/>
            <a:endParaRPr lang="zh-CN" altLang="en-US" sz="2000">
              <a:latin typeface="Arial" charset="0"/>
              <a:ea typeface="仿宋_GB2312" pitchFamily="49" charset="-122"/>
            </a:endParaRPr>
          </a:p>
        </p:txBody>
      </p:sp>
      <p:sp>
        <p:nvSpPr>
          <p:cNvPr id="72" name="Text Box 25"/>
          <p:cNvSpPr txBox="1">
            <a:spLocks noChangeArrowheads="1"/>
          </p:cNvSpPr>
          <p:nvPr/>
        </p:nvSpPr>
        <p:spPr bwMode="auto">
          <a:xfrm>
            <a:off x="5984706" y="3347827"/>
            <a:ext cx="3305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827E4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000">
                <a:sym typeface="Symbol" pitchFamily="18" charset="2"/>
              </a:rPr>
              <a:t>+</a:t>
            </a:r>
          </a:p>
        </p:txBody>
      </p:sp>
      <p:sp>
        <p:nvSpPr>
          <p:cNvPr id="73" name="Text Box 26"/>
          <p:cNvSpPr txBox="1">
            <a:spLocks noChangeArrowheads="1"/>
          </p:cNvSpPr>
          <p:nvPr/>
        </p:nvSpPr>
        <p:spPr bwMode="auto">
          <a:xfrm>
            <a:off x="5991101" y="3438315"/>
            <a:ext cx="3365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827E4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000" dirty="0">
                <a:sym typeface="Symbol" pitchFamily="18" charset="2"/>
              </a:rPr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2015004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611188" y="1133475"/>
            <a:ext cx="499586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latin typeface="楷体_GB2312" pitchFamily="49" charset="-122"/>
                <a:ea typeface="楷体_GB2312" pitchFamily="49" charset="-122"/>
              </a:rPr>
              <a:t>同相放大电路的电路模型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2322513" y="2889250"/>
            <a:ext cx="5286047" cy="2476500"/>
            <a:chOff x="2322513" y="2889250"/>
            <a:chExt cx="5286047" cy="2476500"/>
          </a:xfrm>
        </p:grpSpPr>
        <p:sp>
          <p:nvSpPr>
            <p:cNvPr id="3" name="Line 39"/>
            <p:cNvSpPr>
              <a:spLocks noChangeShapeType="1"/>
            </p:cNvSpPr>
            <p:nvPr/>
          </p:nvSpPr>
          <p:spPr bwMode="auto">
            <a:xfrm>
              <a:off x="5021263" y="3114675"/>
              <a:ext cx="0" cy="172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" name="AutoShape 40"/>
            <p:cNvSpPr>
              <a:spLocks noChangeArrowheads="1"/>
            </p:cNvSpPr>
            <p:nvPr/>
          </p:nvSpPr>
          <p:spPr bwMode="auto">
            <a:xfrm>
              <a:off x="4706938" y="3608388"/>
              <a:ext cx="628650" cy="765175"/>
            </a:xfrm>
            <a:prstGeom prst="diamond">
              <a:avLst/>
            </a:prstGeom>
            <a:gradFill rotWithShape="1">
              <a:gsLst>
                <a:gs pos="0">
                  <a:srgbClr val="005E76"/>
                </a:gs>
                <a:gs pos="50000">
                  <a:srgbClr val="00CCFF"/>
                </a:gs>
                <a:gs pos="100000">
                  <a:srgbClr val="005E76"/>
                </a:gs>
              </a:gsLst>
              <a:lin ang="5400000" scaled="1"/>
            </a:gradFill>
            <a:ln w="38100">
              <a:solidFill>
                <a:srgbClr val="FF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5" name="Text Box 42"/>
            <p:cNvSpPr txBox="1">
              <a:spLocks noChangeArrowheads="1"/>
            </p:cNvSpPr>
            <p:nvPr/>
          </p:nvSpPr>
          <p:spPr bwMode="auto">
            <a:xfrm>
              <a:off x="4862343" y="3629789"/>
              <a:ext cx="33053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000">
                  <a:sym typeface="Symbol" pitchFamily="18" charset="2"/>
                </a:rPr>
                <a:t>+</a:t>
              </a:r>
            </a:p>
          </p:txBody>
        </p:sp>
        <p:sp>
          <p:nvSpPr>
            <p:cNvPr id="6" name="Text Box 43"/>
            <p:cNvSpPr txBox="1">
              <a:spLocks noChangeArrowheads="1"/>
            </p:cNvSpPr>
            <p:nvPr/>
          </p:nvSpPr>
          <p:spPr bwMode="auto">
            <a:xfrm>
              <a:off x="6597650" y="2933700"/>
              <a:ext cx="33054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/>
                <a:t>+</a:t>
              </a: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6597650" y="4373563"/>
              <a:ext cx="31290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/>
                <a:t>_</a:t>
              </a:r>
            </a:p>
          </p:txBody>
        </p:sp>
        <p:sp>
          <p:nvSpPr>
            <p:cNvPr id="8" name="Line 46"/>
            <p:cNvSpPr>
              <a:spLocks noChangeShapeType="1"/>
            </p:cNvSpPr>
            <p:nvPr/>
          </p:nvSpPr>
          <p:spPr bwMode="auto">
            <a:xfrm>
              <a:off x="5021263" y="3114675"/>
              <a:ext cx="14398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" name="Rectangle 47"/>
            <p:cNvSpPr>
              <a:spLocks noChangeArrowheads="1"/>
            </p:cNvSpPr>
            <p:nvPr/>
          </p:nvSpPr>
          <p:spPr bwMode="auto">
            <a:xfrm>
              <a:off x="3851275" y="2889250"/>
              <a:ext cx="1584325" cy="2160588"/>
            </a:xfrm>
            <a:prstGeom prst="rect">
              <a:avLst/>
            </a:prstGeom>
            <a:noFill/>
            <a:ln w="28575">
              <a:solidFill>
                <a:srgbClr val="66FFFF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0" name="Line 48"/>
            <p:cNvSpPr>
              <a:spLocks noChangeShapeType="1"/>
            </p:cNvSpPr>
            <p:nvPr/>
          </p:nvSpPr>
          <p:spPr bwMode="auto">
            <a:xfrm>
              <a:off x="4392613" y="5208588"/>
              <a:ext cx="4000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" name="Line 49"/>
            <p:cNvSpPr>
              <a:spLocks noChangeShapeType="1"/>
            </p:cNvSpPr>
            <p:nvPr/>
          </p:nvSpPr>
          <p:spPr bwMode="auto">
            <a:xfrm>
              <a:off x="4471988" y="5291138"/>
              <a:ext cx="2413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2" name="Line 50"/>
            <p:cNvSpPr>
              <a:spLocks noChangeShapeType="1"/>
            </p:cNvSpPr>
            <p:nvPr/>
          </p:nvSpPr>
          <p:spPr bwMode="auto">
            <a:xfrm>
              <a:off x="4529138" y="5365750"/>
              <a:ext cx="1031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3" name="Line 51"/>
            <p:cNvSpPr>
              <a:spLocks noChangeShapeType="1"/>
            </p:cNvSpPr>
            <p:nvPr/>
          </p:nvSpPr>
          <p:spPr bwMode="auto">
            <a:xfrm>
              <a:off x="4572000" y="4824413"/>
              <a:ext cx="0" cy="3603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4" name="Line 52"/>
            <p:cNvSpPr>
              <a:spLocks noChangeShapeType="1"/>
            </p:cNvSpPr>
            <p:nvPr/>
          </p:nvSpPr>
          <p:spPr bwMode="auto">
            <a:xfrm>
              <a:off x="2862263" y="4826000"/>
              <a:ext cx="36004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5" name="Text Box 53"/>
            <p:cNvSpPr txBox="1">
              <a:spLocks noChangeArrowheads="1"/>
            </p:cNvSpPr>
            <p:nvPr/>
          </p:nvSpPr>
          <p:spPr bwMode="auto">
            <a:xfrm>
              <a:off x="2438231" y="3039239"/>
              <a:ext cx="33053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000">
                  <a:sym typeface="Symbol" pitchFamily="18" charset="2"/>
                </a:rPr>
                <a:t>+</a:t>
              </a:r>
            </a:p>
          </p:txBody>
        </p:sp>
        <p:sp>
          <p:nvSpPr>
            <p:cNvPr id="16" name="Text Box 54"/>
            <p:cNvSpPr txBox="1">
              <a:spLocks noChangeArrowheads="1"/>
            </p:cNvSpPr>
            <p:nvPr/>
          </p:nvSpPr>
          <p:spPr bwMode="auto">
            <a:xfrm>
              <a:off x="2411413" y="4455289"/>
              <a:ext cx="33655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000">
                  <a:sym typeface="Symbol" pitchFamily="18" charset="2"/>
                </a:rPr>
                <a:t>_</a:t>
              </a:r>
            </a:p>
          </p:txBody>
        </p:sp>
        <p:sp>
          <p:nvSpPr>
            <p:cNvPr id="17" name="Text Box 55"/>
            <p:cNvSpPr txBox="1">
              <a:spLocks noChangeArrowheads="1"/>
            </p:cNvSpPr>
            <p:nvPr/>
          </p:nvSpPr>
          <p:spPr bwMode="auto">
            <a:xfrm>
              <a:off x="2322513" y="3654425"/>
              <a:ext cx="34657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v</a:t>
              </a:r>
              <a:r>
                <a:rPr kumimoji="1" lang="en-US" altLang="zh-CN" sz="2000" baseline="-25000"/>
                <a:t>i</a:t>
              </a:r>
              <a:endParaRPr kumimoji="1" lang="en-US" altLang="zh-CN" sz="2000"/>
            </a:p>
          </p:txBody>
        </p:sp>
        <p:sp>
          <p:nvSpPr>
            <p:cNvPr id="18" name="Line 57"/>
            <p:cNvSpPr>
              <a:spLocks noChangeShapeType="1"/>
            </p:cNvSpPr>
            <p:nvPr/>
          </p:nvSpPr>
          <p:spPr bwMode="auto">
            <a:xfrm>
              <a:off x="2862263" y="3114675"/>
              <a:ext cx="12239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" name="Text Box 59"/>
            <p:cNvSpPr txBox="1">
              <a:spLocks noChangeArrowheads="1"/>
            </p:cNvSpPr>
            <p:nvPr/>
          </p:nvSpPr>
          <p:spPr bwMode="auto">
            <a:xfrm>
              <a:off x="4854947" y="3796476"/>
              <a:ext cx="33655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000">
                  <a:sym typeface="Symbol" pitchFamily="18" charset="2"/>
                </a:rPr>
                <a:t>_</a:t>
              </a:r>
            </a:p>
          </p:txBody>
        </p:sp>
        <p:sp>
          <p:nvSpPr>
            <p:cNvPr id="20" name="Oval 60"/>
            <p:cNvSpPr>
              <a:spLocks noChangeArrowheads="1"/>
            </p:cNvSpPr>
            <p:nvPr/>
          </p:nvSpPr>
          <p:spPr bwMode="auto">
            <a:xfrm>
              <a:off x="6462713" y="3068638"/>
              <a:ext cx="88900" cy="889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1" name="Oval 61"/>
            <p:cNvSpPr>
              <a:spLocks noChangeArrowheads="1"/>
            </p:cNvSpPr>
            <p:nvPr/>
          </p:nvSpPr>
          <p:spPr bwMode="auto">
            <a:xfrm>
              <a:off x="6462713" y="4778375"/>
              <a:ext cx="88900" cy="889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graphicFrame>
          <p:nvGraphicFramePr>
            <p:cNvPr id="22" name="Object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3674586"/>
                </p:ext>
              </p:extLst>
            </p:nvPr>
          </p:nvGraphicFramePr>
          <p:xfrm>
            <a:off x="5917280" y="3505243"/>
            <a:ext cx="1691280" cy="868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628" name="Equation" r:id="rId3" imgW="939600" imgH="482400" progId="Equation.DSMT4">
                    <p:embed/>
                  </p:oleObj>
                </mc:Choice>
                <mc:Fallback>
                  <p:oleObj name="Equation" r:id="rId3" imgW="939600" imgH="482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17280" y="3505243"/>
                          <a:ext cx="1691280" cy="868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Oval 63"/>
            <p:cNvSpPr>
              <a:spLocks noChangeArrowheads="1"/>
            </p:cNvSpPr>
            <p:nvPr/>
          </p:nvSpPr>
          <p:spPr bwMode="auto">
            <a:xfrm>
              <a:off x="2771775" y="3068638"/>
              <a:ext cx="88900" cy="889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4" name="Oval 64"/>
            <p:cNvSpPr>
              <a:spLocks noChangeArrowheads="1"/>
            </p:cNvSpPr>
            <p:nvPr/>
          </p:nvSpPr>
          <p:spPr bwMode="auto">
            <a:xfrm>
              <a:off x="2771775" y="4778375"/>
              <a:ext cx="88900" cy="889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5" name="Oval 65"/>
            <p:cNvSpPr>
              <a:spLocks noChangeArrowheads="1"/>
            </p:cNvSpPr>
            <p:nvPr/>
          </p:nvSpPr>
          <p:spPr bwMode="auto">
            <a:xfrm>
              <a:off x="4076700" y="3070225"/>
              <a:ext cx="88900" cy="889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3985153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/>
        </p:nvSpPr>
        <p:spPr bwMode="auto">
          <a:xfrm>
            <a:off x="899592" y="1207786"/>
            <a:ext cx="72008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AutoNum type="circleNumDbPlain"/>
            </a:pPr>
            <a:r>
              <a:rPr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根据理想运放的性质，抓住以下两条规则：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ea typeface="楷体_GB2312" pitchFamily="49" charset="-122"/>
                <a:cs typeface="Times New Roman" panose="02020603050405020304" pitchFamily="18" charset="0"/>
              </a:rPr>
              <a:t>(a) </a:t>
            </a:r>
            <a:r>
              <a:rPr lang="zh-CN" altLang="en-US" sz="2000" b="1" dirty="0" smtClean="0">
                <a:ea typeface="楷体_GB2312" pitchFamily="49" charset="-122"/>
                <a:cs typeface="Times New Roman" panose="02020603050405020304" pitchFamily="18" charset="0"/>
              </a:rPr>
              <a:t>反相</a:t>
            </a:r>
            <a:r>
              <a:rPr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端</a:t>
            </a:r>
            <a:r>
              <a:rPr lang="zh-CN" altLang="en-US" sz="2000" b="1" dirty="0" smtClean="0">
                <a:ea typeface="楷体_GB2312" pitchFamily="49" charset="-122"/>
                <a:cs typeface="Times New Roman" panose="02020603050405020304" pitchFamily="18" charset="0"/>
              </a:rPr>
              <a:t>和同相</a:t>
            </a:r>
            <a:r>
              <a:rPr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端的输入电流均为</a:t>
            </a:r>
            <a:r>
              <a:rPr lang="zh-CN" altLang="en-US" sz="2000" b="1" dirty="0" smtClean="0">
                <a:ea typeface="楷体_GB2312" pitchFamily="49" charset="-122"/>
                <a:cs typeface="Times New Roman" panose="02020603050405020304" pitchFamily="18" charset="0"/>
              </a:rPr>
              <a:t>零；</a:t>
            </a:r>
            <a:endParaRPr lang="zh-CN" altLang="en-US" sz="2000" b="1" dirty="0"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000" b="1" dirty="0" smtClean="0">
                <a:ea typeface="楷体_GB2312" pitchFamily="49" charset="-122"/>
                <a:cs typeface="Times New Roman" panose="02020603050405020304" pitchFamily="18" charset="0"/>
              </a:rPr>
              <a:t>      </a:t>
            </a:r>
            <a:r>
              <a:rPr lang="en-US" altLang="zh-CN" sz="2000" b="1" dirty="0" smtClean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[ </a:t>
            </a:r>
            <a:r>
              <a:rPr lang="en-US" altLang="zh-CN" sz="2000" b="1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2000" b="1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虚断（路）”</a:t>
            </a:r>
            <a:r>
              <a:rPr lang="en-US" altLang="zh-CN" sz="2000" b="1" dirty="0" smtClean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]</a:t>
            </a:r>
            <a:endParaRPr lang="zh-CN" altLang="en-US" sz="2000" b="1" dirty="0">
              <a:solidFill>
                <a:srgbClr val="0070C0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ea typeface="楷体_GB2312" pitchFamily="49" charset="-122"/>
                <a:cs typeface="Times New Roman" panose="02020603050405020304" pitchFamily="18" charset="0"/>
              </a:rPr>
              <a:t>(b) </a:t>
            </a:r>
            <a:r>
              <a:rPr lang="zh-CN" altLang="en-US" sz="2000" b="1" dirty="0" smtClean="0">
                <a:ea typeface="楷体_GB2312" pitchFamily="49" charset="-122"/>
                <a:cs typeface="Times New Roman" panose="02020603050405020304" pitchFamily="18" charset="0"/>
              </a:rPr>
              <a:t>对于</a:t>
            </a:r>
            <a:r>
              <a:rPr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公共端（地</a:t>
            </a:r>
            <a:r>
              <a:rPr lang="zh-CN" altLang="en-US" sz="2000" b="1" dirty="0" smtClean="0">
                <a:ea typeface="楷体_GB2312" pitchFamily="49" charset="-122"/>
                <a:cs typeface="Times New Roman" panose="02020603050405020304" pitchFamily="18" charset="0"/>
              </a:rPr>
              <a:t>），反相</a:t>
            </a:r>
            <a:r>
              <a:rPr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输入端的电压</a:t>
            </a:r>
            <a:r>
              <a:rPr lang="zh-CN" altLang="en-US" sz="2000" b="1" dirty="0" smtClean="0">
                <a:ea typeface="楷体_GB2312" pitchFamily="49" charset="-122"/>
                <a:cs typeface="Times New Roman" panose="02020603050405020304" pitchFamily="18" charset="0"/>
              </a:rPr>
              <a:t>与同相</a:t>
            </a:r>
            <a:r>
              <a:rPr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输入端的电压</a:t>
            </a:r>
            <a:r>
              <a:rPr lang="zh-CN" altLang="en-US" sz="2000" b="1" dirty="0" smtClean="0">
                <a:ea typeface="楷体_GB2312" pitchFamily="49" charset="-122"/>
                <a:cs typeface="Times New Roman" panose="02020603050405020304" pitchFamily="18" charset="0"/>
              </a:rPr>
              <a:t>相等。</a:t>
            </a:r>
            <a:endParaRPr lang="zh-CN" altLang="en-US" sz="2000" b="1" dirty="0"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000" b="1" dirty="0" smtClean="0">
                <a:ea typeface="楷体_GB2312" pitchFamily="49" charset="-122"/>
                <a:cs typeface="Times New Roman" panose="02020603050405020304" pitchFamily="18" charset="0"/>
              </a:rPr>
              <a:t>      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[ “</a:t>
            </a:r>
            <a:r>
              <a:rPr lang="zh-CN" altLang="en-US" sz="20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虚短（路）”</a:t>
            </a:r>
            <a:r>
              <a:rPr lang="en-US" altLang="zh-CN" sz="2000" dirty="0">
                <a:solidFill>
                  <a:srgbClr val="0070C0"/>
                </a:solidFill>
                <a:ea typeface="楷体_GB2312" pitchFamily="49" charset="-122"/>
                <a:cs typeface="Times New Roman" panose="02020603050405020304" pitchFamily="18" charset="0"/>
              </a:rPr>
              <a:t>]</a:t>
            </a:r>
            <a:endParaRPr lang="zh-CN" altLang="en-US" sz="2000" dirty="0">
              <a:solidFill>
                <a:srgbClr val="0070C0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10"/>
          <p:cNvSpPr txBox="1">
            <a:spLocks noChangeArrowheads="1"/>
          </p:cNvSpPr>
          <p:nvPr/>
        </p:nvSpPr>
        <p:spPr bwMode="auto">
          <a:xfrm>
            <a:off x="611561" y="620688"/>
            <a:ext cx="28803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运放电路分析方法小结</a:t>
            </a:r>
          </a:p>
        </p:txBody>
      </p:sp>
      <p:sp>
        <p:nvSpPr>
          <p:cNvPr id="4" name="Rectangle 11"/>
          <p:cNvSpPr>
            <a:spLocks noChangeArrowheads="1"/>
          </p:cNvSpPr>
          <p:nvPr/>
        </p:nvSpPr>
        <p:spPr bwMode="auto">
          <a:xfrm>
            <a:off x="899592" y="4437112"/>
            <a:ext cx="70567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FontTx/>
              <a:buAutoNum type="circleNumDbPlain" startAt="2"/>
            </a:pPr>
            <a:r>
              <a:rPr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合理地</a:t>
            </a:r>
            <a:r>
              <a:rPr lang="zh-CN" altLang="en-US" sz="2000" b="1" dirty="0" smtClean="0">
                <a:ea typeface="楷体_GB2312" pitchFamily="49" charset="-122"/>
                <a:cs typeface="Times New Roman" panose="02020603050405020304" pitchFamily="18" charset="0"/>
              </a:rPr>
              <a:t>运用上述两</a:t>
            </a:r>
            <a:r>
              <a:rPr lang="zh-CN" altLang="en-US" sz="2000" b="1" dirty="0">
                <a:ea typeface="楷体_GB2312" pitchFamily="49" charset="-122"/>
                <a:cs typeface="Times New Roman" panose="02020603050405020304" pitchFamily="18" charset="0"/>
              </a:rPr>
              <a:t>条规则，</a:t>
            </a:r>
            <a:r>
              <a:rPr lang="zh-CN" altLang="en-US" sz="2000" b="1" dirty="0" smtClean="0">
                <a:ea typeface="楷体_GB2312" pitchFamily="49" charset="-122"/>
                <a:cs typeface="Times New Roman" panose="02020603050405020304" pitchFamily="18" charset="0"/>
              </a:rPr>
              <a:t>并结合</a:t>
            </a:r>
            <a:r>
              <a:rPr lang="en-US" altLang="zh-CN" sz="2000" b="1" dirty="0" smtClean="0">
                <a:ea typeface="楷体_GB2312" pitchFamily="49" charset="-122"/>
                <a:cs typeface="Times New Roman" panose="02020603050405020304" pitchFamily="18" charset="0"/>
              </a:rPr>
              <a:t>KVL</a:t>
            </a:r>
            <a:r>
              <a:rPr lang="zh-CN" altLang="en-US" sz="2000" b="1" dirty="0" smtClean="0">
                <a:ea typeface="楷体_GB2312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000" b="1" dirty="0" smtClean="0">
                <a:ea typeface="楷体_GB2312" pitchFamily="49" charset="-122"/>
                <a:cs typeface="Times New Roman" panose="02020603050405020304" pitchFamily="18" charset="0"/>
              </a:rPr>
              <a:t>KCL</a:t>
            </a:r>
            <a:r>
              <a:rPr lang="zh-CN" altLang="en-US" sz="2000" b="1" dirty="0" smtClean="0">
                <a:ea typeface="楷体_GB2312" pitchFamily="49" charset="-122"/>
                <a:cs typeface="Times New Roman" panose="02020603050405020304" pitchFamily="18" charset="0"/>
              </a:rPr>
              <a:t>。</a:t>
            </a:r>
            <a:endParaRPr lang="zh-CN" altLang="en-US" sz="2000" b="1" dirty="0"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89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Box 65"/>
          <p:cNvSpPr txBox="1">
            <a:spLocks noChangeArrowheads="1"/>
          </p:cNvSpPr>
          <p:nvPr/>
        </p:nvSpPr>
        <p:spPr bwMode="auto">
          <a:xfrm>
            <a:off x="388938" y="404664"/>
            <a:ext cx="82883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0" hangingPunct="0"/>
            <a:r>
              <a:rPr lang="en-US" altLang="zh-CN" sz="2400" dirty="0" smtClean="0">
                <a:solidFill>
                  <a:srgbClr val="990033"/>
                </a:solidFill>
              </a:rPr>
              <a:t>9.2.2 </a:t>
            </a:r>
            <a:r>
              <a:rPr lang="zh-CN" altLang="en-US" sz="2400" dirty="0" smtClean="0">
                <a:solidFill>
                  <a:srgbClr val="990033"/>
                </a:solidFill>
              </a:rPr>
              <a:t>常用运算放大器应用电路</a:t>
            </a:r>
            <a:endParaRPr lang="en-US" altLang="zh-CN" sz="2400" dirty="0">
              <a:solidFill>
                <a:srgbClr val="990033"/>
              </a:solidFill>
            </a:endParaRPr>
          </a:p>
        </p:txBody>
      </p:sp>
      <p:sp>
        <p:nvSpPr>
          <p:cNvPr id="51" name="Text Box 2"/>
          <p:cNvSpPr txBox="1">
            <a:spLocks noChangeArrowheads="1"/>
          </p:cNvSpPr>
          <p:nvPr/>
        </p:nvSpPr>
        <p:spPr bwMode="auto">
          <a:xfrm>
            <a:off x="958850" y="1503363"/>
            <a:ext cx="24923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dirty="0" smtClean="0">
                <a:solidFill>
                  <a:srgbClr val="0000CC"/>
                </a:solidFill>
              </a:rPr>
              <a:t>1</a:t>
            </a:r>
            <a:r>
              <a:rPr kumimoji="1" lang="zh-CN" altLang="en-US" sz="2000" dirty="0" smtClean="0">
                <a:solidFill>
                  <a:srgbClr val="0000CC"/>
                </a:solidFill>
              </a:rPr>
              <a:t>、加法电路</a:t>
            </a:r>
            <a:endParaRPr kumimoji="1" lang="en-US" altLang="zh-CN" sz="2000" dirty="0">
              <a:solidFill>
                <a:srgbClr val="0000CC"/>
              </a:solidFill>
            </a:endParaRPr>
          </a:p>
        </p:txBody>
      </p:sp>
      <p:sp>
        <p:nvSpPr>
          <p:cNvPr id="52" name="Text Box 3"/>
          <p:cNvSpPr txBox="1">
            <a:spLocks noChangeArrowheads="1"/>
          </p:cNvSpPr>
          <p:nvPr/>
        </p:nvSpPr>
        <p:spPr bwMode="auto">
          <a:xfrm>
            <a:off x="2948917" y="5877272"/>
            <a:ext cx="32816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2000" b="1" dirty="0">
                <a:solidFill>
                  <a:srgbClr val="FF0000"/>
                </a:solidFill>
                <a:ea typeface="楷体_GB2312" pitchFamily="49" charset="-122"/>
              </a:rPr>
              <a:t>反相加权（或权重）加法器</a:t>
            </a:r>
          </a:p>
        </p:txBody>
      </p:sp>
      <p:grpSp>
        <p:nvGrpSpPr>
          <p:cNvPr id="55" name="Group 6"/>
          <p:cNvGrpSpPr>
            <a:grpSpLocks/>
          </p:cNvGrpSpPr>
          <p:nvPr/>
        </p:nvGrpSpPr>
        <p:grpSpPr bwMode="auto">
          <a:xfrm>
            <a:off x="1474698" y="2170863"/>
            <a:ext cx="1806398" cy="917286"/>
            <a:chOff x="3619" y="832"/>
            <a:chExt cx="858" cy="454"/>
          </a:xfrm>
        </p:grpSpPr>
        <p:sp>
          <p:nvSpPr>
            <p:cNvPr id="56" name="Text Box 7"/>
            <p:cNvSpPr txBox="1">
              <a:spLocks noChangeArrowheads="1"/>
            </p:cNvSpPr>
            <p:nvPr/>
          </p:nvSpPr>
          <p:spPr bwMode="auto">
            <a:xfrm>
              <a:off x="3662" y="832"/>
              <a:ext cx="815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v</a:t>
              </a:r>
              <a:r>
                <a:rPr kumimoji="1" lang="en-US" altLang="zh-CN" sz="2000" baseline="-25000" dirty="0">
                  <a:latin typeface="宋体" charset="-122"/>
                </a:rPr>
                <a:t>-</a:t>
              </a:r>
              <a:r>
                <a:rPr kumimoji="1" lang="en-US" altLang="zh-CN" sz="2000" dirty="0"/>
                <a:t>= </a:t>
              </a:r>
              <a:r>
                <a:rPr kumimoji="1" lang="en-US" altLang="zh-CN" sz="2000" i="1" dirty="0"/>
                <a:t>v</a:t>
              </a:r>
              <a:r>
                <a:rPr kumimoji="1" lang="en-US" altLang="zh-CN" sz="2000" baseline="-25000" dirty="0" smtClean="0"/>
                <a:t>+</a:t>
              </a:r>
              <a:r>
                <a:rPr kumimoji="1" lang="en-US" altLang="zh-CN" sz="2000" dirty="0" smtClean="0"/>
                <a:t>= 0</a:t>
              </a:r>
              <a:endParaRPr kumimoji="1" lang="en-US" altLang="zh-CN" sz="2000" dirty="0"/>
            </a:p>
          </p:txBody>
        </p:sp>
        <p:sp>
          <p:nvSpPr>
            <p:cNvPr id="57" name="Text Box 8"/>
            <p:cNvSpPr txBox="1">
              <a:spLocks noChangeArrowheads="1"/>
            </p:cNvSpPr>
            <p:nvPr/>
          </p:nvSpPr>
          <p:spPr bwMode="auto">
            <a:xfrm>
              <a:off x="3667" y="1088"/>
              <a:ext cx="421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 err="1" smtClean="0"/>
                <a:t>i</a:t>
              </a:r>
              <a:r>
                <a:rPr kumimoji="1" lang="en-US" altLang="zh-CN" sz="2000" baseline="-25000" dirty="0" smtClean="0">
                  <a:latin typeface="宋体" charset="-122"/>
                </a:rPr>
                <a:t>- </a:t>
              </a:r>
              <a:r>
                <a:rPr kumimoji="1" lang="en-US" altLang="zh-CN" sz="2000" dirty="0" smtClean="0"/>
                <a:t>= 0</a:t>
              </a:r>
              <a:endParaRPr kumimoji="1" lang="en-US" altLang="zh-CN" sz="2000" dirty="0"/>
            </a:p>
          </p:txBody>
        </p:sp>
        <p:sp>
          <p:nvSpPr>
            <p:cNvPr id="58" name="AutoShape 9"/>
            <p:cNvSpPr>
              <a:spLocks/>
            </p:cNvSpPr>
            <p:nvPr/>
          </p:nvSpPr>
          <p:spPr bwMode="auto">
            <a:xfrm>
              <a:off x="3619" y="905"/>
              <a:ext cx="48" cy="336"/>
            </a:xfrm>
            <a:prstGeom prst="leftBrace">
              <a:avLst>
                <a:gd name="adj1" fmla="val 58333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</p:grpSp>
      <p:sp>
        <p:nvSpPr>
          <p:cNvPr id="59" name="AutoShape 27"/>
          <p:cNvSpPr>
            <a:spLocks noChangeArrowheads="1"/>
          </p:cNvSpPr>
          <p:nvPr/>
        </p:nvSpPr>
        <p:spPr bwMode="auto">
          <a:xfrm>
            <a:off x="1239699" y="5246226"/>
            <a:ext cx="647700" cy="2159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0066FF"/>
          </a:solidFill>
          <a:ln w="9525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grpSp>
        <p:nvGrpSpPr>
          <p:cNvPr id="3" name="组合 2"/>
          <p:cNvGrpSpPr/>
          <p:nvPr/>
        </p:nvGrpSpPr>
        <p:grpSpPr>
          <a:xfrm>
            <a:off x="4260570" y="1814381"/>
            <a:ext cx="4629430" cy="2695707"/>
            <a:chOff x="4260570" y="1814381"/>
            <a:chExt cx="4629430" cy="2695707"/>
          </a:xfrm>
        </p:grpSpPr>
        <p:sp>
          <p:nvSpPr>
            <p:cNvPr id="60" name="Line 36"/>
            <p:cNvSpPr>
              <a:spLocks noChangeShapeType="1"/>
            </p:cNvSpPr>
            <p:nvPr/>
          </p:nvSpPr>
          <p:spPr bwMode="auto">
            <a:xfrm>
              <a:off x="7902575" y="3332609"/>
              <a:ext cx="8794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1" name="Text Box 39"/>
            <p:cNvSpPr txBox="1">
              <a:spLocks noChangeArrowheads="1"/>
            </p:cNvSpPr>
            <p:nvPr/>
          </p:nvSpPr>
          <p:spPr bwMode="auto">
            <a:xfrm>
              <a:off x="8407400" y="3314700"/>
              <a:ext cx="38343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v</a:t>
              </a:r>
              <a:r>
                <a:rPr kumimoji="1" lang="en-US" altLang="zh-CN" sz="2000" baseline="-25000"/>
                <a:t>o</a:t>
              </a:r>
              <a:endParaRPr kumimoji="1" lang="en-US" altLang="zh-CN" sz="2000"/>
            </a:p>
          </p:txBody>
        </p:sp>
        <p:sp>
          <p:nvSpPr>
            <p:cNvPr id="62" name="Line 40"/>
            <p:cNvSpPr>
              <a:spLocks noChangeShapeType="1"/>
            </p:cNvSpPr>
            <p:nvPr/>
          </p:nvSpPr>
          <p:spPr bwMode="auto">
            <a:xfrm flipV="1">
              <a:off x="6380163" y="2320925"/>
              <a:ext cx="2017712" cy="1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3" name="Line 41"/>
            <p:cNvSpPr>
              <a:spLocks noChangeShapeType="1"/>
            </p:cNvSpPr>
            <p:nvPr/>
          </p:nvSpPr>
          <p:spPr bwMode="auto">
            <a:xfrm>
              <a:off x="6380163" y="2312988"/>
              <a:ext cx="0" cy="733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4" name="Line 42"/>
            <p:cNvSpPr>
              <a:spLocks noChangeShapeType="1"/>
            </p:cNvSpPr>
            <p:nvPr/>
          </p:nvSpPr>
          <p:spPr bwMode="auto">
            <a:xfrm>
              <a:off x="8397875" y="2324100"/>
              <a:ext cx="0" cy="10096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5" name="Line 43"/>
            <p:cNvSpPr>
              <a:spLocks noChangeShapeType="1"/>
            </p:cNvSpPr>
            <p:nvPr/>
          </p:nvSpPr>
          <p:spPr bwMode="auto">
            <a:xfrm flipH="1">
              <a:off x="6359525" y="3636963"/>
              <a:ext cx="546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6" name="Text Box 45"/>
            <p:cNvSpPr txBox="1">
              <a:spLocks noChangeArrowheads="1"/>
            </p:cNvSpPr>
            <p:nvPr/>
          </p:nvSpPr>
          <p:spPr bwMode="auto">
            <a:xfrm>
              <a:off x="5013325" y="2562934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2</a:t>
              </a:r>
              <a:endParaRPr kumimoji="1" lang="en-US" altLang="zh-CN" sz="2000" i="1" dirty="0"/>
            </a:p>
          </p:txBody>
        </p:sp>
        <p:sp>
          <p:nvSpPr>
            <p:cNvPr id="67" name="Text Box 46"/>
            <p:cNvSpPr txBox="1">
              <a:spLocks noChangeArrowheads="1"/>
            </p:cNvSpPr>
            <p:nvPr/>
          </p:nvSpPr>
          <p:spPr bwMode="auto">
            <a:xfrm>
              <a:off x="7216116" y="1814381"/>
              <a:ext cx="41389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 err="1"/>
                <a:t>R</a:t>
              </a:r>
              <a:r>
                <a:rPr kumimoji="1" lang="en-US" altLang="zh-CN" sz="2000" baseline="-25000" dirty="0" err="1"/>
                <a:t>f</a:t>
              </a:r>
              <a:endParaRPr kumimoji="1" lang="en-US" altLang="zh-CN" sz="2000" i="1" dirty="0"/>
            </a:p>
          </p:txBody>
        </p:sp>
        <p:sp>
          <p:nvSpPr>
            <p:cNvPr id="68" name="Line 47"/>
            <p:cNvSpPr>
              <a:spLocks noChangeShapeType="1"/>
            </p:cNvSpPr>
            <p:nvPr/>
          </p:nvSpPr>
          <p:spPr bwMode="auto">
            <a:xfrm>
              <a:off x="4745038" y="3046413"/>
              <a:ext cx="21701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9" name="Text Box 48"/>
            <p:cNvSpPr txBox="1">
              <a:spLocks noChangeArrowheads="1"/>
            </p:cNvSpPr>
            <p:nvPr/>
          </p:nvSpPr>
          <p:spPr bwMode="auto">
            <a:xfrm>
              <a:off x="6489700" y="2524834"/>
              <a:ext cx="34176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 err="1"/>
                <a:t>i</a:t>
              </a:r>
              <a:r>
                <a:rPr kumimoji="1" lang="en-US" altLang="zh-CN" sz="2000" baseline="-25000" dirty="0">
                  <a:latin typeface="宋体" charset="-122"/>
                </a:rPr>
                <a:t>-</a:t>
              </a:r>
            </a:p>
          </p:txBody>
        </p:sp>
        <p:sp>
          <p:nvSpPr>
            <p:cNvPr id="70" name="Text Box 49"/>
            <p:cNvSpPr txBox="1">
              <a:spLocks noChangeArrowheads="1"/>
            </p:cNvSpPr>
            <p:nvPr/>
          </p:nvSpPr>
          <p:spPr bwMode="auto">
            <a:xfrm>
              <a:off x="6388100" y="3538538"/>
              <a:ext cx="66675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v</a:t>
              </a:r>
              <a:r>
                <a:rPr kumimoji="1" lang="en-US" altLang="zh-CN" sz="2000" baseline="-25000" dirty="0"/>
                <a:t>+</a:t>
              </a:r>
            </a:p>
          </p:txBody>
        </p:sp>
        <p:sp>
          <p:nvSpPr>
            <p:cNvPr id="71" name="Text Box 50"/>
            <p:cNvSpPr txBox="1">
              <a:spLocks noChangeArrowheads="1"/>
            </p:cNvSpPr>
            <p:nvPr/>
          </p:nvSpPr>
          <p:spPr bwMode="auto">
            <a:xfrm>
              <a:off x="6362700" y="2973388"/>
              <a:ext cx="595313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v</a:t>
              </a:r>
              <a:r>
                <a:rPr kumimoji="1" lang="en-US" altLang="zh-CN" sz="2000" baseline="-25000">
                  <a:latin typeface="宋体" charset="-122"/>
                </a:rPr>
                <a:t>-</a:t>
              </a:r>
            </a:p>
          </p:txBody>
        </p:sp>
        <p:sp>
          <p:nvSpPr>
            <p:cNvPr id="72" name="Line 51"/>
            <p:cNvSpPr>
              <a:spLocks noChangeShapeType="1"/>
            </p:cNvSpPr>
            <p:nvPr/>
          </p:nvSpPr>
          <p:spPr bwMode="auto">
            <a:xfrm>
              <a:off x="6464300" y="2913063"/>
              <a:ext cx="419100" cy="0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3" name="Line 52"/>
            <p:cNvSpPr>
              <a:spLocks noChangeShapeType="1"/>
            </p:cNvSpPr>
            <p:nvPr/>
          </p:nvSpPr>
          <p:spPr bwMode="auto">
            <a:xfrm>
              <a:off x="4733925" y="3617913"/>
              <a:ext cx="11223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4" name="Line 53"/>
            <p:cNvSpPr>
              <a:spLocks noChangeShapeType="1"/>
            </p:cNvSpPr>
            <p:nvPr/>
          </p:nvSpPr>
          <p:spPr bwMode="auto">
            <a:xfrm>
              <a:off x="4724400" y="2463800"/>
              <a:ext cx="11525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5" name="Text Box 54"/>
            <p:cNvSpPr txBox="1">
              <a:spLocks noChangeArrowheads="1"/>
            </p:cNvSpPr>
            <p:nvPr/>
          </p:nvSpPr>
          <p:spPr bwMode="auto">
            <a:xfrm>
              <a:off x="5057775" y="1992203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1</a:t>
              </a:r>
              <a:endParaRPr kumimoji="1" lang="en-US" altLang="zh-CN" sz="2000" i="1" dirty="0"/>
            </a:p>
          </p:txBody>
        </p:sp>
        <p:sp>
          <p:nvSpPr>
            <p:cNvPr id="76" name="Text Box 55"/>
            <p:cNvSpPr txBox="1">
              <a:spLocks noChangeArrowheads="1"/>
            </p:cNvSpPr>
            <p:nvPr/>
          </p:nvSpPr>
          <p:spPr bwMode="auto">
            <a:xfrm>
              <a:off x="5023029" y="3143532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3</a:t>
              </a:r>
              <a:endParaRPr kumimoji="1" lang="en-US" altLang="zh-CN" sz="2000" i="1" dirty="0"/>
            </a:p>
          </p:txBody>
        </p:sp>
        <p:sp>
          <p:nvSpPr>
            <p:cNvPr id="77" name="Text Box 56"/>
            <p:cNvSpPr txBox="1">
              <a:spLocks noChangeArrowheads="1"/>
            </p:cNvSpPr>
            <p:nvPr/>
          </p:nvSpPr>
          <p:spPr bwMode="auto">
            <a:xfrm>
              <a:off x="4260570" y="2204864"/>
              <a:ext cx="38343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v</a:t>
              </a:r>
              <a:r>
                <a:rPr kumimoji="1" lang="en-US" altLang="zh-CN" sz="2000" baseline="-25000"/>
                <a:t>1</a:t>
              </a:r>
            </a:p>
          </p:txBody>
        </p:sp>
        <p:sp>
          <p:nvSpPr>
            <p:cNvPr id="78" name="Text Box 57"/>
            <p:cNvSpPr txBox="1">
              <a:spLocks noChangeArrowheads="1"/>
            </p:cNvSpPr>
            <p:nvPr/>
          </p:nvSpPr>
          <p:spPr bwMode="auto">
            <a:xfrm>
              <a:off x="4260570" y="2795414"/>
              <a:ext cx="38343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v</a:t>
              </a:r>
              <a:r>
                <a:rPr kumimoji="1" lang="en-US" altLang="zh-CN" sz="2000" baseline="-25000"/>
                <a:t>2</a:t>
              </a:r>
            </a:p>
          </p:txBody>
        </p:sp>
        <p:sp>
          <p:nvSpPr>
            <p:cNvPr id="79" name="Text Box 58"/>
            <p:cNvSpPr txBox="1">
              <a:spLocks noChangeArrowheads="1"/>
            </p:cNvSpPr>
            <p:nvPr/>
          </p:nvSpPr>
          <p:spPr bwMode="auto">
            <a:xfrm>
              <a:off x="4260570" y="3347864"/>
              <a:ext cx="38343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v</a:t>
              </a:r>
              <a:r>
                <a:rPr kumimoji="1" lang="en-US" altLang="zh-CN" sz="2000" baseline="-25000"/>
                <a:t>3</a:t>
              </a:r>
            </a:p>
          </p:txBody>
        </p:sp>
        <p:sp>
          <p:nvSpPr>
            <p:cNvPr id="80" name="Line 59"/>
            <p:cNvSpPr>
              <a:spLocks noChangeShapeType="1"/>
            </p:cNvSpPr>
            <p:nvPr/>
          </p:nvSpPr>
          <p:spPr bwMode="auto">
            <a:xfrm>
              <a:off x="5856288" y="2446338"/>
              <a:ext cx="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1" name="Line 60"/>
            <p:cNvSpPr>
              <a:spLocks noChangeShapeType="1"/>
            </p:cNvSpPr>
            <p:nvPr/>
          </p:nvSpPr>
          <p:spPr bwMode="auto">
            <a:xfrm>
              <a:off x="5856288" y="3046413"/>
              <a:ext cx="0" cy="5715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82" name="Group 61"/>
            <p:cNvGrpSpPr>
              <a:grpSpLocks/>
            </p:cNvGrpSpPr>
            <p:nvPr/>
          </p:nvGrpSpPr>
          <p:grpSpPr bwMode="auto">
            <a:xfrm>
              <a:off x="6129338" y="4319588"/>
              <a:ext cx="455612" cy="190500"/>
              <a:chOff x="720" y="1824"/>
              <a:chExt cx="261" cy="120"/>
            </a:xfrm>
          </p:grpSpPr>
          <p:sp>
            <p:nvSpPr>
              <p:cNvPr id="83" name="Line 62"/>
              <p:cNvSpPr>
                <a:spLocks noChangeShapeType="1"/>
              </p:cNvSpPr>
              <p:nvPr/>
            </p:nvSpPr>
            <p:spPr bwMode="auto">
              <a:xfrm>
                <a:off x="720" y="1824"/>
                <a:ext cx="26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Line 63"/>
              <p:cNvSpPr>
                <a:spLocks noChangeShapeType="1"/>
              </p:cNvSpPr>
              <p:nvPr/>
            </p:nvSpPr>
            <p:spPr bwMode="auto">
              <a:xfrm>
                <a:off x="778" y="1883"/>
                <a:ext cx="14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Line 64"/>
              <p:cNvSpPr>
                <a:spLocks noChangeShapeType="1"/>
              </p:cNvSpPr>
              <p:nvPr/>
            </p:nvSpPr>
            <p:spPr bwMode="auto">
              <a:xfrm>
                <a:off x="802" y="1944"/>
                <a:ext cx="8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6" name="Line 65"/>
            <p:cNvSpPr>
              <a:spLocks noChangeShapeType="1"/>
            </p:cNvSpPr>
            <p:nvPr/>
          </p:nvSpPr>
          <p:spPr bwMode="auto">
            <a:xfrm>
              <a:off x="6343650" y="3629025"/>
              <a:ext cx="0" cy="6794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7" name="Oval 66"/>
            <p:cNvSpPr>
              <a:spLocks noChangeArrowheads="1"/>
            </p:cNvSpPr>
            <p:nvPr/>
          </p:nvSpPr>
          <p:spPr bwMode="auto">
            <a:xfrm>
              <a:off x="4614112" y="2409450"/>
              <a:ext cx="117475" cy="1079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88" name="Oval 67"/>
            <p:cNvSpPr>
              <a:spLocks noChangeArrowheads="1"/>
            </p:cNvSpPr>
            <p:nvPr/>
          </p:nvSpPr>
          <p:spPr bwMode="auto">
            <a:xfrm>
              <a:off x="4640263" y="2989263"/>
              <a:ext cx="117475" cy="1079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89" name="Oval 68"/>
            <p:cNvSpPr>
              <a:spLocks noChangeArrowheads="1"/>
            </p:cNvSpPr>
            <p:nvPr/>
          </p:nvSpPr>
          <p:spPr bwMode="auto">
            <a:xfrm>
              <a:off x="4620837" y="3569076"/>
              <a:ext cx="119063" cy="1079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90" name="Oval 70"/>
            <p:cNvSpPr>
              <a:spLocks noChangeArrowheads="1"/>
            </p:cNvSpPr>
            <p:nvPr/>
          </p:nvSpPr>
          <p:spPr bwMode="auto">
            <a:xfrm>
              <a:off x="8772525" y="3275013"/>
              <a:ext cx="117475" cy="1079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91" name="Rectangle 79"/>
            <p:cNvSpPr>
              <a:spLocks noChangeArrowheads="1"/>
            </p:cNvSpPr>
            <p:nvPr/>
          </p:nvSpPr>
          <p:spPr bwMode="auto">
            <a:xfrm>
              <a:off x="5013325" y="3519488"/>
              <a:ext cx="503238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92" name="Rectangle 80"/>
            <p:cNvSpPr>
              <a:spLocks noChangeArrowheads="1"/>
            </p:cNvSpPr>
            <p:nvPr/>
          </p:nvSpPr>
          <p:spPr bwMode="auto">
            <a:xfrm>
              <a:off x="5013325" y="2940050"/>
              <a:ext cx="503238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93" name="Rectangle 81"/>
            <p:cNvSpPr>
              <a:spLocks noChangeArrowheads="1"/>
            </p:cNvSpPr>
            <p:nvPr/>
          </p:nvSpPr>
          <p:spPr bwMode="auto">
            <a:xfrm>
              <a:off x="5013325" y="2368550"/>
              <a:ext cx="503238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94" name="Rectangle 82"/>
            <p:cNvSpPr>
              <a:spLocks noChangeArrowheads="1"/>
            </p:cNvSpPr>
            <p:nvPr/>
          </p:nvSpPr>
          <p:spPr bwMode="auto">
            <a:xfrm>
              <a:off x="7173913" y="2214491"/>
              <a:ext cx="503237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95" name="AutoShape 88"/>
            <p:cNvSpPr>
              <a:spLocks noChangeArrowheads="1"/>
            </p:cNvSpPr>
            <p:nvPr/>
          </p:nvSpPr>
          <p:spPr bwMode="auto">
            <a:xfrm rot="5400000">
              <a:off x="6911975" y="2817813"/>
              <a:ext cx="1035050" cy="1035050"/>
            </a:xfrm>
            <a:prstGeom prst="triangle">
              <a:avLst>
                <a:gd name="adj" fmla="val 51023"/>
              </a:avLst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96" name="Text Box 89"/>
            <p:cNvSpPr txBox="1">
              <a:spLocks noChangeArrowheads="1"/>
            </p:cNvSpPr>
            <p:nvPr/>
          </p:nvSpPr>
          <p:spPr bwMode="auto">
            <a:xfrm>
              <a:off x="6888163" y="3460938"/>
              <a:ext cx="33054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solidFill>
                    <a:schemeClr val="bg1"/>
                  </a:solidFill>
                </a:rPr>
                <a:t>+</a:t>
              </a:r>
            </a:p>
          </p:txBody>
        </p:sp>
        <p:sp>
          <p:nvSpPr>
            <p:cNvPr id="97" name="Text Box 90"/>
            <p:cNvSpPr txBox="1">
              <a:spLocks noChangeArrowheads="1"/>
            </p:cNvSpPr>
            <p:nvPr/>
          </p:nvSpPr>
          <p:spPr bwMode="auto">
            <a:xfrm>
              <a:off x="7137400" y="3146613"/>
              <a:ext cx="35618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>
                  <a:solidFill>
                    <a:schemeClr val="bg1"/>
                  </a:solidFill>
                </a:rPr>
                <a:t>A</a:t>
              </a:r>
              <a:endParaRPr kumimoji="1" lang="en-US" altLang="zh-CN" sz="2000">
                <a:solidFill>
                  <a:schemeClr val="bg1"/>
                </a:solidFill>
              </a:endParaRPr>
            </a:p>
          </p:txBody>
        </p:sp>
        <p:sp>
          <p:nvSpPr>
            <p:cNvPr id="98" name="Text Box 91"/>
            <p:cNvSpPr txBox="1">
              <a:spLocks noChangeArrowheads="1"/>
            </p:cNvSpPr>
            <p:nvPr/>
          </p:nvSpPr>
          <p:spPr bwMode="auto">
            <a:xfrm>
              <a:off x="6911975" y="2697350"/>
              <a:ext cx="31290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solidFill>
                    <a:schemeClr val="bg1"/>
                  </a:solidFill>
                </a:rPr>
                <a:t>_</a:t>
              </a:r>
            </a:p>
          </p:txBody>
        </p:sp>
      </p:grpSp>
      <p:sp>
        <p:nvSpPr>
          <p:cNvPr id="99" name="Text Box 94"/>
          <p:cNvSpPr txBox="1">
            <a:spLocks noChangeArrowheads="1"/>
          </p:cNvSpPr>
          <p:nvPr/>
        </p:nvSpPr>
        <p:spPr bwMode="auto">
          <a:xfrm>
            <a:off x="700087" y="980728"/>
            <a:ext cx="60213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 smtClean="0">
                <a:solidFill>
                  <a:srgbClr val="990033"/>
                </a:solidFill>
                <a:ea typeface="楷体_GB2312" pitchFamily="49" charset="-122"/>
              </a:rPr>
              <a:t>一</a:t>
            </a:r>
            <a:r>
              <a:rPr lang="zh-CN" altLang="en-US" dirty="0">
                <a:solidFill>
                  <a:srgbClr val="990033"/>
                </a:solidFill>
                <a:ea typeface="楷体_GB2312" pitchFamily="49" charset="-122"/>
              </a:rPr>
              <a:t>、运算放大器</a:t>
            </a:r>
            <a:r>
              <a:rPr lang="zh-CN" altLang="en-US" dirty="0" smtClean="0">
                <a:solidFill>
                  <a:srgbClr val="990033"/>
                </a:solidFill>
                <a:ea typeface="楷体_GB2312" pitchFamily="49" charset="-122"/>
              </a:rPr>
              <a:t>的线性应用</a:t>
            </a:r>
            <a:endParaRPr lang="zh-CN" altLang="en-US" dirty="0">
              <a:solidFill>
                <a:srgbClr val="990033"/>
              </a:solidFill>
              <a:ea typeface="楷体_GB2312" pitchFamily="49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7359748"/>
              </p:ext>
            </p:extLst>
          </p:nvPr>
        </p:nvGraphicFramePr>
        <p:xfrm>
          <a:off x="1384300" y="3938588"/>
          <a:ext cx="2490788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76" name="Equation" r:id="rId3" imgW="1384200" imgH="444240" progId="Equation.DSMT4">
                  <p:embed/>
                </p:oleObj>
              </mc:Choice>
              <mc:Fallback>
                <p:oleObj name="Equation" r:id="rId3" imgW="13842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84300" y="3938588"/>
                        <a:ext cx="2490788" cy="798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对象 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2006935"/>
              </p:ext>
            </p:extLst>
          </p:nvPr>
        </p:nvGraphicFramePr>
        <p:xfrm>
          <a:off x="2084199" y="4920016"/>
          <a:ext cx="3337200" cy="868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77" name="Equation" r:id="rId5" imgW="1854000" imgH="482400" progId="Equation.DSMT4">
                  <p:embed/>
                </p:oleObj>
              </mc:Choice>
              <mc:Fallback>
                <p:oleObj name="Equation" r:id="rId5" imgW="185400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84199" y="4920016"/>
                        <a:ext cx="3337200" cy="868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2313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59" grpId="0" animBg="1"/>
      <p:bldP spid="9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17028" y="484101"/>
            <a:ext cx="32816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2000" b="1" dirty="0">
                <a:ea typeface="楷体_GB2312" pitchFamily="49" charset="-122"/>
              </a:rPr>
              <a:t>同相加权（或权重）加法器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3579813" y="980728"/>
            <a:ext cx="5310187" cy="3229325"/>
            <a:chOff x="3579813" y="980728"/>
            <a:chExt cx="5310187" cy="3229325"/>
          </a:xfrm>
        </p:grpSpPr>
        <p:sp>
          <p:nvSpPr>
            <p:cNvPr id="3" name="Line 36"/>
            <p:cNvSpPr>
              <a:spLocks noChangeShapeType="1"/>
            </p:cNvSpPr>
            <p:nvPr/>
          </p:nvSpPr>
          <p:spPr bwMode="auto">
            <a:xfrm>
              <a:off x="7902575" y="2516339"/>
              <a:ext cx="8794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" name="Text Box 39"/>
            <p:cNvSpPr txBox="1">
              <a:spLocks noChangeArrowheads="1"/>
            </p:cNvSpPr>
            <p:nvPr/>
          </p:nvSpPr>
          <p:spPr bwMode="auto">
            <a:xfrm>
              <a:off x="8407400" y="2489203"/>
              <a:ext cx="38343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v</a:t>
              </a:r>
              <a:r>
                <a:rPr kumimoji="1" lang="en-US" altLang="zh-CN" sz="2000" baseline="-25000"/>
                <a:t>o</a:t>
              </a:r>
              <a:endParaRPr kumimoji="1" lang="en-US" altLang="zh-CN" sz="2000"/>
            </a:p>
          </p:txBody>
        </p:sp>
        <p:sp>
          <p:nvSpPr>
            <p:cNvPr id="5" name="Line 40"/>
            <p:cNvSpPr>
              <a:spLocks noChangeShapeType="1"/>
            </p:cNvSpPr>
            <p:nvPr/>
          </p:nvSpPr>
          <p:spPr bwMode="auto">
            <a:xfrm flipV="1">
              <a:off x="3806825" y="1495428"/>
              <a:ext cx="45910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" name="Line 41"/>
            <p:cNvSpPr>
              <a:spLocks noChangeShapeType="1"/>
            </p:cNvSpPr>
            <p:nvPr/>
          </p:nvSpPr>
          <p:spPr bwMode="auto">
            <a:xfrm>
              <a:off x="6380163" y="1487490"/>
              <a:ext cx="0" cy="733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" name="Line 42"/>
            <p:cNvSpPr>
              <a:spLocks noChangeShapeType="1"/>
            </p:cNvSpPr>
            <p:nvPr/>
          </p:nvSpPr>
          <p:spPr bwMode="auto">
            <a:xfrm>
              <a:off x="8397875" y="1498603"/>
              <a:ext cx="0" cy="10096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" name="Line 43"/>
            <p:cNvSpPr>
              <a:spLocks noChangeShapeType="1"/>
            </p:cNvSpPr>
            <p:nvPr/>
          </p:nvSpPr>
          <p:spPr bwMode="auto">
            <a:xfrm flipH="1" flipV="1">
              <a:off x="4562475" y="2803528"/>
              <a:ext cx="2343150" cy="79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" name="Text Box 45"/>
            <p:cNvSpPr txBox="1">
              <a:spLocks noChangeArrowheads="1"/>
            </p:cNvSpPr>
            <p:nvPr/>
          </p:nvSpPr>
          <p:spPr bwMode="auto">
            <a:xfrm>
              <a:off x="4818063" y="2290705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2</a:t>
              </a:r>
              <a:endParaRPr kumimoji="1" lang="en-US" altLang="zh-CN" sz="2000" i="1" dirty="0"/>
            </a:p>
          </p:txBody>
        </p:sp>
        <p:sp>
          <p:nvSpPr>
            <p:cNvPr id="10" name="Text Box 46"/>
            <p:cNvSpPr txBox="1">
              <a:spLocks noChangeArrowheads="1"/>
            </p:cNvSpPr>
            <p:nvPr/>
          </p:nvSpPr>
          <p:spPr bwMode="auto">
            <a:xfrm>
              <a:off x="7190376" y="980728"/>
              <a:ext cx="42832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 err="1"/>
                <a:t>R</a:t>
              </a:r>
              <a:r>
                <a:rPr kumimoji="1" lang="en-US" altLang="zh-CN" sz="2000" i="1" baseline="-25000" dirty="0" err="1"/>
                <a:t>f</a:t>
              </a:r>
              <a:endParaRPr kumimoji="1" lang="en-US" altLang="zh-CN" sz="2000" i="1" dirty="0"/>
            </a:p>
          </p:txBody>
        </p:sp>
        <p:sp>
          <p:nvSpPr>
            <p:cNvPr id="11" name="Line 47"/>
            <p:cNvSpPr>
              <a:spLocks noChangeShapeType="1"/>
            </p:cNvSpPr>
            <p:nvPr/>
          </p:nvSpPr>
          <p:spPr bwMode="auto">
            <a:xfrm>
              <a:off x="6372199" y="2217740"/>
              <a:ext cx="585813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2" name="Text Box 48"/>
            <p:cNvSpPr txBox="1">
              <a:spLocks noChangeArrowheads="1"/>
            </p:cNvSpPr>
            <p:nvPr/>
          </p:nvSpPr>
          <p:spPr bwMode="auto">
            <a:xfrm>
              <a:off x="6489700" y="1681136"/>
              <a:ext cx="34176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 err="1"/>
                <a:t>i</a:t>
              </a:r>
              <a:r>
                <a:rPr kumimoji="1" lang="en-US" altLang="zh-CN" sz="2000" baseline="-25000" dirty="0">
                  <a:latin typeface="宋体" charset="-122"/>
                </a:rPr>
                <a:t>-</a:t>
              </a:r>
            </a:p>
          </p:txBody>
        </p:sp>
        <p:sp>
          <p:nvSpPr>
            <p:cNvPr id="13" name="Text Box 49"/>
            <p:cNvSpPr txBox="1">
              <a:spLocks noChangeArrowheads="1"/>
            </p:cNvSpPr>
            <p:nvPr/>
          </p:nvSpPr>
          <p:spPr bwMode="auto">
            <a:xfrm>
              <a:off x="6388100" y="2713040"/>
              <a:ext cx="66675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v</a:t>
              </a:r>
              <a:r>
                <a:rPr kumimoji="1" lang="en-US" altLang="zh-CN" sz="2000" baseline="-25000"/>
                <a:t>+</a:t>
              </a:r>
            </a:p>
          </p:txBody>
        </p:sp>
        <p:sp>
          <p:nvSpPr>
            <p:cNvPr id="14" name="Text Box 50"/>
            <p:cNvSpPr txBox="1">
              <a:spLocks noChangeArrowheads="1"/>
            </p:cNvSpPr>
            <p:nvPr/>
          </p:nvSpPr>
          <p:spPr bwMode="auto">
            <a:xfrm>
              <a:off x="6362700" y="2147890"/>
              <a:ext cx="595313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v</a:t>
              </a:r>
              <a:r>
                <a:rPr kumimoji="1" lang="en-US" altLang="zh-CN" sz="2000" baseline="-25000" dirty="0">
                  <a:latin typeface="宋体" charset="-122"/>
                </a:rPr>
                <a:t>-</a:t>
              </a:r>
            </a:p>
          </p:txBody>
        </p:sp>
        <p:sp>
          <p:nvSpPr>
            <p:cNvPr id="15" name="Line 51"/>
            <p:cNvSpPr>
              <a:spLocks noChangeShapeType="1"/>
            </p:cNvSpPr>
            <p:nvPr/>
          </p:nvSpPr>
          <p:spPr bwMode="auto">
            <a:xfrm>
              <a:off x="6464300" y="2087565"/>
              <a:ext cx="419100" cy="0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6" name="Line 52"/>
            <p:cNvSpPr>
              <a:spLocks noChangeShapeType="1"/>
            </p:cNvSpPr>
            <p:nvPr/>
          </p:nvSpPr>
          <p:spPr bwMode="auto">
            <a:xfrm>
              <a:off x="4538663" y="3378203"/>
              <a:ext cx="11223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7" name="Line 53"/>
            <p:cNvSpPr>
              <a:spLocks noChangeShapeType="1"/>
            </p:cNvSpPr>
            <p:nvPr/>
          </p:nvSpPr>
          <p:spPr bwMode="auto">
            <a:xfrm>
              <a:off x="4529138" y="2224090"/>
              <a:ext cx="11525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8" name="Text Box 54"/>
            <p:cNvSpPr txBox="1">
              <a:spLocks noChangeArrowheads="1"/>
            </p:cNvSpPr>
            <p:nvPr/>
          </p:nvSpPr>
          <p:spPr bwMode="auto">
            <a:xfrm>
              <a:off x="4856143" y="1723050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1</a:t>
              </a:r>
              <a:endParaRPr kumimoji="1" lang="en-US" altLang="zh-CN" sz="2000" i="1" dirty="0"/>
            </a:p>
          </p:txBody>
        </p:sp>
        <p:sp>
          <p:nvSpPr>
            <p:cNvPr id="19" name="Text Box 55"/>
            <p:cNvSpPr txBox="1">
              <a:spLocks noChangeArrowheads="1"/>
            </p:cNvSpPr>
            <p:nvPr/>
          </p:nvSpPr>
          <p:spPr bwMode="auto">
            <a:xfrm>
              <a:off x="4848225" y="2881316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3</a:t>
              </a:r>
              <a:endParaRPr kumimoji="1" lang="en-US" altLang="zh-CN" sz="2000" i="1" dirty="0"/>
            </a:p>
          </p:txBody>
        </p:sp>
        <p:sp>
          <p:nvSpPr>
            <p:cNvPr id="20" name="Text Box 56"/>
            <p:cNvSpPr txBox="1">
              <a:spLocks noChangeArrowheads="1"/>
            </p:cNvSpPr>
            <p:nvPr/>
          </p:nvSpPr>
          <p:spPr bwMode="auto">
            <a:xfrm>
              <a:off x="4067944" y="1981341"/>
              <a:ext cx="38343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v</a:t>
              </a:r>
              <a:r>
                <a:rPr kumimoji="1" lang="en-US" altLang="zh-CN" sz="2000" baseline="-25000" dirty="0"/>
                <a:t>1</a:t>
              </a:r>
            </a:p>
          </p:txBody>
        </p:sp>
        <p:sp>
          <p:nvSpPr>
            <p:cNvPr id="21" name="Text Box 57"/>
            <p:cNvSpPr txBox="1">
              <a:spLocks noChangeArrowheads="1"/>
            </p:cNvSpPr>
            <p:nvPr/>
          </p:nvSpPr>
          <p:spPr bwMode="auto">
            <a:xfrm>
              <a:off x="4067944" y="2571891"/>
              <a:ext cx="38343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v</a:t>
              </a:r>
              <a:r>
                <a:rPr kumimoji="1" lang="en-US" altLang="zh-CN" sz="2000" baseline="-25000"/>
                <a:t>2</a:t>
              </a:r>
            </a:p>
          </p:txBody>
        </p:sp>
        <p:sp>
          <p:nvSpPr>
            <p:cNvPr id="22" name="Text Box 58"/>
            <p:cNvSpPr txBox="1">
              <a:spLocks noChangeArrowheads="1"/>
            </p:cNvSpPr>
            <p:nvPr/>
          </p:nvSpPr>
          <p:spPr bwMode="auto">
            <a:xfrm>
              <a:off x="4067944" y="3124341"/>
              <a:ext cx="38343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v</a:t>
              </a:r>
              <a:r>
                <a:rPr kumimoji="1" lang="en-US" altLang="zh-CN" sz="2000" baseline="-25000"/>
                <a:t>3</a:t>
              </a:r>
            </a:p>
          </p:txBody>
        </p:sp>
        <p:sp>
          <p:nvSpPr>
            <p:cNvPr id="23" name="Line 59"/>
            <p:cNvSpPr>
              <a:spLocks noChangeShapeType="1"/>
            </p:cNvSpPr>
            <p:nvPr/>
          </p:nvSpPr>
          <p:spPr bwMode="auto">
            <a:xfrm>
              <a:off x="5661025" y="2206628"/>
              <a:ext cx="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4" name="Line 60"/>
            <p:cNvSpPr>
              <a:spLocks noChangeShapeType="1"/>
            </p:cNvSpPr>
            <p:nvPr/>
          </p:nvSpPr>
          <p:spPr bwMode="auto">
            <a:xfrm>
              <a:off x="5661025" y="2806703"/>
              <a:ext cx="0" cy="5715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25" name="Group 61"/>
            <p:cNvGrpSpPr>
              <a:grpSpLocks/>
            </p:cNvGrpSpPr>
            <p:nvPr/>
          </p:nvGrpSpPr>
          <p:grpSpPr bwMode="auto">
            <a:xfrm>
              <a:off x="6102350" y="4019553"/>
              <a:ext cx="455613" cy="190500"/>
              <a:chOff x="720" y="1824"/>
              <a:chExt cx="261" cy="120"/>
            </a:xfrm>
          </p:grpSpPr>
          <p:sp>
            <p:nvSpPr>
              <p:cNvPr id="26" name="Line 62"/>
              <p:cNvSpPr>
                <a:spLocks noChangeShapeType="1"/>
              </p:cNvSpPr>
              <p:nvPr/>
            </p:nvSpPr>
            <p:spPr bwMode="auto">
              <a:xfrm>
                <a:off x="720" y="1824"/>
                <a:ext cx="26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Line 63"/>
              <p:cNvSpPr>
                <a:spLocks noChangeShapeType="1"/>
              </p:cNvSpPr>
              <p:nvPr/>
            </p:nvSpPr>
            <p:spPr bwMode="auto">
              <a:xfrm>
                <a:off x="778" y="1883"/>
                <a:ext cx="14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Line 64"/>
              <p:cNvSpPr>
                <a:spLocks noChangeShapeType="1"/>
              </p:cNvSpPr>
              <p:nvPr/>
            </p:nvSpPr>
            <p:spPr bwMode="auto">
              <a:xfrm>
                <a:off x="802" y="1944"/>
                <a:ext cx="8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9" name="Line 65"/>
            <p:cNvSpPr>
              <a:spLocks noChangeShapeType="1"/>
            </p:cNvSpPr>
            <p:nvPr/>
          </p:nvSpPr>
          <p:spPr bwMode="auto">
            <a:xfrm flipH="1">
              <a:off x="6338888" y="2803528"/>
              <a:ext cx="4762" cy="12239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0" name="Oval 66"/>
            <p:cNvSpPr>
              <a:spLocks noChangeArrowheads="1"/>
            </p:cNvSpPr>
            <p:nvPr/>
          </p:nvSpPr>
          <p:spPr bwMode="auto">
            <a:xfrm>
              <a:off x="4425950" y="2168528"/>
              <a:ext cx="117475" cy="1079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1" name="Oval 67"/>
            <p:cNvSpPr>
              <a:spLocks noChangeArrowheads="1"/>
            </p:cNvSpPr>
            <p:nvPr/>
          </p:nvSpPr>
          <p:spPr bwMode="auto">
            <a:xfrm>
              <a:off x="4445000" y="2749553"/>
              <a:ext cx="117475" cy="1079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2" name="Oval 68"/>
            <p:cNvSpPr>
              <a:spLocks noChangeArrowheads="1"/>
            </p:cNvSpPr>
            <p:nvPr/>
          </p:nvSpPr>
          <p:spPr bwMode="auto">
            <a:xfrm>
              <a:off x="4433888" y="3321053"/>
              <a:ext cx="119062" cy="1079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3" name="Oval 70"/>
            <p:cNvSpPr>
              <a:spLocks noChangeArrowheads="1"/>
            </p:cNvSpPr>
            <p:nvPr/>
          </p:nvSpPr>
          <p:spPr bwMode="auto">
            <a:xfrm>
              <a:off x="8772525" y="2468565"/>
              <a:ext cx="117475" cy="1079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4" name="Rectangle 79"/>
            <p:cNvSpPr>
              <a:spLocks noChangeArrowheads="1"/>
            </p:cNvSpPr>
            <p:nvPr/>
          </p:nvSpPr>
          <p:spPr bwMode="auto">
            <a:xfrm>
              <a:off x="4818063" y="3270253"/>
              <a:ext cx="503237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5" name="Rectangle 80"/>
            <p:cNvSpPr>
              <a:spLocks noChangeArrowheads="1"/>
            </p:cNvSpPr>
            <p:nvPr/>
          </p:nvSpPr>
          <p:spPr bwMode="auto">
            <a:xfrm>
              <a:off x="4818063" y="2690815"/>
              <a:ext cx="503237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6" name="Rectangle 81"/>
            <p:cNvSpPr>
              <a:spLocks noChangeArrowheads="1"/>
            </p:cNvSpPr>
            <p:nvPr/>
          </p:nvSpPr>
          <p:spPr bwMode="auto">
            <a:xfrm>
              <a:off x="4818063" y="2119315"/>
              <a:ext cx="503237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7" name="Rectangle 82"/>
            <p:cNvSpPr>
              <a:spLocks noChangeArrowheads="1"/>
            </p:cNvSpPr>
            <p:nvPr/>
          </p:nvSpPr>
          <p:spPr bwMode="auto">
            <a:xfrm>
              <a:off x="7173913" y="1380838"/>
              <a:ext cx="503237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8" name="AutoShape 88"/>
            <p:cNvSpPr>
              <a:spLocks noChangeArrowheads="1"/>
            </p:cNvSpPr>
            <p:nvPr/>
          </p:nvSpPr>
          <p:spPr bwMode="auto">
            <a:xfrm rot="5400000">
              <a:off x="6911975" y="1992315"/>
              <a:ext cx="1035050" cy="1035050"/>
            </a:xfrm>
            <a:prstGeom prst="triangle">
              <a:avLst>
                <a:gd name="adj" fmla="val 51023"/>
              </a:avLst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9" name="Text Box 89"/>
            <p:cNvSpPr txBox="1">
              <a:spLocks noChangeArrowheads="1"/>
            </p:cNvSpPr>
            <p:nvPr/>
          </p:nvSpPr>
          <p:spPr bwMode="auto">
            <a:xfrm>
              <a:off x="6888163" y="2620285"/>
              <a:ext cx="33054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solidFill>
                    <a:schemeClr val="bg1"/>
                  </a:solidFill>
                </a:rPr>
                <a:t>+</a:t>
              </a:r>
            </a:p>
          </p:txBody>
        </p:sp>
        <p:sp>
          <p:nvSpPr>
            <p:cNvPr id="40" name="Text Box 90"/>
            <p:cNvSpPr txBox="1">
              <a:spLocks noChangeArrowheads="1"/>
            </p:cNvSpPr>
            <p:nvPr/>
          </p:nvSpPr>
          <p:spPr bwMode="auto">
            <a:xfrm>
              <a:off x="7137400" y="2305960"/>
              <a:ext cx="35618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>
                  <a:solidFill>
                    <a:schemeClr val="bg1"/>
                  </a:solidFill>
                </a:rPr>
                <a:t>A</a:t>
              </a:r>
              <a:endParaRPr kumimoji="1" lang="en-US" altLang="zh-CN" sz="2000">
                <a:solidFill>
                  <a:schemeClr val="bg1"/>
                </a:solidFill>
              </a:endParaRPr>
            </a:p>
          </p:txBody>
        </p:sp>
        <p:sp>
          <p:nvSpPr>
            <p:cNvPr id="41" name="Text Box 91"/>
            <p:cNvSpPr txBox="1">
              <a:spLocks noChangeArrowheads="1"/>
            </p:cNvSpPr>
            <p:nvPr/>
          </p:nvSpPr>
          <p:spPr bwMode="auto">
            <a:xfrm>
              <a:off x="6911975" y="1856698"/>
              <a:ext cx="31290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42" name="Rectangle 79"/>
            <p:cNvSpPr>
              <a:spLocks noChangeArrowheads="1"/>
            </p:cNvSpPr>
            <p:nvPr/>
          </p:nvSpPr>
          <p:spPr bwMode="auto">
            <a:xfrm rot="5400000">
              <a:off x="6106319" y="3399634"/>
              <a:ext cx="503238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43" name="Rectangle 82"/>
            <p:cNvSpPr>
              <a:spLocks noChangeArrowheads="1"/>
            </p:cNvSpPr>
            <p:nvPr/>
          </p:nvSpPr>
          <p:spPr bwMode="auto">
            <a:xfrm>
              <a:off x="4848225" y="1402311"/>
              <a:ext cx="503238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44" name="Line 65"/>
            <p:cNvSpPr>
              <a:spLocks noChangeShapeType="1"/>
            </p:cNvSpPr>
            <p:nvPr/>
          </p:nvSpPr>
          <p:spPr bwMode="auto">
            <a:xfrm flipH="1">
              <a:off x="3810000" y="1498603"/>
              <a:ext cx="0" cy="2698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45" name="Group 61"/>
            <p:cNvGrpSpPr>
              <a:grpSpLocks/>
            </p:cNvGrpSpPr>
            <p:nvPr/>
          </p:nvGrpSpPr>
          <p:grpSpPr bwMode="auto">
            <a:xfrm>
              <a:off x="3579813" y="1787528"/>
              <a:ext cx="455612" cy="190500"/>
              <a:chOff x="720" y="1824"/>
              <a:chExt cx="261" cy="120"/>
            </a:xfrm>
          </p:grpSpPr>
          <p:sp>
            <p:nvSpPr>
              <p:cNvPr id="46" name="Line 62"/>
              <p:cNvSpPr>
                <a:spLocks noChangeShapeType="1"/>
              </p:cNvSpPr>
              <p:nvPr/>
            </p:nvSpPr>
            <p:spPr bwMode="auto">
              <a:xfrm>
                <a:off x="720" y="1824"/>
                <a:ext cx="26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Line 63"/>
              <p:cNvSpPr>
                <a:spLocks noChangeShapeType="1"/>
              </p:cNvSpPr>
              <p:nvPr/>
            </p:nvSpPr>
            <p:spPr bwMode="auto">
              <a:xfrm>
                <a:off x="778" y="1883"/>
                <a:ext cx="14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Line 64"/>
              <p:cNvSpPr>
                <a:spLocks noChangeShapeType="1"/>
              </p:cNvSpPr>
              <p:nvPr/>
            </p:nvSpPr>
            <p:spPr bwMode="auto">
              <a:xfrm>
                <a:off x="802" y="1944"/>
                <a:ext cx="8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9" name="Oval 70"/>
            <p:cNvSpPr>
              <a:spLocks noChangeArrowheads="1"/>
            </p:cNvSpPr>
            <p:nvPr/>
          </p:nvSpPr>
          <p:spPr bwMode="auto">
            <a:xfrm>
              <a:off x="6303963" y="2787653"/>
              <a:ext cx="68262" cy="6985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50" name="Oval 70"/>
            <p:cNvSpPr>
              <a:spLocks noChangeArrowheads="1"/>
            </p:cNvSpPr>
            <p:nvPr/>
          </p:nvSpPr>
          <p:spPr bwMode="auto">
            <a:xfrm>
              <a:off x="6348413" y="1454153"/>
              <a:ext cx="68262" cy="6985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51" name="Text Box 55"/>
            <p:cNvSpPr txBox="1">
              <a:spLocks noChangeArrowheads="1"/>
            </p:cNvSpPr>
            <p:nvPr/>
          </p:nvSpPr>
          <p:spPr bwMode="auto">
            <a:xfrm>
              <a:off x="5859046" y="3254378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4</a:t>
              </a:r>
              <a:endParaRPr kumimoji="1" lang="en-US" altLang="zh-CN" sz="2000" i="1" dirty="0"/>
            </a:p>
          </p:txBody>
        </p:sp>
        <p:sp>
          <p:nvSpPr>
            <p:cNvPr id="52" name="Text Box 55"/>
            <p:cNvSpPr txBox="1">
              <a:spLocks noChangeArrowheads="1"/>
            </p:cNvSpPr>
            <p:nvPr/>
          </p:nvSpPr>
          <p:spPr bwMode="auto">
            <a:xfrm>
              <a:off x="4856143" y="1022293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5</a:t>
              </a:r>
              <a:endParaRPr kumimoji="1" lang="en-US" altLang="zh-CN" sz="2000" i="1" dirty="0"/>
            </a:p>
          </p:txBody>
        </p:sp>
      </p:grpSp>
      <p:graphicFrame>
        <p:nvGraphicFramePr>
          <p:cNvPr id="54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2727829"/>
              </p:ext>
            </p:extLst>
          </p:nvPr>
        </p:nvGraphicFramePr>
        <p:xfrm>
          <a:off x="611560" y="1935208"/>
          <a:ext cx="1782648" cy="868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09" name="Equation" r:id="rId3" imgW="990360" imgH="482400" progId="Equation.DSMT4">
                  <p:embed/>
                </p:oleObj>
              </mc:Choice>
              <mc:Fallback>
                <p:oleObj name="Equation" r:id="rId3" imgW="9903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1935208"/>
                        <a:ext cx="1782648" cy="868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978993"/>
              </p:ext>
            </p:extLst>
          </p:nvPr>
        </p:nvGraphicFramePr>
        <p:xfrm>
          <a:off x="1085430" y="4149316"/>
          <a:ext cx="278765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10" name="Equation" r:id="rId5" imgW="1549080" imgH="431640" progId="Equation.DSMT4">
                  <p:embed/>
                </p:oleObj>
              </mc:Choice>
              <mc:Fallback>
                <p:oleObj name="Equation" r:id="rId5" imgW="1549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430" y="4149316"/>
                        <a:ext cx="2787650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8875603"/>
              </p:ext>
            </p:extLst>
          </p:nvPr>
        </p:nvGraphicFramePr>
        <p:xfrm>
          <a:off x="3539688" y="5299618"/>
          <a:ext cx="2674296" cy="776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11" name="Equation" r:id="rId7" imgW="1485720" imgH="431640" progId="Equation.DSMT4">
                  <p:embed/>
                </p:oleObj>
              </mc:Choice>
              <mc:Fallback>
                <p:oleObj name="Equation" r:id="rId7" imgW="14857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9688" y="5299618"/>
                        <a:ext cx="2674296" cy="7769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7857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657225" y="954088"/>
            <a:ext cx="33750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dirty="0" smtClean="0">
                <a:solidFill>
                  <a:srgbClr val="0000CC"/>
                </a:solidFill>
              </a:rPr>
              <a:t>2</a:t>
            </a:r>
            <a:r>
              <a:rPr kumimoji="1" lang="zh-CN" altLang="en-US" sz="2000" dirty="0" smtClean="0">
                <a:solidFill>
                  <a:srgbClr val="0000CC"/>
                </a:solidFill>
              </a:rPr>
              <a:t>、差分</a:t>
            </a:r>
            <a:r>
              <a:rPr kumimoji="1" lang="zh-CN" altLang="en-US" sz="2000" dirty="0">
                <a:solidFill>
                  <a:srgbClr val="0000CC"/>
                </a:solidFill>
              </a:rPr>
              <a:t>放大电路</a:t>
            </a:r>
            <a:endParaRPr kumimoji="1" lang="en-US" altLang="zh-CN" sz="2000" dirty="0">
              <a:solidFill>
                <a:srgbClr val="0000CC"/>
              </a:solidFill>
            </a:endParaRPr>
          </a:p>
        </p:txBody>
      </p:sp>
      <p:graphicFrame>
        <p:nvGraphicFramePr>
          <p:cNvPr id="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864533"/>
              </p:ext>
            </p:extLst>
          </p:nvPr>
        </p:nvGraphicFramePr>
        <p:xfrm>
          <a:off x="827584" y="3789040"/>
          <a:ext cx="3588624" cy="868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24" name="Equation" r:id="rId3" imgW="1993680" imgH="482400" progId="Equation.DSMT4">
                  <p:embed/>
                </p:oleObj>
              </mc:Choice>
              <mc:Fallback>
                <p:oleObj name="Equation" r:id="rId3" imgW="19936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3789040"/>
                        <a:ext cx="3588624" cy="868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组合 36"/>
          <p:cNvGrpSpPr/>
          <p:nvPr/>
        </p:nvGrpSpPr>
        <p:grpSpPr>
          <a:xfrm>
            <a:off x="4185376" y="898465"/>
            <a:ext cx="4710974" cy="3170298"/>
            <a:chOff x="4185376" y="898465"/>
            <a:chExt cx="4710974" cy="3170298"/>
          </a:xfrm>
        </p:grpSpPr>
        <p:sp>
          <p:nvSpPr>
            <p:cNvPr id="4" name="Line 13"/>
            <p:cNvSpPr>
              <a:spLocks noChangeShapeType="1"/>
            </p:cNvSpPr>
            <p:nvPr/>
          </p:nvSpPr>
          <p:spPr bwMode="auto">
            <a:xfrm>
              <a:off x="7908925" y="2438400"/>
              <a:ext cx="8794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" name="Text Box 14"/>
            <p:cNvSpPr txBox="1">
              <a:spLocks noChangeArrowheads="1"/>
            </p:cNvSpPr>
            <p:nvPr/>
          </p:nvSpPr>
          <p:spPr bwMode="auto">
            <a:xfrm>
              <a:off x="8338318" y="2421677"/>
              <a:ext cx="38343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 err="1"/>
                <a:t>v</a:t>
              </a:r>
              <a:r>
                <a:rPr kumimoji="1" lang="en-US" altLang="zh-CN" sz="2000" baseline="-25000" dirty="0" err="1"/>
                <a:t>o</a:t>
              </a:r>
              <a:endParaRPr kumimoji="1" lang="en-US" altLang="zh-CN" sz="2000" dirty="0"/>
            </a:p>
          </p:txBody>
        </p:sp>
        <p:sp>
          <p:nvSpPr>
            <p:cNvPr id="6" name="Line 15"/>
            <p:cNvSpPr>
              <a:spLocks noChangeShapeType="1"/>
            </p:cNvSpPr>
            <p:nvPr/>
          </p:nvSpPr>
          <p:spPr bwMode="auto">
            <a:xfrm flipV="1">
              <a:off x="6386513" y="1400175"/>
              <a:ext cx="2017712" cy="1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" name="Line 16"/>
            <p:cNvSpPr>
              <a:spLocks noChangeShapeType="1"/>
            </p:cNvSpPr>
            <p:nvPr/>
          </p:nvSpPr>
          <p:spPr bwMode="auto">
            <a:xfrm>
              <a:off x="6386513" y="1392238"/>
              <a:ext cx="0" cy="733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" name="Line 17"/>
            <p:cNvSpPr>
              <a:spLocks noChangeShapeType="1"/>
            </p:cNvSpPr>
            <p:nvPr/>
          </p:nvSpPr>
          <p:spPr bwMode="auto">
            <a:xfrm>
              <a:off x="8404225" y="1403350"/>
              <a:ext cx="0" cy="10096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" name="Line 18"/>
            <p:cNvSpPr>
              <a:spLocks noChangeShapeType="1"/>
            </p:cNvSpPr>
            <p:nvPr/>
          </p:nvSpPr>
          <p:spPr bwMode="auto">
            <a:xfrm flipH="1">
              <a:off x="6365875" y="2716213"/>
              <a:ext cx="546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" name="Text Box 19"/>
            <p:cNvSpPr txBox="1">
              <a:spLocks noChangeArrowheads="1"/>
            </p:cNvSpPr>
            <p:nvPr/>
          </p:nvSpPr>
          <p:spPr bwMode="auto">
            <a:xfrm>
              <a:off x="5354990" y="2740858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3</a:t>
              </a:r>
              <a:endParaRPr kumimoji="1" lang="en-US" altLang="zh-CN" sz="2000" i="1" dirty="0"/>
            </a:p>
          </p:txBody>
        </p:sp>
        <p:sp>
          <p:nvSpPr>
            <p:cNvPr id="11" name="Text Box 20"/>
            <p:cNvSpPr txBox="1">
              <a:spLocks noChangeArrowheads="1"/>
            </p:cNvSpPr>
            <p:nvPr/>
          </p:nvSpPr>
          <p:spPr bwMode="auto">
            <a:xfrm>
              <a:off x="7188974" y="898465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2</a:t>
              </a:r>
              <a:endParaRPr kumimoji="1" lang="en-US" altLang="zh-CN" sz="2000" i="1" dirty="0"/>
            </a:p>
          </p:txBody>
        </p:sp>
        <p:sp>
          <p:nvSpPr>
            <p:cNvPr id="12" name="Line 21"/>
            <p:cNvSpPr>
              <a:spLocks noChangeShapeType="1"/>
            </p:cNvSpPr>
            <p:nvPr/>
          </p:nvSpPr>
          <p:spPr bwMode="auto">
            <a:xfrm>
              <a:off x="4751388" y="2125663"/>
              <a:ext cx="21701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3" name="Text Box 22"/>
            <p:cNvSpPr txBox="1">
              <a:spLocks noChangeArrowheads="1"/>
            </p:cNvSpPr>
            <p:nvPr/>
          </p:nvSpPr>
          <p:spPr bwMode="auto">
            <a:xfrm>
              <a:off x="5304017" y="1641416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1</a:t>
              </a:r>
              <a:endParaRPr kumimoji="1" lang="en-US" altLang="zh-CN" sz="2000" i="1" dirty="0"/>
            </a:p>
          </p:txBody>
        </p:sp>
        <p:sp>
          <p:nvSpPr>
            <p:cNvPr id="14" name="Text Box 23"/>
            <p:cNvSpPr txBox="1">
              <a:spLocks noChangeArrowheads="1"/>
            </p:cNvSpPr>
            <p:nvPr/>
          </p:nvSpPr>
          <p:spPr bwMode="auto">
            <a:xfrm>
              <a:off x="6486525" y="3044825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R</a:t>
              </a:r>
              <a:r>
                <a:rPr kumimoji="1" lang="en-US" altLang="zh-CN" sz="2000" baseline="-25000"/>
                <a:t>4</a:t>
              </a:r>
              <a:endParaRPr kumimoji="1" lang="en-US" altLang="zh-CN" sz="2000" i="1"/>
            </a:p>
          </p:txBody>
        </p:sp>
        <p:sp>
          <p:nvSpPr>
            <p:cNvPr id="15" name="Text Box 24"/>
            <p:cNvSpPr txBox="1">
              <a:spLocks noChangeArrowheads="1"/>
            </p:cNvSpPr>
            <p:nvPr/>
          </p:nvSpPr>
          <p:spPr bwMode="auto">
            <a:xfrm>
              <a:off x="4185376" y="1844824"/>
              <a:ext cx="38343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 smtClean="0"/>
                <a:t>v</a:t>
              </a:r>
              <a:r>
                <a:rPr kumimoji="1" lang="en-US" altLang="zh-CN" sz="2000" baseline="-25000" dirty="0" smtClean="0"/>
                <a:t>1</a:t>
              </a:r>
              <a:endParaRPr kumimoji="1" lang="en-US" altLang="zh-CN" sz="2000" baseline="-25000" dirty="0"/>
            </a:p>
          </p:txBody>
        </p:sp>
        <p:sp>
          <p:nvSpPr>
            <p:cNvPr id="16" name="Text Box 25"/>
            <p:cNvSpPr txBox="1">
              <a:spLocks noChangeArrowheads="1"/>
            </p:cNvSpPr>
            <p:nvPr/>
          </p:nvSpPr>
          <p:spPr bwMode="auto">
            <a:xfrm>
              <a:off x="4185376" y="2452826"/>
              <a:ext cx="38343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 smtClean="0"/>
                <a:t>v</a:t>
              </a:r>
              <a:r>
                <a:rPr kumimoji="1" lang="en-US" altLang="zh-CN" sz="2000" baseline="-25000" dirty="0" smtClean="0"/>
                <a:t>2</a:t>
              </a:r>
              <a:endParaRPr kumimoji="1" lang="en-US" altLang="zh-CN" sz="2000" baseline="-25000" dirty="0"/>
            </a:p>
          </p:txBody>
        </p:sp>
        <p:sp>
          <p:nvSpPr>
            <p:cNvPr id="17" name="Line 26"/>
            <p:cNvSpPr>
              <a:spLocks noChangeShapeType="1"/>
            </p:cNvSpPr>
            <p:nvPr/>
          </p:nvSpPr>
          <p:spPr bwMode="auto">
            <a:xfrm rot="5400000">
              <a:off x="5562600" y="1905000"/>
              <a:ext cx="0" cy="16065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18" name="Group 27"/>
            <p:cNvGrpSpPr>
              <a:grpSpLocks/>
            </p:cNvGrpSpPr>
            <p:nvPr/>
          </p:nvGrpSpPr>
          <p:grpSpPr bwMode="auto">
            <a:xfrm>
              <a:off x="6153150" y="3878263"/>
              <a:ext cx="455613" cy="190500"/>
              <a:chOff x="720" y="1824"/>
              <a:chExt cx="261" cy="120"/>
            </a:xfrm>
          </p:grpSpPr>
          <p:sp>
            <p:nvSpPr>
              <p:cNvPr id="19" name="Line 28"/>
              <p:cNvSpPr>
                <a:spLocks noChangeShapeType="1"/>
              </p:cNvSpPr>
              <p:nvPr/>
            </p:nvSpPr>
            <p:spPr bwMode="auto">
              <a:xfrm>
                <a:off x="720" y="1824"/>
                <a:ext cx="26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Line 29"/>
              <p:cNvSpPr>
                <a:spLocks noChangeShapeType="1"/>
              </p:cNvSpPr>
              <p:nvPr/>
            </p:nvSpPr>
            <p:spPr bwMode="auto">
              <a:xfrm>
                <a:off x="778" y="1883"/>
                <a:ext cx="14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Line 30"/>
              <p:cNvSpPr>
                <a:spLocks noChangeShapeType="1"/>
              </p:cNvSpPr>
              <p:nvPr/>
            </p:nvSpPr>
            <p:spPr bwMode="auto">
              <a:xfrm>
                <a:off x="802" y="1944"/>
                <a:ext cx="8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Line 31"/>
            <p:cNvSpPr>
              <a:spLocks noChangeShapeType="1"/>
            </p:cNvSpPr>
            <p:nvPr/>
          </p:nvSpPr>
          <p:spPr bwMode="auto">
            <a:xfrm>
              <a:off x="6372225" y="2711450"/>
              <a:ext cx="0" cy="11699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3" name="Oval 32"/>
            <p:cNvSpPr>
              <a:spLocks noChangeArrowheads="1"/>
            </p:cNvSpPr>
            <p:nvPr/>
          </p:nvSpPr>
          <p:spPr bwMode="auto">
            <a:xfrm>
              <a:off x="4646613" y="2068513"/>
              <a:ext cx="117475" cy="1079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4" name="Oval 33"/>
            <p:cNvSpPr>
              <a:spLocks noChangeArrowheads="1"/>
            </p:cNvSpPr>
            <p:nvPr/>
          </p:nvSpPr>
          <p:spPr bwMode="auto">
            <a:xfrm>
              <a:off x="4635500" y="2640013"/>
              <a:ext cx="119063" cy="1079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5" name="Oval 34"/>
            <p:cNvSpPr>
              <a:spLocks noChangeArrowheads="1"/>
            </p:cNvSpPr>
            <p:nvPr/>
          </p:nvSpPr>
          <p:spPr bwMode="auto">
            <a:xfrm>
              <a:off x="8778875" y="2354263"/>
              <a:ext cx="117475" cy="1079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6" name="Rectangle 35"/>
            <p:cNvSpPr>
              <a:spLocks noChangeArrowheads="1"/>
            </p:cNvSpPr>
            <p:nvPr/>
          </p:nvSpPr>
          <p:spPr bwMode="auto">
            <a:xfrm rot="16200000">
              <a:off x="6134894" y="3166269"/>
              <a:ext cx="503238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7" name="Rectangle 36"/>
            <p:cNvSpPr>
              <a:spLocks noChangeArrowheads="1"/>
            </p:cNvSpPr>
            <p:nvPr/>
          </p:nvSpPr>
          <p:spPr bwMode="auto">
            <a:xfrm>
              <a:off x="5299075" y="2033588"/>
              <a:ext cx="503238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8" name="Rectangle 37"/>
            <p:cNvSpPr>
              <a:spLocks noChangeArrowheads="1"/>
            </p:cNvSpPr>
            <p:nvPr/>
          </p:nvSpPr>
          <p:spPr bwMode="auto">
            <a:xfrm>
              <a:off x="5299075" y="2601913"/>
              <a:ext cx="503238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9" name="Rectangle 38"/>
            <p:cNvSpPr>
              <a:spLocks noChangeArrowheads="1"/>
            </p:cNvSpPr>
            <p:nvPr/>
          </p:nvSpPr>
          <p:spPr bwMode="auto">
            <a:xfrm>
              <a:off x="7180263" y="1298575"/>
              <a:ext cx="503237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0" name="AutoShape 39"/>
            <p:cNvSpPr>
              <a:spLocks noChangeArrowheads="1"/>
            </p:cNvSpPr>
            <p:nvPr/>
          </p:nvSpPr>
          <p:spPr bwMode="auto">
            <a:xfrm rot="5400000">
              <a:off x="6918325" y="1897063"/>
              <a:ext cx="1035050" cy="1035050"/>
            </a:xfrm>
            <a:prstGeom prst="triangle">
              <a:avLst>
                <a:gd name="adj" fmla="val 51023"/>
              </a:avLst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1" name="Text Box 40"/>
            <p:cNvSpPr txBox="1">
              <a:spLocks noChangeArrowheads="1"/>
            </p:cNvSpPr>
            <p:nvPr/>
          </p:nvSpPr>
          <p:spPr bwMode="auto">
            <a:xfrm>
              <a:off x="6886706" y="2492896"/>
              <a:ext cx="33054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dirty="0">
                  <a:solidFill>
                    <a:schemeClr val="bg1"/>
                  </a:solidFill>
                </a:rPr>
                <a:t>+</a:t>
              </a:r>
            </a:p>
          </p:txBody>
        </p:sp>
        <p:sp>
          <p:nvSpPr>
            <p:cNvPr id="32" name="Text Box 41"/>
            <p:cNvSpPr txBox="1">
              <a:spLocks noChangeArrowheads="1"/>
            </p:cNvSpPr>
            <p:nvPr/>
          </p:nvSpPr>
          <p:spPr bwMode="auto">
            <a:xfrm>
              <a:off x="7096132" y="2208922"/>
              <a:ext cx="35618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>
                  <a:solidFill>
                    <a:schemeClr val="bg1"/>
                  </a:solidFill>
                </a:rPr>
                <a:t>A</a:t>
              </a:r>
              <a:endParaRPr kumimoji="1" lang="en-US" altLang="zh-CN" sz="2000">
                <a:solidFill>
                  <a:schemeClr val="bg1"/>
                </a:solidFill>
              </a:endParaRPr>
            </a:p>
          </p:txBody>
        </p:sp>
        <p:sp>
          <p:nvSpPr>
            <p:cNvPr id="33" name="Text Box 42"/>
            <p:cNvSpPr txBox="1">
              <a:spLocks noChangeArrowheads="1"/>
            </p:cNvSpPr>
            <p:nvPr/>
          </p:nvSpPr>
          <p:spPr bwMode="auto">
            <a:xfrm>
              <a:off x="6870707" y="1759659"/>
              <a:ext cx="31290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solidFill>
                    <a:schemeClr val="bg1"/>
                  </a:solidFill>
                </a:rPr>
                <a:t>_</a:t>
              </a:r>
            </a:p>
          </p:txBody>
        </p:sp>
      </p:grpSp>
      <p:graphicFrame>
        <p:nvGraphicFramePr>
          <p:cNvPr id="34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206511"/>
              </p:ext>
            </p:extLst>
          </p:nvPr>
        </p:nvGraphicFramePr>
        <p:xfrm>
          <a:off x="1870075" y="5181600"/>
          <a:ext cx="1393848" cy="776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25" name="Equation" r:id="rId5" imgW="774360" imgH="431640" progId="Equation.DSMT4">
                  <p:embed/>
                </p:oleObj>
              </mc:Choice>
              <mc:Fallback>
                <p:oleObj name="Equation" r:id="rId5" imgW="7743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0075" y="5181600"/>
                        <a:ext cx="1393848" cy="7769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AutoShape 44"/>
          <p:cNvSpPr>
            <a:spLocks noChangeArrowheads="1"/>
          </p:cNvSpPr>
          <p:nvPr/>
        </p:nvSpPr>
        <p:spPr bwMode="auto">
          <a:xfrm>
            <a:off x="3834663" y="5505450"/>
            <a:ext cx="676275" cy="180975"/>
          </a:xfrm>
          <a:prstGeom prst="rightArrow">
            <a:avLst>
              <a:gd name="adj1" fmla="val 50000"/>
              <a:gd name="adj2" fmla="val 93421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graphicFrame>
        <p:nvGraphicFramePr>
          <p:cNvPr id="36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985388"/>
              </p:ext>
            </p:extLst>
          </p:nvPr>
        </p:nvGraphicFramePr>
        <p:xfrm>
          <a:off x="5156200" y="5181600"/>
          <a:ext cx="1805328" cy="776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26" name="Equation" r:id="rId7" imgW="1002960" imgH="431640" progId="Equation.DSMT4">
                  <p:embed/>
                </p:oleObj>
              </mc:Choice>
              <mc:Fallback>
                <p:oleObj name="Equation" r:id="rId7" imgW="1002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6200" y="5181600"/>
                        <a:ext cx="1805328" cy="7769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11570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657225" y="954088"/>
            <a:ext cx="44100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dirty="0" smtClean="0">
                <a:solidFill>
                  <a:srgbClr val="0000CC"/>
                </a:solidFill>
              </a:rPr>
              <a:t>3</a:t>
            </a:r>
            <a:r>
              <a:rPr kumimoji="1" lang="zh-CN" altLang="en-US" sz="2000" dirty="0" smtClean="0">
                <a:solidFill>
                  <a:srgbClr val="0000CC"/>
                </a:solidFill>
              </a:rPr>
              <a:t>、典型</a:t>
            </a:r>
            <a:r>
              <a:rPr kumimoji="1" lang="zh-CN" altLang="en-US" sz="2000" dirty="0">
                <a:solidFill>
                  <a:srgbClr val="0000CC"/>
                </a:solidFill>
              </a:rPr>
              <a:t>的仪表放大电路</a:t>
            </a:r>
          </a:p>
        </p:txBody>
      </p:sp>
      <p:sp>
        <p:nvSpPr>
          <p:cNvPr id="58" name="Text Box 67"/>
          <p:cNvSpPr txBox="1">
            <a:spLocks noChangeArrowheads="1"/>
          </p:cNvSpPr>
          <p:nvPr/>
        </p:nvSpPr>
        <p:spPr bwMode="auto">
          <a:xfrm>
            <a:off x="2627784" y="3114675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i="1" dirty="0" err="1"/>
              <a:t>i</a:t>
            </a:r>
            <a:endParaRPr kumimoji="1" lang="en-US" altLang="zh-CN" sz="2000" baseline="-25000" dirty="0"/>
          </a:p>
        </p:txBody>
      </p:sp>
      <p:sp>
        <p:nvSpPr>
          <p:cNvPr id="59" name="Line 68"/>
          <p:cNvSpPr>
            <a:spLocks noChangeShapeType="1"/>
          </p:cNvSpPr>
          <p:nvPr/>
        </p:nvSpPr>
        <p:spPr bwMode="auto">
          <a:xfrm rot="5400000">
            <a:off x="2427288" y="3368675"/>
            <a:ext cx="4191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1254494" y="1719263"/>
            <a:ext cx="7687894" cy="3328987"/>
            <a:chOff x="1254494" y="1719263"/>
            <a:chExt cx="7687894" cy="3328987"/>
          </a:xfrm>
        </p:grpSpPr>
        <p:sp>
          <p:nvSpPr>
            <p:cNvPr id="45" name="Line 54"/>
            <p:cNvSpPr>
              <a:spLocks noChangeShapeType="1"/>
            </p:cNvSpPr>
            <p:nvPr/>
          </p:nvSpPr>
          <p:spPr bwMode="auto">
            <a:xfrm>
              <a:off x="2411413" y="2528888"/>
              <a:ext cx="0" cy="17557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" name="Line 12"/>
            <p:cNvSpPr>
              <a:spLocks noChangeShapeType="1"/>
            </p:cNvSpPr>
            <p:nvPr/>
          </p:nvSpPr>
          <p:spPr bwMode="auto">
            <a:xfrm>
              <a:off x="7954963" y="3362325"/>
              <a:ext cx="8794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" name="Text Box 13"/>
            <p:cNvSpPr txBox="1">
              <a:spLocks noChangeArrowheads="1"/>
            </p:cNvSpPr>
            <p:nvPr/>
          </p:nvSpPr>
          <p:spPr bwMode="auto">
            <a:xfrm>
              <a:off x="8459788" y="3336925"/>
              <a:ext cx="38343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v</a:t>
              </a:r>
              <a:r>
                <a:rPr kumimoji="1" lang="en-US" altLang="zh-CN" sz="2000" baseline="-25000"/>
                <a:t>o</a:t>
              </a:r>
              <a:endParaRPr kumimoji="1" lang="en-US" altLang="zh-CN" sz="2000"/>
            </a:p>
          </p:txBody>
        </p:sp>
        <p:sp>
          <p:nvSpPr>
            <p:cNvPr id="5" name="Line 14"/>
            <p:cNvSpPr>
              <a:spLocks noChangeShapeType="1"/>
            </p:cNvSpPr>
            <p:nvPr/>
          </p:nvSpPr>
          <p:spPr bwMode="auto">
            <a:xfrm flipV="1">
              <a:off x="6432550" y="2343150"/>
              <a:ext cx="2017713" cy="1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" name="Line 15"/>
            <p:cNvSpPr>
              <a:spLocks noChangeShapeType="1"/>
            </p:cNvSpPr>
            <p:nvPr/>
          </p:nvSpPr>
          <p:spPr bwMode="auto">
            <a:xfrm>
              <a:off x="6432550" y="2335213"/>
              <a:ext cx="0" cy="733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" name="Line 16"/>
            <p:cNvSpPr>
              <a:spLocks noChangeShapeType="1"/>
            </p:cNvSpPr>
            <p:nvPr/>
          </p:nvSpPr>
          <p:spPr bwMode="auto">
            <a:xfrm>
              <a:off x="8450263" y="2346325"/>
              <a:ext cx="0" cy="10096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" name="Line 17"/>
            <p:cNvSpPr>
              <a:spLocks noChangeShapeType="1"/>
            </p:cNvSpPr>
            <p:nvPr/>
          </p:nvSpPr>
          <p:spPr bwMode="auto">
            <a:xfrm flipH="1">
              <a:off x="6411913" y="3659188"/>
              <a:ext cx="546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" name="Text Box 18"/>
            <p:cNvSpPr txBox="1">
              <a:spLocks noChangeArrowheads="1"/>
            </p:cNvSpPr>
            <p:nvPr/>
          </p:nvSpPr>
          <p:spPr bwMode="auto">
            <a:xfrm>
              <a:off x="5376158" y="3692440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3</a:t>
              </a:r>
              <a:endParaRPr kumimoji="1" lang="en-US" altLang="zh-CN" sz="2000" i="1" dirty="0"/>
            </a:p>
          </p:txBody>
        </p:sp>
        <p:sp>
          <p:nvSpPr>
            <p:cNvPr id="10" name="Text Box 19"/>
            <p:cNvSpPr txBox="1">
              <a:spLocks noChangeArrowheads="1"/>
            </p:cNvSpPr>
            <p:nvPr/>
          </p:nvSpPr>
          <p:spPr bwMode="auto">
            <a:xfrm>
              <a:off x="7232173" y="1836763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4</a:t>
              </a:r>
              <a:endParaRPr kumimoji="1" lang="en-US" altLang="zh-CN" sz="2000" i="1" dirty="0"/>
            </a:p>
          </p:txBody>
        </p:sp>
        <p:sp>
          <p:nvSpPr>
            <p:cNvPr id="11" name="Line 20"/>
            <p:cNvSpPr>
              <a:spLocks noChangeShapeType="1"/>
            </p:cNvSpPr>
            <p:nvPr/>
          </p:nvSpPr>
          <p:spPr bwMode="auto">
            <a:xfrm>
              <a:off x="2411413" y="3068638"/>
              <a:ext cx="45561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2" name="Text Box 21"/>
            <p:cNvSpPr txBox="1">
              <a:spLocks noChangeArrowheads="1"/>
            </p:cNvSpPr>
            <p:nvPr/>
          </p:nvSpPr>
          <p:spPr bwMode="auto">
            <a:xfrm>
              <a:off x="5376158" y="2579449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3</a:t>
              </a:r>
              <a:endParaRPr kumimoji="1" lang="en-US" altLang="zh-CN" sz="2000" i="1" dirty="0"/>
            </a:p>
          </p:txBody>
        </p:sp>
        <p:sp>
          <p:nvSpPr>
            <p:cNvPr id="13" name="Text Box 22"/>
            <p:cNvSpPr txBox="1">
              <a:spLocks noChangeArrowheads="1"/>
            </p:cNvSpPr>
            <p:nvPr/>
          </p:nvSpPr>
          <p:spPr bwMode="auto">
            <a:xfrm>
              <a:off x="6532563" y="3987800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R</a:t>
              </a:r>
              <a:r>
                <a:rPr kumimoji="1" lang="en-US" altLang="zh-CN" sz="2000" baseline="-25000"/>
                <a:t>4</a:t>
              </a:r>
              <a:endParaRPr kumimoji="1" lang="en-US" altLang="zh-CN" sz="2000" i="1"/>
            </a:p>
          </p:txBody>
        </p:sp>
        <p:sp>
          <p:nvSpPr>
            <p:cNvPr id="14" name="Text Box 23"/>
            <p:cNvSpPr txBox="1">
              <a:spLocks noChangeArrowheads="1"/>
            </p:cNvSpPr>
            <p:nvPr/>
          </p:nvSpPr>
          <p:spPr bwMode="auto">
            <a:xfrm>
              <a:off x="1254494" y="4527550"/>
              <a:ext cx="38343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v</a:t>
              </a:r>
              <a:r>
                <a:rPr kumimoji="1" lang="en-US" altLang="zh-CN" sz="2000" baseline="-25000" dirty="0"/>
                <a:t>2</a:t>
              </a:r>
            </a:p>
          </p:txBody>
        </p:sp>
        <p:sp>
          <p:nvSpPr>
            <p:cNvPr id="15" name="Text Box 24"/>
            <p:cNvSpPr txBox="1">
              <a:spLocks noChangeArrowheads="1"/>
            </p:cNvSpPr>
            <p:nvPr/>
          </p:nvSpPr>
          <p:spPr bwMode="auto">
            <a:xfrm>
              <a:off x="1298207" y="1760329"/>
              <a:ext cx="38343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v</a:t>
              </a:r>
              <a:r>
                <a:rPr kumimoji="1" lang="en-US" altLang="zh-CN" sz="2000" baseline="-25000" dirty="0"/>
                <a:t>1</a:t>
              </a:r>
            </a:p>
          </p:txBody>
        </p:sp>
        <p:sp>
          <p:nvSpPr>
            <p:cNvPr id="16" name="Line 25"/>
            <p:cNvSpPr>
              <a:spLocks noChangeShapeType="1"/>
            </p:cNvSpPr>
            <p:nvPr/>
          </p:nvSpPr>
          <p:spPr bwMode="auto">
            <a:xfrm rot="16200000" flipV="1">
              <a:off x="4385469" y="1635919"/>
              <a:ext cx="0" cy="40370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17" name="Group 26"/>
            <p:cNvGrpSpPr>
              <a:grpSpLocks/>
            </p:cNvGrpSpPr>
            <p:nvPr/>
          </p:nvGrpSpPr>
          <p:grpSpPr bwMode="auto">
            <a:xfrm>
              <a:off x="6189663" y="4821238"/>
              <a:ext cx="455612" cy="190500"/>
              <a:chOff x="720" y="1824"/>
              <a:chExt cx="261" cy="120"/>
            </a:xfrm>
            <a:solidFill>
              <a:schemeClr val="tx1"/>
            </a:solidFill>
          </p:grpSpPr>
          <p:sp>
            <p:nvSpPr>
              <p:cNvPr id="18" name="Line 27"/>
              <p:cNvSpPr>
                <a:spLocks noChangeShapeType="1"/>
              </p:cNvSpPr>
              <p:nvPr/>
            </p:nvSpPr>
            <p:spPr bwMode="auto">
              <a:xfrm>
                <a:off x="720" y="1824"/>
                <a:ext cx="261" cy="0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Line 28"/>
              <p:cNvSpPr>
                <a:spLocks noChangeShapeType="1"/>
              </p:cNvSpPr>
              <p:nvPr/>
            </p:nvSpPr>
            <p:spPr bwMode="auto">
              <a:xfrm>
                <a:off x="778" y="1883"/>
                <a:ext cx="145" cy="0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Line 29"/>
              <p:cNvSpPr>
                <a:spLocks noChangeShapeType="1"/>
              </p:cNvSpPr>
              <p:nvPr/>
            </p:nvSpPr>
            <p:spPr bwMode="auto">
              <a:xfrm>
                <a:off x="802" y="1944"/>
                <a:ext cx="86" cy="0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Line 30"/>
            <p:cNvSpPr>
              <a:spLocks noChangeShapeType="1"/>
            </p:cNvSpPr>
            <p:nvPr/>
          </p:nvSpPr>
          <p:spPr bwMode="auto">
            <a:xfrm>
              <a:off x="6407150" y="3654425"/>
              <a:ext cx="0" cy="11699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" name="Oval 31"/>
            <p:cNvSpPr>
              <a:spLocks noChangeArrowheads="1"/>
            </p:cNvSpPr>
            <p:nvPr/>
          </p:nvSpPr>
          <p:spPr bwMode="auto">
            <a:xfrm>
              <a:off x="1692275" y="1943100"/>
              <a:ext cx="117475" cy="1079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3" name="Oval 32"/>
            <p:cNvSpPr>
              <a:spLocks noChangeArrowheads="1"/>
            </p:cNvSpPr>
            <p:nvPr/>
          </p:nvSpPr>
          <p:spPr bwMode="auto">
            <a:xfrm>
              <a:off x="8824913" y="3297238"/>
              <a:ext cx="117475" cy="1079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4" name="Rectangle 33"/>
            <p:cNvSpPr>
              <a:spLocks noChangeArrowheads="1"/>
            </p:cNvSpPr>
            <p:nvPr/>
          </p:nvSpPr>
          <p:spPr bwMode="auto">
            <a:xfrm rot="16200000">
              <a:off x="6171406" y="4109244"/>
              <a:ext cx="503238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5" name="Rectangle 34"/>
            <p:cNvSpPr>
              <a:spLocks noChangeArrowheads="1"/>
            </p:cNvSpPr>
            <p:nvPr/>
          </p:nvSpPr>
          <p:spPr bwMode="auto">
            <a:xfrm>
              <a:off x="5345113" y="2976563"/>
              <a:ext cx="503237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6" name="Rectangle 35"/>
            <p:cNvSpPr>
              <a:spLocks noChangeArrowheads="1"/>
            </p:cNvSpPr>
            <p:nvPr/>
          </p:nvSpPr>
          <p:spPr bwMode="auto">
            <a:xfrm>
              <a:off x="5345113" y="3549565"/>
              <a:ext cx="503237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7" name="Rectangle 36"/>
            <p:cNvSpPr>
              <a:spLocks noChangeArrowheads="1"/>
            </p:cNvSpPr>
            <p:nvPr/>
          </p:nvSpPr>
          <p:spPr bwMode="auto">
            <a:xfrm>
              <a:off x="7226300" y="2236873"/>
              <a:ext cx="503238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8" name="AutoShape 37"/>
            <p:cNvSpPr>
              <a:spLocks noChangeArrowheads="1"/>
            </p:cNvSpPr>
            <p:nvPr/>
          </p:nvSpPr>
          <p:spPr bwMode="auto">
            <a:xfrm rot="5400000">
              <a:off x="6958013" y="2843213"/>
              <a:ext cx="1035050" cy="1035050"/>
            </a:xfrm>
            <a:prstGeom prst="triangle">
              <a:avLst>
                <a:gd name="adj" fmla="val 51023"/>
              </a:avLst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9" name="Text Box 38"/>
            <p:cNvSpPr txBox="1">
              <a:spLocks noChangeArrowheads="1"/>
            </p:cNvSpPr>
            <p:nvPr/>
          </p:nvSpPr>
          <p:spPr bwMode="auto">
            <a:xfrm>
              <a:off x="6958714" y="3439903"/>
              <a:ext cx="33054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dirty="0">
                  <a:solidFill>
                    <a:schemeClr val="bg1"/>
                  </a:solidFill>
                </a:rPr>
                <a:t>+</a:t>
              </a:r>
            </a:p>
          </p:txBody>
        </p:sp>
        <p:sp>
          <p:nvSpPr>
            <p:cNvPr id="30" name="Text Box 39"/>
            <p:cNvSpPr txBox="1">
              <a:spLocks noChangeArrowheads="1"/>
            </p:cNvSpPr>
            <p:nvPr/>
          </p:nvSpPr>
          <p:spPr bwMode="auto">
            <a:xfrm>
              <a:off x="7189788" y="3123991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>
                  <a:solidFill>
                    <a:schemeClr val="bg1"/>
                  </a:solidFill>
                </a:rPr>
                <a:t>A</a:t>
              </a:r>
              <a:r>
                <a:rPr kumimoji="1" lang="en-US" altLang="zh-CN" sz="2000" baseline="-2500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1" name="Text Box 40"/>
            <p:cNvSpPr txBox="1">
              <a:spLocks noChangeArrowheads="1"/>
            </p:cNvSpPr>
            <p:nvPr/>
          </p:nvSpPr>
          <p:spPr bwMode="auto">
            <a:xfrm>
              <a:off x="6948264" y="2740858"/>
              <a:ext cx="31290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32" name="Text Box 41"/>
            <p:cNvSpPr txBox="1">
              <a:spLocks noChangeArrowheads="1"/>
            </p:cNvSpPr>
            <p:nvPr/>
          </p:nvSpPr>
          <p:spPr bwMode="auto">
            <a:xfrm>
              <a:off x="3810883" y="3710214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2</a:t>
              </a:r>
              <a:endParaRPr kumimoji="1" lang="en-US" altLang="zh-CN" sz="2000" i="1" dirty="0"/>
            </a:p>
          </p:txBody>
        </p:sp>
        <p:sp>
          <p:nvSpPr>
            <p:cNvPr id="33" name="Text Box 42"/>
            <p:cNvSpPr txBox="1">
              <a:spLocks noChangeArrowheads="1"/>
            </p:cNvSpPr>
            <p:nvPr/>
          </p:nvSpPr>
          <p:spPr bwMode="auto">
            <a:xfrm>
              <a:off x="3779838" y="2571511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2</a:t>
              </a:r>
              <a:endParaRPr kumimoji="1" lang="en-US" altLang="zh-CN" sz="2000" i="1" dirty="0"/>
            </a:p>
          </p:txBody>
        </p:sp>
        <p:sp>
          <p:nvSpPr>
            <p:cNvPr id="34" name="Rectangle 43"/>
            <p:cNvSpPr>
              <a:spLocks noChangeArrowheads="1"/>
            </p:cNvSpPr>
            <p:nvPr/>
          </p:nvSpPr>
          <p:spPr bwMode="auto">
            <a:xfrm>
              <a:off x="3779838" y="2978150"/>
              <a:ext cx="503237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5" name="Rectangle 44"/>
            <p:cNvSpPr>
              <a:spLocks noChangeArrowheads="1"/>
            </p:cNvSpPr>
            <p:nvPr/>
          </p:nvSpPr>
          <p:spPr bwMode="auto">
            <a:xfrm>
              <a:off x="3779838" y="3551152"/>
              <a:ext cx="503237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6" name="AutoShape 45"/>
            <p:cNvSpPr>
              <a:spLocks noChangeArrowheads="1"/>
            </p:cNvSpPr>
            <p:nvPr/>
          </p:nvSpPr>
          <p:spPr bwMode="auto">
            <a:xfrm rot="5400000">
              <a:off x="2906713" y="1719263"/>
              <a:ext cx="1035050" cy="1035050"/>
            </a:xfrm>
            <a:prstGeom prst="triangle">
              <a:avLst>
                <a:gd name="adj" fmla="val 51023"/>
              </a:avLst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7" name="Text Box 46"/>
            <p:cNvSpPr txBox="1">
              <a:spLocks noChangeArrowheads="1"/>
            </p:cNvSpPr>
            <p:nvPr/>
          </p:nvSpPr>
          <p:spPr bwMode="auto">
            <a:xfrm>
              <a:off x="2862263" y="1777791"/>
              <a:ext cx="33054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dirty="0">
                  <a:solidFill>
                    <a:schemeClr val="bg1"/>
                  </a:solidFill>
                </a:rPr>
                <a:t>+</a:t>
              </a:r>
            </a:p>
          </p:txBody>
        </p:sp>
        <p:sp>
          <p:nvSpPr>
            <p:cNvPr id="38" name="Text Box 47"/>
            <p:cNvSpPr txBox="1">
              <a:spLocks noChangeArrowheads="1"/>
            </p:cNvSpPr>
            <p:nvPr/>
          </p:nvSpPr>
          <p:spPr bwMode="auto">
            <a:xfrm>
              <a:off x="3132138" y="2001628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>
                  <a:solidFill>
                    <a:schemeClr val="bg1"/>
                  </a:solidFill>
                </a:rPr>
                <a:t>A</a:t>
              </a:r>
              <a:r>
                <a:rPr kumimoji="1" lang="en-US" altLang="zh-CN" sz="2000" baseline="-250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9" name="Text Box 48"/>
            <p:cNvSpPr txBox="1">
              <a:spLocks noChangeArrowheads="1"/>
            </p:cNvSpPr>
            <p:nvPr/>
          </p:nvSpPr>
          <p:spPr bwMode="auto">
            <a:xfrm>
              <a:off x="2887663" y="2185778"/>
              <a:ext cx="31290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40" name="Line 49"/>
            <p:cNvSpPr>
              <a:spLocks noChangeShapeType="1"/>
            </p:cNvSpPr>
            <p:nvPr/>
          </p:nvSpPr>
          <p:spPr bwMode="auto">
            <a:xfrm>
              <a:off x="3941763" y="2259013"/>
              <a:ext cx="8794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" name="Line 50"/>
            <p:cNvSpPr>
              <a:spLocks noChangeShapeType="1"/>
            </p:cNvSpPr>
            <p:nvPr/>
          </p:nvSpPr>
          <p:spPr bwMode="auto">
            <a:xfrm flipH="1">
              <a:off x="4797425" y="2259013"/>
              <a:ext cx="0" cy="8096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2" name="Line 51"/>
            <p:cNvSpPr>
              <a:spLocks noChangeShapeType="1"/>
            </p:cNvSpPr>
            <p:nvPr/>
          </p:nvSpPr>
          <p:spPr bwMode="auto">
            <a:xfrm>
              <a:off x="1827213" y="1989138"/>
              <a:ext cx="10810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3" name="Rectangle 52"/>
            <p:cNvSpPr>
              <a:spLocks noChangeArrowheads="1"/>
            </p:cNvSpPr>
            <p:nvPr/>
          </p:nvSpPr>
          <p:spPr bwMode="auto">
            <a:xfrm rot="5400000">
              <a:off x="2246313" y="3279775"/>
              <a:ext cx="323850" cy="17145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44" name="Line 53"/>
            <p:cNvSpPr>
              <a:spLocks noChangeShapeType="1"/>
            </p:cNvSpPr>
            <p:nvPr/>
          </p:nvSpPr>
          <p:spPr bwMode="auto">
            <a:xfrm>
              <a:off x="2411413" y="2528888"/>
              <a:ext cx="4968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6" name="Oval 55"/>
            <p:cNvSpPr>
              <a:spLocks noChangeArrowheads="1"/>
            </p:cNvSpPr>
            <p:nvPr/>
          </p:nvSpPr>
          <p:spPr bwMode="auto">
            <a:xfrm flipH="1" flipV="1">
              <a:off x="2366963" y="3030538"/>
              <a:ext cx="93662" cy="84137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47" name="Oval 56"/>
            <p:cNvSpPr>
              <a:spLocks noChangeArrowheads="1"/>
            </p:cNvSpPr>
            <p:nvPr/>
          </p:nvSpPr>
          <p:spPr bwMode="auto">
            <a:xfrm flipH="1" flipV="1">
              <a:off x="2363788" y="3614738"/>
              <a:ext cx="93662" cy="84137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48" name="AutoShape 57"/>
            <p:cNvSpPr>
              <a:spLocks noChangeArrowheads="1"/>
            </p:cNvSpPr>
            <p:nvPr/>
          </p:nvSpPr>
          <p:spPr bwMode="auto">
            <a:xfrm rot="5400000">
              <a:off x="2906713" y="4013200"/>
              <a:ext cx="1035050" cy="1035050"/>
            </a:xfrm>
            <a:prstGeom prst="triangle">
              <a:avLst>
                <a:gd name="adj" fmla="val 51023"/>
              </a:avLst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49" name="Text Box 58"/>
            <p:cNvSpPr txBox="1">
              <a:spLocks noChangeArrowheads="1"/>
            </p:cNvSpPr>
            <p:nvPr/>
          </p:nvSpPr>
          <p:spPr bwMode="auto">
            <a:xfrm>
              <a:off x="2909888" y="4613066"/>
              <a:ext cx="33054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dirty="0">
                  <a:solidFill>
                    <a:schemeClr val="bg1"/>
                  </a:solidFill>
                </a:rPr>
                <a:t>+</a:t>
              </a:r>
            </a:p>
          </p:txBody>
        </p:sp>
        <p:sp>
          <p:nvSpPr>
            <p:cNvPr id="50" name="Text Box 59"/>
            <p:cNvSpPr txBox="1">
              <a:spLocks noChangeArrowheads="1"/>
            </p:cNvSpPr>
            <p:nvPr/>
          </p:nvSpPr>
          <p:spPr bwMode="auto">
            <a:xfrm>
              <a:off x="3132138" y="4297153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>
                  <a:solidFill>
                    <a:schemeClr val="bg1"/>
                  </a:solidFill>
                </a:rPr>
                <a:t>A</a:t>
              </a:r>
              <a:r>
                <a:rPr kumimoji="1" lang="en-US" altLang="zh-CN" sz="2000" baseline="-2500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51" name="Text Box 60"/>
            <p:cNvSpPr txBox="1">
              <a:spLocks noChangeArrowheads="1"/>
            </p:cNvSpPr>
            <p:nvPr/>
          </p:nvSpPr>
          <p:spPr bwMode="auto">
            <a:xfrm>
              <a:off x="2895600" y="3949491"/>
              <a:ext cx="31290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52" name="Line 61"/>
            <p:cNvSpPr>
              <a:spLocks noChangeShapeType="1"/>
            </p:cNvSpPr>
            <p:nvPr/>
          </p:nvSpPr>
          <p:spPr bwMode="auto">
            <a:xfrm flipH="1" flipV="1">
              <a:off x="4797425" y="3654425"/>
              <a:ext cx="0" cy="900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3" name="Line 62"/>
            <p:cNvSpPr>
              <a:spLocks noChangeShapeType="1"/>
            </p:cNvSpPr>
            <p:nvPr/>
          </p:nvSpPr>
          <p:spPr bwMode="auto">
            <a:xfrm>
              <a:off x="3941763" y="4554538"/>
              <a:ext cx="8794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4" name="Line 63"/>
            <p:cNvSpPr>
              <a:spLocks noChangeShapeType="1"/>
            </p:cNvSpPr>
            <p:nvPr/>
          </p:nvSpPr>
          <p:spPr bwMode="auto">
            <a:xfrm>
              <a:off x="2411413" y="4284663"/>
              <a:ext cx="4968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5" name="Oval 64"/>
            <p:cNvSpPr>
              <a:spLocks noChangeArrowheads="1"/>
            </p:cNvSpPr>
            <p:nvPr/>
          </p:nvSpPr>
          <p:spPr bwMode="auto">
            <a:xfrm>
              <a:off x="1692275" y="4778375"/>
              <a:ext cx="117475" cy="1079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56" name="Line 65"/>
            <p:cNvSpPr>
              <a:spLocks noChangeShapeType="1"/>
            </p:cNvSpPr>
            <p:nvPr/>
          </p:nvSpPr>
          <p:spPr bwMode="auto">
            <a:xfrm>
              <a:off x="1827213" y="4824413"/>
              <a:ext cx="10810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7" name="Text Box 66"/>
            <p:cNvSpPr txBox="1">
              <a:spLocks noChangeArrowheads="1"/>
            </p:cNvSpPr>
            <p:nvPr/>
          </p:nvSpPr>
          <p:spPr bwMode="auto">
            <a:xfrm>
              <a:off x="1781175" y="3114675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R</a:t>
              </a:r>
              <a:r>
                <a:rPr kumimoji="1" lang="en-US" altLang="zh-CN" sz="2000" baseline="-25000"/>
                <a:t>1</a:t>
              </a:r>
              <a:endParaRPr kumimoji="1" lang="en-US" altLang="zh-CN" sz="2000" i="1"/>
            </a:p>
          </p:txBody>
        </p:sp>
        <p:sp>
          <p:nvSpPr>
            <p:cNvPr id="60" name="Text Box 69"/>
            <p:cNvSpPr txBox="1">
              <a:spLocks noChangeArrowheads="1"/>
            </p:cNvSpPr>
            <p:nvPr/>
          </p:nvSpPr>
          <p:spPr bwMode="auto">
            <a:xfrm>
              <a:off x="4689475" y="1870015"/>
              <a:ext cx="46839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v</a:t>
              </a:r>
              <a:r>
                <a:rPr kumimoji="1" lang="en-US" altLang="zh-CN" sz="2000" baseline="-25000" dirty="0"/>
                <a:t>o1</a:t>
              </a:r>
              <a:endParaRPr kumimoji="1" lang="en-US" altLang="zh-CN" sz="2000" dirty="0"/>
            </a:p>
          </p:txBody>
        </p:sp>
        <p:sp>
          <p:nvSpPr>
            <p:cNvPr id="61" name="Text Box 70"/>
            <p:cNvSpPr txBox="1">
              <a:spLocks noChangeArrowheads="1"/>
            </p:cNvSpPr>
            <p:nvPr/>
          </p:nvSpPr>
          <p:spPr bwMode="auto">
            <a:xfrm>
              <a:off x="4797425" y="4464050"/>
              <a:ext cx="46839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v</a:t>
              </a:r>
              <a:r>
                <a:rPr kumimoji="1" lang="en-US" altLang="zh-CN" sz="2000" baseline="-25000"/>
                <a:t>o2</a:t>
              </a:r>
              <a:endParaRPr kumimoji="1" lang="en-US" altLang="zh-CN" sz="2000"/>
            </a:p>
          </p:txBody>
        </p:sp>
      </p:grpSp>
      <p:graphicFrame>
        <p:nvGraphicFramePr>
          <p:cNvPr id="62" name="Object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658376"/>
              </p:ext>
            </p:extLst>
          </p:nvPr>
        </p:nvGraphicFramePr>
        <p:xfrm>
          <a:off x="1111250" y="5529808"/>
          <a:ext cx="1462088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33" name="Equation" r:id="rId3" imgW="812520" imgH="457200" progId="Equation.DSMT4">
                  <p:embed/>
                </p:oleObj>
              </mc:Choice>
              <mc:Fallback>
                <p:oleObj name="Equation" r:id="rId3" imgW="8125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250" y="5529808"/>
                        <a:ext cx="1462088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AutoShape 72"/>
          <p:cNvSpPr>
            <a:spLocks noChangeArrowheads="1"/>
          </p:cNvSpPr>
          <p:nvPr/>
        </p:nvSpPr>
        <p:spPr bwMode="auto">
          <a:xfrm>
            <a:off x="3070679" y="5850483"/>
            <a:ext cx="676275" cy="180975"/>
          </a:xfrm>
          <a:prstGeom prst="rightArrow">
            <a:avLst>
              <a:gd name="adj1" fmla="val 50000"/>
              <a:gd name="adj2" fmla="val 93421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graphicFrame>
        <p:nvGraphicFramePr>
          <p:cNvPr id="64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05528"/>
              </p:ext>
            </p:extLst>
          </p:nvPr>
        </p:nvGraphicFramePr>
        <p:xfrm>
          <a:off x="3981450" y="5507583"/>
          <a:ext cx="4618038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34" name="Equation" r:id="rId5" imgW="2565360" imgH="482400" progId="Equation.DSMT4">
                  <p:embed/>
                </p:oleObj>
              </mc:Choice>
              <mc:Fallback>
                <p:oleObj name="Equation" r:id="rId5" imgW="25653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1450" y="5507583"/>
                        <a:ext cx="4618038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5948142"/>
              </p:ext>
            </p:extLst>
          </p:nvPr>
        </p:nvGraphicFramePr>
        <p:xfrm>
          <a:off x="479104" y="2918335"/>
          <a:ext cx="1141412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35" name="Equation" r:id="rId7" imgW="634680" imgH="431640" progId="Equation.DSMT4">
                  <p:embed/>
                </p:oleObj>
              </mc:Choice>
              <mc:Fallback>
                <p:oleObj name="Equation" r:id="rId7" imgW="6346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104" y="2918335"/>
                        <a:ext cx="1141412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5137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 animBg="1"/>
      <p:bldP spid="6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657225" y="954088"/>
            <a:ext cx="24923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dirty="0" smtClean="0">
                <a:solidFill>
                  <a:srgbClr val="0000CC"/>
                </a:solidFill>
              </a:rPr>
              <a:t>4</a:t>
            </a:r>
            <a:r>
              <a:rPr kumimoji="1" lang="zh-CN" altLang="en-US" sz="2000" dirty="0" smtClean="0">
                <a:solidFill>
                  <a:srgbClr val="0000CC"/>
                </a:solidFill>
              </a:rPr>
              <a:t>、积分电路</a:t>
            </a:r>
            <a:endParaRPr kumimoji="1" lang="en-US" altLang="zh-CN" sz="2000" dirty="0">
              <a:solidFill>
                <a:srgbClr val="0000CC"/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4246961" y="930245"/>
            <a:ext cx="4790308" cy="2840068"/>
            <a:chOff x="4246961" y="930245"/>
            <a:chExt cx="4790308" cy="2840068"/>
          </a:xfrm>
        </p:grpSpPr>
        <p:sp>
          <p:nvSpPr>
            <p:cNvPr id="3" name="Line 22"/>
            <p:cNvSpPr>
              <a:spLocks noChangeShapeType="1"/>
            </p:cNvSpPr>
            <p:nvPr/>
          </p:nvSpPr>
          <p:spPr bwMode="auto">
            <a:xfrm>
              <a:off x="7858125" y="2600325"/>
              <a:ext cx="8794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" name="Text Box 23"/>
            <p:cNvSpPr txBox="1">
              <a:spLocks noChangeArrowheads="1"/>
            </p:cNvSpPr>
            <p:nvPr/>
          </p:nvSpPr>
          <p:spPr bwMode="auto">
            <a:xfrm>
              <a:off x="8653831" y="2603500"/>
              <a:ext cx="38343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 err="1"/>
                <a:t>v</a:t>
              </a:r>
              <a:r>
                <a:rPr kumimoji="1" lang="en-US" altLang="zh-CN" sz="2000" baseline="-25000" dirty="0" err="1"/>
                <a:t>o</a:t>
              </a:r>
              <a:endParaRPr kumimoji="1" lang="en-US" altLang="zh-CN" sz="2000" dirty="0"/>
            </a:p>
          </p:txBody>
        </p:sp>
        <p:sp>
          <p:nvSpPr>
            <p:cNvPr id="5" name="Line 24"/>
            <p:cNvSpPr>
              <a:spLocks noChangeShapeType="1"/>
            </p:cNvSpPr>
            <p:nvPr/>
          </p:nvSpPr>
          <p:spPr bwMode="auto">
            <a:xfrm flipV="1">
              <a:off x="6327775" y="1584325"/>
              <a:ext cx="990600" cy="1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" name="Line 25"/>
            <p:cNvSpPr>
              <a:spLocks noChangeShapeType="1"/>
            </p:cNvSpPr>
            <p:nvPr/>
          </p:nvSpPr>
          <p:spPr bwMode="auto">
            <a:xfrm>
              <a:off x="6327775" y="1576012"/>
              <a:ext cx="0" cy="733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" name="Line 26"/>
            <p:cNvSpPr>
              <a:spLocks noChangeShapeType="1"/>
            </p:cNvSpPr>
            <p:nvPr/>
          </p:nvSpPr>
          <p:spPr bwMode="auto">
            <a:xfrm>
              <a:off x="8353425" y="1584325"/>
              <a:ext cx="0" cy="10096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" name="Line 27"/>
            <p:cNvSpPr>
              <a:spLocks noChangeShapeType="1"/>
            </p:cNvSpPr>
            <p:nvPr/>
          </p:nvSpPr>
          <p:spPr bwMode="auto">
            <a:xfrm flipH="1">
              <a:off x="6315075" y="2897188"/>
              <a:ext cx="546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" name="Text Box 28"/>
            <p:cNvSpPr txBox="1">
              <a:spLocks noChangeArrowheads="1"/>
            </p:cNvSpPr>
            <p:nvPr/>
          </p:nvSpPr>
          <p:spPr bwMode="auto">
            <a:xfrm>
              <a:off x="5233694" y="1787526"/>
              <a:ext cx="35618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</a:p>
          </p:txBody>
        </p:sp>
        <p:sp>
          <p:nvSpPr>
            <p:cNvPr id="10" name="Text Box 29"/>
            <p:cNvSpPr txBox="1">
              <a:spLocks noChangeArrowheads="1"/>
            </p:cNvSpPr>
            <p:nvPr/>
          </p:nvSpPr>
          <p:spPr bwMode="auto">
            <a:xfrm>
              <a:off x="7137400" y="930245"/>
              <a:ext cx="42191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 err="1"/>
                <a:t>v</a:t>
              </a:r>
              <a:r>
                <a:rPr kumimoji="1" lang="en-US" altLang="zh-CN" sz="2000" baseline="-25000" dirty="0" err="1"/>
                <a:t>C</a:t>
              </a:r>
              <a:endParaRPr kumimoji="1" lang="en-US" altLang="zh-CN" sz="2000" i="1" dirty="0"/>
            </a:p>
          </p:txBody>
        </p:sp>
        <p:sp>
          <p:nvSpPr>
            <p:cNvPr id="11" name="Line 30"/>
            <p:cNvSpPr>
              <a:spLocks noChangeShapeType="1"/>
            </p:cNvSpPr>
            <p:nvPr/>
          </p:nvSpPr>
          <p:spPr bwMode="auto">
            <a:xfrm>
              <a:off x="4700588" y="2306638"/>
              <a:ext cx="21701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2" name="Text Box 31"/>
            <p:cNvSpPr txBox="1">
              <a:spLocks noChangeArrowheads="1"/>
            </p:cNvSpPr>
            <p:nvPr/>
          </p:nvSpPr>
          <p:spPr bwMode="auto">
            <a:xfrm>
              <a:off x="7853146" y="1657261"/>
              <a:ext cx="34015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i</a:t>
              </a:r>
              <a:r>
                <a:rPr kumimoji="1" lang="en-US" altLang="zh-CN" sz="2000" baseline="-25000" dirty="0"/>
                <a:t>2</a:t>
              </a:r>
            </a:p>
          </p:txBody>
        </p:sp>
        <p:sp>
          <p:nvSpPr>
            <p:cNvPr id="13" name="Line 34"/>
            <p:cNvSpPr>
              <a:spLocks noChangeShapeType="1"/>
            </p:cNvSpPr>
            <p:nvPr/>
          </p:nvSpPr>
          <p:spPr bwMode="auto">
            <a:xfrm>
              <a:off x="7813675" y="1674813"/>
              <a:ext cx="419100" cy="0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4" name="Text Box 40"/>
            <p:cNvSpPr txBox="1">
              <a:spLocks noChangeArrowheads="1"/>
            </p:cNvSpPr>
            <p:nvPr/>
          </p:nvSpPr>
          <p:spPr bwMode="auto">
            <a:xfrm>
              <a:off x="4246961" y="2049433"/>
              <a:ext cx="34657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v</a:t>
              </a:r>
              <a:r>
                <a:rPr kumimoji="1" lang="en-US" altLang="zh-CN" sz="2000" i="1" baseline="-25000" dirty="0"/>
                <a:t>i</a:t>
              </a:r>
            </a:p>
          </p:txBody>
        </p:sp>
        <p:grpSp>
          <p:nvGrpSpPr>
            <p:cNvPr id="15" name="Group 44"/>
            <p:cNvGrpSpPr>
              <a:grpSpLocks/>
            </p:cNvGrpSpPr>
            <p:nvPr/>
          </p:nvGrpSpPr>
          <p:grpSpPr bwMode="auto">
            <a:xfrm>
              <a:off x="6084888" y="3579813"/>
              <a:ext cx="455612" cy="190500"/>
              <a:chOff x="720" y="1824"/>
              <a:chExt cx="261" cy="120"/>
            </a:xfrm>
          </p:grpSpPr>
          <p:sp>
            <p:nvSpPr>
              <p:cNvPr id="16" name="Line 45"/>
              <p:cNvSpPr>
                <a:spLocks noChangeShapeType="1"/>
              </p:cNvSpPr>
              <p:nvPr/>
            </p:nvSpPr>
            <p:spPr bwMode="auto">
              <a:xfrm>
                <a:off x="720" y="1824"/>
                <a:ext cx="26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Line 46"/>
              <p:cNvSpPr>
                <a:spLocks noChangeShapeType="1"/>
              </p:cNvSpPr>
              <p:nvPr/>
            </p:nvSpPr>
            <p:spPr bwMode="auto">
              <a:xfrm>
                <a:off x="778" y="1883"/>
                <a:ext cx="14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Line 47"/>
              <p:cNvSpPr>
                <a:spLocks noChangeShapeType="1"/>
              </p:cNvSpPr>
              <p:nvPr/>
            </p:nvSpPr>
            <p:spPr bwMode="auto">
              <a:xfrm>
                <a:off x="802" y="1944"/>
                <a:ext cx="8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Line 48"/>
            <p:cNvSpPr>
              <a:spLocks noChangeShapeType="1"/>
            </p:cNvSpPr>
            <p:nvPr/>
          </p:nvSpPr>
          <p:spPr bwMode="auto">
            <a:xfrm>
              <a:off x="6299200" y="2889250"/>
              <a:ext cx="0" cy="6794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4595813" y="2249488"/>
              <a:ext cx="117475" cy="1079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1" name="Oval 52"/>
            <p:cNvSpPr>
              <a:spLocks noChangeArrowheads="1"/>
            </p:cNvSpPr>
            <p:nvPr/>
          </p:nvSpPr>
          <p:spPr bwMode="auto">
            <a:xfrm>
              <a:off x="8728075" y="2535238"/>
              <a:ext cx="117475" cy="1079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2" name="Rectangle 54"/>
            <p:cNvSpPr>
              <a:spLocks noChangeArrowheads="1"/>
            </p:cNvSpPr>
            <p:nvPr/>
          </p:nvSpPr>
          <p:spPr bwMode="auto">
            <a:xfrm>
              <a:off x="5157788" y="2205038"/>
              <a:ext cx="503237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3" name="AutoShape 57"/>
            <p:cNvSpPr>
              <a:spLocks noChangeArrowheads="1"/>
            </p:cNvSpPr>
            <p:nvPr/>
          </p:nvSpPr>
          <p:spPr bwMode="auto">
            <a:xfrm rot="5400000">
              <a:off x="6867525" y="2078038"/>
              <a:ext cx="1035050" cy="1035050"/>
            </a:xfrm>
            <a:prstGeom prst="triangle">
              <a:avLst>
                <a:gd name="adj" fmla="val 51023"/>
              </a:avLst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4" name="Text Box 58"/>
            <p:cNvSpPr txBox="1">
              <a:spLocks noChangeArrowheads="1"/>
            </p:cNvSpPr>
            <p:nvPr/>
          </p:nvSpPr>
          <p:spPr bwMode="auto">
            <a:xfrm>
              <a:off x="6834188" y="2702758"/>
              <a:ext cx="33054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solidFill>
                    <a:schemeClr val="bg1"/>
                  </a:solidFill>
                </a:rPr>
                <a:t>+</a:t>
              </a:r>
            </a:p>
          </p:txBody>
        </p:sp>
        <p:sp>
          <p:nvSpPr>
            <p:cNvPr id="25" name="Text Box 59"/>
            <p:cNvSpPr txBox="1">
              <a:spLocks noChangeArrowheads="1"/>
            </p:cNvSpPr>
            <p:nvPr/>
          </p:nvSpPr>
          <p:spPr bwMode="auto">
            <a:xfrm>
              <a:off x="7083425" y="2388433"/>
              <a:ext cx="35618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>
                  <a:solidFill>
                    <a:schemeClr val="bg1"/>
                  </a:solidFill>
                </a:rPr>
                <a:t>A</a:t>
              </a:r>
              <a:endParaRPr kumimoji="1" lang="en-US" altLang="zh-CN" sz="2000">
                <a:solidFill>
                  <a:schemeClr val="bg1"/>
                </a:solidFill>
              </a:endParaRPr>
            </a:p>
          </p:txBody>
        </p:sp>
        <p:sp>
          <p:nvSpPr>
            <p:cNvPr id="26" name="Text Box 60"/>
            <p:cNvSpPr txBox="1">
              <a:spLocks noChangeArrowheads="1"/>
            </p:cNvSpPr>
            <p:nvPr/>
          </p:nvSpPr>
          <p:spPr bwMode="auto">
            <a:xfrm>
              <a:off x="6829425" y="1958220"/>
              <a:ext cx="31290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27" name="Line 61"/>
            <p:cNvSpPr>
              <a:spLocks noChangeShapeType="1"/>
            </p:cNvSpPr>
            <p:nvPr/>
          </p:nvSpPr>
          <p:spPr bwMode="auto">
            <a:xfrm>
              <a:off x="7316788" y="1403350"/>
              <a:ext cx="0" cy="4048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8" name="Line 62"/>
            <p:cNvSpPr>
              <a:spLocks noChangeShapeType="1"/>
            </p:cNvSpPr>
            <p:nvPr/>
          </p:nvSpPr>
          <p:spPr bwMode="auto">
            <a:xfrm flipV="1">
              <a:off x="7497763" y="1584325"/>
              <a:ext cx="8540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9" name="Line 63"/>
            <p:cNvSpPr>
              <a:spLocks noChangeShapeType="1"/>
            </p:cNvSpPr>
            <p:nvPr/>
          </p:nvSpPr>
          <p:spPr bwMode="auto">
            <a:xfrm>
              <a:off x="7497763" y="1404938"/>
              <a:ext cx="0" cy="4048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0" name="Text Box 64"/>
            <p:cNvSpPr txBox="1">
              <a:spLocks noChangeArrowheads="1"/>
            </p:cNvSpPr>
            <p:nvPr/>
          </p:nvSpPr>
          <p:spPr bwMode="auto">
            <a:xfrm>
              <a:off x="7206956" y="1758165"/>
              <a:ext cx="35618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C</a:t>
              </a:r>
            </a:p>
          </p:txBody>
        </p:sp>
        <p:sp>
          <p:nvSpPr>
            <p:cNvPr id="31" name="Text Box 65"/>
            <p:cNvSpPr txBox="1">
              <a:spLocks noChangeArrowheads="1"/>
            </p:cNvSpPr>
            <p:nvPr/>
          </p:nvSpPr>
          <p:spPr bwMode="auto">
            <a:xfrm>
              <a:off x="6823075" y="1133475"/>
              <a:ext cx="33054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/>
                <a:t>+</a:t>
              </a:r>
            </a:p>
          </p:txBody>
        </p:sp>
        <p:sp>
          <p:nvSpPr>
            <p:cNvPr id="32" name="Text Box 66"/>
            <p:cNvSpPr txBox="1">
              <a:spLocks noChangeArrowheads="1"/>
            </p:cNvSpPr>
            <p:nvPr/>
          </p:nvSpPr>
          <p:spPr bwMode="auto">
            <a:xfrm>
              <a:off x="7571462" y="980728"/>
              <a:ext cx="31290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/>
                <a:t>_</a:t>
              </a:r>
            </a:p>
          </p:txBody>
        </p:sp>
        <p:sp>
          <p:nvSpPr>
            <p:cNvPr id="33" name="Line 67"/>
            <p:cNvSpPr>
              <a:spLocks noChangeShapeType="1"/>
            </p:cNvSpPr>
            <p:nvPr/>
          </p:nvSpPr>
          <p:spPr bwMode="auto">
            <a:xfrm>
              <a:off x="5202238" y="2528888"/>
              <a:ext cx="419100" cy="0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4" name="Text Box 68"/>
            <p:cNvSpPr txBox="1">
              <a:spLocks noChangeArrowheads="1"/>
            </p:cNvSpPr>
            <p:nvPr/>
          </p:nvSpPr>
          <p:spPr bwMode="auto">
            <a:xfrm>
              <a:off x="5249724" y="2489140"/>
              <a:ext cx="34015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i</a:t>
              </a:r>
              <a:r>
                <a:rPr kumimoji="1" lang="en-US" altLang="zh-CN" sz="2000" baseline="-25000" dirty="0"/>
                <a:t>1</a:t>
              </a:r>
            </a:p>
          </p:txBody>
        </p:sp>
      </p:grpSp>
      <p:graphicFrame>
        <p:nvGraphicFramePr>
          <p:cNvPr id="35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7129443"/>
              </p:ext>
            </p:extLst>
          </p:nvPr>
        </p:nvGraphicFramePr>
        <p:xfrm>
          <a:off x="1906006" y="5157192"/>
          <a:ext cx="2514240" cy="708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44" name="Equation" r:id="rId3" imgW="1396800" imgH="393480" progId="Equation.DSMT4">
                  <p:embed/>
                </p:oleObj>
              </mc:Choice>
              <mc:Fallback>
                <p:oleObj name="Equation" r:id="rId3" imgW="13968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006" y="5157192"/>
                        <a:ext cx="2514240" cy="7082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300154"/>
              </p:ext>
            </p:extLst>
          </p:nvPr>
        </p:nvGraphicFramePr>
        <p:xfrm>
          <a:off x="1282700" y="4005263"/>
          <a:ext cx="3475038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45" name="Equation" r:id="rId5" imgW="1930320" imgH="419040" progId="Equation.DSMT4">
                  <p:embed/>
                </p:oleObj>
              </mc:Choice>
              <mc:Fallback>
                <p:oleObj name="Equation" r:id="rId5" imgW="19303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700" y="4005263"/>
                        <a:ext cx="3475038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226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657225" y="954088"/>
            <a:ext cx="24923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dirty="0" smtClean="0">
                <a:solidFill>
                  <a:srgbClr val="0000CC"/>
                </a:solidFill>
              </a:rPr>
              <a:t>5</a:t>
            </a:r>
            <a:r>
              <a:rPr kumimoji="1" lang="zh-CN" altLang="en-US" sz="2000" dirty="0" smtClean="0">
                <a:solidFill>
                  <a:srgbClr val="0000CC"/>
                </a:solidFill>
              </a:rPr>
              <a:t>、微分电路</a:t>
            </a:r>
            <a:endParaRPr kumimoji="1" lang="en-US" altLang="zh-CN" sz="2000" dirty="0">
              <a:solidFill>
                <a:srgbClr val="0000CC"/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4249243" y="1082530"/>
            <a:ext cx="4806339" cy="2687783"/>
            <a:chOff x="4249243" y="1082530"/>
            <a:chExt cx="4806339" cy="2687783"/>
          </a:xfrm>
        </p:grpSpPr>
        <p:sp>
          <p:nvSpPr>
            <p:cNvPr id="3" name="Line 12"/>
            <p:cNvSpPr>
              <a:spLocks noChangeShapeType="1"/>
            </p:cNvSpPr>
            <p:nvPr/>
          </p:nvSpPr>
          <p:spPr bwMode="auto">
            <a:xfrm>
              <a:off x="7858125" y="2600325"/>
              <a:ext cx="8794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" name="Text Box 13"/>
            <p:cNvSpPr txBox="1">
              <a:spLocks noChangeArrowheads="1"/>
            </p:cNvSpPr>
            <p:nvPr/>
          </p:nvSpPr>
          <p:spPr bwMode="auto">
            <a:xfrm>
              <a:off x="8672144" y="2622749"/>
              <a:ext cx="38343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 err="1"/>
                <a:t>v</a:t>
              </a:r>
              <a:r>
                <a:rPr kumimoji="1" lang="en-US" altLang="zh-CN" sz="2000" baseline="-25000" dirty="0" err="1"/>
                <a:t>o</a:t>
              </a:r>
              <a:endParaRPr kumimoji="1" lang="en-US" altLang="zh-CN" sz="2000" dirty="0"/>
            </a:p>
          </p:txBody>
        </p:sp>
        <p:sp>
          <p:nvSpPr>
            <p:cNvPr id="5" name="Line 14"/>
            <p:cNvSpPr>
              <a:spLocks noChangeShapeType="1"/>
            </p:cNvSpPr>
            <p:nvPr/>
          </p:nvSpPr>
          <p:spPr bwMode="auto">
            <a:xfrm flipV="1">
              <a:off x="4751388" y="2303463"/>
              <a:ext cx="676275" cy="15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" name="Line 15"/>
            <p:cNvSpPr>
              <a:spLocks noChangeShapeType="1"/>
            </p:cNvSpPr>
            <p:nvPr/>
          </p:nvSpPr>
          <p:spPr bwMode="auto">
            <a:xfrm>
              <a:off x="6335713" y="1573213"/>
              <a:ext cx="0" cy="733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" name="Line 16"/>
            <p:cNvSpPr>
              <a:spLocks noChangeShapeType="1"/>
            </p:cNvSpPr>
            <p:nvPr/>
          </p:nvSpPr>
          <p:spPr bwMode="auto">
            <a:xfrm>
              <a:off x="8353425" y="1584325"/>
              <a:ext cx="0" cy="10096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" name="Line 17"/>
            <p:cNvSpPr>
              <a:spLocks noChangeShapeType="1"/>
            </p:cNvSpPr>
            <p:nvPr/>
          </p:nvSpPr>
          <p:spPr bwMode="auto">
            <a:xfrm flipH="1">
              <a:off x="6315075" y="2897188"/>
              <a:ext cx="546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" name="Text Box 18"/>
            <p:cNvSpPr txBox="1">
              <a:spLocks noChangeArrowheads="1"/>
            </p:cNvSpPr>
            <p:nvPr/>
          </p:nvSpPr>
          <p:spPr bwMode="auto">
            <a:xfrm>
              <a:off x="7181850" y="1082530"/>
              <a:ext cx="35618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</a:p>
          </p:txBody>
        </p:sp>
        <p:sp>
          <p:nvSpPr>
            <p:cNvPr id="10" name="Text Box 19"/>
            <p:cNvSpPr txBox="1">
              <a:spLocks noChangeArrowheads="1"/>
            </p:cNvSpPr>
            <p:nvPr/>
          </p:nvSpPr>
          <p:spPr bwMode="auto">
            <a:xfrm>
              <a:off x="5227003" y="1584325"/>
              <a:ext cx="42191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 err="1"/>
                <a:t>v</a:t>
              </a:r>
              <a:r>
                <a:rPr kumimoji="1" lang="en-US" altLang="zh-CN" sz="2000" baseline="-25000" dirty="0" err="1"/>
                <a:t>C</a:t>
              </a:r>
              <a:endParaRPr kumimoji="1" lang="en-US" altLang="zh-CN" sz="2000" i="1" dirty="0"/>
            </a:p>
          </p:txBody>
        </p:sp>
        <p:sp>
          <p:nvSpPr>
            <p:cNvPr id="11" name="Line 20"/>
            <p:cNvSpPr>
              <a:spLocks noChangeShapeType="1"/>
            </p:cNvSpPr>
            <p:nvPr/>
          </p:nvSpPr>
          <p:spPr bwMode="auto">
            <a:xfrm>
              <a:off x="6327775" y="1584325"/>
              <a:ext cx="20240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2" name="Text Box 21"/>
            <p:cNvSpPr txBox="1">
              <a:spLocks noChangeArrowheads="1"/>
            </p:cNvSpPr>
            <p:nvPr/>
          </p:nvSpPr>
          <p:spPr bwMode="auto">
            <a:xfrm>
              <a:off x="7851775" y="1654145"/>
              <a:ext cx="34015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i</a:t>
              </a:r>
              <a:r>
                <a:rPr kumimoji="1" lang="en-US" altLang="zh-CN" sz="2000" baseline="-25000" dirty="0"/>
                <a:t>2</a:t>
              </a:r>
            </a:p>
          </p:txBody>
        </p:sp>
        <p:sp>
          <p:nvSpPr>
            <p:cNvPr id="13" name="Line 22"/>
            <p:cNvSpPr>
              <a:spLocks noChangeShapeType="1"/>
            </p:cNvSpPr>
            <p:nvPr/>
          </p:nvSpPr>
          <p:spPr bwMode="auto">
            <a:xfrm>
              <a:off x="7813675" y="1674813"/>
              <a:ext cx="419100" cy="0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4" name="Text Box 23"/>
            <p:cNvSpPr txBox="1">
              <a:spLocks noChangeArrowheads="1"/>
            </p:cNvSpPr>
            <p:nvPr/>
          </p:nvSpPr>
          <p:spPr bwMode="auto">
            <a:xfrm>
              <a:off x="4249243" y="1943041"/>
              <a:ext cx="34657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v</a:t>
              </a:r>
              <a:r>
                <a:rPr kumimoji="1" lang="en-US" altLang="zh-CN" sz="2000" i="1" baseline="-25000" dirty="0"/>
                <a:t>i</a:t>
              </a:r>
            </a:p>
          </p:txBody>
        </p:sp>
        <p:grpSp>
          <p:nvGrpSpPr>
            <p:cNvPr id="15" name="Group 24"/>
            <p:cNvGrpSpPr>
              <a:grpSpLocks/>
            </p:cNvGrpSpPr>
            <p:nvPr/>
          </p:nvGrpSpPr>
          <p:grpSpPr bwMode="auto">
            <a:xfrm>
              <a:off x="6084888" y="3579813"/>
              <a:ext cx="455612" cy="190500"/>
              <a:chOff x="720" y="1824"/>
              <a:chExt cx="261" cy="120"/>
            </a:xfrm>
          </p:grpSpPr>
          <p:sp>
            <p:nvSpPr>
              <p:cNvPr id="16" name="Line 25"/>
              <p:cNvSpPr>
                <a:spLocks noChangeShapeType="1"/>
              </p:cNvSpPr>
              <p:nvPr/>
            </p:nvSpPr>
            <p:spPr bwMode="auto">
              <a:xfrm>
                <a:off x="720" y="1824"/>
                <a:ext cx="26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Line 26"/>
              <p:cNvSpPr>
                <a:spLocks noChangeShapeType="1"/>
              </p:cNvSpPr>
              <p:nvPr/>
            </p:nvSpPr>
            <p:spPr bwMode="auto">
              <a:xfrm>
                <a:off x="778" y="1883"/>
                <a:ext cx="14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Line 27"/>
              <p:cNvSpPr>
                <a:spLocks noChangeShapeType="1"/>
              </p:cNvSpPr>
              <p:nvPr/>
            </p:nvSpPr>
            <p:spPr bwMode="auto">
              <a:xfrm>
                <a:off x="802" y="1944"/>
                <a:ext cx="8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Line 28"/>
            <p:cNvSpPr>
              <a:spLocks noChangeShapeType="1"/>
            </p:cNvSpPr>
            <p:nvPr/>
          </p:nvSpPr>
          <p:spPr bwMode="auto">
            <a:xfrm>
              <a:off x="6299200" y="2889250"/>
              <a:ext cx="0" cy="6794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0" name="Oval 29"/>
            <p:cNvSpPr>
              <a:spLocks noChangeArrowheads="1"/>
            </p:cNvSpPr>
            <p:nvPr/>
          </p:nvSpPr>
          <p:spPr bwMode="auto">
            <a:xfrm>
              <a:off x="4595813" y="2249488"/>
              <a:ext cx="117475" cy="1079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1" name="Oval 30"/>
            <p:cNvSpPr>
              <a:spLocks noChangeArrowheads="1"/>
            </p:cNvSpPr>
            <p:nvPr/>
          </p:nvSpPr>
          <p:spPr bwMode="auto">
            <a:xfrm>
              <a:off x="8728075" y="2535238"/>
              <a:ext cx="117475" cy="1079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2" name="Rectangle 31"/>
            <p:cNvSpPr>
              <a:spLocks noChangeArrowheads="1"/>
            </p:cNvSpPr>
            <p:nvPr/>
          </p:nvSpPr>
          <p:spPr bwMode="auto">
            <a:xfrm>
              <a:off x="7137400" y="1482640"/>
              <a:ext cx="503238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3" name="AutoShape 32"/>
            <p:cNvSpPr>
              <a:spLocks noChangeArrowheads="1"/>
            </p:cNvSpPr>
            <p:nvPr/>
          </p:nvSpPr>
          <p:spPr bwMode="auto">
            <a:xfrm rot="5400000">
              <a:off x="6867525" y="2078038"/>
              <a:ext cx="1035050" cy="1035050"/>
            </a:xfrm>
            <a:prstGeom prst="triangle">
              <a:avLst>
                <a:gd name="adj" fmla="val 51023"/>
              </a:avLst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4" name="Text Box 33"/>
            <p:cNvSpPr txBox="1">
              <a:spLocks noChangeArrowheads="1"/>
            </p:cNvSpPr>
            <p:nvPr/>
          </p:nvSpPr>
          <p:spPr bwMode="auto">
            <a:xfrm>
              <a:off x="6834188" y="2693988"/>
              <a:ext cx="33054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dirty="0">
                  <a:solidFill>
                    <a:schemeClr val="bg1"/>
                  </a:solidFill>
                </a:rPr>
                <a:t>+</a:t>
              </a:r>
            </a:p>
          </p:txBody>
        </p:sp>
        <p:sp>
          <p:nvSpPr>
            <p:cNvPr id="25" name="Text Box 34"/>
            <p:cNvSpPr txBox="1">
              <a:spLocks noChangeArrowheads="1"/>
            </p:cNvSpPr>
            <p:nvPr/>
          </p:nvSpPr>
          <p:spPr bwMode="auto">
            <a:xfrm>
              <a:off x="7092950" y="2341563"/>
              <a:ext cx="35618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>
                  <a:solidFill>
                    <a:schemeClr val="bg1"/>
                  </a:solidFill>
                </a:rPr>
                <a:t>A</a:t>
              </a:r>
              <a:endParaRPr kumimoji="1" lang="en-US" altLang="zh-CN" sz="2000" dirty="0">
                <a:solidFill>
                  <a:schemeClr val="bg1"/>
                </a:solidFill>
              </a:endParaRPr>
            </a:p>
          </p:txBody>
        </p:sp>
        <p:sp>
          <p:nvSpPr>
            <p:cNvPr id="26" name="Text Box 35"/>
            <p:cNvSpPr txBox="1">
              <a:spLocks noChangeArrowheads="1"/>
            </p:cNvSpPr>
            <p:nvPr/>
          </p:nvSpPr>
          <p:spPr bwMode="auto">
            <a:xfrm>
              <a:off x="6832823" y="1969790"/>
              <a:ext cx="31290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27" name="Line 36"/>
            <p:cNvSpPr>
              <a:spLocks noChangeShapeType="1"/>
            </p:cNvSpPr>
            <p:nvPr/>
          </p:nvSpPr>
          <p:spPr bwMode="auto">
            <a:xfrm>
              <a:off x="5411788" y="2079625"/>
              <a:ext cx="0" cy="4048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8" name="Line 37"/>
            <p:cNvSpPr>
              <a:spLocks noChangeShapeType="1"/>
            </p:cNvSpPr>
            <p:nvPr/>
          </p:nvSpPr>
          <p:spPr bwMode="auto">
            <a:xfrm flipV="1">
              <a:off x="5607050" y="2303463"/>
              <a:ext cx="12604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9" name="Line 38"/>
            <p:cNvSpPr>
              <a:spLocks noChangeShapeType="1"/>
            </p:cNvSpPr>
            <p:nvPr/>
          </p:nvSpPr>
          <p:spPr bwMode="auto">
            <a:xfrm>
              <a:off x="5592763" y="2081213"/>
              <a:ext cx="0" cy="4048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0" name="Text Box 39"/>
            <p:cNvSpPr txBox="1">
              <a:spLocks noChangeArrowheads="1"/>
            </p:cNvSpPr>
            <p:nvPr/>
          </p:nvSpPr>
          <p:spPr bwMode="auto">
            <a:xfrm>
              <a:off x="5292725" y="2438400"/>
              <a:ext cx="35618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C</a:t>
              </a:r>
            </a:p>
          </p:txBody>
        </p:sp>
        <p:sp>
          <p:nvSpPr>
            <p:cNvPr id="31" name="Text Box 40"/>
            <p:cNvSpPr txBox="1">
              <a:spLocks noChangeArrowheads="1"/>
            </p:cNvSpPr>
            <p:nvPr/>
          </p:nvSpPr>
          <p:spPr bwMode="auto">
            <a:xfrm>
              <a:off x="4976813" y="1854200"/>
              <a:ext cx="33054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/>
                <a:t>+</a:t>
              </a:r>
            </a:p>
          </p:txBody>
        </p:sp>
        <p:sp>
          <p:nvSpPr>
            <p:cNvPr id="32" name="Text Box 41"/>
            <p:cNvSpPr txBox="1">
              <a:spLocks noChangeArrowheads="1"/>
            </p:cNvSpPr>
            <p:nvPr/>
          </p:nvSpPr>
          <p:spPr bwMode="auto">
            <a:xfrm>
              <a:off x="5607050" y="1729383"/>
              <a:ext cx="31290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dirty="0"/>
                <a:t>_</a:t>
              </a:r>
            </a:p>
          </p:txBody>
        </p:sp>
        <p:sp>
          <p:nvSpPr>
            <p:cNvPr id="33" name="Line 42"/>
            <p:cNvSpPr>
              <a:spLocks noChangeShapeType="1"/>
            </p:cNvSpPr>
            <p:nvPr/>
          </p:nvSpPr>
          <p:spPr bwMode="auto">
            <a:xfrm>
              <a:off x="5741988" y="2438400"/>
              <a:ext cx="419100" cy="0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4" name="Text Box 43"/>
            <p:cNvSpPr txBox="1">
              <a:spLocks noChangeArrowheads="1"/>
            </p:cNvSpPr>
            <p:nvPr/>
          </p:nvSpPr>
          <p:spPr bwMode="auto">
            <a:xfrm>
              <a:off x="5816018" y="2424251"/>
              <a:ext cx="34015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i</a:t>
              </a:r>
              <a:r>
                <a:rPr kumimoji="1" lang="en-US" altLang="zh-CN" sz="2000" baseline="-25000" dirty="0"/>
                <a:t>1</a:t>
              </a:r>
            </a:p>
          </p:txBody>
        </p:sp>
      </p:grpSp>
      <p:graphicFrame>
        <p:nvGraphicFramePr>
          <p:cNvPr id="35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856362"/>
              </p:ext>
            </p:extLst>
          </p:nvPr>
        </p:nvGraphicFramePr>
        <p:xfrm>
          <a:off x="1547664" y="4653136"/>
          <a:ext cx="2171448" cy="754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66" name="Equation" r:id="rId3" imgW="1206360" imgH="419040" progId="Equation.DSMT4">
                  <p:embed/>
                </p:oleObj>
              </mc:Choice>
              <mc:Fallback>
                <p:oleObj name="Equation" r:id="rId3" imgW="12063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653136"/>
                        <a:ext cx="2171448" cy="754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0664626"/>
              </p:ext>
            </p:extLst>
          </p:nvPr>
        </p:nvGraphicFramePr>
        <p:xfrm>
          <a:off x="1061211" y="3501008"/>
          <a:ext cx="3222625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67" name="Equation" r:id="rId5" imgW="1790640" imgH="393480" progId="Equation.DSMT4">
                  <p:embed/>
                </p:oleObj>
              </mc:Choice>
              <mc:Fallback>
                <p:oleObj name="Equation" r:id="rId5" imgW="17906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1211" y="3501008"/>
                        <a:ext cx="3222625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3974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657225" y="954088"/>
            <a:ext cx="32400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dirty="0" smtClean="0">
                <a:solidFill>
                  <a:srgbClr val="0000CC"/>
                </a:solidFill>
              </a:rPr>
              <a:t>6</a:t>
            </a:r>
            <a:r>
              <a:rPr kumimoji="1" lang="zh-CN" altLang="en-US" sz="2000" dirty="0" smtClean="0">
                <a:solidFill>
                  <a:srgbClr val="0000CC"/>
                </a:solidFill>
              </a:rPr>
              <a:t>、对数</a:t>
            </a:r>
            <a:r>
              <a:rPr kumimoji="1" lang="zh-CN" altLang="en-US" sz="2000" dirty="0">
                <a:solidFill>
                  <a:srgbClr val="0000CC"/>
                </a:solidFill>
              </a:rPr>
              <a:t>运算电路</a:t>
            </a:r>
            <a:endParaRPr kumimoji="1" lang="en-US" altLang="zh-CN" sz="2000" dirty="0">
              <a:solidFill>
                <a:srgbClr val="0000CC"/>
              </a:solidFill>
            </a:endParaRPr>
          </a:p>
        </p:txBody>
      </p:sp>
      <p:pic>
        <p:nvPicPr>
          <p:cNvPr id="3" name="图片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268760"/>
            <a:ext cx="4210050" cy="278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652379"/>
              </p:ext>
            </p:extLst>
          </p:nvPr>
        </p:nvGraphicFramePr>
        <p:xfrm>
          <a:off x="925513" y="2205038"/>
          <a:ext cx="2308225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08" name="Equation" r:id="rId4" imgW="1282680" imgH="393480" progId="Equation.DSMT4">
                  <p:embed/>
                </p:oleObj>
              </mc:Choice>
              <mc:Fallback>
                <p:oleObj name="Equation" r:id="rId4" imgW="12826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513" y="2205038"/>
                        <a:ext cx="2308225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9506740"/>
              </p:ext>
            </p:extLst>
          </p:nvPr>
        </p:nvGraphicFramePr>
        <p:xfrm>
          <a:off x="1031875" y="3573463"/>
          <a:ext cx="1096963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09" name="Equation" r:id="rId6" imgW="609480" imgH="355320" progId="Equation.DSMT4">
                  <p:embed/>
                </p:oleObj>
              </mc:Choice>
              <mc:Fallback>
                <p:oleObj name="Equation" r:id="rId6" imgW="60948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1875" y="3573463"/>
                        <a:ext cx="1096963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341554"/>
              </p:ext>
            </p:extLst>
          </p:nvPr>
        </p:nvGraphicFramePr>
        <p:xfrm>
          <a:off x="327025" y="5300663"/>
          <a:ext cx="6948488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10" name="Equation" r:id="rId8" imgW="3860640" imgH="393480" progId="Equation.DSMT4">
                  <p:embed/>
                </p:oleObj>
              </mc:Choice>
              <mc:Fallback>
                <p:oleObj name="Equation" r:id="rId8" imgW="38606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025" y="5300663"/>
                        <a:ext cx="6948488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1875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657225" y="954088"/>
            <a:ext cx="32400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dirty="0" smtClean="0">
                <a:solidFill>
                  <a:srgbClr val="0000CC"/>
                </a:solidFill>
              </a:rPr>
              <a:t>7</a:t>
            </a:r>
            <a:r>
              <a:rPr kumimoji="1" lang="zh-CN" altLang="en-US" sz="2000" dirty="0" smtClean="0">
                <a:solidFill>
                  <a:srgbClr val="0000CC"/>
                </a:solidFill>
              </a:rPr>
              <a:t>、指数</a:t>
            </a:r>
            <a:r>
              <a:rPr kumimoji="1" lang="zh-CN" altLang="en-US" sz="2000" dirty="0">
                <a:solidFill>
                  <a:srgbClr val="0000CC"/>
                </a:solidFill>
              </a:rPr>
              <a:t>运算电路</a:t>
            </a:r>
            <a:endParaRPr kumimoji="1" lang="en-US" altLang="zh-CN" sz="2000" dirty="0">
              <a:solidFill>
                <a:srgbClr val="0000CC"/>
              </a:solidFill>
            </a:endParaRPr>
          </a:p>
        </p:txBody>
      </p:sp>
      <p:pic>
        <p:nvPicPr>
          <p:cNvPr id="6" name="图片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449389"/>
            <a:ext cx="4085714" cy="2810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0" y="3324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2190030"/>
              </p:ext>
            </p:extLst>
          </p:nvPr>
        </p:nvGraphicFramePr>
        <p:xfrm>
          <a:off x="1392238" y="3871913"/>
          <a:ext cx="1484312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10" name="Equation" r:id="rId4" imgW="825480" imgH="215640" progId="Equation.DSMT4">
                  <p:embed/>
                </p:oleObj>
              </mc:Choice>
              <mc:Fallback>
                <p:oleObj name="Equation" r:id="rId4" imgW="825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2238" y="3871913"/>
                        <a:ext cx="1484312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0" y="3324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0118628"/>
              </p:ext>
            </p:extLst>
          </p:nvPr>
        </p:nvGraphicFramePr>
        <p:xfrm>
          <a:off x="1203325" y="5013325"/>
          <a:ext cx="214947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11" name="Equation" r:id="rId6" imgW="1193760" imgH="215640" progId="Equation.DSMT4">
                  <p:embed/>
                </p:oleObj>
              </mc:Choice>
              <mc:Fallback>
                <p:oleObj name="Equation" r:id="rId6" imgW="11937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325" y="5013325"/>
                        <a:ext cx="214947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3559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657225" y="954088"/>
            <a:ext cx="39147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dirty="0" smtClean="0">
                <a:solidFill>
                  <a:srgbClr val="0000CC"/>
                </a:solidFill>
              </a:rPr>
              <a:t>8</a:t>
            </a:r>
            <a:r>
              <a:rPr kumimoji="1" lang="zh-CN" altLang="en-US" sz="2000" dirty="0" smtClean="0">
                <a:solidFill>
                  <a:srgbClr val="0000CC"/>
                </a:solidFill>
              </a:rPr>
              <a:t>、</a:t>
            </a:r>
            <a:r>
              <a:rPr kumimoji="1" lang="zh-CN" altLang="zh-CN" sz="2000" dirty="0" smtClean="0">
                <a:solidFill>
                  <a:srgbClr val="0000CC"/>
                </a:solidFill>
              </a:rPr>
              <a:t>模拟</a:t>
            </a:r>
            <a:r>
              <a:rPr kumimoji="1" lang="zh-CN" altLang="zh-CN" sz="2000" dirty="0">
                <a:solidFill>
                  <a:srgbClr val="0000CC"/>
                </a:solidFill>
              </a:rPr>
              <a:t>电压表电路</a:t>
            </a:r>
            <a:endParaRPr kumimoji="1" lang="en-US" altLang="zh-CN" sz="2000" dirty="0">
              <a:solidFill>
                <a:srgbClr val="0000CC"/>
              </a:solidFill>
            </a:endParaRPr>
          </a:p>
        </p:txBody>
      </p:sp>
      <p:graphicFrame>
        <p:nvGraphicFramePr>
          <p:cNvPr id="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7467630"/>
              </p:ext>
            </p:extLst>
          </p:nvPr>
        </p:nvGraphicFramePr>
        <p:xfrm>
          <a:off x="1763688" y="2708275"/>
          <a:ext cx="776952" cy="708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32" name="Equation" r:id="rId3" imgW="431640" imgH="393480" progId="Equation.DSMT4">
                  <p:embed/>
                </p:oleObj>
              </mc:Choice>
              <mc:Fallback>
                <p:oleObj name="Equation" r:id="rId3" imgW="4316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708275"/>
                        <a:ext cx="776952" cy="7082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" name="组合 39"/>
          <p:cNvGrpSpPr/>
          <p:nvPr/>
        </p:nvGrpSpPr>
        <p:grpSpPr>
          <a:xfrm>
            <a:off x="4848225" y="1516722"/>
            <a:ext cx="2693988" cy="3710916"/>
            <a:chOff x="4848225" y="1516722"/>
            <a:chExt cx="2693988" cy="3710916"/>
          </a:xfrm>
        </p:grpSpPr>
        <p:sp>
          <p:nvSpPr>
            <p:cNvPr id="4" name="AutoShape 13"/>
            <p:cNvSpPr>
              <a:spLocks noChangeArrowheads="1"/>
            </p:cNvSpPr>
            <p:nvPr/>
          </p:nvSpPr>
          <p:spPr bwMode="auto">
            <a:xfrm rot="5400000">
              <a:off x="6199188" y="2754313"/>
              <a:ext cx="1035050" cy="1035050"/>
            </a:xfrm>
            <a:prstGeom prst="triangle">
              <a:avLst>
                <a:gd name="adj" fmla="val 51023"/>
              </a:avLst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5" name="Line 14"/>
            <p:cNvSpPr>
              <a:spLocks noChangeShapeType="1"/>
            </p:cNvSpPr>
            <p:nvPr/>
          </p:nvSpPr>
          <p:spPr bwMode="auto">
            <a:xfrm flipH="1">
              <a:off x="6015038" y="3594100"/>
              <a:ext cx="1905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6" name="Line 15"/>
            <p:cNvSpPr>
              <a:spLocks noChangeShapeType="1"/>
            </p:cNvSpPr>
            <p:nvPr/>
          </p:nvSpPr>
          <p:spPr bwMode="auto">
            <a:xfrm flipH="1">
              <a:off x="5027613" y="3024188"/>
              <a:ext cx="11969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7" name="Line 16"/>
            <p:cNvSpPr>
              <a:spLocks noChangeShapeType="1"/>
            </p:cNvSpPr>
            <p:nvPr/>
          </p:nvSpPr>
          <p:spPr bwMode="auto">
            <a:xfrm flipV="1">
              <a:off x="7196138" y="3294063"/>
              <a:ext cx="3143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" name="Line 17"/>
            <p:cNvSpPr>
              <a:spLocks noChangeShapeType="1"/>
            </p:cNvSpPr>
            <p:nvPr/>
          </p:nvSpPr>
          <p:spPr bwMode="auto">
            <a:xfrm>
              <a:off x="6018213" y="2393950"/>
              <a:ext cx="15144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9" name="Line 18"/>
            <p:cNvSpPr>
              <a:spLocks noChangeShapeType="1"/>
            </p:cNvSpPr>
            <p:nvPr/>
          </p:nvSpPr>
          <p:spPr bwMode="auto">
            <a:xfrm>
              <a:off x="7542213" y="2393950"/>
              <a:ext cx="0" cy="8953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0" name="Line 19"/>
            <p:cNvSpPr>
              <a:spLocks noChangeShapeType="1"/>
            </p:cNvSpPr>
            <p:nvPr/>
          </p:nvSpPr>
          <p:spPr bwMode="auto">
            <a:xfrm>
              <a:off x="5027613" y="3024188"/>
              <a:ext cx="0" cy="3143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1" name="Text Box 20"/>
            <p:cNvSpPr txBox="1">
              <a:spLocks noChangeArrowheads="1"/>
            </p:cNvSpPr>
            <p:nvPr/>
          </p:nvSpPr>
          <p:spPr bwMode="auto">
            <a:xfrm>
              <a:off x="5442818" y="3924300"/>
              <a:ext cx="64135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V</a:t>
              </a:r>
              <a:r>
                <a:rPr kumimoji="1" lang="en-US" altLang="zh-CN" sz="2000" i="1" baseline="-25000" dirty="0"/>
                <a:t>I</a:t>
              </a:r>
              <a:endParaRPr kumimoji="1" lang="en-US" altLang="zh-CN" sz="2000" i="1" dirty="0"/>
            </a:p>
          </p:txBody>
        </p:sp>
        <p:sp>
          <p:nvSpPr>
            <p:cNvPr id="12" name="Text Box 21"/>
            <p:cNvSpPr txBox="1">
              <a:spLocks noChangeArrowheads="1"/>
            </p:cNvSpPr>
            <p:nvPr/>
          </p:nvSpPr>
          <p:spPr bwMode="auto">
            <a:xfrm>
              <a:off x="5368925" y="2596842"/>
              <a:ext cx="35618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R</a:t>
              </a:r>
            </a:p>
          </p:txBody>
        </p:sp>
        <p:sp>
          <p:nvSpPr>
            <p:cNvPr id="13" name="Rectangle 22"/>
            <p:cNvSpPr>
              <a:spLocks noChangeArrowheads="1"/>
            </p:cNvSpPr>
            <p:nvPr/>
          </p:nvSpPr>
          <p:spPr bwMode="auto">
            <a:xfrm>
              <a:off x="5297488" y="2927350"/>
              <a:ext cx="503237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4" name="Rectangle 23"/>
            <p:cNvSpPr>
              <a:spLocks noChangeArrowheads="1"/>
            </p:cNvSpPr>
            <p:nvPr/>
          </p:nvSpPr>
          <p:spPr bwMode="auto">
            <a:xfrm>
              <a:off x="6880225" y="2303463"/>
              <a:ext cx="503238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5" name="Text Box 24"/>
            <p:cNvSpPr txBox="1">
              <a:spLocks noChangeArrowheads="1"/>
            </p:cNvSpPr>
            <p:nvPr/>
          </p:nvSpPr>
          <p:spPr bwMode="auto">
            <a:xfrm>
              <a:off x="6197600" y="2668850"/>
              <a:ext cx="31290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16" name="Text Box 25"/>
            <p:cNvSpPr txBox="1">
              <a:spLocks noChangeArrowheads="1"/>
            </p:cNvSpPr>
            <p:nvPr/>
          </p:nvSpPr>
          <p:spPr bwMode="auto">
            <a:xfrm>
              <a:off x="6175375" y="3360355"/>
              <a:ext cx="33054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dirty="0">
                  <a:solidFill>
                    <a:schemeClr val="bg1"/>
                  </a:solidFill>
                </a:rPr>
                <a:t>+</a:t>
              </a:r>
            </a:p>
          </p:txBody>
        </p:sp>
        <p:sp>
          <p:nvSpPr>
            <p:cNvPr id="17" name="Text Box 26"/>
            <p:cNvSpPr txBox="1">
              <a:spLocks noChangeArrowheads="1"/>
            </p:cNvSpPr>
            <p:nvPr/>
          </p:nvSpPr>
          <p:spPr bwMode="auto">
            <a:xfrm>
              <a:off x="6423025" y="3028890"/>
              <a:ext cx="35618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>
                  <a:solidFill>
                    <a:schemeClr val="bg1"/>
                  </a:solidFill>
                </a:rPr>
                <a:t>A</a:t>
              </a:r>
              <a:endParaRPr kumimoji="1" lang="en-US" altLang="zh-CN" sz="2000" dirty="0">
                <a:solidFill>
                  <a:schemeClr val="bg1"/>
                </a:solidFill>
              </a:endParaRPr>
            </a:p>
          </p:txBody>
        </p:sp>
        <p:sp>
          <p:nvSpPr>
            <p:cNvPr id="18" name="Line 27"/>
            <p:cNvSpPr>
              <a:spLocks noChangeShapeType="1"/>
            </p:cNvSpPr>
            <p:nvPr/>
          </p:nvSpPr>
          <p:spPr bwMode="auto">
            <a:xfrm>
              <a:off x="6018213" y="2393950"/>
              <a:ext cx="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grpSp>
          <p:nvGrpSpPr>
            <p:cNvPr id="19" name="Group 28"/>
            <p:cNvGrpSpPr>
              <a:grpSpLocks/>
            </p:cNvGrpSpPr>
            <p:nvPr/>
          </p:nvGrpSpPr>
          <p:grpSpPr bwMode="auto">
            <a:xfrm>
              <a:off x="4848225" y="3338513"/>
              <a:ext cx="400050" cy="157162"/>
              <a:chOff x="1888" y="3082"/>
              <a:chExt cx="252" cy="99"/>
            </a:xfrm>
          </p:grpSpPr>
          <p:sp>
            <p:nvSpPr>
              <p:cNvPr id="20" name="Line 29"/>
              <p:cNvSpPr>
                <a:spLocks noChangeShapeType="1"/>
              </p:cNvSpPr>
              <p:nvPr/>
            </p:nvSpPr>
            <p:spPr bwMode="auto">
              <a:xfrm>
                <a:off x="1888" y="3082"/>
                <a:ext cx="25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21" name="Line 30"/>
              <p:cNvSpPr>
                <a:spLocks noChangeShapeType="1"/>
              </p:cNvSpPr>
              <p:nvPr/>
            </p:nvSpPr>
            <p:spPr bwMode="auto">
              <a:xfrm>
                <a:off x="1938" y="3134"/>
                <a:ext cx="15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22" name="Line 31"/>
              <p:cNvSpPr>
                <a:spLocks noChangeShapeType="1"/>
              </p:cNvSpPr>
              <p:nvPr/>
            </p:nvSpPr>
            <p:spPr bwMode="auto">
              <a:xfrm>
                <a:off x="1974" y="3181"/>
                <a:ext cx="6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</p:grpSp>
        <p:sp>
          <p:nvSpPr>
            <p:cNvPr id="23" name="Line 32"/>
            <p:cNvSpPr>
              <a:spLocks noChangeShapeType="1"/>
            </p:cNvSpPr>
            <p:nvPr/>
          </p:nvSpPr>
          <p:spPr bwMode="auto">
            <a:xfrm>
              <a:off x="6000750" y="3608388"/>
              <a:ext cx="0" cy="315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grpSp>
          <p:nvGrpSpPr>
            <p:cNvPr id="24" name="Group 33"/>
            <p:cNvGrpSpPr>
              <a:grpSpLocks/>
            </p:cNvGrpSpPr>
            <p:nvPr/>
          </p:nvGrpSpPr>
          <p:grpSpPr bwMode="auto">
            <a:xfrm>
              <a:off x="5800725" y="4733925"/>
              <a:ext cx="400050" cy="157163"/>
              <a:chOff x="1888" y="3082"/>
              <a:chExt cx="252" cy="99"/>
            </a:xfrm>
          </p:grpSpPr>
          <p:sp>
            <p:nvSpPr>
              <p:cNvPr id="25" name="Line 34"/>
              <p:cNvSpPr>
                <a:spLocks noChangeShapeType="1"/>
              </p:cNvSpPr>
              <p:nvPr/>
            </p:nvSpPr>
            <p:spPr bwMode="auto">
              <a:xfrm>
                <a:off x="1888" y="3082"/>
                <a:ext cx="25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26" name="Line 35"/>
              <p:cNvSpPr>
                <a:spLocks noChangeShapeType="1"/>
              </p:cNvSpPr>
              <p:nvPr/>
            </p:nvSpPr>
            <p:spPr bwMode="auto">
              <a:xfrm>
                <a:off x="1938" y="3134"/>
                <a:ext cx="15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27" name="Line 36"/>
              <p:cNvSpPr>
                <a:spLocks noChangeShapeType="1"/>
              </p:cNvSpPr>
              <p:nvPr/>
            </p:nvSpPr>
            <p:spPr bwMode="auto">
              <a:xfrm>
                <a:off x="1974" y="3181"/>
                <a:ext cx="6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</p:grpSp>
        <p:sp>
          <p:nvSpPr>
            <p:cNvPr id="28" name="Text Box 37"/>
            <p:cNvSpPr txBox="1">
              <a:spLocks noChangeArrowheads="1"/>
            </p:cNvSpPr>
            <p:nvPr/>
          </p:nvSpPr>
          <p:spPr bwMode="auto">
            <a:xfrm>
              <a:off x="6073606" y="3758376"/>
              <a:ext cx="33053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000">
                  <a:sym typeface="Symbol" pitchFamily="18" charset="2"/>
                </a:rPr>
                <a:t>+</a:t>
              </a:r>
            </a:p>
          </p:txBody>
        </p:sp>
        <p:sp>
          <p:nvSpPr>
            <p:cNvPr id="29" name="Text Box 38"/>
            <p:cNvSpPr txBox="1">
              <a:spLocks noChangeArrowheads="1"/>
            </p:cNvSpPr>
            <p:nvPr/>
          </p:nvSpPr>
          <p:spPr bwMode="auto">
            <a:xfrm>
              <a:off x="6060033" y="4023489"/>
              <a:ext cx="33655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000" dirty="0">
                  <a:sym typeface="Symbol" pitchFamily="18" charset="2"/>
                </a:rPr>
                <a:t>_</a:t>
              </a:r>
            </a:p>
          </p:txBody>
        </p:sp>
        <p:sp>
          <p:nvSpPr>
            <p:cNvPr id="30" name="Oval 39"/>
            <p:cNvSpPr>
              <a:spLocks noChangeArrowheads="1"/>
            </p:cNvSpPr>
            <p:nvPr/>
          </p:nvSpPr>
          <p:spPr bwMode="auto">
            <a:xfrm>
              <a:off x="5956300" y="3924300"/>
              <a:ext cx="88900" cy="889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1" name="Oval 40"/>
            <p:cNvSpPr>
              <a:spLocks noChangeArrowheads="1"/>
            </p:cNvSpPr>
            <p:nvPr/>
          </p:nvSpPr>
          <p:spPr bwMode="auto">
            <a:xfrm>
              <a:off x="5956300" y="4330700"/>
              <a:ext cx="88900" cy="889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2" name="Line 41"/>
            <p:cNvSpPr>
              <a:spLocks noChangeShapeType="1"/>
            </p:cNvSpPr>
            <p:nvPr/>
          </p:nvSpPr>
          <p:spPr bwMode="auto">
            <a:xfrm>
              <a:off x="6000750" y="4419600"/>
              <a:ext cx="0" cy="3159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33" name="Oval 42"/>
            <p:cNvSpPr>
              <a:spLocks noChangeArrowheads="1"/>
            </p:cNvSpPr>
            <p:nvPr/>
          </p:nvSpPr>
          <p:spPr bwMode="auto">
            <a:xfrm>
              <a:off x="5956300" y="5138738"/>
              <a:ext cx="88900" cy="889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4" name="Oval 43"/>
            <p:cNvSpPr>
              <a:spLocks noChangeArrowheads="1"/>
            </p:cNvSpPr>
            <p:nvPr/>
          </p:nvSpPr>
          <p:spPr bwMode="auto">
            <a:xfrm>
              <a:off x="6205538" y="2122488"/>
              <a:ext cx="541337" cy="541337"/>
            </a:xfrm>
            <a:prstGeom prst="ellipse">
              <a:avLst/>
            </a:prstGeom>
            <a:solidFill>
              <a:srgbClr val="FF9900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5" name="Line 44"/>
            <p:cNvSpPr>
              <a:spLocks noChangeShapeType="1"/>
            </p:cNvSpPr>
            <p:nvPr/>
          </p:nvSpPr>
          <p:spPr bwMode="auto">
            <a:xfrm flipV="1">
              <a:off x="6364288" y="2259013"/>
              <a:ext cx="223837" cy="2698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36" name="Rectangle 45"/>
            <p:cNvSpPr>
              <a:spLocks noChangeArrowheads="1"/>
            </p:cNvSpPr>
            <p:nvPr/>
          </p:nvSpPr>
          <p:spPr bwMode="auto">
            <a:xfrm>
              <a:off x="6161088" y="2033588"/>
              <a:ext cx="1260475" cy="674687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7" name="Line 46"/>
            <p:cNvSpPr>
              <a:spLocks noChangeShapeType="1"/>
            </p:cNvSpPr>
            <p:nvPr/>
          </p:nvSpPr>
          <p:spPr bwMode="auto">
            <a:xfrm flipH="1">
              <a:off x="6557963" y="1898650"/>
              <a:ext cx="419100" cy="0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38" name="Text Box 47"/>
            <p:cNvSpPr txBox="1">
              <a:spLocks noChangeArrowheads="1"/>
            </p:cNvSpPr>
            <p:nvPr/>
          </p:nvSpPr>
          <p:spPr bwMode="auto">
            <a:xfrm>
              <a:off x="6689055" y="1516722"/>
              <a:ext cx="403225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I</a:t>
              </a:r>
              <a:endParaRPr kumimoji="1" lang="en-US" altLang="zh-CN" sz="2000" baseline="-25000" dirty="0"/>
            </a:p>
          </p:txBody>
        </p:sp>
      </p:grpSp>
      <p:graphicFrame>
        <p:nvGraphicFramePr>
          <p:cNvPr id="39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155268"/>
              </p:ext>
            </p:extLst>
          </p:nvPr>
        </p:nvGraphicFramePr>
        <p:xfrm>
          <a:off x="1691680" y="4118670"/>
          <a:ext cx="799632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33" name="Equation" r:id="rId5" imgW="444240" imgH="228600" progId="Equation.DSMT4">
                  <p:embed/>
                </p:oleObj>
              </mc:Choice>
              <mc:Fallback>
                <p:oleObj name="Equation" r:id="rId5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118670"/>
                        <a:ext cx="799632" cy="411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365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Box 94"/>
          <p:cNvSpPr txBox="1">
            <a:spLocks noChangeArrowheads="1"/>
          </p:cNvSpPr>
          <p:nvPr/>
        </p:nvSpPr>
        <p:spPr bwMode="auto">
          <a:xfrm>
            <a:off x="700087" y="476672"/>
            <a:ext cx="60213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990033"/>
                </a:solidFill>
                <a:ea typeface="楷体_GB2312" pitchFamily="49" charset="-122"/>
              </a:rPr>
              <a:t>二、运算放大器的非线性应用</a:t>
            </a:r>
          </a:p>
        </p:txBody>
      </p:sp>
      <p:sp>
        <p:nvSpPr>
          <p:cNvPr id="100" name="Text Box 2"/>
          <p:cNvSpPr txBox="1">
            <a:spLocks noChangeArrowheads="1"/>
          </p:cNvSpPr>
          <p:nvPr/>
        </p:nvSpPr>
        <p:spPr bwMode="auto">
          <a:xfrm>
            <a:off x="1204119" y="1154143"/>
            <a:ext cx="26622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dirty="0" smtClean="0">
                <a:solidFill>
                  <a:srgbClr val="0000CC"/>
                </a:solidFill>
              </a:rPr>
              <a:t>1</a:t>
            </a:r>
            <a:r>
              <a:rPr kumimoji="1" lang="zh-CN" altLang="en-US" sz="2000" dirty="0" smtClean="0">
                <a:solidFill>
                  <a:srgbClr val="0000CC"/>
                </a:solidFill>
              </a:rPr>
              <a:t>、单</a:t>
            </a:r>
            <a:r>
              <a:rPr kumimoji="1" lang="zh-CN" altLang="en-US" sz="2000" dirty="0">
                <a:solidFill>
                  <a:srgbClr val="0000CC"/>
                </a:solidFill>
              </a:rPr>
              <a:t>限电压比较器</a:t>
            </a:r>
            <a:endParaRPr kumimoji="1" lang="en-US" altLang="zh-CN" sz="2000" dirty="0">
              <a:solidFill>
                <a:srgbClr val="0000CC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8688" y="1993840"/>
            <a:ext cx="4219376" cy="2527360"/>
            <a:chOff x="928688" y="1993840"/>
            <a:chExt cx="4219376" cy="2527360"/>
          </a:xfrm>
        </p:grpSpPr>
        <p:sp>
          <p:nvSpPr>
            <p:cNvPr id="101" name="Line 49"/>
            <p:cNvSpPr>
              <a:spLocks noChangeShapeType="1"/>
            </p:cNvSpPr>
            <p:nvPr/>
          </p:nvSpPr>
          <p:spPr bwMode="auto">
            <a:xfrm>
              <a:off x="4084638" y="2768600"/>
              <a:ext cx="8794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02" name="Text Box 50"/>
            <p:cNvSpPr txBox="1">
              <a:spLocks noChangeArrowheads="1"/>
            </p:cNvSpPr>
            <p:nvPr/>
          </p:nvSpPr>
          <p:spPr bwMode="auto">
            <a:xfrm>
              <a:off x="4726154" y="2752725"/>
              <a:ext cx="42191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v</a:t>
              </a:r>
              <a:r>
                <a:rPr kumimoji="1" lang="en-US" altLang="zh-CN" sz="2000" i="1" baseline="-25000"/>
                <a:t>O</a:t>
              </a:r>
              <a:endParaRPr kumimoji="1" lang="en-US" altLang="zh-CN" sz="2000" i="1"/>
            </a:p>
          </p:txBody>
        </p:sp>
        <p:sp>
          <p:nvSpPr>
            <p:cNvPr id="103" name="Line 54"/>
            <p:cNvSpPr>
              <a:spLocks noChangeShapeType="1"/>
            </p:cNvSpPr>
            <p:nvPr/>
          </p:nvSpPr>
          <p:spPr bwMode="auto">
            <a:xfrm flipH="1" flipV="1">
              <a:off x="1647825" y="3070225"/>
              <a:ext cx="14462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04" name="Line 57"/>
            <p:cNvSpPr>
              <a:spLocks noChangeShapeType="1"/>
            </p:cNvSpPr>
            <p:nvPr/>
          </p:nvSpPr>
          <p:spPr bwMode="auto">
            <a:xfrm>
              <a:off x="1601788" y="2484438"/>
              <a:ext cx="14954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05" name="Text Box 58"/>
            <p:cNvSpPr txBox="1">
              <a:spLocks noChangeArrowheads="1"/>
            </p:cNvSpPr>
            <p:nvPr/>
          </p:nvSpPr>
          <p:spPr bwMode="auto">
            <a:xfrm>
              <a:off x="2172583" y="1993840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1</a:t>
              </a:r>
              <a:endParaRPr kumimoji="1" lang="en-US" altLang="zh-CN" sz="2000" i="1" dirty="0"/>
            </a:p>
          </p:txBody>
        </p:sp>
        <p:sp>
          <p:nvSpPr>
            <p:cNvPr id="106" name="Text Box 59"/>
            <p:cNvSpPr txBox="1">
              <a:spLocks noChangeArrowheads="1"/>
            </p:cNvSpPr>
            <p:nvPr/>
          </p:nvSpPr>
          <p:spPr bwMode="auto">
            <a:xfrm>
              <a:off x="2172583" y="3140968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2</a:t>
              </a:r>
              <a:endParaRPr kumimoji="1" lang="en-US" altLang="zh-CN" sz="2000" i="1" dirty="0"/>
            </a:p>
          </p:txBody>
        </p:sp>
        <p:sp>
          <p:nvSpPr>
            <p:cNvPr id="107" name="Text Box 60"/>
            <p:cNvSpPr txBox="1">
              <a:spLocks noChangeArrowheads="1"/>
            </p:cNvSpPr>
            <p:nvPr/>
          </p:nvSpPr>
          <p:spPr bwMode="auto">
            <a:xfrm>
              <a:off x="1073784" y="2155269"/>
              <a:ext cx="36580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 err="1"/>
                <a:t>v</a:t>
              </a:r>
              <a:r>
                <a:rPr kumimoji="1" lang="en-US" altLang="zh-CN" sz="2000" i="1" baseline="-25000" dirty="0" err="1"/>
                <a:t>I</a:t>
              </a:r>
              <a:endParaRPr kumimoji="1" lang="en-US" altLang="zh-CN" sz="2000" i="1" baseline="-25000" dirty="0"/>
            </a:p>
          </p:txBody>
        </p:sp>
        <p:grpSp>
          <p:nvGrpSpPr>
            <p:cNvPr id="108" name="Group 63"/>
            <p:cNvGrpSpPr>
              <a:grpSpLocks/>
            </p:cNvGrpSpPr>
            <p:nvPr/>
          </p:nvGrpSpPr>
          <p:grpSpPr bwMode="auto">
            <a:xfrm>
              <a:off x="1422400" y="4330700"/>
              <a:ext cx="455613" cy="190500"/>
              <a:chOff x="720" y="1824"/>
              <a:chExt cx="261" cy="120"/>
            </a:xfrm>
          </p:grpSpPr>
          <p:sp>
            <p:nvSpPr>
              <p:cNvPr id="109" name="Line 64"/>
              <p:cNvSpPr>
                <a:spLocks noChangeShapeType="1"/>
              </p:cNvSpPr>
              <p:nvPr/>
            </p:nvSpPr>
            <p:spPr bwMode="auto">
              <a:xfrm>
                <a:off x="720" y="1824"/>
                <a:ext cx="26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0" name="Line 65"/>
              <p:cNvSpPr>
                <a:spLocks noChangeShapeType="1"/>
              </p:cNvSpPr>
              <p:nvPr/>
            </p:nvSpPr>
            <p:spPr bwMode="auto">
              <a:xfrm>
                <a:off x="778" y="1883"/>
                <a:ext cx="14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" name="Line 66"/>
              <p:cNvSpPr>
                <a:spLocks noChangeShapeType="1"/>
              </p:cNvSpPr>
              <p:nvPr/>
            </p:nvSpPr>
            <p:spPr bwMode="auto">
              <a:xfrm>
                <a:off x="802" y="1944"/>
                <a:ext cx="8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2" name="Line 67"/>
            <p:cNvSpPr>
              <a:spLocks noChangeShapeType="1"/>
            </p:cNvSpPr>
            <p:nvPr/>
          </p:nvSpPr>
          <p:spPr bwMode="auto">
            <a:xfrm>
              <a:off x="1647825" y="3070225"/>
              <a:ext cx="0" cy="5397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13" name="Oval 68"/>
            <p:cNvSpPr>
              <a:spLocks noChangeArrowheads="1"/>
            </p:cNvSpPr>
            <p:nvPr/>
          </p:nvSpPr>
          <p:spPr bwMode="auto">
            <a:xfrm>
              <a:off x="1484313" y="2427288"/>
              <a:ext cx="117475" cy="1079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14" name="Oval 70"/>
            <p:cNvSpPr>
              <a:spLocks noChangeArrowheads="1"/>
            </p:cNvSpPr>
            <p:nvPr/>
          </p:nvSpPr>
          <p:spPr bwMode="auto">
            <a:xfrm>
              <a:off x="4954588" y="2713038"/>
              <a:ext cx="117475" cy="1079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15" name="Rectangle 72"/>
            <p:cNvSpPr>
              <a:spLocks noChangeArrowheads="1"/>
            </p:cNvSpPr>
            <p:nvPr/>
          </p:nvSpPr>
          <p:spPr bwMode="auto">
            <a:xfrm>
              <a:off x="2141538" y="2393950"/>
              <a:ext cx="503237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16" name="AutoShape 75"/>
            <p:cNvSpPr>
              <a:spLocks noChangeArrowheads="1"/>
            </p:cNvSpPr>
            <p:nvPr/>
          </p:nvSpPr>
          <p:spPr bwMode="auto">
            <a:xfrm rot="5400000">
              <a:off x="3094038" y="2255838"/>
              <a:ext cx="1035050" cy="1035050"/>
            </a:xfrm>
            <a:prstGeom prst="triangle">
              <a:avLst>
                <a:gd name="adj" fmla="val 51023"/>
              </a:avLst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17" name="Text Box 76"/>
            <p:cNvSpPr txBox="1">
              <a:spLocks noChangeArrowheads="1"/>
            </p:cNvSpPr>
            <p:nvPr/>
          </p:nvSpPr>
          <p:spPr bwMode="auto">
            <a:xfrm>
              <a:off x="3049588" y="2797175"/>
              <a:ext cx="33054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solidFill>
                    <a:schemeClr val="bg1"/>
                  </a:solidFill>
                </a:rPr>
                <a:t>+</a:t>
              </a:r>
            </a:p>
          </p:txBody>
        </p:sp>
        <p:sp>
          <p:nvSpPr>
            <p:cNvPr id="118" name="Text Box 77"/>
            <p:cNvSpPr txBox="1">
              <a:spLocks noChangeArrowheads="1"/>
            </p:cNvSpPr>
            <p:nvPr/>
          </p:nvSpPr>
          <p:spPr bwMode="auto">
            <a:xfrm>
              <a:off x="3319463" y="2524834"/>
              <a:ext cx="35618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>
                  <a:solidFill>
                    <a:schemeClr val="bg1"/>
                  </a:solidFill>
                </a:rPr>
                <a:t>A</a:t>
              </a:r>
              <a:endParaRPr kumimoji="1" lang="en-US" altLang="zh-CN" sz="2000" dirty="0">
                <a:solidFill>
                  <a:schemeClr val="bg1"/>
                </a:solidFill>
              </a:endParaRPr>
            </a:p>
          </p:txBody>
        </p:sp>
        <p:sp>
          <p:nvSpPr>
            <p:cNvPr id="119" name="Text Box 78"/>
            <p:cNvSpPr txBox="1">
              <a:spLocks noChangeArrowheads="1"/>
            </p:cNvSpPr>
            <p:nvPr/>
          </p:nvSpPr>
          <p:spPr bwMode="auto">
            <a:xfrm>
              <a:off x="3074988" y="2155269"/>
              <a:ext cx="31290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120" name="Rectangle 80"/>
            <p:cNvSpPr>
              <a:spLocks noChangeArrowheads="1"/>
            </p:cNvSpPr>
            <p:nvPr/>
          </p:nvSpPr>
          <p:spPr bwMode="auto">
            <a:xfrm>
              <a:off x="2141538" y="2979738"/>
              <a:ext cx="503237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21" name="Line 82"/>
            <p:cNvSpPr>
              <a:spLocks noChangeShapeType="1"/>
            </p:cNvSpPr>
            <p:nvPr/>
          </p:nvSpPr>
          <p:spPr bwMode="auto">
            <a:xfrm>
              <a:off x="1422400" y="3609975"/>
              <a:ext cx="4556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 sz="2000"/>
            </a:p>
          </p:txBody>
        </p:sp>
        <p:sp>
          <p:nvSpPr>
            <p:cNvPr id="122" name="Line 83"/>
            <p:cNvSpPr>
              <a:spLocks noChangeShapeType="1"/>
            </p:cNvSpPr>
            <p:nvPr/>
          </p:nvSpPr>
          <p:spPr bwMode="auto">
            <a:xfrm>
              <a:off x="1512888" y="3789363"/>
              <a:ext cx="2524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 sz="2000"/>
            </a:p>
          </p:txBody>
        </p:sp>
        <p:sp>
          <p:nvSpPr>
            <p:cNvPr id="123" name="Line 85"/>
            <p:cNvSpPr>
              <a:spLocks noChangeShapeType="1"/>
            </p:cNvSpPr>
            <p:nvPr/>
          </p:nvSpPr>
          <p:spPr bwMode="auto">
            <a:xfrm>
              <a:off x="1647825" y="3789363"/>
              <a:ext cx="0" cy="5397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" name="Text Box 86"/>
            <p:cNvSpPr txBox="1">
              <a:spLocks noChangeArrowheads="1"/>
            </p:cNvSpPr>
            <p:nvPr/>
          </p:nvSpPr>
          <p:spPr bwMode="auto">
            <a:xfrm>
              <a:off x="928688" y="3475038"/>
              <a:ext cx="47000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V</a:t>
              </a:r>
              <a:r>
                <a:rPr kumimoji="1" lang="en-US" altLang="zh-CN" sz="2000" i="1" baseline="-25000"/>
                <a:t>R</a:t>
              </a:r>
            </a:p>
          </p:txBody>
        </p:sp>
      </p:grpSp>
      <p:graphicFrame>
        <p:nvGraphicFramePr>
          <p:cNvPr id="125" name="Object 8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775119"/>
              </p:ext>
            </p:extLst>
          </p:nvPr>
        </p:nvGraphicFramePr>
        <p:xfrm>
          <a:off x="5219700" y="701675"/>
          <a:ext cx="3251200" cy="303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58" name="Visio" r:id="rId4" imgW="2975400" imgH="2679120" progId="Visio.Drawing.11">
                  <p:embed/>
                </p:oleObj>
              </mc:Choice>
              <mc:Fallback>
                <p:oleObj name="Visio" r:id="rId4" imgW="2975400" imgH="267912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701675"/>
                        <a:ext cx="3251200" cy="30368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Object 9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3880173"/>
              </p:ext>
            </p:extLst>
          </p:nvPr>
        </p:nvGraphicFramePr>
        <p:xfrm>
          <a:off x="2859088" y="3924300"/>
          <a:ext cx="3330575" cy="291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59" name="Visio" r:id="rId7" imgW="2975400" imgH="3117600" progId="Visio.Drawing.11">
                  <p:embed/>
                </p:oleObj>
              </mc:Choice>
              <mc:Fallback>
                <p:oleObj name="Visio" r:id="rId7" imgW="2975400" imgH="31176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9088" y="3924300"/>
                        <a:ext cx="3330575" cy="29162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1447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674688" y="549275"/>
            <a:ext cx="78295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dirty="0" smtClean="0">
                <a:solidFill>
                  <a:srgbClr val="0000CC"/>
                </a:solidFill>
              </a:rPr>
              <a:t>2</a:t>
            </a:r>
            <a:r>
              <a:rPr kumimoji="1" lang="zh-CN" altLang="en-US" sz="2000" dirty="0" smtClean="0">
                <a:solidFill>
                  <a:srgbClr val="0000CC"/>
                </a:solidFill>
              </a:rPr>
              <a:t>、迟滞</a:t>
            </a:r>
            <a:r>
              <a:rPr kumimoji="1" lang="zh-CN" altLang="en-US" sz="2000" dirty="0">
                <a:solidFill>
                  <a:srgbClr val="0000CC"/>
                </a:solidFill>
              </a:rPr>
              <a:t>（双限）电压比较器（施密特触发器）</a:t>
            </a:r>
            <a:endParaRPr kumimoji="1" lang="en-US" altLang="zh-CN" sz="2000" dirty="0">
              <a:solidFill>
                <a:srgbClr val="0000CC"/>
              </a:solidFill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47948" y="1306453"/>
            <a:ext cx="4316140" cy="2527360"/>
            <a:chOff x="1047948" y="1306453"/>
            <a:chExt cx="4316140" cy="2527360"/>
          </a:xfrm>
        </p:grpSpPr>
        <p:sp>
          <p:nvSpPr>
            <p:cNvPr id="3" name="Line 12"/>
            <p:cNvSpPr>
              <a:spLocks noChangeShapeType="1"/>
            </p:cNvSpPr>
            <p:nvPr/>
          </p:nvSpPr>
          <p:spPr bwMode="auto">
            <a:xfrm>
              <a:off x="4203898" y="2081213"/>
              <a:ext cx="8794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" name="Text Box 13"/>
            <p:cNvSpPr txBox="1">
              <a:spLocks noChangeArrowheads="1"/>
            </p:cNvSpPr>
            <p:nvPr/>
          </p:nvSpPr>
          <p:spPr bwMode="auto">
            <a:xfrm>
              <a:off x="4932560" y="1530350"/>
              <a:ext cx="43152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v</a:t>
              </a:r>
              <a:r>
                <a:rPr kumimoji="1" lang="en-US" altLang="zh-CN" sz="2000" baseline="-25000"/>
                <a:t>O</a:t>
              </a:r>
              <a:endParaRPr kumimoji="1" lang="en-US" altLang="zh-CN" sz="2000"/>
            </a:p>
          </p:txBody>
        </p:sp>
        <p:sp>
          <p:nvSpPr>
            <p:cNvPr id="5" name="Line 14"/>
            <p:cNvSpPr>
              <a:spLocks noChangeShapeType="1"/>
            </p:cNvSpPr>
            <p:nvPr/>
          </p:nvSpPr>
          <p:spPr bwMode="auto">
            <a:xfrm flipH="1" flipV="1">
              <a:off x="1767085" y="2382838"/>
              <a:ext cx="14462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" name="Line 15"/>
            <p:cNvSpPr>
              <a:spLocks noChangeShapeType="1"/>
            </p:cNvSpPr>
            <p:nvPr/>
          </p:nvSpPr>
          <p:spPr bwMode="auto">
            <a:xfrm>
              <a:off x="1721048" y="1797050"/>
              <a:ext cx="14954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" name="Text Box 16"/>
            <p:cNvSpPr txBox="1">
              <a:spLocks noChangeArrowheads="1"/>
            </p:cNvSpPr>
            <p:nvPr/>
          </p:nvSpPr>
          <p:spPr bwMode="auto">
            <a:xfrm>
              <a:off x="2334322" y="1306453"/>
              <a:ext cx="35618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</a:p>
          </p:txBody>
        </p:sp>
        <p:sp>
          <p:nvSpPr>
            <p:cNvPr id="8" name="Text Box 17"/>
            <p:cNvSpPr txBox="1">
              <a:spLocks noChangeArrowheads="1"/>
            </p:cNvSpPr>
            <p:nvPr/>
          </p:nvSpPr>
          <p:spPr bwMode="auto">
            <a:xfrm>
              <a:off x="2269618" y="2452658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/>
                <a:t>R</a:t>
              </a:r>
              <a:r>
                <a:rPr kumimoji="1" lang="en-US" altLang="zh-CN" sz="2000" baseline="-25000" dirty="0"/>
                <a:t>1</a:t>
              </a:r>
              <a:endParaRPr kumimoji="1" lang="en-US" altLang="zh-CN" sz="2000" i="1" dirty="0"/>
            </a:p>
          </p:txBody>
        </p:sp>
        <p:sp>
          <p:nvSpPr>
            <p:cNvPr id="9" name="Text Box 18"/>
            <p:cNvSpPr txBox="1">
              <a:spLocks noChangeArrowheads="1"/>
            </p:cNvSpPr>
            <p:nvPr/>
          </p:nvSpPr>
          <p:spPr bwMode="auto">
            <a:xfrm>
              <a:off x="1136848" y="1436688"/>
              <a:ext cx="36580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v</a:t>
              </a:r>
              <a:r>
                <a:rPr kumimoji="1" lang="en-US" altLang="zh-CN" sz="2000" i="1" baseline="-25000"/>
                <a:t>I</a:t>
              </a:r>
            </a:p>
          </p:txBody>
        </p:sp>
        <p:grpSp>
          <p:nvGrpSpPr>
            <p:cNvPr id="10" name="Group 19"/>
            <p:cNvGrpSpPr>
              <a:grpSpLocks/>
            </p:cNvGrpSpPr>
            <p:nvPr/>
          </p:nvGrpSpPr>
          <p:grpSpPr bwMode="auto">
            <a:xfrm>
              <a:off x="1541660" y="3643313"/>
              <a:ext cx="455613" cy="190500"/>
              <a:chOff x="720" y="1824"/>
              <a:chExt cx="261" cy="120"/>
            </a:xfrm>
          </p:grpSpPr>
          <p:sp>
            <p:nvSpPr>
              <p:cNvPr id="11" name="Line 20"/>
              <p:cNvSpPr>
                <a:spLocks noChangeShapeType="1"/>
              </p:cNvSpPr>
              <p:nvPr/>
            </p:nvSpPr>
            <p:spPr bwMode="auto">
              <a:xfrm>
                <a:off x="720" y="1824"/>
                <a:ext cx="26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Line 21"/>
              <p:cNvSpPr>
                <a:spLocks noChangeShapeType="1"/>
              </p:cNvSpPr>
              <p:nvPr/>
            </p:nvSpPr>
            <p:spPr bwMode="auto">
              <a:xfrm>
                <a:off x="778" y="1883"/>
                <a:ext cx="14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Line 22"/>
              <p:cNvSpPr>
                <a:spLocks noChangeShapeType="1"/>
              </p:cNvSpPr>
              <p:nvPr/>
            </p:nvSpPr>
            <p:spPr bwMode="auto">
              <a:xfrm>
                <a:off x="802" y="1944"/>
                <a:ext cx="8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Line 23"/>
            <p:cNvSpPr>
              <a:spLocks noChangeShapeType="1"/>
            </p:cNvSpPr>
            <p:nvPr/>
          </p:nvSpPr>
          <p:spPr bwMode="auto">
            <a:xfrm>
              <a:off x="1767085" y="2382838"/>
              <a:ext cx="0" cy="5397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5" name="Oval 24"/>
            <p:cNvSpPr>
              <a:spLocks noChangeArrowheads="1"/>
            </p:cNvSpPr>
            <p:nvPr/>
          </p:nvSpPr>
          <p:spPr bwMode="auto">
            <a:xfrm>
              <a:off x="1603573" y="1739900"/>
              <a:ext cx="117475" cy="1079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" name="Oval 25"/>
            <p:cNvSpPr>
              <a:spLocks noChangeArrowheads="1"/>
            </p:cNvSpPr>
            <p:nvPr/>
          </p:nvSpPr>
          <p:spPr bwMode="auto">
            <a:xfrm>
              <a:off x="5073848" y="2025650"/>
              <a:ext cx="117475" cy="1079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7" name="Rectangle 26"/>
            <p:cNvSpPr>
              <a:spLocks noChangeArrowheads="1"/>
            </p:cNvSpPr>
            <p:nvPr/>
          </p:nvSpPr>
          <p:spPr bwMode="auto">
            <a:xfrm>
              <a:off x="2260798" y="1706563"/>
              <a:ext cx="503237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8" name="AutoShape 27"/>
            <p:cNvSpPr>
              <a:spLocks noChangeArrowheads="1"/>
            </p:cNvSpPr>
            <p:nvPr/>
          </p:nvSpPr>
          <p:spPr bwMode="auto">
            <a:xfrm rot="5400000">
              <a:off x="3213298" y="1568450"/>
              <a:ext cx="1035050" cy="1035050"/>
            </a:xfrm>
            <a:prstGeom prst="triangle">
              <a:avLst>
                <a:gd name="adj" fmla="val 51023"/>
              </a:avLst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9" name="Text Box 28"/>
            <p:cNvSpPr txBox="1">
              <a:spLocks noChangeArrowheads="1"/>
            </p:cNvSpPr>
            <p:nvPr/>
          </p:nvSpPr>
          <p:spPr bwMode="auto">
            <a:xfrm>
              <a:off x="3184085" y="2179652"/>
              <a:ext cx="33054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dirty="0">
                  <a:solidFill>
                    <a:schemeClr val="bg1"/>
                  </a:solidFill>
                </a:rPr>
                <a:t>+</a:t>
              </a:r>
            </a:p>
          </p:txBody>
        </p:sp>
        <p:sp>
          <p:nvSpPr>
            <p:cNvPr id="20" name="Text Box 29"/>
            <p:cNvSpPr txBox="1">
              <a:spLocks noChangeArrowheads="1"/>
            </p:cNvSpPr>
            <p:nvPr/>
          </p:nvSpPr>
          <p:spPr bwMode="auto">
            <a:xfrm>
              <a:off x="3425385" y="1844689"/>
              <a:ext cx="35618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 dirty="0">
                  <a:solidFill>
                    <a:schemeClr val="bg1"/>
                  </a:solidFill>
                </a:rPr>
                <a:t>A</a:t>
              </a:r>
              <a:endParaRPr kumimoji="1" lang="en-US" altLang="zh-CN" sz="2000" dirty="0">
                <a:solidFill>
                  <a:schemeClr val="bg1"/>
                </a:solidFill>
              </a:endParaRPr>
            </a:p>
          </p:txBody>
        </p:sp>
        <p:sp>
          <p:nvSpPr>
            <p:cNvPr id="21" name="Text Box 30"/>
            <p:cNvSpPr txBox="1">
              <a:spLocks noChangeArrowheads="1"/>
            </p:cNvSpPr>
            <p:nvPr/>
          </p:nvSpPr>
          <p:spPr bwMode="auto">
            <a:xfrm>
              <a:off x="3199960" y="1471627"/>
              <a:ext cx="31290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22" name="Rectangle 31"/>
            <p:cNvSpPr>
              <a:spLocks noChangeArrowheads="1"/>
            </p:cNvSpPr>
            <p:nvPr/>
          </p:nvSpPr>
          <p:spPr bwMode="auto">
            <a:xfrm>
              <a:off x="2260798" y="2292350"/>
              <a:ext cx="503237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3" name="Line 32"/>
            <p:cNvSpPr>
              <a:spLocks noChangeShapeType="1"/>
            </p:cNvSpPr>
            <p:nvPr/>
          </p:nvSpPr>
          <p:spPr bwMode="auto">
            <a:xfrm>
              <a:off x="1541660" y="2922588"/>
              <a:ext cx="4556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4" name="Line 33"/>
            <p:cNvSpPr>
              <a:spLocks noChangeShapeType="1"/>
            </p:cNvSpPr>
            <p:nvPr/>
          </p:nvSpPr>
          <p:spPr bwMode="auto">
            <a:xfrm>
              <a:off x="1632148" y="3101975"/>
              <a:ext cx="2524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5" name="Line 34"/>
            <p:cNvSpPr>
              <a:spLocks noChangeShapeType="1"/>
            </p:cNvSpPr>
            <p:nvPr/>
          </p:nvSpPr>
          <p:spPr bwMode="auto">
            <a:xfrm>
              <a:off x="1767085" y="3101975"/>
              <a:ext cx="0" cy="5397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6" name="Text Box 35"/>
            <p:cNvSpPr txBox="1">
              <a:spLocks noChangeArrowheads="1"/>
            </p:cNvSpPr>
            <p:nvPr/>
          </p:nvSpPr>
          <p:spPr bwMode="auto">
            <a:xfrm>
              <a:off x="1047948" y="2787650"/>
              <a:ext cx="47000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V</a:t>
              </a:r>
              <a:r>
                <a:rPr kumimoji="1" lang="en-US" altLang="zh-CN" sz="2000" i="1" baseline="-25000"/>
                <a:t>R</a:t>
              </a:r>
            </a:p>
          </p:txBody>
        </p:sp>
        <p:sp>
          <p:nvSpPr>
            <p:cNvPr id="27" name="Line 49"/>
            <p:cNvSpPr>
              <a:spLocks noChangeShapeType="1"/>
            </p:cNvSpPr>
            <p:nvPr/>
          </p:nvSpPr>
          <p:spPr bwMode="auto">
            <a:xfrm flipV="1">
              <a:off x="2981523" y="2381250"/>
              <a:ext cx="0" cy="733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8" name="Line 51"/>
            <p:cNvSpPr>
              <a:spLocks noChangeShapeType="1"/>
            </p:cNvSpPr>
            <p:nvPr/>
          </p:nvSpPr>
          <p:spPr bwMode="auto">
            <a:xfrm>
              <a:off x="2981523" y="3101975"/>
              <a:ext cx="15303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9" name="Rectangle 52"/>
            <p:cNvSpPr>
              <a:spLocks noChangeArrowheads="1"/>
            </p:cNvSpPr>
            <p:nvPr/>
          </p:nvSpPr>
          <p:spPr bwMode="auto">
            <a:xfrm>
              <a:off x="3521273" y="3011488"/>
              <a:ext cx="503237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0" name="Line 53"/>
            <p:cNvSpPr>
              <a:spLocks noChangeShapeType="1"/>
            </p:cNvSpPr>
            <p:nvPr/>
          </p:nvSpPr>
          <p:spPr bwMode="auto">
            <a:xfrm flipV="1">
              <a:off x="4511873" y="2077473"/>
              <a:ext cx="0" cy="103720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1" name="Text Box 54"/>
            <p:cNvSpPr txBox="1">
              <a:spLocks noChangeArrowheads="1"/>
            </p:cNvSpPr>
            <p:nvPr/>
          </p:nvSpPr>
          <p:spPr bwMode="auto">
            <a:xfrm>
              <a:off x="3521273" y="3281363"/>
              <a:ext cx="44114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i="1"/>
                <a:t>R</a:t>
              </a:r>
              <a:r>
                <a:rPr kumimoji="1" lang="en-US" altLang="zh-CN" sz="2000" baseline="-25000"/>
                <a:t>2</a:t>
              </a:r>
              <a:endParaRPr kumimoji="1" lang="en-US" altLang="zh-CN" sz="2000" i="1"/>
            </a:p>
          </p:txBody>
        </p:sp>
      </p:grpSp>
      <p:graphicFrame>
        <p:nvGraphicFramePr>
          <p:cNvPr id="33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0283327"/>
              </p:ext>
            </p:extLst>
          </p:nvPr>
        </p:nvGraphicFramePr>
        <p:xfrm>
          <a:off x="5302250" y="2930525"/>
          <a:ext cx="3382963" cy="322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76" name="Visio" r:id="rId4" imgW="2971887" imgH="3181324" progId="Visio.Drawing.11">
                  <p:embed/>
                </p:oleObj>
              </mc:Choice>
              <mc:Fallback>
                <p:oleObj name="Visio" r:id="rId4" imgW="2971887" imgH="318132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0" y="2930525"/>
                        <a:ext cx="3382963" cy="32273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1042257" y="4481964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000" dirty="0"/>
              <a:t>门限电压</a:t>
            </a:r>
          </a:p>
        </p:txBody>
      </p:sp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5632977"/>
              </p:ext>
            </p:extLst>
          </p:nvPr>
        </p:nvGraphicFramePr>
        <p:xfrm>
          <a:off x="1398588" y="5048250"/>
          <a:ext cx="347345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77" name="Equation" r:id="rId6" imgW="1930320" imgH="431640" progId="Equation.DSMT4">
                  <p:embed/>
                </p:oleObj>
              </mc:Choice>
              <mc:Fallback>
                <p:oleObj name="Equation" r:id="rId6" imgW="1930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8588" y="5048250"/>
                        <a:ext cx="347345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9106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7515</TotalTime>
  <Words>1121</Words>
  <Application>Microsoft Office PowerPoint</Application>
  <PresentationFormat>全屏显示(4:3)</PresentationFormat>
  <Paragraphs>380</Paragraphs>
  <Slides>32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6" baseType="lpstr">
      <vt:lpstr>仿宋_GB2312</vt:lpstr>
      <vt:lpstr>华文新魏</vt:lpstr>
      <vt:lpstr>华文行楷</vt:lpstr>
      <vt:lpstr>楷体_GB2312</vt:lpstr>
      <vt:lpstr>隶书</vt:lpstr>
      <vt:lpstr>宋体</vt:lpstr>
      <vt:lpstr>Arial</vt:lpstr>
      <vt:lpstr>Calibri</vt:lpstr>
      <vt:lpstr>Symbol</vt:lpstr>
      <vt:lpstr>Times New Roman</vt:lpstr>
      <vt:lpstr>Wingdings 3</vt:lpstr>
      <vt:lpstr>默认设计模板</vt:lpstr>
      <vt:lpstr>Visio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wzy</dc:creator>
  <cp:lastModifiedBy>JT</cp:lastModifiedBy>
  <cp:revision>602</cp:revision>
  <dcterms:created xsi:type="dcterms:W3CDTF">2002-09-10T13:23:11Z</dcterms:created>
  <dcterms:modified xsi:type="dcterms:W3CDTF">2024-06-26T08:56:54Z</dcterms:modified>
</cp:coreProperties>
</file>